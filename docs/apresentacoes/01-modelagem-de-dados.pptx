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7" r:id="rId38"/>
    <p:sldId id="258" r:id="rId4"/>
    <p:sldId id="259" r:id="rId5"/>
    <p:sldId id="288" r:id="rId39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ae4a077-0dd9-b6ad-c783-8c1af237d865}">
          <p14:sldIdLst>
            <p14:sldId id="256"/>
            <p14:sldId id="257"/>
            <p14:sldId id="258"/>
          </p14:sldIdLst>
        </p14:section>
        <p14:section name="Estrutura" id="{8046daae-1ac1-4a0a-a7d9-56a399e7a63b}">
          <p14:sldIdLst>
            <p14:sldId id="259"/>
            <p14:sldId id="260"/>
            <p14:sldId id="261"/>
            <p14:sldId id="262"/>
            <p14:sldId id="263"/>
          </p14:sldIdLst>
        </p14:section>
        <p14:section name="Common" id="{701dcd0b-63f3-638d-9ea2-6089a2ea7a9f}">
          <p14:sldIdLst>
            <p14:sldId id="264"/>
            <p14:sldId id="265"/>
            <p14:sldId id="266"/>
            <p14:sldId id="267"/>
            <p14:sldId id="268"/>
          </p14:sldIdLst>
        </p14:section>
        <p14:section name="Clientes" id="{bcd43c64-5d72-6922-3b32-b0e719d03355}">
          <p14:sldIdLst>
            <p14:sldId id="269"/>
            <p14:sldId id="270"/>
            <p14:sldId id="271"/>
          </p14:sldIdLst>
        </p14:section>
        <p14:section name="Estoque" id="{858c5c43-a390-7ab0-926b-746c936cf5db}">
          <p14:sldIdLst>
            <p14:sldId id="272"/>
            <p14:sldId id="273"/>
          </p14:sldIdLst>
        </p14:section>
        <p14:section name="Pedidos" id="{1aa8ac98-97d7-e0ae-24eb-91573b69a52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23c1a3f6-7c90-bcbf-6c8e-2c5b10be67d3}">
          <p14:sldIdLst>
            <p14:sldId id="280"/>
            <p14:sldId id="281"/>
          </p14:sldIdLst>
        </p14:section>
        <p14:section name="Draft e integridade" id="{a229aacc-9cf4-cf39-bb7c-7a152d8a0b98}">
          <p14:sldIdLst>
            <p14:sldId id="282"/>
            <p14:sldId id="283"/>
            <p14:sldId id="284"/>
            <p14:sldId id="285"/>
          </p14:sldIdLst>
        </p14:section>
        <p14:section name="Encerramento" id="{f79ce66d-7242-080a-4c4c-a65ba3dcee59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  <Relationship Id="rId38" Type="http://schemas.openxmlformats.org/officeDocument/2006/relationships/slide" Target="slides/slide32.xml"/>
<Relationship Id="rId39" Type="http://schemas.openxmlformats.org/officeDocument/2006/relationships/slide" Target="slides/slide3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as dez tabelas ativas e as oito drafts, chaves, CodeLists, numeração, mensagens e a integridade garantida no banco, organizadas por 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guarda suas tabelas, CDS, behavior pools e serviço; o pacote comum concentra o que é transversal. O prefixo ZAVBS_ são as iniciais do nome do autor e é opcional: o próximo slide mostra como usar 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dez tabelas ativas compartilham o mesmo esqueleto. As anotações de catálogo definem o tipo de tabela; client e UUID formam a chave; os cinco campos administrativos são exigidos pelo RAP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a v1.5 o projeto não tem domínios nem elementos de dados próprios: as tabelas usam tipos técnicos embutidos. A única exceção é o domínio ZPC_NR_NUMC10, exigido pelo objeto de numeração.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Common. Tudo aqui é transversal: os status e textos das CodeLists, a numeração de pedidos e SKUs, as mensagens T100 e as constantes que evitam strings soltas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única tabela guarda as sete listas do projeto, com chave lista + código. A coluna criticality (0 neutro, 1 vermelho, 2 amarelo, 3 verde) é lida pelas value helps e vira a cor do ObjectStatus no Fiori Elements, exatamente como nos pills deste slide. A carga vem de ZCL_PC_SETUP.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e o SKU saem do mesmo objeto de numeração, em intervalos que não se sobrepõem. O SKU mostra o número relativo ao início do intervalo 02, por isso começa em 0000000001. Sem buffer em memória, o GET NUMBER faz um UPDATE síncrono proibido na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mensagens de erro e sucesso estão na message class ZPC_MSG (até 73 caracteres, parâmetros &amp;1 a &amp;4). A exceção ZCX_PC_MSG expõe cada uma como constante e implementa if_abap_behv_message, então pode ir direto para o REPORTED do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Status, códigos de CodeList, situação do CEP, numeração e MIME types aceitos ficam numa interface de constantes. O código dos behavior pools compara sempre com zif_pc_constants=&gt;…, nunca com literais.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Clientes: o root do BO Cliente e o filho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 cliente. O CPF é gravado só com dígitos e exibido formatado por um virtual element. A foto usa o trio conteúdo, MIME e nome do arquivo, que a anotação @Semantics.largeObject transforma em upload no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filho de composição do cliente. O CEP faz parte da chave da tabela (mas não da entidade CDS): o banco garante cliente + CEP único, e por isso o CEP de um endereço gravado não pode mais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Estoque: uma única tabela, mas com a regra de quantidades que o Pedido movimenta.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disponível é persistido (estoque menos reservada) para poder filtrar e ordenar a lista. A reserva só muda pelas actions internas ReservarEstoque, LiberarReserva e BaixarEstoque, chamadas pelo BO Pedido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Pedidos: cinco tabelas ativas e cinco drafts. As drafts de pagamento e snapshots existem porque o BO é draft, mas ficam vazias.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guarda o cliente, o endereço de entrega já formatado, os dois status, o total e os dados de finalização e cancelamento. Os quatro indicadores xfeld existem só para esconder ou mostrar seções da Object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liga o pedido a um item de estoque. O preço unitário é copiado no momento da inclusão: se o cadastro do item mudar depois, o pedido continua com o valor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[0..1] do pedido: cada nova tentativa sobrescreve a anterior. Número completo do cartão, validade e CVV existem só em memória durante a action; aqui ficam apenas bandeira, últimos 4 dígitos e máscara.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finalizar ou cancelar, o pedido copia o cliente e o endereço de entrega para esta tabela. Se o cadastro mudar depois, o histórico do pedido não muda. O BO não oferece update nem delete para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registro por item do pedido encerrado, com SKU, nome, categoria, quantidade e valores. A Object Page de pedidos finalizados e cancelados lê os itens daqui, não do cadastro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Reembolsos: uma tabela, sem rascunho, porque ninguém edita a solicitação; só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separa claramente o que é preenchido na solicitação (pelo BO Pedido, imutável depois) e o que é preenchido na decisão. O status anterior do pedido é guardado para que uma rejeição devolva o pedido exatamente ao ponto em que estava.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draft é gerada a partir da entidade CDS, não da tabela ativa. Por isso as colunas têm os nomes dos elementos CDS em minúsculas e sem sublinhado, e no fim vem o include de administração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Os índices não únicos aceleram as buscas por cliente e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uma ficha por tabela,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modelar, escolha onde estudar. O projeto foi construído no SAP BTP, ABAP environment, mas o framework RAP é o mesmo num SAP S/4HANA On-Premise: lá os pacotes são Standard ABAP e todos os objetos ativam sem erros. Mudam só dois objetos (ZIF_PC_CONSTANTS e ZCL_PC_VIACEP) e a configuração de segurança e de launchpad. As diferenças estão em abap/README.md; cada etapa mostra o caminho nos dois ambientes.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ZAVBS foi uma escolha pessoal do autor. Quem montar o próprio projeto pode usar qualquer prefixo; a sugestão genérica é ZPK. Crie os pacotes com o nome escolhido e ajuste o package: do ui5-deploy.yaml de cada app; nenhum fonte ABAP precisa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100" Type="http://schemas.openxmlformats.org/officeDocument/2006/relationships/image" Target="../media/cap-31-rId100.png"/><Relationship Id="rId101" Type="http://schemas.openxmlformats.org/officeDocument/2006/relationships/image" Target="../media/cap-31-rId101.png"/><Relationship Id="rId102" Type="http://schemas.openxmlformats.org/officeDocument/2006/relationships/image" Target="../media/cap-31-rId102.png"/><Relationship Id="rId103" Type="http://schemas.openxmlformats.org/officeDocument/2006/relationships/image" Target="../media/cap-31-rId103.png"/><Relationship Id="rId104" Type="http://schemas.openxmlformats.org/officeDocument/2006/relationships/image" Target="../media/cap-31-rId104.png"/><Relationship Id="rId105" Type="http://schemas.openxmlformats.org/officeDocument/2006/relationships/image" Target="../media/cap-31-rId105.png"/><Relationship Id="rId106" Type="http://schemas.openxmlformats.org/officeDocument/2006/relationships/image" Target="../media/cap-31-rId10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para BTP ou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mesmo backend RAP managed com draft roda no SAP BTP ABAP Environment (ABAP Cloud) e no SAP S/4HANA On-Premise (Standard ABAP);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ou On-Premise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autorização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BTP: ZLOCAL, ABAP Cloud · On-Premise: Standard ABAP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esqueleto comum de todas as tabelas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*.abap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ZTA_PC_*.abap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abap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ZAVBS_PC_*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ZTA_PC_*.abap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campos de negócio 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Tabela transparente, classe de entrega A (dados de aplicação), sem extensão e sem manutenção genérica.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 + UUID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Mandante e um sysuuid_x16 que o RAP gera sozinho (numbering : managed).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Quem e quando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created_by/at e last_changed_by/at recebem @Semantics na view e são preenchidos pelo framework.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e lock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local_last_changed_at é o ETag da instância; last_changed_at é o ETag total usado no lock master.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TIPOS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Tipos ABAP embutidos, sem dicionário próprio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46936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Onde aparece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abap.clnt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Mandante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 (primeira coluna de toda tabela)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sysuuid_x16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UUID binário de 16 bytes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chaves e referências: cliente_uuid, item_uuid…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abap.char(n)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Texto de tamanho fixo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cpf, nome, sku, status, motivos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abap.dats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 AAAAMMDD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data_nascimento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abap.int1 · int2 · int4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Inteiros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criticality, ordem, quantidades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abap.dec(5,2)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Decimal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score_cliente (0 a 100)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abap.curr(15,2) + abap.cuky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preços, totais, valor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abap_boolean · xfeld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Indicador X / espaço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cliente_ativo, item_ativo, flags do 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abap.rawstring(0)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Binário sem limite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foto_cliente, foto_item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Timestamp UTC longo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data_pagamento, data_cancelamento, data_decisao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abp_*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Elementos de dados do RAP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os cinco campos administrativos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a base compartilhada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CodeLists, numeração, mensagens e constantes que os quatro BOs usam. Ficam no pacote ZAVBS_PC_COMMON e são criados antes de qualquer tabela de domínio.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ZPC_NR_NUMC10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domínio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number range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message class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ZTA_PC_CODELIST: listas e status com criticality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4937760" cy="2423160"/>
          </a:xfrm>
          <a:prstGeom prst="roundRect">
            <a:avLst>
              <a:gd name="adj" fmla="val 377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4937760" cy="2075688"/>
          </a:xfrm>
          <a:prstGeom prst="roundRect">
            <a:avLst>
              <a:gd name="adj" fmla="val 4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49194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49194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ODELIST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ZTA_PC_CODELIST.abap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ZTA_PC_CODELIST.abap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617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8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9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20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21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22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5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6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7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8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31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32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33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6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7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8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ZPC_NR: um objeto, dois intervalos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ZCL_PC_NUMERACAO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ZIF_PC_CONSTANTS=&gt;c_numeracao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0000000001 a 4999999999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5000000000 a 9999999999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'5000000000'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|SKU-{ prefixo_categoria( iv_categoria ) }-|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lv_numero WIDTH = 10 ALIGN = RIGHT PAD = '0'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Domínio ZPC_NR_NUMC10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NUMC de 10 posições: o Number Length Domain que o objeto de numeração exige.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Objeto ZPC_NR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subobjeto. Os intervalos 01 e 02 são criados por ZCL_PC_SETUP.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Buffer obrigatório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 Memory Buffering com números no buffer &gt; 0; sem ele o save termina em BEHAVIOR_ILLEGAL_STATEMENT.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Formatos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0000000001 (10 dígitos). SKU-ELE-0000000001: prefixo de 3 letras da categoria.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ZPC_MSG: 49 mensagens organizadas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00016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57400"/>
                <a:gridCol w="3154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Números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Cliente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001–009 · 047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001 CPF inválido · 007 CEP inválido · 047 CEP repetido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010–014 · 030–031 · 040 · 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011 Estoque insuficiente para &amp;1 (disponível: &amp;2)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015–022 · 027–029 · 032–036 · 038–039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016 Pagamento pendente · 033 Pedido &amp;1 registrado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042–046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043 Informe o motivo · 046 Não está mais pendente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Geral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023–026 · 037 · 041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023 Campo &amp;1 obrigatório · 037 Sem autorização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Texto livre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&amp;1&amp;2&amp;3&amp;4: mensagens longas da importação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7269480" y="164592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7269480" y="1993392"/>
            <a:ext cx="43735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7278624" y="1993392"/>
            <a:ext cx="43552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7278624" y="1993392"/>
            <a:ext cx="43552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X_PC_MSG.clas.abap"/>
          <p:cNvSpPr/>
          <p:nvPr/>
        </p:nvSpPr>
        <p:spPr>
          <a:xfrm>
            <a:off x="736092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452360" y="2103120"/>
            <a:ext cx="405353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ZCX_PC_MSG: uma constante por mensagem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'MV_ATTR2'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 num behavior pool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lv_disponivel }|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CONSTANTES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ZIF_PC_CONSTANTS: nenhum status escrito à mão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1264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1264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1081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1081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F_PC_CONSTANTS.intf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ZIF_PC_CONSTANTS.intf.abap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ZIF_PC_CONSTANTS.intf.abap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8064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c_moeda_padrao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Faixa ACABANDO: 1 a 10; a partir de 11 = EM_ESTOQUE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c_limite_acabando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949440" y="1645920"/>
            <a:ext cx="46936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506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181051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c_modo_trial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2093976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abap_true só no BTP Trial; no On-Premise e em produção, abap_false.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15060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6090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2944368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Pedido, pagamento, reembolso e estoque como estruturas de constantes.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5060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351129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c_status_cep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3794760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V, I ou X: resultado do ViaCEP gravado no endereço.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5060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6168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c_codelist e c_numeracao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0" y="4645152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Nomes das listas e intervalos 01/02 com suas faixas.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15060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52120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c_mime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5495544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image/jpeg, image/png e image/webp aceitos nas fotos.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clientes com foto, score e endereços preenchidos pelo ViaCEP. Duas tabelas ativas, cada uma com sua tabela de rascunho.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ZTA_PC_CLIENTE: o cadastro do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.abap"/>
          <p:cNvSpPr/>
          <p:nvPr/>
        </p:nvSpPr>
        <p:spPr>
          <a:xfrm>
            <a:off x="640080" y="1719072"/>
            <a:ext cx="18059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059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cpf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UUID na chave; CPF com 11 dígitos, único por índice, validado pelos dígitos verificadores.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pessoais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 · email · telefone · data_nascimento · genero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Telefone só com dígitos (10 ou 11); data não pode ser futura; gênero é código da CodeList GENERO.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Foto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 · foto_mime_type · foto_file_name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Binário, MIME e nome do arquivo. Aceita JPEG, PNG e WEBP (MIME, extensão e assinatura).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Nasce ativo, com score de 0 a 100 sorteado e só leitura. Só ativos podem fazer pedidos.</a:t>
            </a:r>
            <a:endParaRPr lang="en-US" sz="1050" dirty="0"/>
          </a:p>
        </p:txBody>
      </p:sp>
      <p:sp>
        <p:nvSpPr>
          <p:cNvPr id="26" name="Status draft ZTA_PC_CLIENTE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ZTA_PC_CLIENTE_D</a:t>
            </a:r>
            <a:endParaRPr lang="en-US" sz="1000" dirty="0"/>
          </a:p>
        </p:txBody>
      </p:sp>
      <p:sp>
        <p:nvSpPr>
          <p:cNvPr id="27" name="Status índice único: CPF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CPF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ZTA_PC_ENDERECO: CEP dentro da chave primária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ENDERECO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ZTA_PC_ENDERECO.abap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Endereço do 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cep_geral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composta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CEP de 8 dígitos, not null, na chave. Para trocar o CEP: excluir o endereço e cadastrar outro.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59689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5292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endereco_principal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4495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 único endereço principal por cliente; o primeiro cadastrado já nasce principal.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41071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Vindos do ViaCEP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6674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 · bairro · cidade · uf · estado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85876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pela consulta; logradouro e bairro só editáveis para CEP geral de município.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22452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Digitados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8056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 · complemento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672584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obrigatório; complemento opcional.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87375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Controle da consulta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12978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 · cep_geral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32180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 validado, I inválido, X serviço indisponível. A determination grava; a validation só lê.</a:t>
            </a:r>
            <a:endParaRPr lang="en-US" sz="1050" dirty="0"/>
          </a:p>
        </p:txBody>
      </p:sp>
      <p:sp>
        <p:nvSpPr>
          <p:cNvPr id="29" name="Status draft ZTA_PC_ENDEREC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ZTA_PC_ENDEREC_D</a:t>
            </a:r>
            <a:endParaRPr lang="en-US" sz="1000" dirty="0"/>
          </a:p>
        </p:txBody>
      </p:sp>
      <p:sp>
        <p:nvSpPr>
          <p:cNvPr id="30" name="Status chave: UUID + CEP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chave: UUID + CEP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itens com SKU numerado, foto, categoria e o controle de quantidades: estoque, reservada e disponível.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453896"/>
          </a:xfrm>
          <a:prstGeom prst="roundRect">
            <a:avLst>
              <a:gd name="adj" fmla="val 7547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ZTA_PC_ITEM: quantidades que o pedido movimenta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.abap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ZAVBS_PC_ESTOQUE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Item'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 · sku · nome · descricao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 gerado no save com o prefixo da categoria; único por índice.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59689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Classificação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85292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 · item_ativo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044952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 da CodeList CATEGORIA. Item inativo não entra em pedido novo.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410712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666744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 · qtde_reservada · qtde_disponivel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85876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disponível = estoque − reservada, recalculado a cada movimento.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4224528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480560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672584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SEM_ESTOQUE (0), ACABANDO (1 a 10) ou EM_ESTOQUE (11 ou mais).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503834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e foto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529437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 · currency · foto_*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48640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 com moeda (padrão BRL) e foto JPEG, PNG ou WEBP.</a:t>
            </a:r>
            <a:endParaRPr lang="en-US" sz="1050" dirty="0"/>
          </a:p>
        </p:txBody>
      </p:sp>
      <p:sp>
        <p:nvSpPr>
          <p:cNvPr id="29" name="Status draft ZTA_PC_ITEM_D"/>
          <p:cNvSpPr/>
          <p:nvPr/>
        </p:nvSpPr>
        <p:spPr>
          <a:xfrm>
            <a:off x="6903720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ZTA_PC_ITEM_D</a:t>
            </a:r>
            <a:endParaRPr lang="en-US" sz="1000" dirty="0"/>
          </a:p>
        </p:txBody>
      </p:sp>
      <p:sp>
        <p:nvSpPr>
          <p:cNvPr id="30" name="Status índice único: SKU"/>
          <p:cNvSpPr/>
          <p:nvPr/>
        </p:nvSpPr>
        <p:spPr>
          <a:xfrm>
            <a:off x="8538667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SKU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BO mais rico: o pedido e quatro filhos de composição. Pagamento e snapshots ficam em subpacotes próprios.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4526280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ZTA_PC_ITPED_D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ZTA_PC_PAGTO_D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4690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ZTA_PC_SNPCLI_D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533095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ZTA_PC_SNPITM_D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ZTA_PC_PEDIDO: cabeçalho, status e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EDIDO.aba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ZTA_PC_PEDIDO.abap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ZTA_PC_PEDIDO.abap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1663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referencia_importacao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cancelado_por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pedido_ativo_sem_hist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 · referencia_importacao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231136"/>
            <a:ext cx="4876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do intervalo 01; referência da planilha evita importar duas vezes.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73039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 e entrega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298643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endereco_uuid · endereco_completo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7845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Cliente travado após criar; endereço principal copiado como texto.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513125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Status e 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769157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 · status_pagamento · valor_total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61181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dois status do ciclo de vida e a soma dos itens.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295851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Encerramento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551883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 · motivo/data_cancelamento · cancelado_por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743907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só pelas ações Aprovar e Cancelar.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07857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Flags de UI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334610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 · ..._sem_hist · ..._nao_finalizado · ..._nao_cancelado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537960" y="570037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Mantidos por AtualizarFlagsStatus para a Object Page dinâmica.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ZTA_PC_ITEM_PED: o item com preço congelado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_PED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ZTA_PC_ITEM_PED.abap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ZTA_PC_ITEM_PED.abap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 do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 · 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Filho de composição do pedido e referência ao item de estoque (índice em ITEM_UUID).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Maior que zero. O precheck barra item sem estoque disponível já na inclusão.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congelado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 do item ao incluir, pela determination CalcularValorItem.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Total e observação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 · observacao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× preço; observação livre, também aceita na importação.</a:t>
            </a:r>
            <a:endParaRPr lang="en-US" sz="1050" dirty="0"/>
          </a:p>
        </p:txBody>
      </p:sp>
      <p:sp>
        <p:nvSpPr>
          <p:cNvPr id="26" name="Status draft ZTA_PC_ITPED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ZTA_PC_ITPED_D</a:t>
            </a:r>
            <a:endParaRPr lang="en-US" sz="1000" dirty="0"/>
          </a:p>
        </p:txBody>
      </p:sp>
      <p:sp>
        <p:nvSpPr>
          <p:cNvPr id="27" name="Status índice: ITEM_UUID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índice: ITEM_UUID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ZTA_PC_PAGAMENTO: só a última tentativa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AGAMENT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ZTA_PC_PAGAMENTO.abap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ZAVBS_PC_PEDIDOS_PAGAMENTOS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ZTA_PC_PAGAMENTO.abap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 (ultima tentativa)'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cartao_mascarado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 · pedido_uuid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Criado só pela action SimularPagamento (internal create).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638044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Resultado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94076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 · status_pagamento · mensagem · data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8610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Crédito ou débito; APROVADO ou RECUSADO; mensagem e momento da tentativa.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Cartão seguro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 · ultimos4_digitos · cartao_mascarado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VISA (4…) ou MASTERCARD (5…) e a máscara **** **** **** 1111.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67715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Autorização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93318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125212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SIM + 6 dígitos sorteados quando a simulação aprova.</a:t>
            </a:r>
            <a:endParaRPr lang="en-US" sz="1050" dirty="0"/>
          </a:p>
        </p:txBody>
      </p:sp>
      <p:sp>
        <p:nvSpPr>
          <p:cNvPr id="26" name="Status draft ZTA_PC_PAGTO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ZTA_PC_PAGTO_D</a:t>
            </a:r>
            <a:endParaRPr lang="en-US" sz="1000" dirty="0"/>
          </a:p>
        </p:txBody>
      </p:sp>
      <p:sp>
        <p:nvSpPr>
          <p:cNvPr id="27" name="Status composição [0..1]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composição [0..1]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ZTA_PC_SNAP_CLI: o cliente como era no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CLI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ZTA_PC_SNAP_CLI.abap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166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motivo_snapshot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 · pedido_uuid · cliente_uuid · motivo_snapshot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231136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 uma única vez, ao aprovar ou cancelar.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633472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889504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 · nome · email · telefone · genero · data_nascimento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3081528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Cópia fiel do cadastro naquele momento.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483864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739896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93192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Estado do cliente no encerramento do pedido.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334256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590288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 · logradouro · ... · estado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78231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endereço de entrega usado, campo a campo.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18464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Texto pronto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44068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63270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Linha formatada para a Object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ZTA_PC_SNAP_ITM: os itens como foram vendidos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ITM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ZTA_PC_SNAP_ITM.abap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ZAVBS_PC_PEDIDOS_SNAPSHOTS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ZTA_PC_SNAP_ITM.abap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 dos itens no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 · pedido_uuid · item_pedido_uuid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40487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histórico ao pedido, ao item do pedido e ao item de estoque.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320344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345948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 · nome · descricao · categoria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6515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 do cadastro de estoque no encerramento; SKU e nome continuam links para a app de Estoque.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4450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4706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 · preco_unitario · valor_total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898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e valores efetivamente vendidos.</a:t>
            </a:r>
            <a:endParaRPr lang="en-US" sz="1050" dirty="0"/>
          </a:p>
        </p:txBody>
      </p:sp>
      <p:sp>
        <p:nvSpPr>
          <p:cNvPr id="23" name="Status imutável"/>
          <p:cNvSpPr/>
          <p:nvPr/>
        </p:nvSpPr>
        <p:spPr>
          <a:xfrm>
            <a:off x="7040880" y="5742432"/>
            <a:ext cx="81930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imutável</a:t>
            </a:r>
            <a:endParaRPr lang="en-US" sz="1000" dirty="0"/>
          </a:p>
        </p:txBody>
      </p:sp>
      <p:sp>
        <p:nvSpPr>
          <p:cNvPr id="24" name="Status draft técnica vazia"/>
          <p:cNvSpPr/>
          <p:nvPr/>
        </p:nvSpPr>
        <p:spPr>
          <a:xfrm>
            <a:off x="7951622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draft técnica vazia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próprio e sem draft. A solicitação nasce quando um pedido com pagamento aprovado é cancelado, e é decidida na app Gestão de Reembolsos.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069848"/>
          </a:xfrm>
          <a:prstGeom prst="roundRect">
            <a:avLst>
              <a:gd name="adj" fmla="val 10256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 (sem draft)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ZTA_PC_REEMBOLSO: solicitação e decisão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REEMBOLS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ZTA_PC_REEMBOLSO.abap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ZAVBS_PC_REEMBOLSOS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ZTA_PC_REEMBOLSO.abap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'Solicitacao de reembolso do 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status_pedido_anterior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 de 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 · numero_pedido · cliente_uuid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Copiados na criação; o número permite buscar sem navegar.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467051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23083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 · status_pedido_anterior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2915107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PENDENTE → APROVADO ou REJEITADO; o status anterior permite retomar.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31561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57164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76367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Total do pedido no momento da solicitação.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99958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Solicitação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25561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 · data_solicitacao · solicitado_por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447642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Motivo informado ao cancelar o pedido.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4683557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Decisão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939589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 · data_decisao · decidido_por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31613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por Aprovar ou Rejeitar; motivo obrigatório para rejeitar.</a:t>
            </a:r>
            <a:endParaRPr lang="en-US" sz="1050" dirty="0"/>
          </a:p>
        </p:txBody>
      </p:sp>
      <p:sp>
        <p:nvSpPr>
          <p:cNvPr id="29" name="Status sem draft"/>
          <p:cNvSpPr/>
          <p:nvPr/>
        </p:nvSpPr>
        <p:spPr>
          <a:xfrm>
            <a:off x="6903720" y="5742432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sem draft</a:t>
            </a:r>
            <a:endParaRPr lang="en-US" sz="1000" dirty="0"/>
          </a:p>
        </p:txBody>
      </p:sp>
      <p:sp>
        <p:nvSpPr>
          <p:cNvPr id="30" name="Status root próprio"/>
          <p:cNvSpPr/>
          <p:nvPr/>
        </p:nvSpPr>
        <p:spPr>
          <a:xfrm>
            <a:off x="7880299" y="5742432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root próprio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 draft: ZTA_PC_CLIENTE_D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_D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ZTA_PC_CLIENTE_D.abap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ZTA_PC_CLIENTE_D.abap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'Draft table for entity ZR_PC_CLIENTE'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#EXTENSIBLE_ANY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"%admin"           : include sych_bdl_draft_admin_inc;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Gerada pelo ADT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Quick fix Ctrl+1 sobre o nome em draft table da BDEF.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da entidade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clienteuuid, datanascimento: elementos CDS, não colunas da ativa.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Include %admin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Administração do rascunho: dono, timestamps e estado da edição.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Mesma estrutura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Toda alteração na entidade exige regenerar ou ajustar a draft.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validate"/>
          <p:cNvSpPr/>
          <p:nvPr/>
        </p:nvSpPr>
        <p:spPr>
          <a:xfrm>
            <a:off x="731520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valid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317" y="198863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27848" y="187452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1ª camada: validation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315200" y="248716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ValidarCpf, ValidarSkuUnico e ValidarCepUnico dão a mensagem amigável no save, inclusive contra rascunhos da mesma sessão.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7086600" y="402336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ocked"/>
          <p:cNvSpPr/>
          <p:nvPr/>
        </p:nvSpPr>
        <p:spPr>
          <a:xfrm>
            <a:off x="731520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5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7" y="4366077"/>
            <a:ext cx="247254" cy="24725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27848" y="425196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2ª camada: banco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315200" y="486460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Índice único ou chave primária: mesmo duas ativações simultâneas não conseguem gravar o mesmo CPF, SKU ou CEP do cliente.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Pacotes por domínio e o pacote comum ZAVBS_PC_COMMON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tabelas ativas com tipos ABAP embutidos e chave UUID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Oito tabelas draft com os nomes completos dos elementos CDS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CodeLists com criticality, numeração ZPC_NR e mensagens ZPC_MSG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garantida no banco: CPF, SKU e CEP na chave do endereço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 mesmo modelo no SAP BTP e no On-Premise (Standard ABAP)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Core Data Services: o modelo virtual sobre as tabelas.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1 de 5 — Modelagem de dados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SEU AMBIENTE DE ESTUDO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mesmo RAP no SAP BTP ou no SAP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 código-fonte só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Tabelas, CDS, BDEF, behavior pools, serviços e testes são os mesmos nos dois ambientes (pasta abap/).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Versão de linguagem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ABAP for Cloud Development. On-Premise: pacotes Standard ABAP, em que tudo ativa sem erros.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Ferramentas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Eclipse + ADT nos dois; no On-Premise, o SAP GUI para SNRO, SM59, STRUST, SU21, SU24 e PFCG.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Dois objetos mudam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ZIF_PC_CONSTANTS (c_modo_trial = abap_false) e ZCL_PC_VIACEP (versão _T2, destination SM59).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IAM Apps, catálogos e Business Roles. On-Premise: objetos SU21, valores SU24 e roles PFCG.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Apps e launchpad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BSP + IAM App e Work Zone. On-Premise: BSP com transporte e SAP Fiori launchpad (SAPUI5 1.136+).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PREFIXOS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ZAVBS é opcional: use o prefixo do seu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017520"/>
                <a:gridCol w="4602175"/>
              </a:tblGrid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Neste repositório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Sugestão genérica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Pacote principal (estrutura)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Base compartilhada: constantes, mensagens, CodeLists, numeração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Cliente + Endereço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Item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Pedido (+ _PAGAMENTOS e _SNAPSHOTS)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11094415" cy="91440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206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484632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ZAVBS são as iniciais do nome completo do autor: uma escolha pessoal, não um requisito. No seu projeto, use os prefixos que quiser (namespace Z ou Y, pacote com até 30 caracteres). O código não depende do nome do pacote; só o package: do ui5-deploy.yaml de cada app muda.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2026-10-20T11:09:33Z</dcterms:created>
  <dcterms:modified xsi:type="dcterms:W3CDTF">2026-10-20T11:09:33Z</dcterms:modified>
</cp:coreProperties>
</file>