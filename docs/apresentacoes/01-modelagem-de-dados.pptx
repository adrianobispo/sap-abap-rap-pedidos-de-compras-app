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d6ad0c1e-6476-9433-be02-806a19c1ae2e}">
          <p14:sldIdLst>
            <p14:sldId id="256"/>
            <p14:sldId id="257"/>
            <p14:sldId id="258"/>
          </p14:sldIdLst>
        </p14:section>
        <p14:section name="Estrutura" id="{da89921e-4471-621a-2006-030a64c0ad4c}">
          <p14:sldIdLst>
            <p14:sldId id="259"/>
            <p14:sldId id="260"/>
            <p14:sldId id="261"/>
            <p14:sldId id="262"/>
            <p14:sldId id="263"/>
          </p14:sldIdLst>
        </p14:section>
        <p14:section name="Draft e integridade" id="{f5a6c2dd-2313-f498-b28f-1788d79ce58d}">
          <p14:sldIdLst>
            <p14:sldId id="264"/>
            <p14:sldId id="265"/>
            <p14:sldId id="266"/>
          </p14:sldIdLst>
        </p14:section>
        <p14:section name="Encerramento" id="{f4cf8b23-9343-a1a6-f79e-2251b7ba294f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da série. Esta primeira etapa cobre a camada de persistência: pacotes, tabelas ativas e draft, chaves, CodeLists e a integridade garantida no banco.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Apresente o escopo: quatro BOs (Cliente, Item de estoque, Pedido e Reembolso), dez tabelas ativas e oito tabelas draft, cinco serviços OData V4 e oito apps Fiori (quatro de gestão e quatro de análise).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etapa vira um deck próprio. Hoje estamos na primeira: a modelagem dos dados. As próximas constroem, em ordem, as CDS views, o comportamento dos BOs, os serviços OData e as apps Fiori.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pacotes seguem o prefixo ZAVBS_ do sistema onde o projeto foi desenvolvido. Cada domínio guarda suas tabelas, CDS, behavior pools e serviço; o pacote comum concentra o que é transversal.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Pedido é o centro: compõe itens, pagamento e snapshots, e se associa ao Cliente. Os itens do pedido apontam para o Item de estoque. O Reembolso é um BO próprio que referencia o pedido. Linhas cheias são composições (mesmo BO); tracejadas são associações entre BOs.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as tabelas seguem o mesmo esqueleto: client, chave UUID técnica, campos de negócio com tipos ABAP embutidos e os cinco campos administrativos que o RAP usa para ETag, bloqueio e auditoria.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decisão aqui tem consequência nas etapas seguintes: as chaves UUID e semânticas, a CodeList genérica, os indicadores físicos que dirigem a Object Page e os snapshots imutáveis.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coluna criticality (0 neutro, 1 vermelho, 2 amarelo, 3 verde) é lida pelas value helps e vira a cor do ObjectStatus no Fiori Elements, exatamente como nos pills deste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tabelas draft são geradas pelo quick fix do ADT a partir do nome declarado em 'draft table' na BDEF. O limite de 16 caracteres obriga a abreviar alguns nomes; nesse caso as colunas precisam usar o nome completo do elemento CDS.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validation sozinha não protege contra duas ativações simultâneas. Por isso CPF e SKU têm índice único e o CEP faz parte da chave do endereço. O objeto de numeração ZPC_NR precisa de buffer em memória, senão o GET NUMBER dispara um UPDATE síncrono proibido dentro da transação RAP.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três primeiros passos da ordem de ativação pertencem a esta etapa. Ative todas as tabelas antes de qualquer CDS: há dependências cruzadas intencionais entre os domínios.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Recapitule: pacotes por domínio, Pedido no centro do modelo, chaves UUID com chaves semânticas, CodeList única e integridade no banco. Na próxima etapa as tabelas ganham as views ZR_ e as projeções.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spc="20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</a:rPr>
              <a:t>Pedidos de Compras · SAP RAP / ABAP Cloud  ·  Etapa 1 de 5 — Modelagem de dados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SCURO">
    <p:bg>
      <p:bgPr>
        <a:solidFill>
          <a:srgbClr val="1217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50" kern="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A9B4BE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DE 5 · PEDIDOS DE COMPRAS NO SAP BTP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7680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Modelagem de dados</a:t>
            </a:r>
            <a:endParaRPr lang="en-US" sz="4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7132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Tabelas, chaves e decisões que sustentam os quatro Business Objects RAP do projeto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VISÃO GERAL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Quatro domínios, um backend RAP em ABAP Cloud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0070F2"/>
                </a:solidFill>
              </a:rPr>
              <a:t>4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Business Objects RAP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Cliente, Item, Pedido e Reembolso</a:t>
            </a:r>
            <a:endParaRPr lang="en-US" sz="1100" dirty="0"/>
          </a:p>
        </p:txBody>
      </p:sp>
      <p:sp>
        <p:nvSpPr>
          <p:cNvPr id="9" name="Cartão"/>
          <p:cNvSpPr/>
          <p:nvPr/>
        </p:nvSpPr>
        <p:spPr>
          <a:xfrm>
            <a:off x="2822387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3050987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10</a:t>
            </a:r>
            <a:endParaRPr lang="en-US" sz="5400" dirty="0"/>
          </a:p>
        </p:txBody>
      </p:sp>
      <p:sp>
        <p:nvSpPr>
          <p:cNvPr id="11" name="Text 8"/>
          <p:cNvSpPr txBox="1"/>
          <p:nvPr/>
        </p:nvSpPr>
        <p:spPr>
          <a:xfrm>
            <a:off x="3050987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ativas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050987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ZTA_PC_* com tipos ABAP embutidos</a:t>
            </a:r>
            <a:endParaRPr lang="en-US" sz="1100" dirty="0"/>
          </a:p>
        </p:txBody>
      </p:sp>
      <p:sp>
        <p:nvSpPr>
          <p:cNvPr id="13" name="Cartão"/>
          <p:cNvSpPr/>
          <p:nvPr/>
        </p:nvSpPr>
        <p:spPr>
          <a:xfrm>
            <a:off x="5096134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24734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5324734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Tabelas draft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324734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rascunhos dos BOs com draft</a:t>
            </a:r>
            <a:endParaRPr lang="en-US" sz="1100" dirty="0"/>
          </a:p>
        </p:txBody>
      </p:sp>
      <p:sp>
        <p:nvSpPr>
          <p:cNvPr id="17" name="Cartão"/>
          <p:cNvSpPr/>
          <p:nvPr/>
        </p:nvSpPr>
        <p:spPr>
          <a:xfrm>
            <a:off x="7369881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598481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5</a:t>
            </a:r>
            <a:endParaRPr lang="en-US" sz="5400" dirty="0"/>
          </a:p>
        </p:txBody>
      </p:sp>
      <p:sp>
        <p:nvSpPr>
          <p:cNvPr id="19" name="Text 16"/>
          <p:cNvSpPr txBox="1"/>
          <p:nvPr/>
        </p:nvSpPr>
        <p:spPr>
          <a:xfrm>
            <a:off x="7598481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Serviços OData V4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598481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quatro de gestão e um analítico</a:t>
            </a:r>
            <a:endParaRPr lang="en-US" sz="1100" dirty="0"/>
          </a:p>
        </p:txBody>
      </p:sp>
      <p:sp>
        <p:nvSpPr>
          <p:cNvPr id="21" name="Cartão"/>
          <p:cNvSpPr/>
          <p:nvPr/>
        </p:nvSpPr>
        <p:spPr>
          <a:xfrm>
            <a:off x="9643628" y="1645920"/>
            <a:ext cx="1999427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872228" y="1783080"/>
            <a:ext cx="154222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D2D3E"/>
                </a:solidFill>
              </a:rPr>
              <a:t>8</a:t>
            </a:r>
            <a:endParaRPr lang="en-US" sz="5400" dirty="0"/>
          </a:p>
        </p:txBody>
      </p:sp>
      <p:sp>
        <p:nvSpPr>
          <p:cNvPr id="23" name="Text 20"/>
          <p:cNvSpPr txBox="1"/>
          <p:nvPr/>
        </p:nvSpPr>
        <p:spPr>
          <a:xfrm>
            <a:off x="9872228" y="2606040"/>
            <a:ext cx="154222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Apps Fiori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9872228" y="3127248"/>
            <a:ext cx="154222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4 Fiori Elements + 4 SAPUI5</a:t>
            </a:r>
            <a:endParaRPr lang="en-US" sz="1100" dirty="0"/>
          </a:p>
        </p:txBody>
      </p:sp>
      <p:sp>
        <p:nvSpPr>
          <p:cNvPr id="25" name="Cartão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sap-box"/>
          <p:cNvSpPr/>
          <p:nvPr/>
        </p:nvSpPr>
        <p:spPr>
          <a:xfrm>
            <a:off x="822960" y="420624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7" name="Image 0" descr="sap-bo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4634" y="4337914"/>
            <a:ext cx="285293" cy="285293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54480" y="42062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Pilha tecnológica</a:t>
            </a:r>
            <a:endParaRPr lang="en-US" sz="1600" dirty="0"/>
          </a:p>
        </p:txBody>
      </p:sp>
      <p:sp>
        <p:nvSpPr>
          <p:cNvPr id="29" name="Text 25"/>
          <p:cNvSpPr txBox="1"/>
          <p:nvPr/>
        </p:nvSpPr>
        <p:spPr>
          <a:xfrm>
            <a:off x="822960" y="489204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56B82"/>
                </a:solidFill>
              </a:rPr>
              <a:t>Backend no SAP BTP ABAP Environment (trial, software component ZLOCAL), escrito em ABAP Cloud com RAP managed e draft; front-end em SAP Fiori Elements V4 e SAPUI5 freestyle.</a:t>
            </a:r>
            <a:endParaRPr lang="en-US" sz="1300" dirty="0"/>
          </a:p>
        </p:txBody>
      </p:sp>
      <p:sp>
        <p:nvSpPr>
          <p:cNvPr id="30" name="Status SAP BTP ABAP Environment"/>
          <p:cNvSpPr/>
          <p:nvPr/>
        </p:nvSpPr>
        <p:spPr>
          <a:xfrm>
            <a:off x="6537960" y="4251960"/>
            <a:ext cx="2260397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SAP BTP ABAP Environment</a:t>
            </a:r>
            <a:endParaRPr lang="en-US" sz="1150" dirty="0"/>
          </a:p>
        </p:txBody>
      </p:sp>
      <p:sp>
        <p:nvSpPr>
          <p:cNvPr id="31" name="Status ABAP Cloud · strict ( 2 )"/>
          <p:cNvSpPr/>
          <p:nvPr/>
        </p:nvSpPr>
        <p:spPr>
          <a:xfrm>
            <a:off x="8926373" y="4251960"/>
            <a:ext cx="2340864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ABAP Cloud · strict ( 2 )</a:t>
            </a:r>
            <a:endParaRPr lang="en-US" sz="1150" dirty="0"/>
          </a:p>
        </p:txBody>
      </p:sp>
      <p:sp>
        <p:nvSpPr>
          <p:cNvPr id="32" name="Status RAP managed + draft"/>
          <p:cNvSpPr/>
          <p:nvPr/>
        </p:nvSpPr>
        <p:spPr>
          <a:xfrm>
            <a:off x="6537960" y="4690872"/>
            <a:ext cx="1858061" cy="329184"/>
          </a:xfrm>
          <a:prstGeom prst="roundRect">
            <a:avLst>
              <a:gd name="adj" fmla="val 50000"/>
            </a:avLst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4D9"/>
                </a:solidFill>
              </a:rPr>
              <a:t>RAP managed + draft</a:t>
            </a:r>
            <a:endParaRPr lang="en-US" sz="1150" dirty="0"/>
          </a:p>
        </p:txBody>
      </p:sp>
      <p:sp>
        <p:nvSpPr>
          <p:cNvPr id="33" name="Status CDS View Entities"/>
          <p:cNvSpPr/>
          <p:nvPr/>
        </p:nvSpPr>
        <p:spPr>
          <a:xfrm>
            <a:off x="8524037" y="4690872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CDS View Entities</a:t>
            </a:r>
            <a:endParaRPr lang="en-US" sz="1150" dirty="0"/>
          </a:p>
        </p:txBody>
      </p:sp>
      <p:sp>
        <p:nvSpPr>
          <p:cNvPr id="34" name="Status OData V4"/>
          <p:cNvSpPr/>
          <p:nvPr/>
        </p:nvSpPr>
        <p:spPr>
          <a:xfrm>
            <a:off x="10349179" y="4690872"/>
            <a:ext cx="972922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OData V4</a:t>
            </a:r>
            <a:endParaRPr lang="en-US" sz="1150" dirty="0"/>
          </a:p>
        </p:txBody>
      </p:sp>
      <p:sp>
        <p:nvSpPr>
          <p:cNvPr id="35" name="Status Fiori Elements V4"/>
          <p:cNvSpPr/>
          <p:nvPr/>
        </p:nvSpPr>
        <p:spPr>
          <a:xfrm>
            <a:off x="6537960" y="5129784"/>
            <a:ext cx="169712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Fiori Elements V4</a:t>
            </a:r>
            <a:endParaRPr lang="en-US" sz="1150" dirty="0"/>
          </a:p>
        </p:txBody>
      </p:sp>
      <p:sp>
        <p:nvSpPr>
          <p:cNvPr id="36" name="Status SAPUI5 freestyle"/>
          <p:cNvSpPr/>
          <p:nvPr/>
        </p:nvSpPr>
        <p:spPr>
          <a:xfrm>
            <a:off x="8363102" y="5129784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SAPUI5 freestyle</a:t>
            </a:r>
            <a:endParaRPr lang="en-US" sz="1150" dirty="0"/>
          </a:p>
        </p:txBody>
      </p:sp>
      <p:sp>
        <p:nvSpPr>
          <p:cNvPr id="37" name="Status API ViaCEP"/>
          <p:cNvSpPr/>
          <p:nvPr/>
        </p:nvSpPr>
        <p:spPr>
          <a:xfrm>
            <a:off x="10107778" y="5129784"/>
            <a:ext cx="1133856" cy="329184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API ViaCEP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A SÉRIE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Cinco etapas, do banco de dados ao launchpad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 w="25400">
            <a:solidFill>
              <a:srgbClr val="0070F2"/>
            </a:solidFill>
            <a:prstDash val="solid"/>
          </a:ln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pic>
        <p:nvPicPr>
          <p:cNvPr id="7" name="Image 0" descr="table-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4563" y="1965960"/>
            <a:ext cx="384048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77240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Modelagem de dados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Pacotes, tabelas ativas e draft, chaves UUID, CodeLists e índices</a:t>
            </a:r>
            <a:endParaRPr lang="en-US" sz="1250" dirty="0"/>
          </a:p>
        </p:txBody>
      </p:sp>
      <p:sp>
        <p:nvSpPr>
          <p:cNvPr id="10" name="Status Você está aqui"/>
          <p:cNvSpPr/>
          <p:nvPr/>
        </p:nvSpPr>
        <p:spPr>
          <a:xfrm>
            <a:off x="777240" y="530352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Você está aqui</a:t>
            </a:r>
            <a:endParaRPr lang="en-US" sz="1100" dirty="0"/>
          </a:p>
        </p:txBody>
      </p:sp>
      <p:sp>
        <p:nvSpPr>
          <p:cNvPr id="11" name="Cartão"/>
          <p:cNvSpPr/>
          <p:nvPr/>
        </p:nvSpPr>
        <p:spPr>
          <a:xfrm>
            <a:off x="2813243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041843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2</a:t>
            </a:r>
            <a:endParaRPr lang="en-US" sz="1600" dirty="0"/>
          </a:p>
        </p:txBody>
      </p:sp>
      <p:pic>
        <p:nvPicPr>
          <p:cNvPr id="13" name="Image 1" descr="source-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9166" y="1965960"/>
            <a:ext cx="384048" cy="38404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041843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Core Data Services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3041843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Views ZR_ (BO), projeções ZC_*_APP, value helps, metadata extensions e cubos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5077846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7" name="Text 12"/>
          <p:cNvSpPr/>
          <p:nvPr/>
        </p:nvSpPr>
        <p:spPr>
          <a:xfrm>
            <a:off x="5306446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2" descr="workflow-tas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769" y="1965960"/>
            <a:ext cx="384048" cy="38404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306446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Comportamento RAP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5306446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Behavior definitions, draft, determinations, validations, actions e EML</a:t>
            </a:r>
            <a:endParaRPr lang="en-US" sz="1250" dirty="0"/>
          </a:p>
        </p:txBody>
      </p:sp>
      <p:sp>
        <p:nvSpPr>
          <p:cNvPr id="21" name="Cartão"/>
          <p:cNvSpPr/>
          <p:nvPr/>
        </p:nvSpPr>
        <p:spPr>
          <a:xfrm>
            <a:off x="7342449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2" name="Text 16"/>
          <p:cNvSpPr/>
          <p:nvPr/>
        </p:nvSpPr>
        <p:spPr>
          <a:xfrm>
            <a:off x="7571049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4</a:t>
            </a:r>
            <a:endParaRPr lang="en-US" sz="1600" dirty="0"/>
          </a:p>
        </p:txBody>
      </p:sp>
      <p:pic>
        <p:nvPicPr>
          <p:cNvPr id="23" name="Image 3" descr="chain-lin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8372" y="1965960"/>
            <a:ext cx="384048" cy="38404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571049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Serviços OData</a:t>
            </a:r>
            <a:endParaRPr lang="en-US" sz="1700" dirty="0"/>
          </a:p>
        </p:txBody>
      </p:sp>
      <p:sp>
        <p:nvSpPr>
          <p:cNvPr id="25" name="Text 18"/>
          <p:cNvSpPr txBox="1"/>
          <p:nvPr/>
        </p:nvSpPr>
        <p:spPr>
          <a:xfrm>
            <a:off x="7571049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Service definitions, bindings OData V4, publicação e IAM</a:t>
            </a:r>
            <a:endParaRPr lang="en-US" sz="1250" dirty="0"/>
          </a:p>
        </p:txBody>
      </p:sp>
      <p:sp>
        <p:nvSpPr>
          <p:cNvPr id="26" name="Cartão"/>
          <p:cNvSpPr/>
          <p:nvPr/>
        </p:nvSpPr>
        <p:spPr>
          <a:xfrm>
            <a:off x="9607052" y="1691640"/>
            <a:ext cx="2036003" cy="42062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7" name="Text 20"/>
          <p:cNvSpPr/>
          <p:nvPr/>
        </p:nvSpPr>
        <p:spPr>
          <a:xfrm>
            <a:off x="9835652" y="1920240"/>
            <a:ext cx="457200" cy="457200"/>
          </a:xfrm>
          <a:prstGeom prst="ellipse">
            <a:avLst/>
          </a:prstGeom>
          <a:solidFill>
            <a:srgbClr val="E1F4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70F2"/>
                </a:solidFill>
              </a:rPr>
              <a:t>5</a:t>
            </a:r>
            <a:endParaRPr lang="en-US" sz="1600" dirty="0"/>
          </a:p>
        </p:txBody>
      </p:sp>
      <p:pic>
        <p:nvPicPr>
          <p:cNvPr id="28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2975" y="1965960"/>
            <a:ext cx="384048" cy="38404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9835652" y="2606040"/>
            <a:ext cx="157880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Apps Fiori</a:t>
            </a:r>
            <a:endParaRPr lang="en-US" sz="1700" dirty="0"/>
          </a:p>
        </p:txBody>
      </p:sp>
      <p:sp>
        <p:nvSpPr>
          <p:cNvPr id="30" name="Text 22"/>
          <p:cNvSpPr txBox="1"/>
          <p:nvPr/>
        </p:nvSpPr>
        <p:spPr>
          <a:xfrm>
            <a:off x="9835652" y="3337560"/>
            <a:ext cx="1578803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Fiori Elements, apps de análise, navegação, launchpad e deploy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ORGANIZAÇÃO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Um pacote por domínio e um pacote comum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E1F4FF"/>
          </a:solidFill>
          <a:ln/>
        </p:spPr>
      </p:sp>
      <p:pic>
        <p:nvPicPr>
          <p:cNvPr id="6" name="Image 0" descr="folder-blan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801368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4592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ZAVBS_PEDIDOS_COMPRAS</a:t>
            </a:r>
            <a:pPr indent="0" marL="0">
              <a:buNone/>
            </a:pPr>
            <a:r>
              <a:rPr lang="en-US" sz="1400" dirty="0">
                <a:solidFill>
                  <a:srgbClr val="556B82"/>
                </a:solidFill>
              </a:rPr>
              <a:t>   pacote principal · software component ZLOCAL · ABAP Cloud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1566642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9" name="Cartão"/>
          <p:cNvSpPr/>
          <p:nvPr/>
        </p:nvSpPr>
        <p:spPr>
          <a:xfrm>
            <a:off x="548640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settings"/>
          <p:cNvSpPr/>
          <p:nvPr/>
        </p:nvSpPr>
        <p:spPr>
          <a:xfrm>
            <a:off x="749808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1" name="Image 1" descr="setting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925" y="2921325"/>
            <a:ext cx="247254" cy="24725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</a:t>
            </a:r>
            <a:endParaRPr lang="en-US" sz="105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Constantes, mensagens ZPC_MSG, autorização, numeração ZPC_NR, CodeLists, importação de planilhas e setup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49808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749808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831245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7" name="Cartão"/>
          <p:cNvSpPr/>
          <p:nvPr/>
        </p:nvSpPr>
        <p:spPr>
          <a:xfrm>
            <a:off x="2813243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8" name="Ícone customer"/>
          <p:cNvSpPr/>
          <p:nvPr/>
        </p:nvSpPr>
        <p:spPr>
          <a:xfrm>
            <a:off x="3014411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9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8528" y="2921325"/>
            <a:ext cx="247254" cy="24725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3014411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ZAVBS_PC_CLIENTES</a:t>
            </a:r>
            <a:endParaRPr lang="en-US" sz="1050" dirty="0"/>
          </a:p>
        </p:txBody>
      </p:sp>
      <p:sp>
        <p:nvSpPr>
          <p:cNvPr id="21" name="Text 15"/>
          <p:cNvSpPr txBox="1"/>
          <p:nvPr/>
        </p:nvSpPr>
        <p:spPr>
          <a:xfrm>
            <a:off x="3014411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Cliente + Endereço, value helps e serviço ZUI_PC_CLIENTES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3014411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014411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 · ZTA_PC_ENDERECO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6095848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Cartão"/>
          <p:cNvSpPr/>
          <p:nvPr/>
        </p:nvSpPr>
        <p:spPr>
          <a:xfrm>
            <a:off x="5077846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product"/>
          <p:cNvSpPr/>
          <p:nvPr/>
        </p:nvSpPr>
        <p:spPr>
          <a:xfrm>
            <a:off x="5279014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3" descr="produc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131" y="2921325"/>
            <a:ext cx="247254" cy="24725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279014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ZAVBS_PC_ESTOQUE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279014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Item de estoque, value help de item e serviço ZUI_PC_ESTOQUE</a:t>
            </a:r>
            <a:endParaRPr lang="en-US" sz="1200" dirty="0"/>
          </a:p>
        </p:txBody>
      </p:sp>
      <p:sp>
        <p:nvSpPr>
          <p:cNvPr id="30" name="Shape 23"/>
          <p:cNvSpPr/>
          <p:nvPr/>
        </p:nvSpPr>
        <p:spPr>
          <a:xfrm>
            <a:off x="5279014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5279014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8360451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33" name="Cartão"/>
          <p:cNvSpPr/>
          <p:nvPr/>
        </p:nvSpPr>
        <p:spPr>
          <a:xfrm>
            <a:off x="7342449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4" name="Ícone sales-order"/>
          <p:cNvSpPr/>
          <p:nvPr/>
        </p:nvSpPr>
        <p:spPr>
          <a:xfrm>
            <a:off x="7543617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5" name="Image 4" descr="sales-ord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57734" y="2921325"/>
            <a:ext cx="247254" cy="247254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7543617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</a:t>
            </a:r>
            <a:endParaRPr lang="en-US" sz="1050" dirty="0"/>
          </a:p>
        </p:txBody>
      </p:sp>
      <p:sp>
        <p:nvSpPr>
          <p:cNvPr id="37" name="Text 29"/>
          <p:cNvSpPr txBox="1"/>
          <p:nvPr/>
        </p:nvSpPr>
        <p:spPr>
          <a:xfrm>
            <a:off x="7543617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Pedido com itens; subpacotes _PAGAMENTOS e _SNAPSHOTS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7543617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7543617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 · ITEM_PED · PAGAMENTO · SNAP_CLI · SNAP_ITM</a:t>
            </a:r>
            <a:endParaRPr lang="en-US" sz="1000" dirty="0"/>
          </a:p>
        </p:txBody>
      </p:sp>
      <p:sp>
        <p:nvSpPr>
          <p:cNvPr id="40" name="Shape 32"/>
          <p:cNvSpPr/>
          <p:nvPr/>
        </p:nvSpPr>
        <p:spPr>
          <a:xfrm>
            <a:off x="10625054" y="2331720"/>
            <a:ext cx="0" cy="27432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41" name="Cartão"/>
          <p:cNvSpPr/>
          <p:nvPr/>
        </p:nvSpPr>
        <p:spPr>
          <a:xfrm>
            <a:off x="9607052" y="2606040"/>
            <a:ext cx="2036003" cy="3520440"/>
          </a:xfrm>
          <a:prstGeom prst="roundRect">
            <a:avLst>
              <a:gd name="adj" fmla="val 53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2" name="Ícone money-bills"/>
          <p:cNvSpPr/>
          <p:nvPr/>
        </p:nvSpPr>
        <p:spPr>
          <a:xfrm>
            <a:off x="9808220" y="2807208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3" name="Image 5" descr="money-bill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22337" y="2921325"/>
            <a:ext cx="247254" cy="247254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9808220" y="3429000"/>
            <a:ext cx="16336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ZAVBS_PC_REEMBOLSOS</a:t>
            </a:r>
            <a:endParaRPr lang="en-US" sz="1050" dirty="0"/>
          </a:p>
        </p:txBody>
      </p:sp>
      <p:sp>
        <p:nvSpPr>
          <p:cNvPr id="45" name="Text 36"/>
          <p:cNvSpPr txBox="1"/>
          <p:nvPr/>
        </p:nvSpPr>
        <p:spPr>
          <a:xfrm>
            <a:off x="9808220" y="3794760"/>
            <a:ext cx="1633667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BO Reembolso (root sem draft) e serviço ZUI_PC_REEMBOLSOS</a:t>
            </a:r>
            <a:endParaRPr lang="en-US" sz="1200" dirty="0"/>
          </a:p>
        </p:txBody>
      </p:sp>
      <p:sp>
        <p:nvSpPr>
          <p:cNvPr id="46" name="Shape 37"/>
          <p:cNvSpPr/>
          <p:nvPr/>
        </p:nvSpPr>
        <p:spPr>
          <a:xfrm>
            <a:off x="9808220" y="5166360"/>
            <a:ext cx="1633667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47" name="Text 38"/>
          <p:cNvSpPr txBox="1"/>
          <p:nvPr/>
        </p:nvSpPr>
        <p:spPr>
          <a:xfrm>
            <a:off x="9808220" y="5257800"/>
            <a:ext cx="163366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1000" dirty="0"/>
          </a:p>
        </p:txBody>
      </p:sp>
      <p:sp>
        <p:nvSpPr>
          <p:cNvPr id="48" name="Shape 39"/>
          <p:cNvSpPr/>
          <p:nvPr/>
        </p:nvSpPr>
        <p:spPr>
          <a:xfrm>
            <a:off x="1566642" y="2331720"/>
            <a:ext cx="9058412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MODELO DE DADOS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Como as entidades se relacionam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56B82"/>
                </a:solidFill>
              </a:rPr>
              <a:t>Legenda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2084832"/>
            <a:ext cx="54864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34440" y="198424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composição (filho do BO)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48640" y="2395728"/>
            <a:ext cx="54864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9" name="Text 6"/>
          <p:cNvSpPr txBox="1"/>
          <p:nvPr/>
        </p:nvSpPr>
        <p:spPr>
          <a:xfrm>
            <a:off x="1234440" y="229514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D2D3E"/>
                </a:solidFill>
              </a:rPr>
              <a:t>associação (outro BO)</a:t>
            </a:r>
            <a:endParaRPr lang="en-US" sz="1100" dirty="0"/>
          </a:p>
        </p:txBody>
      </p:sp>
      <p:sp>
        <p:nvSpPr>
          <p:cNvPr id="10" name="Cartão"/>
          <p:cNvSpPr/>
          <p:nvPr/>
        </p:nvSpPr>
        <p:spPr>
          <a:xfrm>
            <a:off x="3703320" y="160020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money-bills"/>
          <p:cNvSpPr/>
          <p:nvPr/>
        </p:nvSpPr>
        <p:spPr>
          <a:xfrm>
            <a:off x="3849624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0" descr="money-bil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41796" y="1856964"/>
            <a:ext cx="199705" cy="199705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325112" y="172821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Reembolso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4325112" y="200253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ZTA_PC_REEMBOLSO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3867912" y="22951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root sem draft · status e decisão</a:t>
            </a:r>
            <a:endParaRPr lang="en-US" sz="1050" dirty="0"/>
          </a:p>
        </p:txBody>
      </p:sp>
      <p:sp>
        <p:nvSpPr>
          <p:cNvPr id="16" name="Cartão"/>
          <p:cNvSpPr/>
          <p:nvPr/>
        </p:nvSpPr>
        <p:spPr>
          <a:xfrm>
            <a:off x="9582912" y="160020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5F6F7"/>
          </a:solidFill>
          <a:ln w="12700">
            <a:solidFill>
              <a:srgbClr val="556B82"/>
            </a:solidFill>
            <a:prstDash val="dash"/>
          </a:ln>
        </p:spPr>
      </p:sp>
      <p:sp>
        <p:nvSpPr>
          <p:cNvPr id="17" name="Ícone list"/>
          <p:cNvSpPr/>
          <p:nvPr/>
        </p:nvSpPr>
        <p:spPr>
          <a:xfrm>
            <a:off x="9729216" y="176479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8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1388" y="1856964"/>
            <a:ext cx="199705" cy="199705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204704" y="172821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CodeList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10204704" y="200253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747504" y="229514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textos + criticality</a:t>
            </a:r>
            <a:endParaRPr lang="en-US" sz="1050" dirty="0"/>
          </a:p>
        </p:txBody>
      </p:sp>
      <p:sp>
        <p:nvSpPr>
          <p:cNvPr id="22" name="Cartão"/>
          <p:cNvSpPr/>
          <p:nvPr/>
        </p:nvSpPr>
        <p:spPr>
          <a:xfrm>
            <a:off x="548640" y="315468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3" name="Ícone customer"/>
          <p:cNvSpPr/>
          <p:nvPr/>
        </p:nvSpPr>
        <p:spPr>
          <a:xfrm>
            <a:off x="69494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4" name="Image 2" descr="custom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116" y="3411444"/>
            <a:ext cx="199705" cy="1997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170432" y="328269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Cliente</a:t>
            </a:r>
            <a:endParaRPr lang="en-US" sz="1250" dirty="0"/>
          </a:p>
        </p:txBody>
      </p:sp>
      <p:sp>
        <p:nvSpPr>
          <p:cNvPr id="26" name="Text 20"/>
          <p:cNvSpPr txBox="1"/>
          <p:nvPr/>
        </p:nvSpPr>
        <p:spPr>
          <a:xfrm>
            <a:off x="1170432" y="355701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ZTA_PC_CLIENTE</a:t>
            </a:r>
            <a:endParaRPr lang="en-US" sz="900" dirty="0"/>
          </a:p>
        </p:txBody>
      </p:sp>
      <p:sp>
        <p:nvSpPr>
          <p:cNvPr id="27" name="Text 21"/>
          <p:cNvSpPr txBox="1"/>
          <p:nvPr/>
        </p:nvSpPr>
        <p:spPr>
          <a:xfrm>
            <a:off x="713232" y="384962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CPF único · foto · score</a:t>
            </a:r>
            <a:endParaRPr lang="en-US" sz="1050" dirty="0"/>
          </a:p>
        </p:txBody>
      </p:sp>
      <p:sp>
        <p:nvSpPr>
          <p:cNvPr id="28" name="Cartão"/>
          <p:cNvSpPr/>
          <p:nvPr/>
        </p:nvSpPr>
        <p:spPr>
          <a:xfrm>
            <a:off x="3703320" y="3154680"/>
            <a:ext cx="292608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9" name="Ícone sales-order"/>
          <p:cNvSpPr/>
          <p:nvPr/>
        </p:nvSpPr>
        <p:spPr>
          <a:xfrm>
            <a:off x="384962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0" name="Image 3" descr="sales-ord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796" y="3411444"/>
            <a:ext cx="199705" cy="199705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325112" y="3282696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Pedido</a:t>
            </a:r>
            <a:endParaRPr lang="en-US" sz="1250" dirty="0"/>
          </a:p>
        </p:txBody>
      </p:sp>
      <p:sp>
        <p:nvSpPr>
          <p:cNvPr id="32" name="Text 25"/>
          <p:cNvSpPr txBox="1"/>
          <p:nvPr/>
        </p:nvSpPr>
        <p:spPr>
          <a:xfrm>
            <a:off x="4325112" y="3557016"/>
            <a:ext cx="22311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3867912" y="38496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número · status · valor total</a:t>
            </a:r>
            <a:endParaRPr lang="en-US" sz="1050" dirty="0"/>
          </a:p>
        </p:txBody>
      </p:sp>
      <p:sp>
        <p:nvSpPr>
          <p:cNvPr id="34" name="Cartão"/>
          <p:cNvSpPr/>
          <p:nvPr/>
        </p:nvSpPr>
        <p:spPr>
          <a:xfrm>
            <a:off x="7086600" y="3154680"/>
            <a:ext cx="196596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5" name="Ícone list"/>
          <p:cNvSpPr/>
          <p:nvPr/>
        </p:nvSpPr>
        <p:spPr>
          <a:xfrm>
            <a:off x="7232904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6" name="Image 4" descr="l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076" y="3411444"/>
            <a:ext cx="199705" cy="199705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708392" y="3282696"/>
            <a:ext cx="1271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do pedido</a:t>
            </a:r>
            <a:endParaRPr lang="en-US" sz="1250" dirty="0"/>
          </a:p>
        </p:txBody>
      </p:sp>
      <p:sp>
        <p:nvSpPr>
          <p:cNvPr id="38" name="Text 30"/>
          <p:cNvSpPr txBox="1"/>
          <p:nvPr/>
        </p:nvSpPr>
        <p:spPr>
          <a:xfrm>
            <a:off x="7708392" y="3557016"/>
            <a:ext cx="1271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ZTA_PC_ITEM_PED</a:t>
            </a:r>
            <a:endParaRPr lang="en-US" sz="900" dirty="0"/>
          </a:p>
        </p:txBody>
      </p:sp>
      <p:sp>
        <p:nvSpPr>
          <p:cNvPr id="39" name="Text 31"/>
          <p:cNvSpPr txBox="1"/>
          <p:nvPr/>
        </p:nvSpPr>
        <p:spPr>
          <a:xfrm>
            <a:off x="7251192" y="384962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qtde · preço · total</a:t>
            </a:r>
            <a:endParaRPr lang="en-US" sz="1050" dirty="0"/>
          </a:p>
        </p:txBody>
      </p:sp>
      <p:sp>
        <p:nvSpPr>
          <p:cNvPr id="40" name="Cartão"/>
          <p:cNvSpPr/>
          <p:nvPr/>
        </p:nvSpPr>
        <p:spPr>
          <a:xfrm>
            <a:off x="9582912" y="3154680"/>
            <a:ext cx="20574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1" name="Ícone product"/>
          <p:cNvSpPr/>
          <p:nvPr/>
        </p:nvSpPr>
        <p:spPr>
          <a:xfrm>
            <a:off x="9729216" y="331927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2" name="Image 5" descr="produc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388" y="3411444"/>
            <a:ext cx="199705" cy="199705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10204704" y="3282696"/>
            <a:ext cx="13624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Item de estoque</a:t>
            </a:r>
            <a:endParaRPr lang="en-US" sz="1250" dirty="0"/>
          </a:p>
        </p:txBody>
      </p:sp>
      <p:sp>
        <p:nvSpPr>
          <p:cNvPr id="44" name="Text 35"/>
          <p:cNvSpPr txBox="1"/>
          <p:nvPr/>
        </p:nvSpPr>
        <p:spPr>
          <a:xfrm>
            <a:off x="10204704" y="3557016"/>
            <a:ext cx="13624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ZTA_PC_ITEM</a:t>
            </a:r>
            <a:endParaRPr lang="en-US" sz="900" dirty="0"/>
          </a:p>
        </p:txBody>
      </p:sp>
      <p:sp>
        <p:nvSpPr>
          <p:cNvPr id="45" name="Text 36"/>
          <p:cNvSpPr txBox="1"/>
          <p:nvPr/>
        </p:nvSpPr>
        <p:spPr>
          <a:xfrm>
            <a:off x="9747504" y="3849624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SKU · reserva</a:t>
            </a:r>
            <a:endParaRPr lang="en-US" sz="1050" dirty="0"/>
          </a:p>
        </p:txBody>
      </p:sp>
      <p:sp>
        <p:nvSpPr>
          <p:cNvPr id="46" name="Cartão"/>
          <p:cNvSpPr/>
          <p:nvPr/>
        </p:nvSpPr>
        <p:spPr>
          <a:xfrm>
            <a:off x="548640" y="4892040"/>
            <a:ext cx="23317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47" name="Ícone addresses"/>
          <p:cNvSpPr/>
          <p:nvPr/>
        </p:nvSpPr>
        <p:spPr>
          <a:xfrm>
            <a:off x="6949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48" name="Image 6" descr="address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116" y="5148804"/>
            <a:ext cx="199705" cy="199705"/>
          </a:xfrm>
          <a:prstGeom prst="rect">
            <a:avLst/>
          </a:prstGeom>
        </p:spPr>
      </p:pic>
      <p:sp>
        <p:nvSpPr>
          <p:cNvPr id="49" name="Text 39"/>
          <p:cNvSpPr txBox="1"/>
          <p:nvPr/>
        </p:nvSpPr>
        <p:spPr>
          <a:xfrm>
            <a:off x="1170432" y="5020056"/>
            <a:ext cx="1636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Endereço</a:t>
            </a:r>
            <a:endParaRPr lang="en-US" sz="1250" dirty="0"/>
          </a:p>
        </p:txBody>
      </p:sp>
      <p:sp>
        <p:nvSpPr>
          <p:cNvPr id="50" name="Text 40"/>
          <p:cNvSpPr txBox="1"/>
          <p:nvPr/>
        </p:nvSpPr>
        <p:spPr>
          <a:xfrm>
            <a:off x="1170432" y="5294376"/>
            <a:ext cx="16367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ZTA_PC_ENDERECO</a:t>
            </a:r>
            <a:endParaRPr lang="en-US" sz="900" dirty="0"/>
          </a:p>
        </p:txBody>
      </p:sp>
      <p:sp>
        <p:nvSpPr>
          <p:cNvPr id="51" name="Text 41"/>
          <p:cNvSpPr txBox="1"/>
          <p:nvPr/>
        </p:nvSpPr>
        <p:spPr>
          <a:xfrm>
            <a:off x="713232" y="5586984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chave inclui o CEP</a:t>
            </a:r>
            <a:endParaRPr lang="en-US" sz="1050" dirty="0"/>
          </a:p>
        </p:txBody>
      </p:sp>
      <p:sp>
        <p:nvSpPr>
          <p:cNvPr id="52" name="Cartão"/>
          <p:cNvSpPr/>
          <p:nvPr/>
        </p:nvSpPr>
        <p:spPr>
          <a:xfrm>
            <a:off x="3063240" y="4892040"/>
            <a:ext cx="182880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3" name="Ícone payment-approval"/>
          <p:cNvSpPr/>
          <p:nvPr/>
        </p:nvSpPr>
        <p:spPr>
          <a:xfrm>
            <a:off x="320954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54" name="Image 7" descr="payment-approv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1716" y="5148804"/>
            <a:ext cx="199705" cy="199705"/>
          </a:xfrm>
          <a:prstGeom prst="rect">
            <a:avLst/>
          </a:prstGeom>
        </p:spPr>
      </p:pic>
      <p:sp>
        <p:nvSpPr>
          <p:cNvPr id="55" name="Text 44"/>
          <p:cNvSpPr txBox="1"/>
          <p:nvPr/>
        </p:nvSpPr>
        <p:spPr>
          <a:xfrm>
            <a:off x="3685032" y="5020056"/>
            <a:ext cx="1133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Pagamento</a:t>
            </a:r>
            <a:endParaRPr lang="en-US" sz="1250" dirty="0"/>
          </a:p>
        </p:txBody>
      </p:sp>
      <p:sp>
        <p:nvSpPr>
          <p:cNvPr id="56" name="Text 45"/>
          <p:cNvSpPr txBox="1"/>
          <p:nvPr/>
        </p:nvSpPr>
        <p:spPr>
          <a:xfrm>
            <a:off x="3685032" y="5294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ZTA_PC_PAGAMENTO</a:t>
            </a:r>
            <a:endParaRPr lang="en-US" sz="900" dirty="0"/>
          </a:p>
        </p:txBody>
      </p:sp>
      <p:sp>
        <p:nvSpPr>
          <p:cNvPr id="57" name="Text 46"/>
          <p:cNvSpPr txBox="1"/>
          <p:nvPr/>
        </p:nvSpPr>
        <p:spPr>
          <a:xfrm>
            <a:off x="3227832" y="5586984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última tentativa</a:t>
            </a:r>
            <a:endParaRPr lang="en-US" sz="1050" dirty="0"/>
          </a:p>
        </p:txBody>
      </p:sp>
      <p:sp>
        <p:nvSpPr>
          <p:cNvPr id="58" name="Cartão"/>
          <p:cNvSpPr/>
          <p:nvPr/>
        </p:nvSpPr>
        <p:spPr>
          <a:xfrm>
            <a:off x="5074920" y="4892040"/>
            <a:ext cx="210312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59" name="Ícone history"/>
          <p:cNvSpPr/>
          <p:nvPr/>
        </p:nvSpPr>
        <p:spPr>
          <a:xfrm>
            <a:off x="5221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0" name="Image 8" descr="history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13396" y="5148804"/>
            <a:ext cx="199705" cy="199705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696712" y="5020056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cliente</a:t>
            </a:r>
            <a:endParaRPr lang="en-US" sz="1250" dirty="0"/>
          </a:p>
        </p:txBody>
      </p:sp>
      <p:sp>
        <p:nvSpPr>
          <p:cNvPr id="62" name="Text 50"/>
          <p:cNvSpPr txBox="1"/>
          <p:nvPr/>
        </p:nvSpPr>
        <p:spPr>
          <a:xfrm>
            <a:off x="5696712" y="5294376"/>
            <a:ext cx="14081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ZTA_PC_SNAP_CLI</a:t>
            </a:r>
            <a:endParaRPr lang="en-US" sz="900" dirty="0"/>
          </a:p>
        </p:txBody>
      </p:sp>
      <p:sp>
        <p:nvSpPr>
          <p:cNvPr id="63" name="Text 51"/>
          <p:cNvSpPr txBox="1"/>
          <p:nvPr/>
        </p:nvSpPr>
        <p:spPr>
          <a:xfrm>
            <a:off x="5239512" y="55869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64" name="Cartão"/>
          <p:cNvSpPr/>
          <p:nvPr/>
        </p:nvSpPr>
        <p:spPr>
          <a:xfrm>
            <a:off x="7360920" y="4892040"/>
            <a:ext cx="1920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5" name="Ícone history"/>
          <p:cNvSpPr/>
          <p:nvPr/>
        </p:nvSpPr>
        <p:spPr>
          <a:xfrm>
            <a:off x="7507224" y="5056632"/>
            <a:ext cx="384048" cy="38404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66" name="Image 9" descr="histor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99396" y="5148804"/>
            <a:ext cx="199705" cy="199705"/>
          </a:xfrm>
          <a:prstGeom prst="rect">
            <a:avLst/>
          </a:prstGeom>
        </p:spPr>
      </p:pic>
      <p:sp>
        <p:nvSpPr>
          <p:cNvPr id="67" name="Text 54"/>
          <p:cNvSpPr txBox="1"/>
          <p:nvPr/>
        </p:nvSpPr>
        <p:spPr>
          <a:xfrm>
            <a:off x="7982712" y="5020056"/>
            <a:ext cx="1225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D2D3E"/>
                </a:solidFill>
              </a:rPr>
              <a:t>Snapshot itens</a:t>
            </a:r>
            <a:endParaRPr lang="en-US" sz="1250" dirty="0"/>
          </a:p>
        </p:txBody>
      </p:sp>
      <p:sp>
        <p:nvSpPr>
          <p:cNvPr id="68" name="Text 55"/>
          <p:cNvSpPr txBox="1"/>
          <p:nvPr/>
        </p:nvSpPr>
        <p:spPr>
          <a:xfrm>
            <a:off x="7982712" y="5294376"/>
            <a:ext cx="122529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6B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ZTA_PC_SNAP_ITM</a:t>
            </a:r>
            <a:endParaRPr lang="en-US" sz="900" dirty="0"/>
          </a:p>
        </p:txBody>
      </p:sp>
      <p:sp>
        <p:nvSpPr>
          <p:cNvPr id="69" name="Text 56"/>
          <p:cNvSpPr txBox="1"/>
          <p:nvPr/>
        </p:nvSpPr>
        <p:spPr>
          <a:xfrm>
            <a:off x="7525512" y="558698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D2D3E"/>
                </a:solidFill>
              </a:rPr>
              <a:t>histórico imutável</a:t>
            </a:r>
            <a:endParaRPr lang="en-US" sz="1050" dirty="0"/>
          </a:p>
        </p:txBody>
      </p:sp>
      <p:sp>
        <p:nvSpPr>
          <p:cNvPr id="70" name="Shape 57"/>
          <p:cNvSpPr/>
          <p:nvPr/>
        </p:nvSpPr>
        <p:spPr>
          <a:xfrm>
            <a:off x="5166360" y="2651760"/>
            <a:ext cx="0" cy="50292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1" name="Text 58"/>
          <p:cNvSpPr txBox="1"/>
          <p:nvPr/>
        </p:nvSpPr>
        <p:spPr>
          <a:xfrm>
            <a:off x="5257800" y="28072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2" name="Shape 59"/>
          <p:cNvSpPr/>
          <p:nvPr/>
        </p:nvSpPr>
        <p:spPr>
          <a:xfrm>
            <a:off x="2880360" y="3675888"/>
            <a:ext cx="822960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3" name="Text 60"/>
          <p:cNvSpPr txBox="1"/>
          <p:nvPr/>
        </p:nvSpPr>
        <p:spPr>
          <a:xfrm>
            <a:off x="2898648" y="34472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1</a:t>
            </a:r>
            <a:endParaRPr lang="en-US" sz="1000" dirty="0"/>
          </a:p>
        </p:txBody>
      </p:sp>
      <p:sp>
        <p:nvSpPr>
          <p:cNvPr id="74" name="Text 61"/>
          <p:cNvSpPr txBox="1"/>
          <p:nvPr/>
        </p:nvSpPr>
        <p:spPr>
          <a:xfrm>
            <a:off x="3291840" y="3447288"/>
            <a:ext cx="384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5" name="Shape 62"/>
          <p:cNvSpPr/>
          <p:nvPr/>
        </p:nvSpPr>
        <p:spPr>
          <a:xfrm>
            <a:off x="9052560" y="3675888"/>
            <a:ext cx="530352" cy="0"/>
          </a:xfrm>
          <a:prstGeom prst="line">
            <a:avLst/>
          </a:prstGeom>
          <a:noFill/>
          <a:ln w="19050">
            <a:solidFill>
              <a:srgbClr val="556B82"/>
            </a:solidFill>
            <a:prstDash val="dash"/>
          </a:ln>
        </p:spPr>
      </p:sp>
      <p:sp>
        <p:nvSpPr>
          <p:cNvPr id="76" name="Text 63"/>
          <p:cNvSpPr txBox="1"/>
          <p:nvPr/>
        </p:nvSpPr>
        <p:spPr>
          <a:xfrm>
            <a:off x="9052560" y="3447288"/>
            <a:ext cx="5303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N : 1</a:t>
            </a:r>
            <a:endParaRPr lang="en-US" sz="1000" dirty="0"/>
          </a:p>
        </p:txBody>
      </p:sp>
      <p:sp>
        <p:nvSpPr>
          <p:cNvPr id="77" name="Shape 64"/>
          <p:cNvSpPr/>
          <p:nvPr/>
        </p:nvSpPr>
        <p:spPr>
          <a:xfrm>
            <a:off x="6629400" y="3675888"/>
            <a:ext cx="4572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78" name="Text 65"/>
          <p:cNvSpPr txBox="1"/>
          <p:nvPr/>
        </p:nvSpPr>
        <p:spPr>
          <a:xfrm>
            <a:off x="6647688" y="3447288"/>
            <a:ext cx="4206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79" name="Shape 66"/>
          <p:cNvSpPr/>
          <p:nvPr/>
        </p:nvSpPr>
        <p:spPr>
          <a:xfrm>
            <a:off x="1714500" y="4206240"/>
            <a:ext cx="0" cy="68580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0" name="Text 67"/>
          <p:cNvSpPr txBox="1"/>
          <p:nvPr/>
        </p:nvSpPr>
        <p:spPr>
          <a:xfrm>
            <a:off x="1783080" y="44348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81" name="Shape 68"/>
          <p:cNvSpPr/>
          <p:nvPr/>
        </p:nvSpPr>
        <p:spPr>
          <a:xfrm>
            <a:off x="5166360" y="4206240"/>
            <a:ext cx="0" cy="347472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2" name="Shape 69"/>
          <p:cNvSpPr/>
          <p:nvPr/>
        </p:nvSpPr>
        <p:spPr>
          <a:xfrm>
            <a:off x="3977640" y="4553712"/>
            <a:ext cx="4343400" cy="0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3" name="Shape 70"/>
          <p:cNvSpPr/>
          <p:nvPr/>
        </p:nvSpPr>
        <p:spPr>
          <a:xfrm>
            <a:off x="39776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4" name="Text 71"/>
          <p:cNvSpPr txBox="1"/>
          <p:nvPr/>
        </p:nvSpPr>
        <p:spPr>
          <a:xfrm>
            <a:off x="40416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5" name="Shape 72"/>
          <p:cNvSpPr/>
          <p:nvPr/>
        </p:nvSpPr>
        <p:spPr>
          <a:xfrm>
            <a:off x="612648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6" name="Text 73"/>
          <p:cNvSpPr txBox="1"/>
          <p:nvPr/>
        </p:nvSpPr>
        <p:spPr>
          <a:xfrm>
            <a:off x="619048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0..1</a:t>
            </a:r>
            <a:endParaRPr lang="en-US" sz="1000" dirty="0"/>
          </a:p>
        </p:txBody>
      </p:sp>
      <p:sp>
        <p:nvSpPr>
          <p:cNvPr id="87" name="Shape 74"/>
          <p:cNvSpPr/>
          <p:nvPr/>
        </p:nvSpPr>
        <p:spPr>
          <a:xfrm>
            <a:off x="8321040" y="4553712"/>
            <a:ext cx="0" cy="338328"/>
          </a:xfrm>
          <a:prstGeom prst="line">
            <a:avLst/>
          </a:prstGeom>
          <a:noFill/>
          <a:ln w="25400">
            <a:solidFill>
              <a:srgbClr val="0070F2"/>
            </a:solidFill>
            <a:prstDash val="solid"/>
          </a:ln>
        </p:spPr>
      </p:sp>
      <p:sp>
        <p:nvSpPr>
          <p:cNvPr id="88" name="Text 75"/>
          <p:cNvSpPr txBox="1"/>
          <p:nvPr/>
        </p:nvSpPr>
        <p:spPr>
          <a:xfrm>
            <a:off x="8385048" y="46451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64D9"/>
                </a:solidFill>
              </a:rPr>
              <a:t>0..*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ATIVAS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Anatomia de uma tabela: ZTA_PC_PEDIDO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6492240" cy="4526280"/>
          </a:xfrm>
          <a:prstGeom prst="roundRect">
            <a:avLst>
              <a:gd name="adj" fmla="val 2020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ZAVBS_PC_PEDIDOS/Dictionary/ZTA_PC_PEDIDO.abap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603504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6035040" cy="3904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@EndUserText.label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'Pedido de compra'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@AbapCatalog.tableCategory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#TRANSPARENT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@AbapCatalog.deliveryClass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zta_pc_pedido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pedido_uuid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numero_pedido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cliente_uuid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sysuuid_x16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currency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cuky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0AB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@Semantics.amount.currencyCode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'zta_pc_pedido.currency'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valor_total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pedido_encerrado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xfeld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created_by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abp_creation_user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last_changed_at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abp_lastchange_tstmpl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local_last_changed_at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abp_locinst_lastchange_tstmpl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7315200" y="1645920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Ícone primary-key"/>
          <p:cNvSpPr/>
          <p:nvPr/>
        </p:nvSpPr>
        <p:spPr>
          <a:xfrm>
            <a:off x="7498080" y="182880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1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07808" y="1938528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19872" y="177393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Chave UUID técnica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8119872" y="2057400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sysuuid_x16 gerado pelo RAP (numbering : managed); o número legível fica em numero_pedido.</a:t>
            </a:r>
            <a:endParaRPr lang="en-US" sz="1100" dirty="0"/>
          </a:p>
        </p:txBody>
      </p:sp>
      <p:sp>
        <p:nvSpPr>
          <p:cNvPr id="14" name="Cartão"/>
          <p:cNvSpPr/>
          <p:nvPr/>
        </p:nvSpPr>
        <p:spPr>
          <a:xfrm>
            <a:off x="7315200" y="2807208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5" name="Ícone number-sign"/>
          <p:cNvSpPr/>
          <p:nvPr/>
        </p:nvSpPr>
        <p:spPr>
          <a:xfrm>
            <a:off x="7498080" y="299008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6" name="Image 1" descr="number-sig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7808" y="3099816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19872" y="29352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Tipos ABAP embutidos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119872" y="3218688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abap.char, abap.curr, xfeld… sem domínios nem elementos de dados próprios desde a v1.5.</a:t>
            </a:r>
            <a:endParaRPr lang="en-US" sz="1100" dirty="0"/>
          </a:p>
        </p:txBody>
      </p:sp>
      <p:sp>
        <p:nvSpPr>
          <p:cNvPr id="19" name="Cartão"/>
          <p:cNvSpPr/>
          <p:nvPr/>
        </p:nvSpPr>
        <p:spPr>
          <a:xfrm>
            <a:off x="7315200" y="3968496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0" name="Ícone money-bills"/>
          <p:cNvSpPr/>
          <p:nvPr/>
        </p:nvSpPr>
        <p:spPr>
          <a:xfrm>
            <a:off x="7498080" y="415137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1" name="Image 2" descr="money-bill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08" y="4261104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119872" y="4096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Valor com moeda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8119872" y="4379976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abap.curr ligado a abap.cuky por @Semantics.amount.currencyCode.</a:t>
            </a:r>
            <a:endParaRPr lang="en-US" sz="1100" dirty="0"/>
          </a:p>
        </p:txBody>
      </p:sp>
      <p:sp>
        <p:nvSpPr>
          <p:cNvPr id="24" name="Cartão"/>
          <p:cNvSpPr/>
          <p:nvPr/>
        </p:nvSpPr>
        <p:spPr>
          <a:xfrm>
            <a:off x="7315200" y="5129784"/>
            <a:ext cx="4325112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5" name="Ícone history"/>
          <p:cNvSpPr/>
          <p:nvPr/>
        </p:nvSpPr>
        <p:spPr>
          <a:xfrm>
            <a:off x="7498080" y="531266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26" name="Image 3" descr="histor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08" y="5422392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8119872" y="52578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Campos administrativos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119872" y="5541264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abp_* alimentam ETag, lock total e auditoria (criado/alterado por e em).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DECISÕES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Seis decisões de modelagem que guiam o resto do projeto</a:t>
            </a:r>
            <a:endParaRPr lang="en-US" sz="3000" dirty="0"/>
          </a:p>
        </p:txBody>
      </p:sp>
      <p:sp>
        <p:nvSpPr>
          <p:cNvPr id="5" name="Cartão"/>
          <p:cNvSpPr/>
          <p:nvPr/>
        </p:nvSpPr>
        <p:spPr>
          <a:xfrm>
            <a:off x="548640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Ícone primary-key"/>
          <p:cNvSpPr/>
          <p:nvPr/>
        </p:nvSpPr>
        <p:spPr>
          <a:xfrm>
            <a:off x="7772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7" name="Image 0" descr="primary-ke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357" y="1988637"/>
            <a:ext cx="247254" cy="24725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89888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Chave técnica + chave semântica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UUID na chave; CPF, SKU e número do pedido como chaves de negócio exibidas ao usuário.</a:t>
            </a:r>
            <a:endParaRPr lang="en-US" sz="1250" dirty="0"/>
          </a:p>
        </p:txBody>
      </p:sp>
      <p:sp>
        <p:nvSpPr>
          <p:cNvPr id="10" name="Cartão"/>
          <p:cNvSpPr/>
          <p:nvPr/>
        </p:nvSpPr>
        <p:spPr>
          <a:xfrm>
            <a:off x="4338218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1" name="Ícone list"/>
          <p:cNvSpPr/>
          <p:nvPr/>
        </p:nvSpPr>
        <p:spPr>
          <a:xfrm>
            <a:off x="4566818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2" name="Image 1" descr="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936" y="1988637"/>
            <a:ext cx="247254" cy="247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179466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Uma CodeList para tudo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66818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ZTA_PC_CODELIST guarda gênero, categoria, status e método de pagamento com texto e criticality.</a:t>
            </a:r>
            <a:endParaRPr lang="en-US" sz="1250" dirty="0"/>
          </a:p>
        </p:txBody>
      </p:sp>
      <p:sp>
        <p:nvSpPr>
          <p:cNvPr id="15" name="Cartão"/>
          <p:cNvSpPr/>
          <p:nvPr/>
        </p:nvSpPr>
        <p:spPr>
          <a:xfrm>
            <a:off x="8127797" y="164592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Ícone history"/>
          <p:cNvSpPr/>
          <p:nvPr/>
        </p:nvSpPr>
        <p:spPr>
          <a:xfrm>
            <a:off x="8356397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17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0514" y="1988637"/>
            <a:ext cx="247254" cy="24725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969045" y="187452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Snapshots imutáveis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56397" y="248716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Cliente e itens são copiados no encerramento do pedido: o histórico não muda se o cadastro mudar.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548640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1" name="Ícone flag"/>
          <p:cNvSpPr/>
          <p:nvPr/>
        </p:nvSpPr>
        <p:spPr>
          <a:xfrm>
            <a:off x="7772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2" name="Image 3" descr="fla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357" y="4366077"/>
            <a:ext cx="247254" cy="24725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389888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Indicadores físicos (xfeld)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777240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PedidoEncerrado e afins são colunas, porque a anotação hidden não aceita CASE/CAST em CDS.</a:t>
            </a:r>
            <a:endParaRPr lang="en-US" sz="1250" dirty="0"/>
          </a:p>
        </p:txBody>
      </p:sp>
      <p:sp>
        <p:nvSpPr>
          <p:cNvPr id="25" name="Cartão"/>
          <p:cNvSpPr/>
          <p:nvPr/>
        </p:nvSpPr>
        <p:spPr>
          <a:xfrm>
            <a:off x="4338218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26" name="Ícone addresses"/>
          <p:cNvSpPr/>
          <p:nvPr/>
        </p:nvSpPr>
        <p:spPr>
          <a:xfrm>
            <a:off x="4566818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27" name="Image 4" descr="address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0936" y="4366077"/>
            <a:ext cx="247254" cy="24725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179466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CEP na chave do endereço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66818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cep (not null) entra na chave primária: unicidade cliente + CEP garantida pelo próprio banco.</a:t>
            </a:r>
            <a:endParaRPr lang="en-US" sz="1250" dirty="0"/>
          </a:p>
        </p:txBody>
      </p:sp>
      <p:sp>
        <p:nvSpPr>
          <p:cNvPr id="30" name="Cartão"/>
          <p:cNvSpPr/>
          <p:nvPr/>
        </p:nvSpPr>
        <p:spPr>
          <a:xfrm>
            <a:off x="8127797" y="4023360"/>
            <a:ext cx="3515258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31" name="Ícone payment-approval"/>
          <p:cNvSpPr/>
          <p:nvPr/>
        </p:nvSpPr>
        <p:spPr>
          <a:xfrm>
            <a:off x="8356397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2F4F6"/>
          </a:solidFill>
          <a:ln/>
        </p:spPr>
      </p:sp>
      <p:pic>
        <p:nvPicPr>
          <p:cNvPr id="32" name="Image 5" descr="payment-approv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0514" y="4366077"/>
            <a:ext cx="247254" cy="24725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8969045" y="4251960"/>
            <a:ext cx="24911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Sem dados sensíveis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56397" y="4864608"/>
            <a:ext cx="30580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56B82"/>
                </a:solidFill>
              </a:rPr>
              <a:t>O pagamento simulado grava só bandeira, últimos 4 dígitos e máscara do cartão.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CODELISTS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Status com criticality, prontos para o Fiori</a:t>
            </a:r>
            <a:endParaRPr lang="en-US" sz="3000" dirty="0"/>
          </a:p>
        </p:txBody>
      </p:sp>
      <p:sp>
        <p:nvSpPr>
          <p:cNvPr id="5" name="Código"/>
          <p:cNvSpPr/>
          <p:nvPr/>
        </p:nvSpPr>
        <p:spPr>
          <a:xfrm>
            <a:off x="548640" y="1645920"/>
            <a:ext cx="4937760" cy="2331720"/>
          </a:xfrm>
          <a:prstGeom prst="roundRect">
            <a:avLst>
              <a:gd name="adj" fmla="val 3922"/>
            </a:avLst>
          </a:prstGeom>
          <a:solidFill>
            <a:srgbClr val="12171C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17556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4B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ZAVBS_PC_COMMON/Dictionary/ZTA_PC_CODELIST.abap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77240" y="2066544"/>
            <a:ext cx="4480560" cy="0"/>
          </a:xfrm>
          <a:prstGeom prst="line">
            <a:avLst/>
          </a:prstGeom>
          <a:noFill/>
          <a:ln w="12700">
            <a:solidFill>
              <a:srgbClr val="2E3A46"/>
            </a:solidFill>
            <a:prstDash val="solid"/>
          </a:ln>
        </p:spPr>
      </p:sp>
      <p:sp>
        <p:nvSpPr>
          <p:cNvPr id="8" name="Trecho de código"/>
          <p:cNvSpPr txBox="1"/>
          <p:nvPr/>
        </p:nvSpPr>
        <p:spPr>
          <a:xfrm>
            <a:off x="777240" y="215798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define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zta_pc_codelist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clnt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codigo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DB1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descricao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FF9F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criticality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int1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abap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int2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8EC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Cartão"/>
          <p:cNvSpPr/>
          <p:nvPr/>
        </p:nvSpPr>
        <p:spPr>
          <a:xfrm>
            <a:off x="548640" y="420624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22960" y="43891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D3E"/>
                </a:solidFill>
              </a:rPr>
              <a:t>Listas sem criticality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70916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Masculino, Feminino, Não binário, Outro, Prefiro não informar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Eletrônicos, Informática, Escritório, Casa, Vestuário…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METODO_PAGAMENTO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B82"/>
                </a:solidFill>
              </a:rPr>
              <a:t>Cartão de crédito, Cartão de débito</a:t>
            </a:r>
            <a:endParaRPr lang="en-US" sz="1100" dirty="0"/>
          </a:p>
        </p:txBody>
      </p:sp>
      <p:sp>
        <p:nvSpPr>
          <p:cNvPr id="12" name="Cartão"/>
          <p:cNvSpPr/>
          <p:nvPr/>
        </p:nvSpPr>
        <p:spPr>
          <a:xfrm>
            <a:off x="5806440" y="1645920"/>
            <a:ext cx="583661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0807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STATUS_PEDIDO</a:t>
            </a:r>
            <a:endParaRPr lang="en-US" sz="1200" dirty="0"/>
          </a:p>
        </p:txBody>
      </p:sp>
      <p:sp>
        <p:nvSpPr>
          <p:cNvPr id="14" name="Status Aberto"/>
          <p:cNvSpPr/>
          <p:nvPr/>
        </p:nvSpPr>
        <p:spPr>
          <a:xfrm>
            <a:off x="6080760" y="2194560"/>
            <a:ext cx="746882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Aberto</a:t>
            </a:r>
            <a:endParaRPr lang="en-US" sz="1150" dirty="0"/>
          </a:p>
        </p:txBody>
      </p:sp>
      <p:sp>
        <p:nvSpPr>
          <p:cNvPr id="15" name="Status Aguardando aprovação"/>
          <p:cNvSpPr/>
          <p:nvPr/>
        </p:nvSpPr>
        <p:spPr>
          <a:xfrm>
            <a:off x="6937370" y="2194560"/>
            <a:ext cx="1806854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Aguardando aprovação</a:t>
            </a:r>
            <a:endParaRPr lang="en-US" sz="1150" dirty="0"/>
          </a:p>
        </p:txBody>
      </p:sp>
      <p:sp>
        <p:nvSpPr>
          <p:cNvPr id="16" name="Status Processando reembolso"/>
          <p:cNvSpPr/>
          <p:nvPr/>
        </p:nvSpPr>
        <p:spPr>
          <a:xfrm>
            <a:off x="8853952" y="2194560"/>
            <a:ext cx="188256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Processando reembolso</a:t>
            </a:r>
            <a:endParaRPr lang="en-US" sz="1150" dirty="0"/>
          </a:p>
        </p:txBody>
      </p:sp>
      <p:sp>
        <p:nvSpPr>
          <p:cNvPr id="17" name="Status Cancelado"/>
          <p:cNvSpPr/>
          <p:nvPr/>
        </p:nvSpPr>
        <p:spPr>
          <a:xfrm>
            <a:off x="6080760" y="2596896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Cancelado</a:t>
            </a:r>
            <a:endParaRPr lang="en-US" sz="1150" dirty="0"/>
          </a:p>
        </p:txBody>
      </p:sp>
      <p:sp>
        <p:nvSpPr>
          <p:cNvPr id="18" name="Status Finalizado"/>
          <p:cNvSpPr/>
          <p:nvPr/>
        </p:nvSpPr>
        <p:spPr>
          <a:xfrm>
            <a:off x="7164507" y="2596896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Finalizado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080760" y="3054096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080760" y="32095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STATUS_PAGAMENTO</a:t>
            </a:r>
            <a:endParaRPr lang="en-US" sz="1200" dirty="0"/>
          </a:p>
        </p:txBody>
      </p:sp>
      <p:sp>
        <p:nvSpPr>
          <p:cNvPr id="21" name="Status Pendente"/>
          <p:cNvSpPr/>
          <p:nvPr/>
        </p:nvSpPr>
        <p:spPr>
          <a:xfrm>
            <a:off x="6080760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22" name="Status Aprovado"/>
          <p:cNvSpPr/>
          <p:nvPr/>
        </p:nvSpPr>
        <p:spPr>
          <a:xfrm>
            <a:off x="7088795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23" name="Status Recusado"/>
          <p:cNvSpPr/>
          <p:nvPr/>
        </p:nvSpPr>
        <p:spPr>
          <a:xfrm>
            <a:off x="8096829" y="3575304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Recusado</a:t>
            </a:r>
            <a:endParaRPr lang="en-US" sz="1150" dirty="0"/>
          </a:p>
        </p:txBody>
      </p:sp>
      <p:sp>
        <p:nvSpPr>
          <p:cNvPr id="24" name="Status Devolvido"/>
          <p:cNvSpPr/>
          <p:nvPr/>
        </p:nvSpPr>
        <p:spPr>
          <a:xfrm>
            <a:off x="9104864" y="3575304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EFF1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56B82"/>
                </a:solidFill>
              </a:rPr>
              <a:t>Devolvido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6080760" y="4032504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080760" y="4187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STATUS_REEMBOLSO</a:t>
            </a:r>
            <a:endParaRPr lang="en-US" sz="1200" dirty="0"/>
          </a:p>
        </p:txBody>
      </p:sp>
      <p:sp>
        <p:nvSpPr>
          <p:cNvPr id="27" name="Status Pendente"/>
          <p:cNvSpPr/>
          <p:nvPr/>
        </p:nvSpPr>
        <p:spPr>
          <a:xfrm>
            <a:off x="6080760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Pendente</a:t>
            </a:r>
            <a:endParaRPr lang="en-US" sz="1150" dirty="0"/>
          </a:p>
        </p:txBody>
      </p:sp>
      <p:sp>
        <p:nvSpPr>
          <p:cNvPr id="28" name="Status Aprovado"/>
          <p:cNvSpPr/>
          <p:nvPr/>
        </p:nvSpPr>
        <p:spPr>
          <a:xfrm>
            <a:off x="7088795" y="4553712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Aprovado</a:t>
            </a:r>
            <a:endParaRPr lang="en-US" sz="1150" dirty="0"/>
          </a:p>
        </p:txBody>
      </p:sp>
      <p:sp>
        <p:nvSpPr>
          <p:cNvPr id="29" name="Status Rejeitado"/>
          <p:cNvSpPr/>
          <p:nvPr/>
        </p:nvSpPr>
        <p:spPr>
          <a:xfrm>
            <a:off x="8096829" y="4553712"/>
            <a:ext cx="974019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Rejeitado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080760" y="5010912"/>
            <a:ext cx="5287975" cy="0"/>
          </a:xfrm>
          <a:prstGeom prst="line">
            <a:avLst/>
          </a:prstGeom>
          <a:noFill/>
          <a:ln w="12700">
            <a:solidFill>
              <a:srgbClr val="E5E5E5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080760" y="51663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D2D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STATUS_ESTOQUE</a:t>
            </a:r>
            <a:endParaRPr lang="en-US" sz="1200" dirty="0"/>
          </a:p>
        </p:txBody>
      </p:sp>
      <p:sp>
        <p:nvSpPr>
          <p:cNvPr id="32" name="Status Sem estoque"/>
          <p:cNvSpPr/>
          <p:nvPr/>
        </p:nvSpPr>
        <p:spPr>
          <a:xfrm>
            <a:off x="6080760" y="5532120"/>
            <a:ext cx="1125444" cy="310896"/>
          </a:xfrm>
          <a:prstGeom prst="roundRect">
            <a:avLst>
              <a:gd name="adj" fmla="val 50000"/>
            </a:avLst>
          </a:prstGeom>
          <a:solidFill>
            <a:srgbClr val="FFEAF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A0808"/>
                </a:solidFill>
              </a:rPr>
              <a:t>Sem estoque</a:t>
            </a:r>
            <a:endParaRPr lang="en-US" sz="1150" dirty="0"/>
          </a:p>
        </p:txBody>
      </p:sp>
      <p:sp>
        <p:nvSpPr>
          <p:cNvPr id="33" name="Status Acabando"/>
          <p:cNvSpPr/>
          <p:nvPr/>
        </p:nvSpPr>
        <p:spPr>
          <a:xfrm>
            <a:off x="7315932" y="5532120"/>
            <a:ext cx="898307" cy="310896"/>
          </a:xfrm>
          <a:prstGeom prst="roundRect">
            <a:avLst>
              <a:gd name="adj" fmla="val 50000"/>
            </a:avLst>
          </a:prstGeom>
          <a:solidFill>
            <a:srgbClr val="FFF3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3E00"/>
                </a:solidFill>
              </a:rPr>
              <a:t>Acabando</a:t>
            </a:r>
            <a:endParaRPr lang="en-US" sz="1150" dirty="0"/>
          </a:p>
        </p:txBody>
      </p:sp>
      <p:sp>
        <p:nvSpPr>
          <p:cNvPr id="34" name="Status Em estoque"/>
          <p:cNvSpPr/>
          <p:nvPr/>
        </p:nvSpPr>
        <p:spPr>
          <a:xfrm>
            <a:off x="8323966" y="5532120"/>
            <a:ext cx="1049731" cy="310896"/>
          </a:xfrm>
          <a:prstGeom prst="roundRect">
            <a:avLst>
              <a:gd name="adj" fmla="val 50000"/>
            </a:avLst>
          </a:prstGeom>
          <a:solidFill>
            <a:srgbClr val="F5FAE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56F3A"/>
                </a:solidFill>
              </a:rPr>
              <a:t>Em estoque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TABELAS DRAFT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Cada BO com draft ganha uma tabela de rascunho</a:t>
            </a:r>
            <a:endParaRPr lang="en-US" sz="3000" dirty="0"/>
          </a:p>
        </p:txBody>
      </p:sp>
      <p:sp>
        <p:nvSpPr>
          <p:cNvPr id="5" name="Fundo da tabela"/>
          <p:cNvSpPr/>
          <p:nvPr/>
        </p:nvSpPr>
        <p:spPr>
          <a:xfrm>
            <a:off x="548640" y="1645920"/>
            <a:ext cx="7040880" cy="4151376"/>
          </a:xfrm>
          <a:prstGeom prst="roundRect">
            <a:avLst>
              <a:gd name="adj" fmla="val 26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755648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194560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ativa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Tabela draft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2D3E"/>
                          </a:solidFill>
                        </a:rPr>
                        <a:t>Entidade CDS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ZR_PC_CLIENTE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ZR_PC_ENDERECO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ZTA_PC_ITPED_D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ZR_PC_ITEM_PEDIDO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ZTA_PC_PAGTO_D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ZR_PC_PAGAMENTO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ZTA_PC_SNAP_CLI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ZTA_PC_SNPCLI_D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ZR_PC_PED_CLI_SNAP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ZTA_PC_SNAP_ITM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ZTA_PC_SNPITM_D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ZR_PC_PED_ITEM_SNAP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56B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 (BO sem draft)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ZR_PC_REEMBOLSO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Cartão"/>
          <p:cNvSpPr/>
          <p:nvPr/>
        </p:nvSpPr>
        <p:spPr>
          <a:xfrm>
            <a:off x="7863840" y="1645920"/>
            <a:ext cx="3779215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Ícone edit-outside"/>
          <p:cNvSpPr/>
          <p:nvPr/>
        </p:nvSpPr>
        <p:spPr>
          <a:xfrm>
            <a:off x="8092440" y="187452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9" name="Image 0" descr="edit-outs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06557" y="1988637"/>
            <a:ext cx="247254" cy="24725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705088" y="187452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Como nascem</a:t>
            </a:r>
            <a:endParaRPr lang="en-US" sz="1500" dirty="0"/>
          </a:p>
        </p:txBody>
      </p:sp>
      <p:sp>
        <p:nvSpPr>
          <p:cNvPr id="11" name="Text 6"/>
          <p:cNvSpPr txBox="1"/>
          <p:nvPr/>
        </p:nvSpPr>
        <p:spPr>
          <a:xfrm>
            <a:off x="8092440" y="2487168"/>
            <a:ext cx="33220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 ADT: abrir a BDEF, posicionar no nome em draft table e usar Ctrl+1 → Create draft table. A estrutura espelha a entidade e inclui a administração do draft.</a:t>
            </a:r>
            <a:endParaRPr lang="en-US" sz="1200" dirty="0"/>
          </a:p>
        </p:txBody>
      </p:sp>
      <p:sp>
        <p:nvSpPr>
          <p:cNvPr id="12" name="Cartão"/>
          <p:cNvSpPr/>
          <p:nvPr/>
        </p:nvSpPr>
        <p:spPr>
          <a:xfrm>
            <a:off x="7863840" y="4023360"/>
            <a:ext cx="3779215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3" name="Ícone message-warning"/>
          <p:cNvSpPr/>
          <p:nvPr/>
        </p:nvSpPr>
        <p:spPr>
          <a:xfrm>
            <a:off x="8092440" y="4251960"/>
            <a:ext cx="475488" cy="475488"/>
          </a:xfrm>
          <a:prstGeom prst="roundRect">
            <a:avLst>
              <a:gd name="adj" fmla="val 22000"/>
            </a:avLst>
          </a:prstGeom>
          <a:solidFill>
            <a:srgbClr val="FFF3B8"/>
          </a:solidFill>
          <a:ln/>
        </p:spPr>
      </p:sp>
      <p:pic>
        <p:nvPicPr>
          <p:cNvPr id="14" name="Image 1" descr="message-warn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557" y="4366077"/>
            <a:ext cx="247254" cy="24725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705088" y="4251960"/>
            <a:ext cx="275508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Limite de 16 caracteres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8092440" y="4864608"/>
            <a:ext cx="33220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6B82"/>
                </a:solidFill>
              </a:rPr>
              <a:t>Nomes abreviados (ENDEREC, ITPED, PAGTO) não abreviam as colunas: dentro da draft vale o nome completo do elemento CDS.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INTEGRIDADE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Unicidade garantida no banco, não só na validation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6459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D2D3E"/>
                </a:solidFill>
              </a:rPr>
              <a:t>Índices secundários</a:t>
            </a:r>
            <a:endParaRPr lang="en-US" sz="1600" dirty="0"/>
          </a:p>
        </p:txBody>
      </p:sp>
      <p:sp>
        <p:nvSpPr>
          <p:cNvPr id="6" name="Fundo da tabela"/>
          <p:cNvSpPr/>
          <p:nvPr/>
        </p:nvSpPr>
        <p:spPr>
          <a:xfrm>
            <a:off x="548640" y="2084832"/>
            <a:ext cx="6217920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94560"/>
          <a:ext cx="5943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560320"/>
                <a:gridCol w="1097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Tabela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Campos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D3E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A8B3B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ZTA_PC_CLIENTE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CPF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SKU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56F3A"/>
                          </a:solidFill>
                        </a:rPr>
                        <a:t>único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ZTA_PC_ITEM_PED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ITEM_UUID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ZTA_PC_PEDIDO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56B82"/>
                          </a:solidFill>
                        </a:rPr>
                        <a:t>não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ZTA_PC_ENDERECO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D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CLIENTE_UUID, CEP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64D9"/>
                          </a:solidFill>
                        </a:rPr>
                        <a:t>chave</a:t>
                      </a:r>
                      <a:endParaRPr lang="en-US" sz="1250" dirty="0"/>
                    </a:p>
                  </a:txBody>
                  <a:tcPr marL="73152" marR="73152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Cartão"/>
          <p:cNvSpPr/>
          <p:nvPr/>
        </p:nvSpPr>
        <p:spPr>
          <a:xfrm>
            <a:off x="7086600" y="1645920"/>
            <a:ext cx="4556455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9" name="Ícone number-sign"/>
          <p:cNvSpPr/>
          <p:nvPr/>
        </p:nvSpPr>
        <p:spPr>
          <a:xfrm>
            <a:off x="7360920" y="1874520"/>
            <a:ext cx="548640" cy="548640"/>
          </a:xfrm>
          <a:prstGeom prst="roundRect">
            <a:avLst>
              <a:gd name="adj" fmla="val 22000"/>
            </a:avLst>
          </a:prstGeom>
          <a:solidFill>
            <a:srgbClr val="E1F4FF"/>
          </a:solidFill>
          <a:ln/>
        </p:spPr>
      </p:sp>
      <p:pic>
        <p:nvPicPr>
          <p:cNvPr id="10" name="Image 0" descr="number-sig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594" y="200619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092440" y="1874520"/>
            <a:ext cx="3367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D3E"/>
                </a:solidFill>
              </a:rPr>
              <a:t>Number Range ZPC_NR</a:t>
            </a:r>
            <a:endParaRPr lang="en-US" sz="1700" dirty="0"/>
          </a:p>
        </p:txBody>
      </p:sp>
      <p:sp>
        <p:nvSpPr>
          <p:cNvPr id="12" name="Text 7"/>
          <p:cNvSpPr txBox="1"/>
          <p:nvPr/>
        </p:nvSpPr>
        <p:spPr>
          <a:xfrm>
            <a:off x="7360920" y="2651760"/>
            <a:ext cx="40078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D3E"/>
                </a:solidFill>
              </a:rPr>
              <a:t>Domínio ZPC_NR_NUMC10 (NUMC 10), sem subobjeto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2D3E"/>
                </a:solidFill>
              </a:rPr>
              <a:t>Intervalo 01: número do pedido · intervalo 02: SKU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D2D3E"/>
                </a:solidFill>
              </a:rPr>
              <a:t>Main Memory Buffering ligado, com números no buffer &gt; 0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7360920" y="4160520"/>
            <a:ext cx="4007815" cy="1691640"/>
          </a:xfrm>
          <a:prstGeom prst="roundRect">
            <a:avLst>
              <a:gd name="adj" fmla="val 6486"/>
            </a:avLst>
          </a:prstGeom>
          <a:solidFill>
            <a:srgbClr val="FFEAF4"/>
          </a:solidFill>
          <a:ln/>
        </p:spPr>
      </p:sp>
      <p:pic>
        <p:nvPicPr>
          <p:cNvPr id="14" name="Image 1" descr="message-erro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4343400"/>
            <a:ext cx="329184" cy="32918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01000" y="4343400"/>
            <a:ext cx="31848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A0808"/>
                </a:solidFill>
              </a:rPr>
              <a:t>Sem buffer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7543800" y="4754880"/>
            <a:ext cx="3642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D2D3E"/>
                </a:solidFill>
              </a:rPr>
              <a:t>GET NUMBER faz UPDATE síncrono em NRIV dentro da transação RAP e o save termina em dump BEHAVIOR_ILLEGAL_STATEMENT.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8404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</a:rPr>
              <a:t>MÃO NA MASSA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76656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Ordem de criação no ADT: onde esta etapa termina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920240" y="2057400"/>
            <a:ext cx="8716975" cy="0"/>
          </a:xfrm>
          <a:prstGeom prst="line">
            <a:avLst/>
          </a:prstGeom>
          <a:noFill/>
          <a:ln w="25400">
            <a:solidFill>
              <a:srgbClr val="D9D9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tão"/>
          <p:cNvSpPr/>
          <p:nvPr/>
        </p:nvSpPr>
        <p:spPr>
          <a:xfrm>
            <a:off x="54864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7724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Pacotes e objetos manuais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Message class ZPC_MSG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Domínio ZPC_NR_NUMC10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Number range ZPC_NR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Objetos ZPC_ADMIN e ZPC_PEDIDO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Cartão"/>
          <p:cNvSpPr/>
          <p:nvPr/>
        </p:nvSpPr>
        <p:spPr>
          <a:xfrm>
            <a:off x="347472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70332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Classes base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70332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ZIF_PC_CONSTANTS · ZCX_PC_MSG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ZCL_PC_UTIL · ZCL_PC_VIACEP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ZCL_PC_AUTH · ZCL_PC_NUMERACAO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498080" y="17830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0070F2"/>
          </a:solidFill>
          <a:ln w="19050">
            <a:solidFill>
              <a:srgbClr val="0070F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5" name="Cartão"/>
          <p:cNvSpPr/>
          <p:nvPr/>
        </p:nvSpPr>
        <p:spPr>
          <a:xfrm>
            <a:off x="6400800" y="2606040"/>
            <a:ext cx="274320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223548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6294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D2D3E"/>
                </a:solidFill>
              </a:rPr>
              <a:t>Todas as tabelas ativas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3429000"/>
            <a:ext cx="2286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Pasta Dictionary/ de cada pacote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Inclusive ZTA_PC_CODELIST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D3E"/>
                </a:solidFill>
              </a:rPr>
              <a:t>Drafts vêm na etapa 3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982048" y="1783080"/>
            <a:ext cx="100584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56B82"/>
                </a:solidFill>
              </a:rPr>
              <a:t>Depois</a:t>
            </a:r>
            <a:endParaRPr lang="en-US" sz="1600" dirty="0"/>
          </a:p>
        </p:txBody>
      </p:sp>
      <p:sp>
        <p:nvSpPr>
          <p:cNvPr id="19" name="Cartão"/>
          <p:cNvSpPr/>
          <p:nvPr/>
        </p:nvSpPr>
        <p:spPr>
          <a:xfrm>
            <a:off x="9326880" y="2606040"/>
            <a:ext cx="2316175" cy="2743200"/>
          </a:xfrm>
          <a:prstGeom prst="roundRect">
            <a:avLst>
              <a:gd name="adj" fmla="val 4737"/>
            </a:avLst>
          </a:prstGeom>
          <a:solidFill>
            <a:srgbClr val="EEF0F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9555480" y="2788920"/>
            <a:ext cx="1858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56B82"/>
                </a:solidFill>
              </a:rPr>
              <a:t>Próximas etapas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3429000"/>
            <a:ext cx="185897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CDS e drafts: etapa 2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Behavior: etapa 3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Serviços: etapa 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556B82"/>
                </a:solidFill>
              </a:rPr>
              <a:t>Apps Fiori: etapa 5</a:t>
            </a:r>
            <a:endParaRPr lang="en-US" sz="1250" dirty="0"/>
          </a:p>
        </p:txBody>
      </p:sp>
      <p:sp>
        <p:nvSpPr>
          <p:cNvPr id="22" name="Cartão"/>
          <p:cNvSpPr/>
          <p:nvPr/>
        </p:nvSpPr>
        <p:spPr>
          <a:xfrm>
            <a:off x="548640" y="5559552"/>
            <a:ext cx="11094415" cy="594360"/>
          </a:xfrm>
          <a:prstGeom prst="roundRect">
            <a:avLst>
              <a:gd name="adj" fmla="val 18462"/>
            </a:avLst>
          </a:prstGeom>
          <a:solidFill>
            <a:srgbClr val="FFF3B8"/>
          </a:solidFill>
          <a:ln/>
        </p:spPr>
      </p:sp>
      <p:pic>
        <p:nvPicPr>
          <p:cNvPr id="23" name="Image 0" descr="message-war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87568"/>
            <a:ext cx="329184" cy="329184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280160" y="5559552"/>
            <a:ext cx="101800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D3E"/>
                </a:solidFill>
              </a:rPr>
              <a:t>Ative primeiro todas as tabelas e CDS, depois os behavior pools: o BO Cliente lê pedidos para bloquear a exclusão, por exemplo.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900">
                <a:solidFill>
                  <a:srgbClr val="556B8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31520" y="13258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ETAPA 1 CONCLUÍDA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31520" y="1737360"/>
            <a:ext cx="69494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Dados modelados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731520" y="338328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Dez tabelas ativas, oito drafts, CodeLists com criticality e unicidade garantida no banco.</a:t>
            </a:r>
            <a:endParaRPr lang="en-US" sz="1800" dirty="0"/>
          </a:p>
        </p:txBody>
      </p:sp>
      <p:sp>
        <p:nvSpPr>
          <p:cNvPr id="5" name="Decoração 1"/>
          <p:cNvSpPr/>
          <p:nvPr/>
        </p:nvSpPr>
        <p:spPr>
          <a:xfrm>
            <a:off x="8503920" y="-1463040"/>
            <a:ext cx="5120640" cy="5120640"/>
          </a:xfrm>
          <a:prstGeom prst="ellipse">
            <a:avLst/>
          </a:prstGeom>
          <a:solidFill>
            <a:srgbClr val="0070F2">
              <a:alpha val="28000"/>
            </a:srgbClr>
          </a:solidFill>
          <a:ln/>
        </p:spPr>
      </p:sp>
      <p:sp>
        <p:nvSpPr>
          <p:cNvPr id="6" name="Decoração 2"/>
          <p:cNvSpPr/>
          <p:nvPr/>
        </p:nvSpPr>
        <p:spPr>
          <a:xfrm>
            <a:off x="9784080" y="1828800"/>
            <a:ext cx="2834640" cy="2834640"/>
          </a:xfrm>
          <a:prstGeom prst="ellipse">
            <a:avLst/>
          </a:prstGeom>
          <a:solidFill>
            <a:srgbClr val="4DB1FF">
              <a:alpha val="1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923544" y="5266944"/>
            <a:ext cx="10131552" cy="0"/>
          </a:xfrm>
          <a:prstGeom prst="line">
            <a:avLst/>
          </a:prstGeom>
          <a:noFill/>
          <a:ln w="25400">
            <a:solidFill>
              <a:srgbClr val="3A4654"/>
            </a:solidFill>
            <a:prstDash val="solid"/>
          </a:ln>
        </p:spPr>
      </p:sp>
      <p:sp>
        <p:nvSpPr>
          <p:cNvPr id="8" name="Etapa 1"/>
          <p:cNvSpPr/>
          <p:nvPr/>
        </p:nvSpPr>
        <p:spPr>
          <a:xfrm>
            <a:off x="731520" y="5074920"/>
            <a:ext cx="384048" cy="384048"/>
          </a:xfrm>
          <a:prstGeom prst="ellipse">
            <a:avLst/>
          </a:prstGeom>
          <a:solidFill>
            <a:srgbClr val="1F4F86"/>
          </a:solidFill>
          <a:ln w="19050">
            <a:solidFill>
              <a:srgbClr val="1F4F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92024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Modelagem de dados</a:t>
            </a:r>
            <a:endParaRPr lang="en-US" sz="1100" dirty="0"/>
          </a:p>
        </p:txBody>
      </p:sp>
      <p:sp>
        <p:nvSpPr>
          <p:cNvPr id="10" name="Etapa 2"/>
          <p:cNvSpPr/>
          <p:nvPr/>
        </p:nvSpPr>
        <p:spPr>
          <a:xfrm>
            <a:off x="3264408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724912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Core Data Services</a:t>
            </a:r>
            <a:endParaRPr lang="en-US" sz="1100" dirty="0"/>
          </a:p>
        </p:txBody>
      </p:sp>
      <p:sp>
        <p:nvSpPr>
          <p:cNvPr id="12" name="Etapa 3"/>
          <p:cNvSpPr/>
          <p:nvPr/>
        </p:nvSpPr>
        <p:spPr>
          <a:xfrm>
            <a:off x="5797296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257800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Comportamento RAP</a:t>
            </a:r>
            <a:endParaRPr lang="en-US" sz="1100" dirty="0"/>
          </a:p>
        </p:txBody>
      </p:sp>
      <p:sp>
        <p:nvSpPr>
          <p:cNvPr id="14" name="Etapa 4"/>
          <p:cNvSpPr/>
          <p:nvPr/>
        </p:nvSpPr>
        <p:spPr>
          <a:xfrm>
            <a:off x="8330184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Serviços OData</a:t>
            </a:r>
            <a:endParaRPr lang="en-US" sz="1100" dirty="0"/>
          </a:p>
        </p:txBody>
      </p:sp>
      <p:sp>
        <p:nvSpPr>
          <p:cNvPr id="16" name="Etapa 5"/>
          <p:cNvSpPr/>
          <p:nvPr/>
        </p:nvSpPr>
        <p:spPr>
          <a:xfrm>
            <a:off x="10863072" y="5074920"/>
            <a:ext cx="384048" cy="384048"/>
          </a:xfrm>
          <a:prstGeom prst="ellipse">
            <a:avLst/>
          </a:prstGeom>
          <a:solidFill>
            <a:srgbClr val="1D232A"/>
          </a:solidFill>
          <a:ln w="19050">
            <a:solidFill>
              <a:srgbClr val="3A465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9B4BE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323576" y="55504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9B4BE"/>
                </a:solidFill>
              </a:rPr>
              <a:t>Apps Fiori</a:t>
            </a:r>
            <a:endParaRPr lang="en-US" sz="1100" dirty="0"/>
          </a:p>
        </p:txBody>
      </p:sp>
      <p:sp>
        <p:nvSpPr>
          <p:cNvPr id="18" name="Próxima etapa"/>
          <p:cNvSpPr/>
          <p:nvPr/>
        </p:nvSpPr>
        <p:spPr>
          <a:xfrm>
            <a:off x="8183880" y="1783080"/>
            <a:ext cx="3429000" cy="1600200"/>
          </a:xfrm>
          <a:prstGeom prst="roundRect">
            <a:avLst>
              <a:gd name="adj" fmla="val 6857"/>
            </a:avLst>
          </a:prstGeom>
          <a:solidFill>
            <a:srgbClr val="1D232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412480" y="196596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DB1FF"/>
                </a:solidFill>
              </a:rPr>
              <a:t>PRÓXIMA ETAPA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28600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Core Data Services: o modelo virtual sobre as tabelas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AP Horizon - Pedidos de Compras">
  <a:themeElements>
    <a:clrScheme name="SAP Horizon - Pedidos de Compras">
      <a:dk1>
        <a:srgbClr val="1D2D3E"/>
      </a:dk1>
      <a:lt1>
        <a:srgbClr val="FFFFFF"/>
      </a:lt1>
      <a:dk2>
        <a:srgbClr val="12171C"/>
      </a:dk2>
      <a:lt2>
        <a:srgbClr val="F5F6F7"/>
      </a:lt2>
      <a:accent1>
        <a:srgbClr val="0070F2"/>
      </a:accent1>
      <a:accent2>
        <a:srgbClr val="049F9A"/>
      </a:accent2>
      <a:accent3>
        <a:srgbClr val="8B47D7"/>
      </a:accent3>
      <a:accent4>
        <a:srgbClr val="C87B00"/>
      </a:accent4>
      <a:accent5>
        <a:srgbClr val="DF1278"/>
      </a:accent5>
      <a:accent6>
        <a:srgbClr val="256F3A"/>
      </a:accent6>
      <a:hlink>
        <a:srgbClr val="0064D9"/>
      </a:hlink>
      <a:folHlink>
        <a:srgbClr val="8B47D7"/>
      </a:folHlink>
    </a:clrScheme>
    <a:fontScheme name="SAP Horizon - Pedidos de Compra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Pedidos de Compras - SAP RAP / ABAP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Etapa 1 - Modelagem de dados</dc:title>
  <dc:subject>Pedidos de Compras no SAP BTP ABAP Environment</dc:subject>
  <dc:creator>Adriano Bispo</dc:creator>
  <cp:lastModifiedBy>Adriano Bispo</cp:lastModifiedBy>
  <cp:revision>1</cp:revision>
  <dcterms:created xsi:type="dcterms:W3CDTF">2026-10-20T02:24:38Z</dcterms:created>
  <dcterms:modified xsi:type="dcterms:W3CDTF">2026-10-20T02:24:38Z</dcterms:modified>
</cp:coreProperties>
</file>