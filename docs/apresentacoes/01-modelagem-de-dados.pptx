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87" r:id="rId38"/>
    <p:sldId id="258" r:id="rId4"/>
    <p:sldId id="259" r:id="rId5"/>
    <p:sldId id="288" r:id="rId39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ae4a077-0dd9-b6ad-c783-8c1af237d865}">
          <p14:sldIdLst>
            <p14:sldId id="256"/>
            <p14:sldId id="257"/>
            <p14:sldId id="258"/>
          </p14:sldIdLst>
        </p14:section>
        <p14:section name="Estrutura" id="{8046daae-1ac1-4a0a-a7d9-56a399e7a63b}">
          <p14:sldIdLst>
            <p14:sldId id="259"/>
            <p14:sldId id="260"/>
            <p14:sldId id="261"/>
            <p14:sldId id="262"/>
            <p14:sldId id="263"/>
          </p14:sldIdLst>
        </p14:section>
        <p14:section name="Common" id="{701dcd0b-63f3-638d-9ea2-6089a2ea7a9f}">
          <p14:sldIdLst>
            <p14:sldId id="264"/>
            <p14:sldId id="265"/>
            <p14:sldId id="266"/>
            <p14:sldId id="267"/>
            <p14:sldId id="268"/>
          </p14:sldIdLst>
        </p14:section>
        <p14:section name="Clientes" id="{bcd43c64-5d72-6922-3b32-b0e719d03355}">
          <p14:sldIdLst>
            <p14:sldId id="269"/>
            <p14:sldId id="270"/>
            <p14:sldId id="271"/>
          </p14:sldIdLst>
        </p14:section>
        <p14:section name="Estoque" id="{858c5c43-a390-7ab0-926b-746c936cf5db}">
          <p14:sldIdLst>
            <p14:sldId id="272"/>
            <p14:sldId id="273"/>
          </p14:sldIdLst>
        </p14:section>
        <p14:section name="Pedidos" id="{1aa8ac98-97d7-e0ae-24eb-91573b69a521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Reembolsos" id="{23c1a3f6-7c90-bcbf-6c8e-2c5b10be67d3}">
          <p14:sldIdLst>
            <p14:sldId id="280"/>
            <p14:sldId id="281"/>
          </p14:sldIdLst>
        </p14:section>
        <p14:section name="Draft e integridade" id="{a229aacc-9cf4-cf39-bb7c-7a152d8a0b98}">
          <p14:sldIdLst>
            <p14:sldId id="282"/>
            <p14:sldId id="283"/>
            <p14:sldId id="284"/>
            <p14:sldId id="285"/>
          </p14:sldIdLst>
        </p14:section>
        <p14:section name="Encerramento" id="{f79ce66d-7242-080a-4c4c-a65ba3dcee59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  <Relationship Id="rId38" Type="http://schemas.openxmlformats.org/officeDocument/2006/relationships/slide" Target="slides/slide32.xml"/>
<Relationship Id="rId39" Type="http://schemas.openxmlformats.org/officeDocument/2006/relationships/slide" Target="slides/slide3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série. Esta primeira etapa cobre a camada de persistência: pacotes, as dez tabelas ativas e as oito drafts, chaves, CodeLists, numeração, mensagens e a integridade garantida no banco, organizadas por 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escopo: quatro BOs (Cliente, Item de estoque, Pedido e Reembolso), dez tabelas ativas e oito tabelas draft, cinco serviços OData V4 e oito apps Fiori (quatro de gestão e quatro de análise).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etapa vira um deck próprio. Hoje estamos na primeira: a modelagem dos dados. As próximas constroem, em ordem, as CDS views, o comportamento dos BOs, os serviços OData e as apps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domínio guarda suas tabelas, CDS, behavior pools e serviço; o pacote comum concentra o que é transversal. O prefixo ZAVBS_ são as iniciais do nome do autor e é opcional: o próximo slide mostra como usar 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é o centro: compõe itens, pagamento e snapshots, e se associa ao Cliente. Os itens do pedido apontam para o Item de estoque. O Reembolso é um BO próprio que referencia o pedido. Linhas cheias são composições (mesmo BO); tracejadas são associações entre 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dez tabelas ativas compartilham o mesmo esqueleto. As anotações de catálogo definem o tipo de tabela; client e UUID formam a chave; os cinco campos administrativos são exigidos pelo RAP para ETag, bloqueio e auditoria.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Desde a v1.5 o projeto não tem domínios nem elementos de dados próprios: as tabelas usam tipos técnicos embutidos. A única exceção é o domínio ZPC_NR_NUMC10, exigido pelo objeto de numeração.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decisão aqui tem consequência nas etapas seguintes: as chaves UUID e semânticas, a CodeList genérica, os indicadores físicos que dirigem a Object Page e os snapshots imutáveis.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Common. Tudo aqui é transversal: os status e textos das CodeLists, a numeração de pedidos e SKUs, as mensagens T100 e as constantes que evitam strings soltas no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única tabela guarda as sete listas do projeto, com chave lista + código. A coluna criticality (0 neutro, 1 vermelho, 2 amarelo, 3 verde) é lida pelas value helps e vira a cor do ObjectStatus no Fiori Elements, exatamente como nos pills deste slide. A carga vem de ZCL_PC_SETUP.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do pedido e o SKU saem do mesmo objeto de numeração, em intervalos que não se sobrepõem. O SKU mostra o número relativo ao início do intervalo 02, por isso começa em 0000000001. Sem buffer em memória, o GET NUMBER faz um UPDATE síncrono proibido na transação 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as mensagens de erro e sucesso estão na message class ZPC_MSG (até 73 caracteres, parâmetros &amp;1 a &amp;4). A exceção ZCX_PC_MSG expõe cada uma como constante e implementa if_abap_behv_message, então pode ir direto para o REPORTED do 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Status, códigos de CodeList, situação do CEP, numeração e MIME types aceitos ficam numa interface de constantes. O código dos behavior pools compara sempre com zif_pc_constants=&gt;…, nunca com literais.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Clientes: o root do BO Cliente e o filho Endereço.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é um cliente. O CPF é gravado só com dígitos e exibido formatado por um virtual element. A foto usa o trio conteúdo, MIME e nome do arquivo, que a anotação @Semantics.largeObject transforma em upload no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endereço é filho de composição do cliente. O CEP faz parte da chave da tabela (mas não da entidade CDS): o banco garante cliente + CEP único, e por isso o CEP de um endereço gravado não pode mais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Estoque: uma única tabela, mas com a regra de quantidades que o Pedido movimenta.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disponível é persistido (estoque menos reservada) para poder filtrar e ordenar a lista. A reserva só muda pelas actions internas ReservarEstoque, LiberarReserva e BaixarEstoque, chamadas pelo BO Pedido via EML.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Pedidos: cinco tabelas ativas e cinco drafts. As drafts de pagamento e snapshots existem porque o BO é draft, mas ficam vazias.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guarda o cliente, o endereço de entrega já formatado, os dois status, o total e os dados de finalização e cancelamento. Os quatro indicadores xfeld existem só para esconder ou mostrar seções da Object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liga o pedido a um item de estoque. O preço unitário é copiado no momento da inclusão: se o cadastro do item mudar depois, o pedido continua com o valor combinado.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Composição [0..1] do pedido: cada nova tentativa sobrescreve a anterior. Número completo do cartão, validade e CVV existem só em memória durante a action; aqui ficam apenas bandeira, últimos 4 dígitos e máscara.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finalizar ou cancelar, o pedido copia o cliente e o endereço de entrega para esta tabela. Se o cadastro mudar depois, o histórico do pedido não muda. O BO não oferece update nem delete para snapshots.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registro por item do pedido encerrado, com SKU, nome, categoria, quantidade e valores. A Object Page de pedidos finalizados e cancelados lê os itens daqui, não do cadastro de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Seção Reembolsos: uma tabela, sem rascunho, porque ninguém edita a solicitação; só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separa claramente o que é preenchido na solicitação (pelo BO Pedido, imutável depois) e o que é preenchido na decisão. O status anterior do pedido é guardado para que uma rejeição devolva o pedido exatamente ao ponto em que estava.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tabelas draft são geradas pelo quick fix do ADT a partir do nome declarado em 'draft table' na BDEF. O limite de 16 caracteres obriga a abreviar alguns nomes; nesse caso as colunas precisam usar o nome completo do elemento 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draft é gerada a partir da entidade CDS, não da tabela ativa. Por isso as colunas têm os nomes dos elementos CDS em minúsculas e sem sublinhado, e no fim vem o include de administração do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validation sozinha não protege contra duas ativações simultâneas. Por isso CPF e SKU têm índice único e o CEP faz parte da chave do endereço. Os índices não únicos aceleram as buscas por cliente e por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primeiros passos da ordem de ativação pertencem a esta etapa. Ative todas as tabelas antes de qualquer CDS: há dependências cruzadas intencionais entre os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pacotes por domínio, Pedido no centro do modelo, uma ficha por tabela, chaves UUID com chaves semânticas, CodeList única e integridade no banco. Na próxima etapa as tabelas ganham as views ZR_ e as projeções.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modelar, escolha onde estudar. O projeto foi construído no SAP BTP, ABAP environment, mas o framework RAP é o mesmo num SAP S/4HANA On-Premise: lá os pacotes são Standard ABAP e todos os objetos ativam sem erros. Mudam só dois objetos (ZIF_PC_CONSTANTS e ZCL_PC_VIACEP) e a configuração de segurança e de launchpad. As diferenças estão em abap/README.md; cada etapa mostra o caminho nos dois ambientes.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ZAVBS foi uma escolha pessoal do autor. Quem montar o próprio projeto pode usar qualquer prefixo; a sugestão genérica é ZPK. Crie os pacotes com o nome escolhido e ajuste o package: do ui5-deploy.yaml de cada app; nenhum fonte ABAP precisa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1 de 5 — Modelagem de dados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100" Type="http://schemas.openxmlformats.org/officeDocument/2006/relationships/image" Target="../media/cap-31-rId100.png"/><Relationship Id="rId101" Type="http://schemas.openxmlformats.org/officeDocument/2006/relationships/image" Target="../media/cap-31-rId101.png"/><Relationship Id="rId102" Type="http://schemas.openxmlformats.org/officeDocument/2006/relationships/image" Target="../media/cap-31-rId102.png"/><Relationship Id="rId103" Type="http://schemas.openxmlformats.org/officeDocument/2006/relationships/image" Target="../media/cap-31-rId103.png"/><Relationship Id="rId104" Type="http://schemas.openxmlformats.org/officeDocument/2006/relationships/image" Target="../media/cap-31-rId104.png"/><Relationship Id="rId105" Type="http://schemas.openxmlformats.org/officeDocument/2006/relationships/image" Target="../media/cap-31-rId105.png"/><Relationship Id="rId106" Type="http://schemas.openxmlformats.org/officeDocument/2006/relationships/image" Target="../media/cap-31-rId10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01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Modelagem de dados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Tabelas, chaves e decisões que sustentam os quatro Business Objects RAP do projeto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Modelagem de dados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1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domínios, um backend RAP para BTP ou On-Premise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70F2"/>
                </a:solidFill>
              </a:rPr>
              <a:t>4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Objects RAP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Cliente, Item, Pedido e Reembolso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2822387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50987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10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3050987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Tabelas ativas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050987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ZTA_PC_* com tipos ABAP embutidos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5096134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324734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8</a:t>
            </a:r>
            <a:endParaRPr lang="en-US" sz="5400" dirty="0"/>
          </a:p>
        </p:txBody>
      </p:sp>
      <p:sp>
        <p:nvSpPr>
          <p:cNvPr id="15" name="Text 12"/>
          <p:cNvSpPr txBox="1"/>
          <p:nvPr/>
        </p:nvSpPr>
        <p:spPr>
          <a:xfrm>
            <a:off x="5324734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Tabelas draft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324734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dos BOs com draft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7369881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598481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5</a:t>
            </a:r>
            <a:endParaRPr lang="en-US" sz="5400" dirty="0"/>
          </a:p>
        </p:txBody>
      </p:sp>
      <p:sp>
        <p:nvSpPr>
          <p:cNvPr id="19" name="Text 16"/>
          <p:cNvSpPr txBox="1"/>
          <p:nvPr/>
        </p:nvSpPr>
        <p:spPr>
          <a:xfrm>
            <a:off x="7598481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Serviços OData V4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598481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quatro de gestão e um analítico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9643628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872228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8</a:t>
            </a:r>
            <a:endParaRPr lang="en-US" sz="5400" dirty="0"/>
          </a:p>
        </p:txBody>
      </p:sp>
      <p:sp>
        <p:nvSpPr>
          <p:cNvPr id="23" name="Text 20"/>
          <p:cNvSpPr txBox="1"/>
          <p:nvPr/>
        </p:nvSpPr>
        <p:spPr>
          <a:xfrm>
            <a:off x="9872228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Apps Fiori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9872228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4 Fiori Elements + 4 SAPUI5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ap-box"/>
          <p:cNvSpPr/>
          <p:nvPr/>
        </p:nvSpPr>
        <p:spPr>
          <a:xfrm>
            <a:off x="822960" y="42062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0" descr="sap-bo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4337914"/>
            <a:ext cx="285293" cy="285293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554480" y="4206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Pilha tecnológica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822960" y="48920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mesmo backend RAP managed com draft roda no SAP BTP ABAP Environment (ABAP Cloud) e no SAP S/4HANA On-Premise (Standard ABAP); front-end em SAP Fiori Elements V4 e SAPUI5 freestyle.</a:t>
            </a:r>
            <a:endParaRPr lang="en-US" sz="1300" dirty="0"/>
          </a:p>
        </p:txBody>
      </p:sp>
      <p:sp>
        <p:nvSpPr>
          <p:cNvPr id="30" name="Status SAP BTP ABAP Environment"/>
          <p:cNvSpPr/>
          <p:nvPr/>
        </p:nvSpPr>
        <p:spPr>
          <a:xfrm>
            <a:off x="6537960" y="4251960"/>
            <a:ext cx="2260397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SAP BTP ou On-Premise</a:t>
            </a:r>
            <a:endParaRPr lang="en-US" sz="1150" dirty="0"/>
          </a:p>
        </p:txBody>
      </p:sp>
      <p:sp>
        <p:nvSpPr>
          <p:cNvPr id="31" name="Status ABAP Cloud · strict ( 2 )"/>
          <p:cNvSpPr/>
          <p:nvPr/>
        </p:nvSpPr>
        <p:spPr>
          <a:xfrm>
            <a:off x="8926373" y="4251960"/>
            <a:ext cx="2340864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RAP · strict ( 2 )</a:t>
            </a:r>
            <a:endParaRPr lang="en-US" sz="1150" dirty="0"/>
          </a:p>
        </p:txBody>
      </p:sp>
      <p:sp>
        <p:nvSpPr>
          <p:cNvPr id="32" name="Status RAP managed + draft"/>
          <p:cNvSpPr/>
          <p:nvPr/>
        </p:nvSpPr>
        <p:spPr>
          <a:xfrm>
            <a:off x="6537960" y="4690872"/>
            <a:ext cx="1858061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RAP managed + draft</a:t>
            </a:r>
            <a:endParaRPr lang="en-US" sz="1150" dirty="0"/>
          </a:p>
        </p:txBody>
      </p:sp>
      <p:sp>
        <p:nvSpPr>
          <p:cNvPr id="33" name="Status CDS View Entities"/>
          <p:cNvSpPr/>
          <p:nvPr/>
        </p:nvSpPr>
        <p:spPr>
          <a:xfrm>
            <a:off x="8524037" y="4690872"/>
            <a:ext cx="169712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CDS View Entities</a:t>
            </a:r>
            <a:endParaRPr lang="en-US" sz="1150" dirty="0"/>
          </a:p>
        </p:txBody>
      </p:sp>
      <p:sp>
        <p:nvSpPr>
          <p:cNvPr id="34" name="Status OData V4"/>
          <p:cNvSpPr/>
          <p:nvPr/>
        </p:nvSpPr>
        <p:spPr>
          <a:xfrm>
            <a:off x="10349179" y="4690872"/>
            <a:ext cx="972922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OData V4</a:t>
            </a:r>
            <a:endParaRPr lang="en-US" sz="1150" dirty="0"/>
          </a:p>
        </p:txBody>
      </p:sp>
      <p:sp>
        <p:nvSpPr>
          <p:cNvPr id="35" name="Status Fiori Elements V4"/>
          <p:cNvSpPr/>
          <p:nvPr/>
        </p:nvSpPr>
        <p:spPr>
          <a:xfrm>
            <a:off x="6537960" y="5129784"/>
            <a:ext cx="169712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Fiori Elements V4</a:t>
            </a:r>
            <a:endParaRPr lang="en-US" sz="1150" dirty="0"/>
          </a:p>
        </p:txBody>
      </p:sp>
      <p:sp>
        <p:nvSpPr>
          <p:cNvPr id="36" name="Status SAPUI5 freestyle"/>
          <p:cNvSpPr/>
          <p:nvPr/>
        </p:nvSpPr>
        <p:spPr>
          <a:xfrm>
            <a:off x="8363102" y="5129784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SAPUI5 freestyle</a:t>
            </a:r>
            <a:endParaRPr lang="en-US" sz="1150" dirty="0"/>
          </a:p>
        </p:txBody>
      </p:sp>
      <p:sp>
        <p:nvSpPr>
          <p:cNvPr id="37" name="Status API ViaCEP"/>
          <p:cNvSpPr/>
          <p:nvPr/>
        </p:nvSpPr>
        <p:spPr>
          <a:xfrm>
            <a:off x="10107778" y="512978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API ViaCEP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etapas, do banco de dados ao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7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1965960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Modelagem de dados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Pacotes, tabelas ativas e draft, chaves UUID, CodeLists e índices</a:t>
            </a:r>
            <a:endParaRPr lang="en-US" sz="1250" dirty="0"/>
          </a:p>
        </p:txBody>
      </p:sp>
      <p:sp>
        <p:nvSpPr>
          <p:cNvPr id="10" name="Status Você está aqui"/>
          <p:cNvSpPr/>
          <p:nvPr/>
        </p:nvSpPr>
        <p:spPr>
          <a:xfrm>
            <a:off x="777240" y="530352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Você está aqui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2813243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041843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2</a:t>
            </a:r>
            <a:endParaRPr lang="en-US" sz="1600" dirty="0"/>
          </a:p>
        </p:txBody>
      </p:sp>
      <p:pic>
        <p:nvPicPr>
          <p:cNvPr id="13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196596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041843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Core Data Services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3041843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Views ZR_ (BO), projeções ZC_*_APP, value helps, metadata extensions e cubos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5077846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5306446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1965960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06446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Comportamento RAP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306446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Behavior definitions, draft, determinations, validations, actions e EML</a:t>
            </a:r>
            <a:endParaRPr lang="en-US" sz="1250" dirty="0"/>
          </a:p>
        </p:txBody>
      </p:sp>
      <p:sp>
        <p:nvSpPr>
          <p:cNvPr id="21" name="Cartão"/>
          <p:cNvSpPr/>
          <p:nvPr/>
        </p:nvSpPr>
        <p:spPr>
          <a:xfrm>
            <a:off x="7342449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/>
          <p:nvPr/>
        </p:nvSpPr>
        <p:spPr>
          <a:xfrm>
            <a:off x="7571049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4</a:t>
            </a:r>
            <a:endParaRPr lang="en-US" sz="1600" dirty="0"/>
          </a:p>
        </p:txBody>
      </p:sp>
      <p:pic>
        <p:nvPicPr>
          <p:cNvPr id="23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1965960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571049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Serviços OData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7571049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Service definitions, bindings OData V4, publicação e autorização</a:t>
            </a:r>
            <a:endParaRPr lang="en-US" sz="1250" dirty="0"/>
          </a:p>
        </p:txBody>
      </p:sp>
      <p:sp>
        <p:nvSpPr>
          <p:cNvPr id="26" name="Cartão"/>
          <p:cNvSpPr/>
          <p:nvPr/>
        </p:nvSpPr>
        <p:spPr>
          <a:xfrm>
            <a:off x="9607052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9835652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5</a:t>
            </a:r>
            <a:endParaRPr lang="en-US" sz="1600" dirty="0"/>
          </a:p>
        </p:txBody>
      </p:sp>
      <p:pic>
        <p:nvPicPr>
          <p:cNvPr id="28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1965960"/>
            <a:ext cx="384048" cy="3840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835652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Apps Fiori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9835652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Fiori Elements, apps de análise, navegação, launchpad e deploy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ORGANIZAÇÃO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pacote por domínio e um pacote comum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1F4FF"/>
          </a:solidFill>
          <a:ln/>
        </p:spPr>
      </p:sp>
      <p:pic>
        <p:nvPicPr>
          <p:cNvPr id="6" name="Image 0" descr="folder-bla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01368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459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ZAVBS_PEDIDOS_COMPRAS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 pacote principal · BTP: ZLOCAL, ABAP Cloud · On-Premise: Standard ABAP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1566642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9" name="Cartão"/>
          <p:cNvSpPr/>
          <p:nvPr/>
        </p:nvSpPr>
        <p:spPr>
          <a:xfrm>
            <a:off x="548640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Ícone settings"/>
          <p:cNvSpPr/>
          <p:nvPr/>
        </p:nvSpPr>
        <p:spPr>
          <a:xfrm>
            <a:off x="749808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1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25" y="2921325"/>
            <a:ext cx="247254" cy="24725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9808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ZAVBS_PC_COMMON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749808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Constantes, mensagens ZPC_MSG, autorização, numeração ZPC_NR, CodeLists, importação de planilhas e setup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49808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49808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31245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Cartão"/>
          <p:cNvSpPr/>
          <p:nvPr/>
        </p:nvSpPr>
        <p:spPr>
          <a:xfrm>
            <a:off x="2813243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customer"/>
          <p:cNvSpPr/>
          <p:nvPr/>
        </p:nvSpPr>
        <p:spPr>
          <a:xfrm>
            <a:off x="3014411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9" name="Image 2" descr="custo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528" y="2921325"/>
            <a:ext cx="247254" cy="24725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014411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ZAVBS_PC_CLIENTES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3014411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Cliente + Endereço, value helps e serviço ZUI_PC_CLIENTES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3014411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014411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 · ZTA_PC_ENDERECO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095848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5" name="Cartão"/>
          <p:cNvSpPr/>
          <p:nvPr/>
        </p:nvSpPr>
        <p:spPr>
          <a:xfrm>
            <a:off x="5077846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product"/>
          <p:cNvSpPr/>
          <p:nvPr/>
        </p:nvSpPr>
        <p:spPr>
          <a:xfrm>
            <a:off x="5279014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3" descr="produ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131" y="2921325"/>
            <a:ext cx="247254" cy="24725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79014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ZAVBS_PC_ESTOQUE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5279014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Item de estoque, value help de item e serviço ZUI_PC_ESTOQUE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279014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279014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8360451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33" name="Cartão"/>
          <p:cNvSpPr/>
          <p:nvPr/>
        </p:nvSpPr>
        <p:spPr>
          <a:xfrm>
            <a:off x="7342449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sales-order"/>
          <p:cNvSpPr/>
          <p:nvPr/>
        </p:nvSpPr>
        <p:spPr>
          <a:xfrm>
            <a:off x="7543617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5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7734" y="2921325"/>
            <a:ext cx="247254" cy="24725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543617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endParaRPr lang="en-US" sz="1050" dirty="0"/>
          </a:p>
        </p:txBody>
      </p:sp>
      <p:sp>
        <p:nvSpPr>
          <p:cNvPr id="37" name="Text 29"/>
          <p:cNvSpPr txBox="1"/>
          <p:nvPr/>
        </p:nvSpPr>
        <p:spPr>
          <a:xfrm>
            <a:off x="7543617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Pedido com itens; subpacotes _PAGAMENTOS e _SNAPSHOTS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7543617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7543617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 · ITEM_PED · PAGAMENTO · SNAP_CLI · SNAP_ITM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10625054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41" name="Cartão"/>
          <p:cNvSpPr/>
          <p:nvPr/>
        </p:nvSpPr>
        <p:spPr>
          <a:xfrm>
            <a:off x="9607052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2" name="Ícone money-bills"/>
          <p:cNvSpPr/>
          <p:nvPr/>
        </p:nvSpPr>
        <p:spPr>
          <a:xfrm>
            <a:off x="9808220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3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2337" y="2921325"/>
            <a:ext cx="247254" cy="247254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9808220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ZAVBS_PC_REEMBOLSOS</a:t>
            </a:r>
            <a:endParaRPr lang="en-US" sz="1050" dirty="0"/>
          </a:p>
        </p:txBody>
      </p:sp>
      <p:sp>
        <p:nvSpPr>
          <p:cNvPr id="45" name="Text 36"/>
          <p:cNvSpPr txBox="1"/>
          <p:nvPr/>
        </p:nvSpPr>
        <p:spPr>
          <a:xfrm>
            <a:off x="9808220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Reembolso (root sem draft) e serviço ZUI_PC_REEMBOLSOS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9808220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9808220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1566642" y="2331720"/>
            <a:ext cx="9058412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MODELO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Como as entidades se relacionam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Legenda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2084832"/>
            <a:ext cx="5486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34440" y="198424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composição (filho do BO)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1234440" y="22951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associação (outro BO)</a:t>
            </a:r>
            <a:endParaRPr lang="en-US" sz="1100" dirty="0"/>
          </a:p>
        </p:txBody>
      </p:sp>
      <p:sp>
        <p:nvSpPr>
          <p:cNvPr id="10" name="Cartão"/>
          <p:cNvSpPr/>
          <p:nvPr/>
        </p:nvSpPr>
        <p:spPr>
          <a:xfrm>
            <a:off x="3703320" y="16002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money-bills"/>
          <p:cNvSpPr/>
          <p:nvPr/>
        </p:nvSpPr>
        <p:spPr>
          <a:xfrm>
            <a:off x="3849624" y="17647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1796" y="1856964"/>
            <a:ext cx="199705" cy="19970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25112" y="17282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Reembolso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4325112" y="200253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3867912" y="22951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root sem draft · status e decisão</a:t>
            </a:r>
            <a:endParaRPr lang="en-US" sz="1050" dirty="0"/>
          </a:p>
        </p:txBody>
      </p:sp>
      <p:sp>
        <p:nvSpPr>
          <p:cNvPr id="16" name="Cartão"/>
          <p:cNvSpPr/>
          <p:nvPr/>
        </p:nvSpPr>
        <p:spPr>
          <a:xfrm>
            <a:off x="9582912" y="160020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5F6F7"/>
          </a:solidFill>
          <a:ln w="12700">
            <a:solidFill>
              <a:srgbClr val="556B82"/>
            </a:solidFill>
            <a:prstDash val="dash"/>
          </a:ln>
        </p:spPr>
      </p:sp>
      <p:sp>
        <p:nvSpPr>
          <p:cNvPr id="17" name="Ícone list"/>
          <p:cNvSpPr/>
          <p:nvPr/>
        </p:nvSpPr>
        <p:spPr>
          <a:xfrm>
            <a:off x="9729216" y="17647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8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88" y="1856964"/>
            <a:ext cx="199705" cy="199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204704" y="172821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CodeList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10204704" y="2002536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747504" y="22951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textos + criticality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548640" y="3154680"/>
            <a:ext cx="2331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customer"/>
          <p:cNvSpPr/>
          <p:nvPr/>
        </p:nvSpPr>
        <p:spPr>
          <a:xfrm>
            <a:off x="69494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4" name="Image 2" descr="custo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16" y="3411444"/>
            <a:ext cx="199705" cy="1997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70432" y="3282696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1170432" y="3557016"/>
            <a:ext cx="1636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713232" y="384962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CPF único · foto · score</a:t>
            </a:r>
            <a:endParaRPr lang="en-US" sz="1050" dirty="0"/>
          </a:p>
        </p:txBody>
      </p:sp>
      <p:sp>
        <p:nvSpPr>
          <p:cNvPr id="28" name="Cartão"/>
          <p:cNvSpPr/>
          <p:nvPr/>
        </p:nvSpPr>
        <p:spPr>
          <a:xfrm>
            <a:off x="3703320" y="315468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sales-order"/>
          <p:cNvSpPr/>
          <p:nvPr/>
        </p:nvSpPr>
        <p:spPr>
          <a:xfrm>
            <a:off x="384962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0" name="Image 3" descr="sales-ord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796" y="3411444"/>
            <a:ext cx="199705" cy="199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325112" y="328269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Pedido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4325112" y="355701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3867912" y="3849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número · status · valor total</a:t>
            </a:r>
            <a:endParaRPr lang="en-US" sz="1050" dirty="0"/>
          </a:p>
        </p:txBody>
      </p:sp>
      <p:sp>
        <p:nvSpPr>
          <p:cNvPr id="34" name="Cartão"/>
          <p:cNvSpPr/>
          <p:nvPr/>
        </p:nvSpPr>
        <p:spPr>
          <a:xfrm>
            <a:off x="7086600" y="3154680"/>
            <a:ext cx="19659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5" name="Ícone list"/>
          <p:cNvSpPr/>
          <p:nvPr/>
        </p:nvSpPr>
        <p:spPr>
          <a:xfrm>
            <a:off x="723290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6" name="Image 4" descr="l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076" y="3411444"/>
            <a:ext cx="199705" cy="19970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708392" y="3282696"/>
            <a:ext cx="1271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 do pedido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7708392" y="3557016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7251192" y="38496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qtde · preço · total</a:t>
            </a:r>
            <a:endParaRPr lang="en-US" sz="1050" dirty="0"/>
          </a:p>
        </p:txBody>
      </p:sp>
      <p:sp>
        <p:nvSpPr>
          <p:cNvPr id="40" name="Cartão"/>
          <p:cNvSpPr/>
          <p:nvPr/>
        </p:nvSpPr>
        <p:spPr>
          <a:xfrm>
            <a:off x="9582912" y="315468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1" name="Ícone product"/>
          <p:cNvSpPr/>
          <p:nvPr/>
        </p:nvSpPr>
        <p:spPr>
          <a:xfrm>
            <a:off x="9729216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2" name="Image 5" descr="produc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1388" y="3411444"/>
            <a:ext cx="199705" cy="19970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10204704" y="328269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 de estoque</a:t>
            </a:r>
            <a:endParaRPr lang="en-US" sz="1250" dirty="0"/>
          </a:p>
        </p:txBody>
      </p:sp>
      <p:sp>
        <p:nvSpPr>
          <p:cNvPr id="44" name="Text 35"/>
          <p:cNvSpPr txBox="1"/>
          <p:nvPr/>
        </p:nvSpPr>
        <p:spPr>
          <a:xfrm>
            <a:off x="10204704" y="3557016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9747504" y="384962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SKU · reserva</a:t>
            </a:r>
            <a:endParaRPr lang="en-US" sz="1050" dirty="0"/>
          </a:p>
        </p:txBody>
      </p:sp>
      <p:sp>
        <p:nvSpPr>
          <p:cNvPr id="46" name="Cartão"/>
          <p:cNvSpPr/>
          <p:nvPr/>
        </p:nvSpPr>
        <p:spPr>
          <a:xfrm>
            <a:off x="548640" y="4892040"/>
            <a:ext cx="2331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7" name="Ícone addresses"/>
          <p:cNvSpPr/>
          <p:nvPr/>
        </p:nvSpPr>
        <p:spPr>
          <a:xfrm>
            <a:off x="69494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8" name="Image 6" descr="address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116" y="5148804"/>
            <a:ext cx="199705" cy="199705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1170432" y="5020056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Endereço</a:t>
            </a:r>
            <a:endParaRPr lang="en-US" sz="1250" dirty="0"/>
          </a:p>
        </p:txBody>
      </p:sp>
      <p:sp>
        <p:nvSpPr>
          <p:cNvPr id="50" name="Text 40"/>
          <p:cNvSpPr txBox="1"/>
          <p:nvPr/>
        </p:nvSpPr>
        <p:spPr>
          <a:xfrm>
            <a:off x="1170432" y="5294376"/>
            <a:ext cx="1636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endParaRPr lang="en-US" sz="900" dirty="0"/>
          </a:p>
        </p:txBody>
      </p:sp>
      <p:sp>
        <p:nvSpPr>
          <p:cNvPr id="51" name="Text 41"/>
          <p:cNvSpPr txBox="1"/>
          <p:nvPr/>
        </p:nvSpPr>
        <p:spPr>
          <a:xfrm>
            <a:off x="713232" y="558698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chave inclui o CEP</a:t>
            </a:r>
            <a:endParaRPr lang="en-US" sz="1050" dirty="0"/>
          </a:p>
        </p:txBody>
      </p:sp>
      <p:sp>
        <p:nvSpPr>
          <p:cNvPr id="52" name="Cartão"/>
          <p:cNvSpPr/>
          <p:nvPr/>
        </p:nvSpPr>
        <p:spPr>
          <a:xfrm>
            <a:off x="3063240" y="4892040"/>
            <a:ext cx="18288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payment-approval"/>
          <p:cNvSpPr/>
          <p:nvPr/>
        </p:nvSpPr>
        <p:spPr>
          <a:xfrm>
            <a:off x="320954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54" name="Image 7" descr="payment-approv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01716" y="5148804"/>
            <a:ext cx="199705" cy="199705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3685032" y="5020056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56" name="Text 45"/>
          <p:cNvSpPr txBox="1"/>
          <p:nvPr/>
        </p:nvSpPr>
        <p:spPr>
          <a:xfrm>
            <a:off x="3685032" y="5294376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endParaRPr lang="en-US" sz="900" dirty="0"/>
          </a:p>
        </p:txBody>
      </p:sp>
      <p:sp>
        <p:nvSpPr>
          <p:cNvPr id="57" name="Text 46"/>
          <p:cNvSpPr txBox="1"/>
          <p:nvPr/>
        </p:nvSpPr>
        <p:spPr>
          <a:xfrm>
            <a:off x="3227832" y="558698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última tentativa</a:t>
            </a:r>
            <a:endParaRPr lang="en-US" sz="1050" dirty="0"/>
          </a:p>
        </p:txBody>
      </p:sp>
      <p:sp>
        <p:nvSpPr>
          <p:cNvPr id="58" name="Cartão"/>
          <p:cNvSpPr/>
          <p:nvPr/>
        </p:nvSpPr>
        <p:spPr>
          <a:xfrm>
            <a:off x="5074920" y="4892040"/>
            <a:ext cx="21031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9" name="Ícone history"/>
          <p:cNvSpPr/>
          <p:nvPr/>
        </p:nvSpPr>
        <p:spPr>
          <a:xfrm>
            <a:off x="522122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60" name="Image 8" descr="histor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13396" y="5148804"/>
            <a:ext cx="199705" cy="199705"/>
          </a:xfrm>
          <a:prstGeom prst="rect">
            <a:avLst/>
          </a:prstGeom>
        </p:spPr>
      </p:pic>
      <p:sp>
        <p:nvSpPr>
          <p:cNvPr id="61" name="Text 49"/>
          <p:cNvSpPr txBox="1"/>
          <p:nvPr/>
        </p:nvSpPr>
        <p:spPr>
          <a:xfrm>
            <a:off x="5696712" y="5020056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Snapshot cliente</a:t>
            </a:r>
            <a:endParaRPr lang="en-US" sz="1250" dirty="0"/>
          </a:p>
        </p:txBody>
      </p:sp>
      <p:sp>
        <p:nvSpPr>
          <p:cNvPr id="62" name="Text 50"/>
          <p:cNvSpPr txBox="1"/>
          <p:nvPr/>
        </p:nvSpPr>
        <p:spPr>
          <a:xfrm>
            <a:off x="5696712" y="5294376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endParaRPr lang="en-US" sz="900" dirty="0"/>
          </a:p>
        </p:txBody>
      </p:sp>
      <p:sp>
        <p:nvSpPr>
          <p:cNvPr id="63" name="Text 51"/>
          <p:cNvSpPr txBox="1"/>
          <p:nvPr/>
        </p:nvSpPr>
        <p:spPr>
          <a:xfrm>
            <a:off x="5239512" y="55869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histórico imutável</a:t>
            </a:r>
            <a:endParaRPr lang="en-US" sz="1050" dirty="0"/>
          </a:p>
        </p:txBody>
      </p:sp>
      <p:sp>
        <p:nvSpPr>
          <p:cNvPr id="64" name="Cartão"/>
          <p:cNvSpPr/>
          <p:nvPr/>
        </p:nvSpPr>
        <p:spPr>
          <a:xfrm>
            <a:off x="7360920" y="489204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5" name="Ícone history"/>
          <p:cNvSpPr/>
          <p:nvPr/>
        </p:nvSpPr>
        <p:spPr>
          <a:xfrm>
            <a:off x="750722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66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99396" y="5148804"/>
            <a:ext cx="199705" cy="199705"/>
          </a:xfrm>
          <a:prstGeom prst="rect">
            <a:avLst/>
          </a:prstGeom>
        </p:spPr>
      </p:pic>
      <p:sp>
        <p:nvSpPr>
          <p:cNvPr id="67" name="Text 54"/>
          <p:cNvSpPr txBox="1"/>
          <p:nvPr/>
        </p:nvSpPr>
        <p:spPr>
          <a:xfrm>
            <a:off x="7982712" y="502005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Snapshot itens</a:t>
            </a:r>
            <a:endParaRPr lang="en-US" sz="1250" dirty="0"/>
          </a:p>
        </p:txBody>
      </p:sp>
      <p:sp>
        <p:nvSpPr>
          <p:cNvPr id="68" name="Text 55"/>
          <p:cNvSpPr txBox="1"/>
          <p:nvPr/>
        </p:nvSpPr>
        <p:spPr>
          <a:xfrm>
            <a:off x="7982712" y="5294376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endParaRPr lang="en-US" sz="900" dirty="0"/>
          </a:p>
        </p:txBody>
      </p:sp>
      <p:sp>
        <p:nvSpPr>
          <p:cNvPr id="69" name="Text 56"/>
          <p:cNvSpPr txBox="1"/>
          <p:nvPr/>
        </p:nvSpPr>
        <p:spPr>
          <a:xfrm>
            <a:off x="7525512" y="558698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histórico imutável</a:t>
            </a:r>
            <a:endParaRPr lang="en-US" sz="1050" dirty="0"/>
          </a:p>
        </p:txBody>
      </p:sp>
      <p:sp>
        <p:nvSpPr>
          <p:cNvPr id="70" name="Shape 57"/>
          <p:cNvSpPr/>
          <p:nvPr/>
        </p:nvSpPr>
        <p:spPr>
          <a:xfrm>
            <a:off x="5166360" y="2651760"/>
            <a:ext cx="0" cy="50292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1" name="Text 58"/>
          <p:cNvSpPr txBox="1"/>
          <p:nvPr/>
        </p:nvSpPr>
        <p:spPr>
          <a:xfrm>
            <a:off x="5257800" y="28072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N : 1</a:t>
            </a:r>
            <a:endParaRPr lang="en-US" sz="1000" dirty="0"/>
          </a:p>
        </p:txBody>
      </p:sp>
      <p:sp>
        <p:nvSpPr>
          <p:cNvPr id="72" name="Shape 59"/>
          <p:cNvSpPr/>
          <p:nvPr/>
        </p:nvSpPr>
        <p:spPr>
          <a:xfrm>
            <a:off x="2880360" y="3675888"/>
            <a:ext cx="8229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3" name="Text 60"/>
          <p:cNvSpPr txBox="1"/>
          <p:nvPr/>
        </p:nvSpPr>
        <p:spPr>
          <a:xfrm>
            <a:off x="2898648" y="34472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1</a:t>
            </a:r>
            <a:endParaRPr lang="en-US" sz="1000" dirty="0"/>
          </a:p>
        </p:txBody>
      </p:sp>
      <p:sp>
        <p:nvSpPr>
          <p:cNvPr id="74" name="Text 61"/>
          <p:cNvSpPr txBox="1"/>
          <p:nvPr/>
        </p:nvSpPr>
        <p:spPr>
          <a:xfrm>
            <a:off x="3291840" y="344728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75" name="Shape 62"/>
          <p:cNvSpPr/>
          <p:nvPr/>
        </p:nvSpPr>
        <p:spPr>
          <a:xfrm>
            <a:off x="9052560" y="3675888"/>
            <a:ext cx="53035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6" name="Text 63"/>
          <p:cNvSpPr txBox="1"/>
          <p:nvPr/>
        </p:nvSpPr>
        <p:spPr>
          <a:xfrm>
            <a:off x="9052560" y="344728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N : 1</a:t>
            </a:r>
            <a:endParaRPr lang="en-US" sz="1000" dirty="0"/>
          </a:p>
        </p:txBody>
      </p:sp>
      <p:sp>
        <p:nvSpPr>
          <p:cNvPr id="77" name="Shape 64"/>
          <p:cNvSpPr/>
          <p:nvPr/>
        </p:nvSpPr>
        <p:spPr>
          <a:xfrm>
            <a:off x="6629400" y="3675888"/>
            <a:ext cx="45720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78" name="Text 65"/>
          <p:cNvSpPr txBox="1"/>
          <p:nvPr/>
        </p:nvSpPr>
        <p:spPr>
          <a:xfrm>
            <a:off x="6647688" y="3447288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79" name="Shape 66"/>
          <p:cNvSpPr/>
          <p:nvPr/>
        </p:nvSpPr>
        <p:spPr>
          <a:xfrm>
            <a:off x="1714500" y="4206240"/>
            <a:ext cx="0" cy="68580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0" name="Text 67"/>
          <p:cNvSpPr txBox="1"/>
          <p:nvPr/>
        </p:nvSpPr>
        <p:spPr>
          <a:xfrm>
            <a:off x="1783080" y="44348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81" name="Shape 68"/>
          <p:cNvSpPr/>
          <p:nvPr/>
        </p:nvSpPr>
        <p:spPr>
          <a:xfrm>
            <a:off x="5166360" y="4206240"/>
            <a:ext cx="0" cy="347472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2" name="Shape 69"/>
          <p:cNvSpPr/>
          <p:nvPr/>
        </p:nvSpPr>
        <p:spPr>
          <a:xfrm>
            <a:off x="3977640" y="4553712"/>
            <a:ext cx="434340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3" name="Shape 70"/>
          <p:cNvSpPr/>
          <p:nvPr/>
        </p:nvSpPr>
        <p:spPr>
          <a:xfrm>
            <a:off x="397764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4" name="Text 71"/>
          <p:cNvSpPr txBox="1"/>
          <p:nvPr/>
        </p:nvSpPr>
        <p:spPr>
          <a:xfrm>
            <a:off x="404164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0..1</a:t>
            </a:r>
            <a:endParaRPr lang="en-US" sz="1000" dirty="0"/>
          </a:p>
        </p:txBody>
      </p:sp>
      <p:sp>
        <p:nvSpPr>
          <p:cNvPr id="85" name="Shape 72"/>
          <p:cNvSpPr/>
          <p:nvPr/>
        </p:nvSpPr>
        <p:spPr>
          <a:xfrm>
            <a:off x="612648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6" name="Text 73"/>
          <p:cNvSpPr txBox="1"/>
          <p:nvPr/>
        </p:nvSpPr>
        <p:spPr>
          <a:xfrm>
            <a:off x="619048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0..1</a:t>
            </a:r>
            <a:endParaRPr lang="en-US" sz="1000" dirty="0"/>
          </a:p>
        </p:txBody>
      </p:sp>
      <p:sp>
        <p:nvSpPr>
          <p:cNvPr id="87" name="Shape 74"/>
          <p:cNvSpPr/>
          <p:nvPr/>
        </p:nvSpPr>
        <p:spPr>
          <a:xfrm>
            <a:off x="832104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8" name="Text 75"/>
          <p:cNvSpPr txBox="1"/>
          <p:nvPr/>
        </p:nvSpPr>
        <p:spPr>
          <a:xfrm>
            <a:off x="838504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ATIVAS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esqueleto comum de todas as tabelas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*.abap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ZTA_PC_*.abap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abap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ZAVBS_PC_*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ZTA_PC_*.abap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Clientes'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@AbapCatalog.enhancement.category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#NOT_EXTENSIBLE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@AbapCatalog.dataMaintenance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#RESTRICTED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entidade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campos de negócio 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abp_creation_user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abp_creation_tstmpl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last_changed_by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abp_lastchange_user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last_changed_at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abp_lastchange_tstmpl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abp_locinst_lastchange_tstmpl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Tabela transparente, classe de entrega A (dados de aplicação), sem extensão e sem manutenção genérica.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client + UUID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Mandante e um sysuuid_x16 que o RAP gera sozinho (numbering : managed).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Quem e quando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created_by/at e last_changed_by/at recebem @Semantics na view e são preenchidos pelo framework.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ETag e lock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local_last_changed_at é o ETag da instância; last_changed_at é o ETag total usado no lock master.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TIPOS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Tipos ABAP embutidos, sem dicionário próprio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017520"/>
                <a:gridCol w="46936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Significado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Onde aparece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abap.clnt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Mandante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 (primeira coluna de toda tabela)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sysuuid_x16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UUID binário de 16 bytes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chaves e referências: cliente_uuid, item_uuid…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abap.char(n)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Texto de tamanho fixo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cpf, nome, sku, status, motivos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abap.dats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Data AAAAMMDD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data_nascimento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abap.int1 · int2 · int4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Inteiros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criticality, ordem, quantidades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abap.dec(5,2)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Decimal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score_cliente (0 a 100)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abap.curr(15,2) + abap.cuky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Valor com moeda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preços, totais, valor do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abap_boolean · xfeld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Indicador X / espaço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cliente_ativo, item_ativo, flags do pedido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abap.rawstring(0)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Binário sem limite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foto_cliente, foto_item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timestampl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Timestamp UTC longo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data_pagamento, data_cancelamento, data_decisao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abp_*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Elementos de dados do RAP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os cinco campos administrativos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DECISÕES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Seis decisões de modelagem que guiam o resto do projeto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rimary-key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primary-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Chave técnica + chave semântica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UUID na chave; CPF, SKU e número do pedido como chaves de negócio exibidas ao usuário.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list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Uma CodeList para tudo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ZTA_PC_CODELIST guarda gênero, categoria, status e método de pagamento com texto e criticality.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history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Snapshots imutáveis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Cliente e itens são copiados no encerramento do pedido: o histórico não muda se o cadastro mudar.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flag"/>
          <p:cNvSpPr/>
          <p:nvPr/>
        </p:nvSpPr>
        <p:spPr>
          <a:xfrm>
            <a:off x="7772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fl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6607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Indicadores físicos (xfeld)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PedidoEncerrado e afins são colunas, porque a anotação hidden não aceita CASE/CAST em CDS.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addresses"/>
          <p:cNvSpPr/>
          <p:nvPr/>
        </p:nvSpPr>
        <p:spPr>
          <a:xfrm>
            <a:off x="4566818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addres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36607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CEP na chave do endereço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cep (not null) entra na chave primária: unicidade cliente + CEP garantida pelo próprio banco.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payment-approval"/>
          <p:cNvSpPr/>
          <p:nvPr/>
        </p:nvSpPr>
        <p:spPr>
          <a:xfrm>
            <a:off x="8356397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2" name="Image 5" descr="payment-approv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36607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Sem dados sensíveis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O pagamento simulado grava só bandeira, últimos 4 dígitos e máscara do cartão.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Common: a base compartilhada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CodeLists, numeração, mensagens e constantes que os quatro BOs usam. Ficam no pacote ZAVBS_PC_COMMON e são criados antes de qualquer tabela de domínio.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ZPC_NR_NUMC10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domínio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ZPC_NR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number range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ZPC_MSG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message class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interface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CODELISTS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ZTA_PC_CODELIST: listas e status com criticality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4937760" cy="2423160"/>
          </a:xfrm>
          <a:prstGeom prst="roundRect">
            <a:avLst>
              <a:gd name="adj" fmla="val 3774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4937760" cy="2075688"/>
          </a:xfrm>
          <a:prstGeom prst="roundRect">
            <a:avLst>
              <a:gd name="adj" fmla="val 4405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49194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49194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CODELIST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ZTA_PC_CODELIST.abap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ZTA_PC_CODELIST.abap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461772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abap.int1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abap.int2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548640" y="4206240"/>
            <a:ext cx="49377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2960" y="43891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Listas sem criticality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70916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Masculino, Feminino, Não binário, Outro, Prefiro não informar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Eletrônicos, Informática, Escritório, Casa, Vestuário…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Cartão de crédito, Cartão de débito</a:t>
            </a:r>
            <a:endParaRPr lang="en-US" sz="1100" dirty="0"/>
          </a:p>
        </p:txBody>
      </p:sp>
      <p:sp>
        <p:nvSpPr>
          <p:cNvPr id="16" name="Cartão"/>
          <p:cNvSpPr/>
          <p:nvPr/>
        </p:nvSpPr>
        <p:spPr>
          <a:xfrm>
            <a:off x="5806440" y="1645920"/>
            <a:ext cx="5836615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08076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endParaRPr lang="en-US" sz="1200" dirty="0"/>
          </a:p>
        </p:txBody>
      </p:sp>
      <p:sp>
        <p:nvSpPr>
          <p:cNvPr id="18" name="Status Aberto"/>
          <p:cNvSpPr/>
          <p:nvPr/>
        </p:nvSpPr>
        <p:spPr>
          <a:xfrm>
            <a:off x="6080760" y="2194560"/>
            <a:ext cx="746882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Aberto</a:t>
            </a:r>
            <a:endParaRPr lang="en-US" sz="1150" dirty="0"/>
          </a:p>
        </p:txBody>
      </p:sp>
      <p:sp>
        <p:nvSpPr>
          <p:cNvPr id="19" name="Status Aguardando aprovação"/>
          <p:cNvSpPr/>
          <p:nvPr/>
        </p:nvSpPr>
        <p:spPr>
          <a:xfrm>
            <a:off x="6937370" y="2194560"/>
            <a:ext cx="1806854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Aguardando aprovação</a:t>
            </a:r>
            <a:endParaRPr lang="en-US" sz="1150" dirty="0"/>
          </a:p>
        </p:txBody>
      </p:sp>
      <p:sp>
        <p:nvSpPr>
          <p:cNvPr id="20" name="Status Processando reembolso"/>
          <p:cNvSpPr/>
          <p:nvPr/>
        </p:nvSpPr>
        <p:spPr>
          <a:xfrm>
            <a:off x="8853952" y="2194560"/>
            <a:ext cx="188256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Processando reembolso</a:t>
            </a:r>
            <a:endParaRPr lang="en-US" sz="1150" dirty="0"/>
          </a:p>
        </p:txBody>
      </p:sp>
      <p:sp>
        <p:nvSpPr>
          <p:cNvPr id="21" name="Status Cancelado"/>
          <p:cNvSpPr/>
          <p:nvPr/>
        </p:nvSpPr>
        <p:spPr>
          <a:xfrm>
            <a:off x="6080760" y="2596896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Cancelado</a:t>
            </a:r>
            <a:endParaRPr lang="en-US" sz="1150" dirty="0"/>
          </a:p>
        </p:txBody>
      </p:sp>
      <p:sp>
        <p:nvSpPr>
          <p:cNvPr id="22" name="Status Finalizado"/>
          <p:cNvSpPr/>
          <p:nvPr/>
        </p:nvSpPr>
        <p:spPr>
          <a:xfrm>
            <a:off x="7164507" y="2596896"/>
            <a:ext cx="1049731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Finalizado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080760" y="3054096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080760" y="32095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endParaRPr lang="en-US" sz="1200" dirty="0"/>
          </a:p>
        </p:txBody>
      </p:sp>
      <p:sp>
        <p:nvSpPr>
          <p:cNvPr id="25" name="Status Pendente"/>
          <p:cNvSpPr/>
          <p:nvPr/>
        </p:nvSpPr>
        <p:spPr>
          <a:xfrm>
            <a:off x="6080760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Pendente</a:t>
            </a:r>
            <a:endParaRPr lang="en-US" sz="1150" dirty="0"/>
          </a:p>
        </p:txBody>
      </p:sp>
      <p:sp>
        <p:nvSpPr>
          <p:cNvPr id="26" name="Status Aprovado"/>
          <p:cNvSpPr/>
          <p:nvPr/>
        </p:nvSpPr>
        <p:spPr>
          <a:xfrm>
            <a:off x="7088795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Aprovado</a:t>
            </a:r>
            <a:endParaRPr lang="en-US" sz="1150" dirty="0"/>
          </a:p>
        </p:txBody>
      </p:sp>
      <p:sp>
        <p:nvSpPr>
          <p:cNvPr id="27" name="Status Recusado"/>
          <p:cNvSpPr/>
          <p:nvPr/>
        </p:nvSpPr>
        <p:spPr>
          <a:xfrm>
            <a:off x="8096829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Recusado</a:t>
            </a:r>
            <a:endParaRPr lang="en-US" sz="1150" dirty="0"/>
          </a:p>
        </p:txBody>
      </p:sp>
      <p:sp>
        <p:nvSpPr>
          <p:cNvPr id="28" name="Status Devolvido"/>
          <p:cNvSpPr/>
          <p:nvPr/>
        </p:nvSpPr>
        <p:spPr>
          <a:xfrm>
            <a:off x="9104864" y="3575304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Devolvido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080760" y="4032504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080760" y="4187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</a:t>
            </a:r>
            <a:endParaRPr lang="en-US" sz="1200" dirty="0"/>
          </a:p>
        </p:txBody>
      </p:sp>
      <p:sp>
        <p:nvSpPr>
          <p:cNvPr id="31" name="Status Pendente"/>
          <p:cNvSpPr/>
          <p:nvPr/>
        </p:nvSpPr>
        <p:spPr>
          <a:xfrm>
            <a:off x="6080760" y="4553712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Pendente</a:t>
            </a:r>
            <a:endParaRPr lang="en-US" sz="1150" dirty="0"/>
          </a:p>
        </p:txBody>
      </p:sp>
      <p:sp>
        <p:nvSpPr>
          <p:cNvPr id="32" name="Status Aprovado"/>
          <p:cNvSpPr/>
          <p:nvPr/>
        </p:nvSpPr>
        <p:spPr>
          <a:xfrm>
            <a:off x="7088795" y="4553712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Aprovado</a:t>
            </a:r>
            <a:endParaRPr lang="en-US" sz="1150" dirty="0"/>
          </a:p>
        </p:txBody>
      </p:sp>
      <p:sp>
        <p:nvSpPr>
          <p:cNvPr id="33" name="Status Rejeitado"/>
          <p:cNvSpPr/>
          <p:nvPr/>
        </p:nvSpPr>
        <p:spPr>
          <a:xfrm>
            <a:off x="8096829" y="4553712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Rejeitado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6080760" y="5010912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8076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endParaRPr lang="en-US" sz="1200" dirty="0"/>
          </a:p>
        </p:txBody>
      </p:sp>
      <p:sp>
        <p:nvSpPr>
          <p:cNvPr id="36" name="Status Sem estoque"/>
          <p:cNvSpPr/>
          <p:nvPr/>
        </p:nvSpPr>
        <p:spPr>
          <a:xfrm>
            <a:off x="6080760" y="5532120"/>
            <a:ext cx="1125444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Sem estoque</a:t>
            </a:r>
            <a:endParaRPr lang="en-US" sz="1150" dirty="0"/>
          </a:p>
        </p:txBody>
      </p:sp>
      <p:sp>
        <p:nvSpPr>
          <p:cNvPr id="37" name="Status Acabando"/>
          <p:cNvSpPr/>
          <p:nvPr/>
        </p:nvSpPr>
        <p:spPr>
          <a:xfrm>
            <a:off x="7315932" y="5532120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Acabando</a:t>
            </a:r>
            <a:endParaRPr lang="en-US" sz="1150" dirty="0"/>
          </a:p>
        </p:txBody>
      </p:sp>
      <p:sp>
        <p:nvSpPr>
          <p:cNvPr id="38" name="Status Em estoque"/>
          <p:cNvSpPr/>
          <p:nvPr/>
        </p:nvSpPr>
        <p:spPr>
          <a:xfrm>
            <a:off x="8323966" y="5532120"/>
            <a:ext cx="1049731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Em estoque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NUMERAÇÃO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ZPC_NR: um objeto, dois intervalos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L_PC_NUMERACAO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ZCL_PC_NUMERACAO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ZCL_PC_NUMERACAO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ZIF_PC_CONSTANTS=&gt;c_numeracao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intervalo_pedido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'01'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0000000001 a 4999999999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intervalo_sku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'02'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5000000000 a 9999999999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ZCL_PC_NUMERACAO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cl_numberrange_runtime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number_get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nr_range_nr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iv_intervalo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'ZPC_NR'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gerar_sku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proximo_numero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'02'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'5000000000'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|SKU-{ prefixo_categoria( iv_categoria ) }-|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lv_numero WIDTH = 10 ALIGN = RIGHT PAD = '0' }|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Domínio ZPC_NR_NUMC10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NUMC de 10 posições: o Number Length Domain que o objeto de numeração exige.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Objeto ZPC_NR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subobjeto. Os intervalos 01 e 02 são criados por ZCL_PC_SETUP.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Buffer obrigatório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Main Memory Buffering com números no buffer &gt; 0; sem ele o save termina em BEHAVIOR_ILLEGAL_STATEMENT.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Formatos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 0000000001 (10 dígitos). SKU-ELE-0000000001: prefixo de 3 letras da categoria.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MENSAGENS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ZPC_MSG: 49 mensagens organizadas por domínio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675120" cy="4700016"/>
          </a:xfrm>
          <a:prstGeom prst="roundRect">
            <a:avLst>
              <a:gd name="adj" fmla="val 23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00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57400"/>
                <a:gridCol w="31546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Números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Exemplos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Cliente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001–009 · 047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001 CPF inválido · 007 CEP inválido · 047 CEP repetido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010–014 · 030–031 · 040 · 048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011 Estoque insuficiente para &amp;1 (disponível: &amp;2)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Pedido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015–022 · 027–029 · 032–036 · 038–039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016 Pagamento pendente · 033 Pedido &amp;1 registrado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Reembolso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042–046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043 Informe o motivo · 046 Não está mais pendente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Geral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023–026 · 037 · 041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023 Campo &amp;1 obrigatório · 037 Sem autorização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D3E"/>
                          </a:solidFill>
                        </a:rPr>
                        <a:t>Texto livre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049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&amp;1&amp;2&amp;3&amp;4: mensagens longas da importação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Editor"/>
          <p:cNvSpPr/>
          <p:nvPr/>
        </p:nvSpPr>
        <p:spPr>
          <a:xfrm>
            <a:off x="7269480" y="1645920"/>
            <a:ext cx="4373575" cy="4526280"/>
          </a:xfrm>
          <a:prstGeom prst="roundRect">
            <a:avLst>
              <a:gd name="adj" fmla="val 2091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Área do editor"/>
          <p:cNvSpPr/>
          <p:nvPr/>
        </p:nvSpPr>
        <p:spPr>
          <a:xfrm>
            <a:off x="7269480" y="1993392"/>
            <a:ext cx="43735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9" name="Shape 5"/>
          <p:cNvSpPr/>
          <p:nvPr/>
        </p:nvSpPr>
        <p:spPr>
          <a:xfrm>
            <a:off x="7278624" y="1993392"/>
            <a:ext cx="43552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0" name="Shape 6"/>
          <p:cNvSpPr/>
          <p:nvPr/>
        </p:nvSpPr>
        <p:spPr>
          <a:xfrm>
            <a:off x="7278624" y="1993392"/>
            <a:ext cx="43552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1" name="Aba ZCX_PC_MSG.clas.abap"/>
          <p:cNvSpPr/>
          <p:nvPr/>
        </p:nvSpPr>
        <p:spPr>
          <a:xfrm>
            <a:off x="736092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ZCX_PC_MSG.clas.abap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36092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3" name="Trecho de código"/>
          <p:cNvSpPr txBox="1"/>
          <p:nvPr/>
        </p:nvSpPr>
        <p:spPr>
          <a:xfrm>
            <a:off x="7452360" y="2103120"/>
            <a:ext cx="405353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ZCX_PC_MSG: uma constante por mensagem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'ZPC_MSG'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symsgno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'011'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scx_attrname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'MV_ATTR1'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scx_attrname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'MV_ATTR2'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uso num behavior pool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%tky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zcx_pc_msg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=&gt;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item_estoque_insuficiente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ls_item-sku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|{ lv_disponivel }|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CONSTANTES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ZIF_PC_CONSTANTS: nenhum status escrito à mão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12648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12648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1081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1081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IF_PC_CONSTANTS.intf.abap"/>
          <p:cNvSpPr/>
          <p:nvPr/>
        </p:nvSpPr>
        <p:spPr>
          <a:xfrm>
            <a:off x="640080" y="1719072"/>
            <a:ext cx="22860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ZIF_PC_CONSTANTS.intf.abap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2860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ZIF_PC_CONSTANTS.intf.abap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80644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zif_pc_constants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c_modo_trial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c_moeda_padrao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'BRL'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ty_status_pedido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'ABERTO'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ty_status_pedido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'AGUARDANDO_APROVACAO'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Faixa ACABANDO: 1 a 10; a partir de 11 = EM_ESTOQUE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c_limite_acabando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'V'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'X'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c_status_cep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ENDINTERFACE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949440" y="1645920"/>
            <a:ext cx="469361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15060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1810512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c_modo_trial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2093976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abap_true só no BTP Trial; no On-Premise e em produção, abap_false.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150608" y="2679192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2660904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0" y="2944368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Pedido, pagamento, reembolso e estoque como estruturas de constantes.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150608" y="3529584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3511296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c_status_cep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589520" y="3794760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V, I ou X: resultado do ViaCEP gravado no endereço.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150608" y="4379976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4361688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c_codelist e c_numeracao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589520" y="4645152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Nomes das listas e intervalos 01/02 com suas faixas.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150608" y="5230368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5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5212080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c_mime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5495544"/>
            <a:ext cx="3870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image/jpeg, image/png e image/webp aceitos nas fotos.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Clientes e endereços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cadastro de clientes com foto, score e endereços preenchidos pelo ViaCEP. Duas tabelas ativas, cada uma com sua tabela de rascunho.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ZTA_PC_CLIENTE: o cadastro do cliente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CLIENTE.abap"/>
          <p:cNvSpPr/>
          <p:nvPr/>
        </p:nvSpPr>
        <p:spPr>
          <a:xfrm>
            <a:off x="640080" y="1719072"/>
            <a:ext cx="18059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ZTA_PC_CLIENTE.abap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059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ZTA_PC_CLIENTE.abap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Clientes'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foto_mime_type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foto_file_name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data_nascimento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abap.dats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abap.dec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Identificação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 · cpf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UUID na chave; CPF com 11 dígitos, único por índice, validado pelos dígitos verificadores.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72034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pessoais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97637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 · email · telefone · data_nascimento · genero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16839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Telefone só com dígitos (10 ou 11); data não pode ser futura; gênero é código da CodeList GENERO.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65760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Foto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91363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foto_cliente · foto_mime_type · foto_file_name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10565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Binário, MIME e nome do arquivo. Aceita JPEG, PNG e WEBP (MIME, extensão e assinatura).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59486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85089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 · score_cliente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504291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Nasce ativo, com score de 0 a 100 sorteado e só leitura. Só ativos podem fazer pedidos.</a:t>
            </a:r>
            <a:endParaRPr lang="en-US" sz="1050" dirty="0"/>
          </a:p>
        </p:txBody>
      </p:sp>
      <p:sp>
        <p:nvSpPr>
          <p:cNvPr id="26" name="Status draft ZTA_PC_CLIENTE_D"/>
          <p:cNvSpPr/>
          <p:nvPr/>
        </p:nvSpPr>
        <p:spPr>
          <a:xfrm>
            <a:off x="7040880" y="5742432"/>
            <a:ext cx="1741018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ZTA_PC_CLIENTE_D</a:t>
            </a:r>
            <a:endParaRPr lang="en-US" sz="1000" dirty="0"/>
          </a:p>
        </p:txBody>
      </p:sp>
      <p:sp>
        <p:nvSpPr>
          <p:cNvPr id="27" name="Status índice único: CPF"/>
          <p:cNvSpPr/>
          <p:nvPr/>
        </p:nvSpPr>
        <p:spPr>
          <a:xfrm>
            <a:off x="8873338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índice único: CPF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ZTA_PC_ENDERECO: CEP dentro da chave primária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ENDERECO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ZTA_PC_ENDERECO.abap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ZTA_PC_ENDERECO.abap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'Tabela de Endereço do cliente'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cep_geral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cep_status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endereco_principal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Chave composta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 · cep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CEP de 8 dígitos, not null, na chave. Para trocar o CEP: excluir o endereço e cadastrar outro.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596896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Vínculo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852928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 · endereco_principal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044952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Um único endereço principal por cliente; o primeiro cadastrado já nasce principal.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410712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Vindos do ViaCEP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666744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 · bairro · cidade · uf · estado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3858768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Preenchidos pela consulta; logradouro e bairro só editáveis para CEP geral de município.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224528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Digitados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480560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 · complemento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4672584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obrigatório; complemento opcional.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040880" y="4873752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Controle da consulta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7040880" y="5129784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cep_status · cep_geral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5321808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 validado, I inválido, X serviço indisponível. A determination grava; a validation só lê.</a:t>
            </a:r>
            <a:endParaRPr lang="en-US" sz="1050" dirty="0"/>
          </a:p>
        </p:txBody>
      </p:sp>
      <p:sp>
        <p:nvSpPr>
          <p:cNvPr id="29" name="Status draft ZTA_PC_ENDEREC_D"/>
          <p:cNvSpPr/>
          <p:nvPr/>
        </p:nvSpPr>
        <p:spPr>
          <a:xfrm>
            <a:off x="7040880" y="5742432"/>
            <a:ext cx="1741018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ZTA_PC_ENDEREC_D</a:t>
            </a:r>
            <a:endParaRPr lang="en-US" sz="1000" dirty="0"/>
          </a:p>
        </p:txBody>
      </p:sp>
      <p:sp>
        <p:nvSpPr>
          <p:cNvPr id="30" name="Status chave: UUID + CEP"/>
          <p:cNvSpPr/>
          <p:nvPr/>
        </p:nvSpPr>
        <p:spPr>
          <a:xfrm>
            <a:off x="8873338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chave: UUID + CEP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Itens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cadastro de itens com SKU numerado, foto, categoria e o controle de quantidades: estoque, reservada e disponível.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453896"/>
          </a:xfrm>
          <a:prstGeom prst="roundRect">
            <a:avLst>
              <a:gd name="adj" fmla="val 7547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ZTA_PC_ITEM: quantidades que o pedido movimenta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ITEM.abap"/>
          <p:cNvSpPr/>
          <p:nvPr/>
        </p:nvSpPr>
        <p:spPr>
          <a:xfrm>
            <a:off x="640080" y="1719072"/>
            <a:ext cx="16002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ZTA_PC_ITEM.abap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6002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ZAVBS_PC_ESTOQUE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ZTA_PC_ITEM.abap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'Tabela de Item'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foto_item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foto_mime_type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foto_file_name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qtde_estoque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qtde_reservada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qtde_disponivel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'zta_pc_item.currency'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item_ativo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675120" y="1645920"/>
            <a:ext cx="496793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903720" y="1783080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Identificação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039112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 · sku · nome · descricao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03720" y="2231136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SKU gerado no save com o prefixo da categoria; único por índice.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903720" y="2596896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Classificação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2852928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 · item_ativo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3044952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Categoria da CodeList CATEGORIA. Item inativo não entra em pedido novo.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903720" y="3410712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Quantidades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903720" y="3666744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qtde_estoque · qtde_reservada · qtde_disponivel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903720" y="3858768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disponível = estoque − reservada, recalculado a cada movimento.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4224528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03720" y="4480560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903720" y="4672584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SEM_ESTOQUE (0), ACABANDO (1 a 10) ou EM_ESTOQUE (11 ou mais).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903720" y="5038344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Preço e foto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903720" y="5294376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 · currency · foto_*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903720" y="5486400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Valor com moeda (padrão BRL) e foto JPEG, PNG ou WEBP.</a:t>
            </a:r>
            <a:endParaRPr lang="en-US" sz="1050" dirty="0"/>
          </a:p>
        </p:txBody>
      </p:sp>
      <p:sp>
        <p:nvSpPr>
          <p:cNvPr id="29" name="Status draft ZTA_PC_ITEM_D"/>
          <p:cNvSpPr/>
          <p:nvPr/>
        </p:nvSpPr>
        <p:spPr>
          <a:xfrm>
            <a:off x="6903720" y="5742432"/>
            <a:ext cx="1543507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ZTA_PC_ITEM_D</a:t>
            </a:r>
            <a:endParaRPr lang="en-US" sz="1000" dirty="0"/>
          </a:p>
        </p:txBody>
      </p:sp>
      <p:sp>
        <p:nvSpPr>
          <p:cNvPr id="30" name="Status índice único: SKU"/>
          <p:cNvSpPr/>
          <p:nvPr/>
        </p:nvSpPr>
        <p:spPr>
          <a:xfrm>
            <a:off x="8538667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índice único: SKU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Pedidos, itens, pagamento e histórico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BO mais rico: o pedido e quatro filhos de composição. Pagamento e snapshots ficam em subpacotes próprios.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4526280"/>
          </a:xfrm>
          <a:prstGeom prst="roundRect">
            <a:avLst>
              <a:gd name="adj" fmla="val 3015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ZTA_PC_ITPED_D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456285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ZTA_PC_PAGTO_D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494690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ZTA_PC_SNPCLI_D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275320" y="533095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ZTA_PC_SNPITM_D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draft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ZTA_PC_PEDIDO: cabeçalho, status e encerramento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4864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4681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4681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PEDIDO.abap"/>
          <p:cNvSpPr/>
          <p:nvPr/>
        </p:nvSpPr>
        <p:spPr>
          <a:xfrm>
            <a:off x="640080" y="1719072"/>
            <a:ext cx="17373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ZTA_PC_PEDIDO.abap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7373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ZTA_PC_PEDIDO.abap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1663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endereco_completo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referencia_importacao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'zta_pc_pedido.currency'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data_finalizacao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data_cancelamento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cancelado_por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abp_lastchange_user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pedido_ativo_sem_hist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pedido_nao_finalizado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pedido_nao_cancelado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Cartão"/>
          <p:cNvSpPr/>
          <p:nvPr/>
        </p:nvSpPr>
        <p:spPr>
          <a:xfrm>
            <a:off x="6309360" y="1645920"/>
            <a:ext cx="533369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37960" y="1783080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Identificação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2039112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 · referencia_importacao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2231136"/>
            <a:ext cx="4876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Número do intervalo 01; referência da planilha evita importar duas vezes.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2730398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 e entrega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537960" y="2986430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 · endereco_uuid · endereco_completo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3178454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Cliente travado após criar; endereço principal copiado como texto.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3513125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Status e valor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3769157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 · status_pagamento · valor_total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3961181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Os dois status do ciclo de vida e a soma dos itens.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537960" y="4295851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Encerramento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4551883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data_finalizacao · motivo/data_cancelamento · cancelado_por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4743907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Preenchidos só pelas ações Aprovar e Cancelar.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537960" y="5078578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Flags de UI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5334610"/>
            <a:ext cx="48764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 · ..._sem_hist · ..._nao_finalizado · ..._nao_cancelado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537960" y="5700370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Mantidos por AtualizarFlagsStatus para a Object Page dinâmica.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ZTA_PC_ITEM_PED: o item com preço congelado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ITEM_PED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ZTA_PC_ITEM_PED.abap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ZTA_PC_ITEM_PED.abap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 do 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qtde_item_pedido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'zta_pc_item_ped.currency'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preco_unitario_snap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'zta_pc_item_ped.currency'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Chaves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 · pedido_uuid · item_uuid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Filho de composição do pedido e referência ao item de estoque (índice em ITEM_UUID).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72034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Quantidade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97637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qtde_item_pedido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16839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Maior que zero. O precheck barra item sem estoque disponível já na inclusão.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65760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Preço congelado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91363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preco_unitario_snap · currency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10565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Copiado do item ao incluir, pela determination CalcularValorItem.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59486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Total e observação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85089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 · observacao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504291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Quantidade × preço; observação livre, também aceita na importação.</a:t>
            </a:r>
            <a:endParaRPr lang="en-US" sz="1050" dirty="0"/>
          </a:p>
        </p:txBody>
      </p:sp>
      <p:sp>
        <p:nvSpPr>
          <p:cNvPr id="26" name="Status draft ZTA_PC_ITPED_D"/>
          <p:cNvSpPr/>
          <p:nvPr/>
        </p:nvSpPr>
        <p:spPr>
          <a:xfrm>
            <a:off x="7040880" y="5742432"/>
            <a:ext cx="160934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ZTA_PC_ITPED_D</a:t>
            </a:r>
            <a:endParaRPr lang="en-US" sz="1000" dirty="0"/>
          </a:p>
        </p:txBody>
      </p:sp>
      <p:sp>
        <p:nvSpPr>
          <p:cNvPr id="27" name="Status índice: ITEM_UUID"/>
          <p:cNvSpPr/>
          <p:nvPr/>
        </p:nvSpPr>
        <p:spPr>
          <a:xfrm>
            <a:off x="8741664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índice: ITEM_UUID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ZTA_PC_PAGAMENTO: só a última tentativa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PAGAMENTO.abap"/>
          <p:cNvSpPr/>
          <p:nvPr/>
        </p:nvSpPr>
        <p:spPr>
          <a:xfrm>
            <a:off x="64008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ZTA_PC_PAGAMENTO.abap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ZAVBS_PC_PEDIDOS_PAGAMENTOS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ZTA_PC_PAGAMENTO.abap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'Pagamento (ultima tentativa)'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bandeira_cartao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ultimos4_digitos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cartao_mascarado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codigo_autorizacao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mensagem_pagamento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data_pagamento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Vínculo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pagamento_uuid · pedido_uuid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231136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Criado só pela action SimularPagamento (internal create).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2638044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Resultado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894076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 · status_pagamento · mensagem · data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086100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Crédito ou débito; APROVADO ou RECUSADO; mensagem e momento da tentativa.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365760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Cartão seguro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91363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bandeira_cartao · ultimos4_digitos · cartao_mascarado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105656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VISA (4…) ou MASTERCARD (5…) e a máscara **** **** **** 1111.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4677156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Autorização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7040880" y="4933188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codigo_autorizacao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040880" y="5125212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SIM + 6 dígitos sorteados quando a simulação aprova.</a:t>
            </a:r>
            <a:endParaRPr lang="en-US" sz="1050" dirty="0"/>
          </a:p>
        </p:txBody>
      </p:sp>
      <p:sp>
        <p:nvSpPr>
          <p:cNvPr id="26" name="Status draft ZTA_PC_PAGTO_D"/>
          <p:cNvSpPr/>
          <p:nvPr/>
        </p:nvSpPr>
        <p:spPr>
          <a:xfrm>
            <a:off x="7040880" y="5742432"/>
            <a:ext cx="160934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 ZTA_PC_PAGTO_D</a:t>
            </a:r>
            <a:endParaRPr lang="en-US" sz="1000" dirty="0"/>
          </a:p>
        </p:txBody>
      </p:sp>
      <p:sp>
        <p:nvSpPr>
          <p:cNvPr id="27" name="Status composição [0..1]"/>
          <p:cNvSpPr/>
          <p:nvPr/>
        </p:nvSpPr>
        <p:spPr>
          <a:xfrm>
            <a:off x="8741664" y="5742432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composição [0..1]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ZTA_PC_SNAP_CLI: o cliente como era no encerramento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4864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4681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4681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SNAP_CLI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ZTA_PC_SNAP_CLI.abap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16636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data_nascimento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abap.dats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score_cliente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abap.dec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logradouro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complemento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bairro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cidade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endereco_completo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motivo_snapshot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Cartão"/>
          <p:cNvSpPr/>
          <p:nvPr/>
        </p:nvSpPr>
        <p:spPr>
          <a:xfrm>
            <a:off x="6309360" y="1645920"/>
            <a:ext cx="533369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537960" y="1783080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Origem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039112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snapshot_uuid · pedido_uuid · cliente_uuid · motivo_snapshot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2231136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Gerado uma única vez, ao aprovar ou cancelar.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2633472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2889504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 · nome · email · telefone · genero · data_nascimento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537960" y="3081528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Cópia fiel do cadastro naquele momento.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3483864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3739896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cliente_ativo · score_cliente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3931920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Estado do cliente no encerramento do pedido.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4334256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Endereço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6537960" y="4590288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endereco_uuid · cep · logradouro · ... · estado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537960" y="4782312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endereço de entrega usado, campo a campo.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5184648"/>
            <a:ext cx="48764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Texto pronto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537960" y="5440680"/>
            <a:ext cx="487649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endereco_completo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5632704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Linha formatada para a Object Page.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ZTA_PC_SNAP_ITM: os itens como foram vendidos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9893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9893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9710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9710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SNAP_ITM.abap"/>
          <p:cNvSpPr/>
          <p:nvPr/>
        </p:nvSpPr>
        <p:spPr>
          <a:xfrm>
            <a:off x="640080" y="1719072"/>
            <a:ext cx="18745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ZTA_PC_SNAP_ITM.abap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8745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ZAVBS_PC_PEDIDOS_SNAPSHOTS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ZTA_PC_SNAP_ITM.abap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6692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'Snapshot dos itens no pedido'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snapshot_item_uuid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item_pedido_uuid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quantidade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abap.int4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preco_unitario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6812280" y="1645920"/>
            <a:ext cx="483077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040880" y="1783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Origem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2039112"/>
            <a:ext cx="4373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snapshot_item_uuid · pedido_uuid · item_pedido_uuid · item_uuid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2404872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Liga o histórico ao pedido, ao item do pedido e ao item de estoque.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040880" y="3203448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3459480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 · nome · descricao · categoria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3651504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Dados do cadastro de estoque no encerramento; SKU e nome continuam links para a app de Estoque.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4450080"/>
            <a:ext cx="4373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Valores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4706112"/>
            <a:ext cx="43735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quantidade · preco_unitario · valor_total · currency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4898136"/>
            <a:ext cx="4373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Quantidade e valores efetivamente vendidos.</a:t>
            </a:r>
            <a:endParaRPr lang="en-US" sz="1050" dirty="0"/>
          </a:p>
        </p:txBody>
      </p:sp>
      <p:sp>
        <p:nvSpPr>
          <p:cNvPr id="23" name="Status imutável"/>
          <p:cNvSpPr/>
          <p:nvPr/>
        </p:nvSpPr>
        <p:spPr>
          <a:xfrm>
            <a:off x="7040880" y="5742432"/>
            <a:ext cx="819302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3E00"/>
                </a:solidFill>
              </a:rPr>
              <a:t>imutável</a:t>
            </a:r>
            <a:endParaRPr lang="en-US" sz="1000" dirty="0"/>
          </a:p>
        </p:txBody>
      </p:sp>
      <p:sp>
        <p:nvSpPr>
          <p:cNvPr id="24" name="Status draft técnica vazia"/>
          <p:cNvSpPr/>
          <p:nvPr/>
        </p:nvSpPr>
        <p:spPr>
          <a:xfrm>
            <a:off x="7951622" y="5742432"/>
            <a:ext cx="1543507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draft técnica vazia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1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Solicitações de reembolso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Root próprio e sem draft. A solicitação nasce quando um pedido com pagamento aprovado é cancelado, e é decidida na app Gestão de Reembolsos.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1069848"/>
          </a:xfrm>
          <a:prstGeom prst="roundRect">
            <a:avLst>
              <a:gd name="adj" fmla="val 10256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tabela (sem draft)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ZTA_PC_REEMBOLSO: solicitação e decisão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REEMBOLSO.abap"/>
          <p:cNvSpPr/>
          <p:nvPr/>
        </p:nvSpPr>
        <p:spPr>
          <a:xfrm>
            <a:off x="64008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ZTA_PC_REEMBOLSO.abap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ZAVBS_PC_REEMBOLSOS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ZTA_PC_REEMBOLSO.abap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'Solicitacao de reembolso do pedido'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abap.clnt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status_pedido_anterior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abap.cuky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valor_reembolso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abap.curr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motivo_solicitacao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data_solicitacao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solicitado_por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abp_creation_user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motivo_decisao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data_decisao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decidido_por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abp_lastchange_user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+ 5 campos administrativos (abp_*)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675120" y="1645920"/>
            <a:ext cx="4967935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903720" y="1783080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Pedido de origem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039112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 · numero_pedido · cliente_uuid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903720" y="2231136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Copiados na criação; o número permite buscar sem navegar.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903720" y="2467051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Situação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2723083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 · status_pedido_anterior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2915107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PENDENTE → APROVADO ou REJEITADO; o status anterior permite retomar.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903720" y="3315614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Valor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903720" y="3571646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valor_reembolso · currency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903720" y="3763670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Total do pedido no momento da solicitação.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6903720" y="3999586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Solicitação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03720" y="4255618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motivo_solicitacao · data_solicitacao · solicitado_por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903720" y="4447642"/>
            <a:ext cx="4510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Motivo informado ao cancelar o pedido.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6903720" y="4683557"/>
            <a:ext cx="4510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Decisão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6903720" y="4939589"/>
            <a:ext cx="451073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motivo_decisao · data_decisao · decidido_por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903720" y="5131613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Preenchidos por Aprovar ou Rejeitar; motivo obrigatório para rejeitar.</a:t>
            </a:r>
            <a:endParaRPr lang="en-US" sz="1050" dirty="0"/>
          </a:p>
        </p:txBody>
      </p:sp>
      <p:sp>
        <p:nvSpPr>
          <p:cNvPr id="29" name="Status sem draft"/>
          <p:cNvSpPr/>
          <p:nvPr/>
        </p:nvSpPr>
        <p:spPr>
          <a:xfrm>
            <a:off x="6903720" y="5742432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3E00"/>
                </a:solidFill>
              </a:rPr>
              <a:t>sem draft</a:t>
            </a:r>
            <a:endParaRPr lang="en-US" sz="1000" dirty="0"/>
          </a:p>
        </p:txBody>
      </p:sp>
      <p:sp>
        <p:nvSpPr>
          <p:cNvPr id="30" name="Status root próprio"/>
          <p:cNvSpPr/>
          <p:nvPr/>
        </p:nvSpPr>
        <p:spPr>
          <a:xfrm>
            <a:off x="7880299" y="5742432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root próprio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BO com draft ganha uma tabela de rascunho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7040880" cy="4151376"/>
          </a:xfrm>
          <a:prstGeom prst="roundRect">
            <a:avLst>
              <a:gd name="adj" fmla="val 26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37744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Tabela ativa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Tabela draft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Entidade CDS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ZR_PC_ENDERECO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ZR_PC_ITEM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ZTA_PC_ITEM_PED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ZTA_PC_ITPED_D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ZR_PC_ITEM_PEDIDO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ZTA_PC_PAGAMENTO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ZTA_PC_PAGTO_D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ZR_PC_PAGAMENTO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ZTA_PC_SNAP_CLI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ZTA_PC_SNPCLI_D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ZR_PC_PED_CLI_SNAP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ZTA_PC_SNAP_ITM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ZTA_PC_SNPITM_D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ZR_PC_PED_ITEM_SNAP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(BO sem draft)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863840" y="1645920"/>
            <a:ext cx="37792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edit-outside"/>
          <p:cNvSpPr/>
          <p:nvPr/>
        </p:nvSpPr>
        <p:spPr>
          <a:xfrm>
            <a:off x="80924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0" descr="edit-outs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6557" y="1988637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705088" y="1874520"/>
            <a:ext cx="27550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Como nascem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092440" y="2487168"/>
            <a:ext cx="3322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 ADT: abrir a BDEF, posicionar no nome em draft table e usar Ctrl+1 → Create draft table. A estrutura espelha a entidade e inclui a administração do draft.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7863840" y="4023360"/>
            <a:ext cx="3779215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message-warning"/>
          <p:cNvSpPr/>
          <p:nvPr/>
        </p:nvSpPr>
        <p:spPr>
          <a:xfrm>
            <a:off x="80924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4" name="Image 1" descr="message-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557" y="436607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05088" y="4251960"/>
            <a:ext cx="27550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Limite de 16 caracteres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092440" y="486460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Nomes abreviados (ENDEREC, ITPED, PAGTO) não abreviam as colunas: dentro da draft vale o nome completo do elemento CDS.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Anatomia de uma tabela draft: ZTA_PC_CLIENTE_D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3093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3093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2910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2910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TA_PC_CLIENTE_D.abap"/>
          <p:cNvSpPr/>
          <p:nvPr/>
        </p:nvSpPr>
        <p:spPr>
          <a:xfrm>
            <a:off x="640080" y="1719072"/>
            <a:ext cx="19431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ZTA_PC_CLIENTE_D.abap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9431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Dictionary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ZTA_PC_CLIENTE_D.abap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9893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'Draft table for entity ZR_PC_CLIENTE'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@AbapCatalog.enhancement.category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#EXTENSIBLE_ANY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zta_pc_cliente_d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clienteuuid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abap.rawstring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abap.char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datanascimento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abap.dats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abap_boolean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abap.dec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abp_locinst_lastchange_tstmpl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"%admin"           : include sych_bdl_draft_admin_inc;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Cartão"/>
          <p:cNvSpPr/>
          <p:nvPr/>
        </p:nvSpPr>
        <p:spPr>
          <a:xfrm>
            <a:off x="7132320" y="1645920"/>
            <a:ext cx="4510735" cy="4526280"/>
          </a:xfrm>
          <a:prstGeom prst="roundRect">
            <a:avLst>
              <a:gd name="adj" fmla="val 2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33488" y="182880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1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181051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Gerada pelo ADT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209397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Quick fix Ctrl+1 sobre o nome em draft table da BDEF.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33488" y="289179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2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287350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Nomes da entidade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315696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clienteuuid, datanascimento: elementos CDS, não colunas da ativa.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3348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393649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Include %admin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421995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Administração do rascunho: dono, timestamps e estado da edição.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333488" y="501777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0F2"/>
                </a:solidFill>
              </a:rPr>
              <a:t>4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999482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Mesma estrutura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0" y="5282946"/>
            <a:ext cx="36877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Toda alteração na entidade exige regenerar ou ajustar a draft.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INTEGRIDADE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Unicidade garantida no banco, não só na validation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Índices secundários</a:t>
            </a:r>
            <a:endParaRPr lang="en-US" sz="1600" dirty="0"/>
          </a:p>
        </p:txBody>
      </p:sp>
      <p:sp>
        <p:nvSpPr>
          <p:cNvPr id="6" name="Fundo da tabela"/>
          <p:cNvSpPr/>
          <p:nvPr/>
        </p:nvSpPr>
        <p:spPr>
          <a:xfrm>
            <a:off x="548640" y="2084832"/>
            <a:ext cx="6217920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94560"/>
          <a:ext cx="5943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Tabela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Campos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56F3A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56F3A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ZTA_PC_ITEM_PED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ITEM_UUID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CLIENTE_UUID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CLIENTE_UUID, CEP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64D9"/>
                          </a:solidFill>
                        </a:rPr>
                        <a:t>chave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artão"/>
          <p:cNvSpPr/>
          <p:nvPr/>
        </p:nvSpPr>
        <p:spPr>
          <a:xfrm>
            <a:off x="7086600" y="1645920"/>
            <a:ext cx="455645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Ícone validate"/>
          <p:cNvSpPr/>
          <p:nvPr/>
        </p:nvSpPr>
        <p:spPr>
          <a:xfrm>
            <a:off x="731520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0" name="Image 0" descr="valid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317" y="1988637"/>
            <a:ext cx="247254" cy="24725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927848" y="1874520"/>
            <a:ext cx="35323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1ª camada: validation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315200" y="2487168"/>
            <a:ext cx="4099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ValidarCpf, ValidarSkuUnico e ValidarCepUnico dão a mensagem amigável no save, inclusive contra rascunhos da mesma sessão.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7086600" y="4023360"/>
            <a:ext cx="455645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ocked"/>
          <p:cNvSpPr/>
          <p:nvPr/>
        </p:nvSpPr>
        <p:spPr>
          <a:xfrm>
            <a:off x="731520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5" name="Image 1" descr="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317" y="4366077"/>
            <a:ext cx="247254" cy="24725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927848" y="4251960"/>
            <a:ext cx="35323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2ª camada: banco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7315200" y="4864608"/>
            <a:ext cx="4099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Índice único ou chave primária: mesmo duas ativações simultâneas não conseguem gravar o mesmo CPF, SKU ou CEP do cliente.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Ordem de criação no ADT: onde esta etapa termina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920240" y="2057400"/>
            <a:ext cx="8716975" cy="0"/>
          </a:xfrm>
          <a:prstGeom prst="line">
            <a:avLst/>
          </a:prstGeom>
          <a:noFill/>
          <a:ln w="25400">
            <a:solidFill>
              <a:srgbClr val="D9D9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Cartão"/>
          <p:cNvSpPr/>
          <p:nvPr/>
        </p:nvSpPr>
        <p:spPr>
          <a:xfrm>
            <a:off x="54864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Pacotes e objetos manuais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Message class ZPC_MSG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Domínio ZPC_NR_NUMC10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Number range ZPC_NR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Objetos ZPC_ADMIN e ZPC_PEDIDO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Cartão"/>
          <p:cNvSpPr/>
          <p:nvPr/>
        </p:nvSpPr>
        <p:spPr>
          <a:xfrm>
            <a:off x="347472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70332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Classes base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70332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ZIF_PC_CONSTANTS · ZCX_PC_MSG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ZCL_PC_UTIL · ZCL_PC_VIACEP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ZCL_PC_AUTH · ZCL_PC_NUMERACAO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49808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Cartão"/>
          <p:cNvSpPr/>
          <p:nvPr/>
        </p:nvSpPr>
        <p:spPr>
          <a:xfrm>
            <a:off x="640080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62940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Todas as tabelas ativas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Pasta Dictionary/ de cada pacote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Inclusive ZTA_PC_CODELIST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Drafts vêm na etapa 3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982048" y="1783080"/>
            <a:ext cx="10058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6B82"/>
                </a:solidFill>
              </a:rPr>
              <a:t>Depois</a:t>
            </a:r>
            <a:endParaRPr lang="en-US" sz="1600" dirty="0"/>
          </a:p>
        </p:txBody>
      </p:sp>
      <p:sp>
        <p:nvSpPr>
          <p:cNvPr id="19" name="Cartão"/>
          <p:cNvSpPr/>
          <p:nvPr/>
        </p:nvSpPr>
        <p:spPr>
          <a:xfrm>
            <a:off x="9326880" y="2606040"/>
            <a:ext cx="2316175" cy="2743200"/>
          </a:xfrm>
          <a:prstGeom prst="roundRect">
            <a:avLst>
              <a:gd name="adj" fmla="val 4737"/>
            </a:avLst>
          </a:prstGeom>
          <a:solidFill>
            <a:srgbClr val="EEF0F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555480" y="2788920"/>
            <a:ext cx="1858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56B82"/>
                </a:solidFill>
              </a:rPr>
              <a:t>Próximas etapas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555480" y="3429000"/>
            <a:ext cx="18589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CDS e drafts: etapa 2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Behavior: etapa 3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Serviços: etapa 4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Apps Fiori: etapa 5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548640" y="5559552"/>
            <a:ext cx="11094415" cy="594360"/>
          </a:xfrm>
          <a:prstGeom prst="roundRect">
            <a:avLst>
              <a:gd name="adj" fmla="val 18462"/>
            </a:avLst>
          </a:prstGeom>
          <a:solidFill>
            <a:srgbClr val="FFF3B8"/>
          </a:solidFill>
          <a:ln/>
        </p:spPr>
      </p:sp>
      <p:pic>
        <p:nvPicPr>
          <p:cNvPr id="23" name="Image 0" descr="message-wa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329184" cy="32918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280160" y="5559552"/>
            <a:ext cx="101800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Ative primeiro todas as tabelas e CDS, depois os behavior pools: o BO Cliente lê pedidos para bloquear a exclusão, por exemplo.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1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Pacotes por domínio e o pacote comum ZAVBS_PC_COMMON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Dez tabelas ativas com tipos ABAP embutidos e chave UUID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Oito tabelas draft com os nomes completos dos elementos CDS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CodeLists com criticality, numeração ZPC_NR e mensagens ZPC_MSG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Unicidade garantida no banco: CPF, SKU e CEP na chave do endereço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 mesmo modelo no SAP BTP e no On-Premise (Standard ABAP)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Core Data Services: o modelo virtual sobre as tabelas.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1 de 5 — Modelagem de dados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SEU AMBIENTE DE ESTUDO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mesmo RAP no SAP BTP ou no SAP On-Premise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rimary-key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primary-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Um código-fonte só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Tabelas, CDS, BDEF, behavior pools, serviços e testes são os mesmos nos dois ambientes (pasta abap/).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list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Versão de linguagem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BTP: ABAP for Cloud Development. On-Premise: pacotes Standard ABAP, em que tudo ativa sem erros.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history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Ferramentas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ADT no Eclipse ou no VS Code nos dois; no On-Premise, o SAP GUI para SNRO, SM59, STRUST, SU21, SU24 e PFCG.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flag"/>
          <p:cNvSpPr/>
          <p:nvPr/>
        </p:nvSpPr>
        <p:spPr>
          <a:xfrm>
            <a:off x="7772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fl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6607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Dois objetos mudam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ZIF_PC_CONSTANTS (c_modo_trial = abap_false) e ZCL_PC_VIACEP (versão _T2, destination SM59).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addresses"/>
          <p:cNvSpPr/>
          <p:nvPr/>
        </p:nvSpPr>
        <p:spPr>
          <a:xfrm>
            <a:off x="4566818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addres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36607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Autorização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BTP: IAM Apps, catálogos e Business Roles. On-Premise: objetos SU21, valores SU24 e roles PFCG.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payment-approval"/>
          <p:cNvSpPr/>
          <p:nvPr/>
        </p:nvSpPr>
        <p:spPr>
          <a:xfrm>
            <a:off x="8356397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2" name="Image 5" descr="payment-approv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36607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Apps e launchpad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BTP: BSP + IAM App e Work Zone. On-Premise: BSP com transporte e SAP Fiori launchpad (SAPUI5 1.136+).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PREFIXOS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ZAVBS é opcional: use o prefixo do seu projeto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017520"/>
                <a:gridCol w="4602175"/>
              </a:tblGrid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Neste repositório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Sugestão genérica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Conteúdo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ZAVBS_PEDIDOS_COMPRAS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ZPK_PEDIDOS_COMPRAS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Pacote principal (estrutura)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ZAVBS_PC_COMMON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ZPK_PC_COMMON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Base compartilhada: constantes, mensagens, CodeLists, numeração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ZPK_PC_CLIENTES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BO Cliente + Endereço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ZPK_PC_ESTOQUE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BO Item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ZPK_PC_PEDIDOS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BO Pedido (+ _PAGAMENTOS e _SNAPSHOTS)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ZPK_PC_REEMBOLSOS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BO Reembolso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846320"/>
            <a:ext cx="11094415" cy="914400"/>
          </a:xfrm>
          <a:prstGeom prst="roundRect">
            <a:avLst>
              <a:gd name="adj" fmla="val 15000"/>
            </a:avLst>
          </a:prstGeom>
          <a:solidFill>
            <a:srgbClr val="E1F4FF"/>
          </a:solidFill>
          <a:ln/>
        </p:spPr>
      </p:sp>
      <p:pic>
        <p:nvPicPr>
          <p:cNvPr id="8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120640"/>
            <a:ext cx="365760" cy="365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484632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ZAVBS são as iniciais do nome completo do autor: uma escolha pessoal, não um requisito. No seu projeto, use os prefixos que quiser (namespace Z ou Y, pacote com até 30 caracteres). O código não depende do nome do pacote; só o package: do ui5-deploy.yaml de cada app muda.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1 - Modelagem de dados</dc:title>
  <dc:subject>Pedidos de Compras no SAP BTP ABAP Environment</dc:subject>
  <dc:creator>Adriano Bispo</dc:creator>
  <cp:lastModifiedBy>Adriano Bispo</cp:lastModifiedBy>
  <cp:revision>1</cp:revision>
  <dcterms:created xsi:type="dcterms:W3CDTF">2026-10-20T11:09:33Z</dcterms:created>
  <dcterms:modified xsi:type="dcterms:W3CDTF">2026-10-20T11:09:33Z</dcterms:modified>
</cp:coreProperties>
</file>