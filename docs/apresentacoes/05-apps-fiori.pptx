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9303d4e-3643-9c5b-f320-4e355a3b121f}">
          <p14:sldIdLst>
            <p14:sldId id="256"/>
            <p14:sldId id="257"/>
          </p14:sldIdLst>
        </p14:section>
        <p14:section name="Fiori Elements" id="{f75b95aa-a234-84e5-c7a9-b3a86d8e0276}">
          <p14:sldIdLst>
            <p14:sldId id="258"/>
            <p14:sldId id="259"/>
            <p14:sldId id="260"/>
            <p14:sldId id="261"/>
          </p14:sldIdLst>
        </p14:section>
        <p14:section name="Análises" id="{4ad9e6d8-c0ae-f0e1-f74b-a3c6e17ca7cd}">
          <p14:sldIdLst>
            <p14:sldId id="262"/>
            <p14:sldId id="263"/>
          </p14:sldIdLst>
        </p14:section>
        <p14:section name="Launchpad e deploy" id="{f9e2ac4d-7f0d-2c00-d922-6790d448587b}">
          <p14:sldIdLst>
            <p14:sldId id="264"/>
            <p14:sldId id="265"/>
            <p14:sldId id="266"/>
            <p14:sldId id="267"/>
          </p14:sldIdLst>
        </p14:section>
        <p14:section name="Encerramento" id="{882b48d9-7d12-bb26-be6d-058c7be8977c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Os serviços publicados viram apps: Fiori Elements geradas com o SAP Fiori tools para a gestão e apps SAPUI5 freestyle para as análises, reunidas num launchpad e implantadas no ABAP.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 Cliente, CPF, item e SKU são links para as outras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apps têm o mesmo motor e mudam só o catálogo de cenários. Scenarios.js descreve filtros, KPIs e os cinco gráficos; AnalyticsQuery monta o $apply; o AnalyticsService usa $$aggregation do ODataListBinding; o VizFrame desenha. O backend devolve só os totais.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tem barra de filtros, KPIs e cinco gráficos. Clicar no título de um card abre o detalhe, com troca do tipo de gráfico (colunas, barras, linha, rosca) e tabela com valores, percentual e total. Os filtros acompanham a navegação.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é um projeto isolado com seus próprios scripts. As apps de gestão passam no ESLint, no ui5 build e no UI5 linter sem achados; as análises têm uma suíte QUnit que cobre o catálogo, as consultas $apply e a moldagem das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tudo em ABAP Cloud no SAP BTP ABAP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Apps Fiori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apps de análise em SAPUI5, navegação entre apps, launchpad local e deploy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Código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852160" y="1755648"/>
            <a:ext cx="5562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ui5/pedidos-compras/webapp/manifest.json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852160" y="2066544"/>
            <a:ext cx="5562295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28" name="Trecho de código"/>
          <p:cNvSpPr txBox="1"/>
          <p:nvPr/>
        </p:nvSpPr>
        <p:spPr>
          <a:xfrm>
            <a:off x="5852160" y="2157984"/>
            <a:ext cx="5562295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 }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 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APPS DE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SAPUI5 freestyle com agregação no servidor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907024" cy="3586734"/>
          </a:xfrm>
          <a:prstGeom prst="roundRect">
            <a:avLst>
              <a:gd name="adj" fmla="val 3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Painel da 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760720" cy="3440430"/>
          </a:xfrm>
          <a:prstGeom prst="rect">
            <a:avLst/>
          </a:prstGeom>
        </p:spPr>
      </p:pic>
      <p:sp>
        <p:nvSpPr>
          <p:cNvPr id="7" name="Código"/>
          <p:cNvSpPr/>
          <p:nvPr/>
        </p:nvSpPr>
        <p:spPr>
          <a:xfrm>
            <a:off x="548640" y="5440680"/>
            <a:ext cx="5907024" cy="731520"/>
          </a:xfrm>
          <a:prstGeom prst="roundRect">
            <a:avLst>
              <a:gd name="adj" fmla="val 1250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77240" y="5586984"/>
            <a:ext cx="5449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?$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6675120" y="1645920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list"/>
          <p:cNvSpPr/>
          <p:nvPr/>
        </p:nvSpPr>
        <p:spPr>
          <a:xfrm>
            <a:off x="6876288" y="186537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1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962" y="1997050"/>
            <a:ext cx="285293" cy="28529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801368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589520" y="2121408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catálogo: entity set, filtros, KPIs, 5 cenários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7150608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5" name="Cartão"/>
          <p:cNvSpPr/>
          <p:nvPr/>
        </p:nvSpPr>
        <p:spPr>
          <a:xfrm>
            <a:off x="6675120" y="2807208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ource-code"/>
          <p:cNvSpPr/>
          <p:nvPr/>
        </p:nvSpPr>
        <p:spPr>
          <a:xfrm>
            <a:off x="6876288" y="30266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7" name="Image 2" descr="source-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962" y="3158338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589520" y="2962656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589520" y="3282696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monta o $apply e molda as linhas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150608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1" name="Cartão"/>
          <p:cNvSpPr/>
          <p:nvPr/>
        </p:nvSpPr>
        <p:spPr>
          <a:xfrm>
            <a:off x="6675120" y="3968496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hain-link"/>
          <p:cNvSpPr/>
          <p:nvPr/>
        </p:nvSpPr>
        <p:spPr>
          <a:xfrm>
            <a:off x="6876288" y="418795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7962" y="4319626"/>
            <a:ext cx="285293" cy="285293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89520" y="4123944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7589520" y="4443984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ODataListBinding + $$aggregation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7150608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7" name="Cartão"/>
          <p:cNvSpPr/>
          <p:nvPr/>
        </p:nvSpPr>
        <p:spPr>
          <a:xfrm>
            <a:off x="6675120" y="5129784"/>
            <a:ext cx="496793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bar-chart"/>
          <p:cNvSpPr/>
          <p:nvPr/>
        </p:nvSpPr>
        <p:spPr>
          <a:xfrm>
            <a:off x="6876288" y="5349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962" y="5480914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589520" y="5285232"/>
            <a:ext cx="3870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7589520" y="5605272"/>
            <a:ext cx="3870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 por cenário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CENÁRIOS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Vinte análises, cinco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5715000" cy="4334256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544068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83080"/>
                <a:gridCol w="260604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KPIs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Gráficos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valor total, pedidos, ticket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por status, por mês, por UF, por pagamento, ticket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clientes, score médio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por gênero, por UF, por faixa de score, cadastros por mês, score por UF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itens, em estoque, reservada, disponível, valor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disponível e valor por categoria, por situação, top 10 reservados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reembolsos, valor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valor e quantidade por status, por mês, por UF, por motivo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oldura"/>
          <p:cNvSpPr/>
          <p:nvPr/>
        </p:nvSpPr>
        <p:spPr>
          <a:xfrm>
            <a:off x="6421831" y="1645920"/>
            <a:ext cx="5221224" cy="3177159"/>
          </a:xfrm>
          <a:prstGeom prst="roundRect">
            <a:avLst>
              <a:gd name="adj" fmla="val 34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8" name="Image 0" descr="Detalhe da análise Valor dos reembolsos por stat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4983" y="1719072"/>
            <a:ext cx="5074920" cy="303085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94983" y="4932807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Detalhe: gráfico grande, troca de tipo e tabela de valores.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095744" cy="4296664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949440" cy="4150360"/>
          </a:xfrm>
          <a:prstGeom prst="rect">
            <a:avLst/>
          </a:prstGeom>
        </p:spPr>
      </p:pic>
      <p:sp>
        <p:nvSpPr>
          <p:cNvPr id="7" name="Código"/>
          <p:cNvSpPr/>
          <p:nvPr/>
        </p:nvSpPr>
        <p:spPr>
          <a:xfrm>
            <a:off x="7909560" y="1645920"/>
            <a:ext cx="3733495" cy="2743200"/>
          </a:xfrm>
          <a:prstGeom prst="roundRect">
            <a:avLst>
              <a:gd name="adj" fmla="val 3333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8138160" y="1792224"/>
            <a:ext cx="3276295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launchpad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BTP ABAP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(login no navegador)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backend: mock server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7909560" y="4572000"/>
            <a:ext cx="3733495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chain-link"/>
          <p:cNvSpPr/>
          <p:nvPr/>
        </p:nvSpPr>
        <p:spPr>
          <a:xfrm>
            <a:off x="8138160" y="480060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1" name="Image 1" descr="chain-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277" y="4914717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50808" y="4800600"/>
            <a:ext cx="270936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Proxy /sap → BTP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138160" y="5413248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 ui5.yaml encaminha as chamadas OData ao sistema com reentranceTicket.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apps de análise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ui5/pedidos-compras/ui5-deploy.yaml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530352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530352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839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//&lt;id&gt;.abap.us10.hana.ondemand.com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Compras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6629400" y="1645920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upload-to-cloud"/>
          <p:cNvSpPr/>
          <p:nvPr/>
        </p:nvSpPr>
        <p:spPr>
          <a:xfrm>
            <a:off x="6830568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1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2242" y="19604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77393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npm run deploy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543800" y="210312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deploy-test simula antes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104888" y="2560320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5" name="Cartão"/>
          <p:cNvSpPr/>
          <p:nvPr/>
        </p:nvSpPr>
        <p:spPr>
          <a:xfrm>
            <a:off x="6629400" y="2807208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6830568" y="299008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242" y="3121762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543800" y="2935224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BSP + IAM App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543800" y="3264408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ZPC_PEDIDOS · ZPC_PEDIDOS_UI5R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104888" y="3721608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1" name="Cartão"/>
          <p:cNvSpPr/>
          <p:nvPr/>
        </p:nvSpPr>
        <p:spPr>
          <a:xfrm>
            <a:off x="6629400" y="3968496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list"/>
          <p:cNvSpPr/>
          <p:nvPr/>
        </p:nvSpPr>
        <p:spPr>
          <a:xfrm>
            <a:off x="6830568" y="4151376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242" y="4283050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43800" y="409651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543800" y="442569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ZPC_BC_PEDIDOS recebe o _UI5R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7104888" y="4882896"/>
            <a:ext cx="0" cy="246888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7" name="Cartão"/>
          <p:cNvSpPr/>
          <p:nvPr/>
        </p:nvSpPr>
        <p:spPr>
          <a:xfrm>
            <a:off x="6629400" y="5129784"/>
            <a:ext cx="5013655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home"/>
          <p:cNvSpPr/>
          <p:nvPr/>
        </p:nvSpPr>
        <p:spPr>
          <a:xfrm>
            <a:off x="6830568" y="53126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29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242" y="5444338"/>
            <a:ext cx="285293" cy="285293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543800" y="525780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Launchpad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543800" y="5586984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E9FF"/>
                </a:solidFill>
              </a:rPr>
              <a:t>tile do intent ZPCPedidoCompra-manage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o ponto de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4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12000"/>
            </a:srgbClr>
          </a:solidFill>
          <a:ln/>
        </p:spPr>
      </p:sp>
      <p:sp>
        <p:nvSpPr>
          <p:cNvPr id="5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8000"/>
            </a:srgbClr>
          </a:solidFill>
          <a:ln/>
        </p:spPr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10 tabelas ativas, 8 drafts, CodeLists e índices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Views ZR_, 9 projeções, 11 value helps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5 serviços OData V4 publicados, IAM e roles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</a:rPr>
              <a:t>Arquivos: docs/apresentacoes/01 a 05 · fontes em abap/ e ui5/ · diagramas em docs/diagramas/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análises SAPUI5, navegação entre apps e acesso pelo launchpad.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SÉRIE CONCLUÍDA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Modelagem, CDS, RAP, OData e Fiori em ABAP Cloud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2026-10-20T02:24:05Z</dcterms:created>
  <dcterms:modified xsi:type="dcterms:W3CDTF">2026-10-20T02:24:05Z</dcterms:modified>
</cp:coreProperties>
</file>