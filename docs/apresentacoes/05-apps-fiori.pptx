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302" r:id="rId53"/>
    <p:sldId id="303" r:id="rId54"/>
    <p:sldId id="266" r:id="rId12"/>
    <p:sldId id="304" r:id="rId55"/>
    <p:sldId id="287" r:id="rId38"/>
    <p:sldId id="267" r:id="rId13"/>
    <p:sldId id="268" r:id="rId14"/>
    <p:sldId id="305" r:id="rId56"/>
    <p:sldId id="269" r:id="rId15"/>
    <p:sldId id="306" r:id="rId57"/>
    <p:sldId id="288" r:id="rId39"/>
    <p:sldId id="270" r:id="rId16"/>
    <p:sldId id="271" r:id="rId17"/>
    <p:sldId id="307" r:id="rId58"/>
    <p:sldId id="308" r:id="rId59"/>
    <p:sldId id="309" r:id="rId60"/>
    <p:sldId id="272" r:id="rId18"/>
    <p:sldId id="319" r:id="rId70"/>
    <p:sldId id="310" r:id="rId61"/>
    <p:sldId id="311" r:id="rId62"/>
    <p:sldId id="312" r:id="rId63"/>
    <p:sldId id="273" r:id="rId19"/>
    <p:sldId id="320" r:id="rId71"/>
    <p:sldId id="274" r:id="rId20"/>
    <p:sldId id="313" r:id="rId64"/>
    <p:sldId id="289" r:id="rId40"/>
    <p:sldId id="290" r:id="rId41"/>
    <p:sldId id="275" r:id="rId21"/>
    <p:sldId id="276" r:id="rId22"/>
    <p:sldId id="314" r:id="rId65"/>
    <p:sldId id="315" r:id="rId66"/>
    <p:sldId id="316" r:id="rId67"/>
    <p:sldId id="277" r:id="rId23"/>
    <p:sldId id="317" r:id="rId68"/>
    <p:sldId id="318" r:id="rId69"/>
    <p:sldId id="291" r:id="rId42"/>
    <p:sldId id="292" r:id="rId43"/>
    <p:sldId id="278" r:id="rId24"/>
    <p:sldId id="293" r:id="rId44"/>
    <p:sldId id="294" r:id="rId45"/>
    <p:sldId id="295" r:id="rId46"/>
    <p:sldId id="296" r:id="rId47"/>
    <p:sldId id="279" r:id="rId25"/>
    <p:sldId id="297" r:id="rId48"/>
    <p:sldId id="280" r:id="rId26"/>
    <p:sldId id="298" r:id="rId49"/>
    <p:sldId id="283" r:id="rId34"/>
    <p:sldId id="299" r:id="rId50"/>
    <p:sldId id="284" r:id="rId35"/>
    <p:sldId id="300" r:id="rId51"/>
    <p:sldId id="285" r:id="rId36"/>
    <p:sldId id="301" r:id="rId52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  <Relationship Id="rId70" Type="http://schemas.openxmlformats.org/officeDocument/2006/relationships/slide" Target="slides/slide64.xml"/>
  <Relationship Id="rId71" Type="http://schemas.openxmlformats.org/officeDocument/2006/relationships/slide" Target="slides/slide6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raias: o cadastro em rascunho até o Salvar, o que se faz com o cliente já gravado e o caminho na análise. O CEP é um campo padrão: a determination PreencherEnderecoViaCep reaproveita um CEP já cadastrado ou consulta o ViaCEP, e os side effects recarregam logradouro, bairro, cidade e 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nasce na Gestão de Estoque, mas quem movimenta as quantidades é o BO Pedido, pelas actions internas ReservarEstoque, LiberarReserva e BaixarEstoque, executadas por EML sob o lock do item. Por isso um item aberto em edição impede o registro de um pedido que 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ação de confirmação: o botão Criar do rascunho registra o pedido. O número vem na criação do rascunho (GerarNumeroPedido on modify create). ValidarRegistro, no Prepare, exige endereço principal, ao menos um item e disponibilidade; ReservarEstoqueRegistro reserva o estoque ao ativar. Em falha parcial, as reservas já feitas são compensadas e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 principal é ABERTO → AGUARDANDO_APROVACAO (pagamento aprovado) → FINALIZADO. Pagamento recusado mantém o pedido ABERTO. Cancelar um pedido sem pagamento libera a reserva; com pagamento aprovado, abre uma solicitação de reembolso e o pedido fica em PROCESSANDO_REEMBOLSO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nasce no app de pedidos, quando um pedido com pagamento aprovado é cancelado. Na Gestão de Reembolsos só existe a decisão: AprovarReembolso chama CancelarPorReembolso no Pedido e RejeitarReembolso chama RetomarPedido, sempre na mesma transação do 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no SAP BTP, ABAP environment: o deploy grava a BSP e o IAM App do tile no ABAP Repository; o acesso passa por Business Catalogs e Business Roles e, no trial, pelo SAP Build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configuração de deploy pode vir do Application Generator ou ser acrescentada depois com npx fiori add deploy-config abap. No BTP o login é por reentranceTicket: o navegador abre o login do SAP ID e nenhuma senha fica no arquivo. O inbound do manifest vira o IAM App do tile (sufixo _UI5R).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IAM Apps por domínio chegam ao mesmo Business Catalog: o do serviço (ZPC_IAM_*, criado no ADT, com o serviço OData e os objetos de autorização) e o do tile (ZPC_*_UI5R, criado pelo deploy). As Business Roles agrupam os catálogos. No trial não há Maintain Business Roles nem Manage Launchpad Spaces, por isso c_modo_trial fica abap_true e o acesso segue pelo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Site Manager do SAP Build Work Zone, standard edition, cada app vira um tile do tipo URL que abre a BSP numa nova aba, com um intent próprio. As oito apps vão para um grupo e para o role Everyone. Cada app funciona isolada: a navegação entre apps depende do shell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primeiro npm run deploy no On-Premise: conferir a versão do SAPUI5, ativar os serviços ICF, ter pacotes Standard ABAP numa camada de transporte e uma ordem Workbench, um usuário com S_DEVELOP e o certificado do sistema confiável na máquina de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Launchpad App Manager (/UI2/FLPAM), o catálogo técnico ZPC_TC_PEDIDOS_COMPRAS recebe um app descriptor por aplicação: o tile e o target mapping com o mesmo semantic object e a mesma ação do inbound do manifest. Um intent diferente quebra a navegação entre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/UI2/FLPCM_CUST, os catálogos de negócio referenciam o catálogo técnico e o espaço Pedidos de Compras tem uma página com as seções Gestão e Análises. As roles PFCG trazem catálogos, espaço e os grupos de serviços (S_START); Z_PC_ADMIN vê os oito tiles e Z_PC_COMUM, pedidos, reembolsos e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Object Page abre ao clicar numa linha da lista ou por um link ZPCCliente nas apps de pedidos e reembolsos. O score de 51 aparece em laranja porque está entre 40 e 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informar o CEP, a determination PreencherEnderecoViaCep reaproveita um CEP já cadastrado ou consulta o ViaCEP, e os side effects recarregam logradouro, bairro, cidade, UF e estado na mesma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abre com a barra de filtros, os indicadores e os cinco cards do domínio. Os filtros valem para KPIs e gráficos e continuam aplicados ao abrir um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não é digitado: a determination GerarSku monta SKU-ELE-0000000424 no Salvar, com as três primeiras letras da categoria. Reservada e disponível só mudam pelas actions internas chamadas pelos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indicadores e cinco cards. O valor em estoque é preço unitário vezes quantidade, calculado no cubo; o card dos mais reservados mostra só os dez primeiros.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0000000402 já aparece no rascunho porque GerarNumeroPedido roda na criação. A reserva de estoque só acontece no botão Criar do rodapé, que ativa 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Fiori Elements não mostra máscara nem confirmação no diálogo de parâmetros de uma action, então Efetuar Pagamento é um botão customizado (ext/AcoesPedido.js): abre um diálogo próprio com sap.m.MaskInput, pede a confirmação e executa SimularPagamento por editFlow.invokeAction, sem o diálogo padrão. O precheck do backend confere todos os campos de uma vez. O pagamento é simulado: só bandeira, últimos quatro dígitos e máscara são gravados; aprovado vai a AGUARDANDO_APROVACAO e recusado segue ABERTO.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pedido não tem parâmetros, então executa direto, sem diálogo: baixa o estoque, gera os snapshots e preenche a data de finalização. A seção Finalização só aparece com o pedido FINALIZADO.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pagamento já está aprovado, confirmar o cancelamento não cancela o pedido na hora: abre uma solicitação de reembolso PENDENTE e o pedido passa a PROCESSANDO_REEMBOLSO.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Enquanto o reembolso não é decidido, o pedido continua ativo: cliente e itens vêm das tabelas vivas e a reserva de estoque é mantida.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CancelarPorReembolso liberou a reserva, montou os snapshots e marcou o pagamento como DEVOLVIDO. A seção Cancelamento aparece porque o status é CANCELADO; o pedido fica imutável.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de pedidos soma valores por status, mês e UF. O ticket médio usa a agregação padrão do backend (média), não a soma.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guarda o status anterior do pedido (AGUARDANDO_APROVACAO), que volta a valer se o reembolso for rejeitado. Aprovar e Rejeitar ficam no menu Ações: são botões customizados (ext/AcoesReembolso.js) que seguem o feature control do backend, só habilitados com o status PENDENTE, e pedem confirmação antes do diálogo do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e Rejeitar usam o mesmo parâmetro ZPC_A_REEMB_DECISAO_INPUT, com o motivo da decisão. Rejeitar abre o mesmo diálogo, com o motivo obrigatório; não há captura dele em assets/telas.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é final: os dois botões ficam desabilitados e a solicitação passa a mostrar motivo, data e usuário da decisão. O link do pedido abre o pedido já CANCELADO.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cards de reembolsos cruzam status, mês, UF e motivo da solicitação. Clicar no título do primeiro card abre o detalhe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detalhe é igual nas quatro apps de análise: gráfico grande com troca de tipo e a tabela com valores, percentual e total. Os filtros do painel continuam aplicados.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ação do ciclo de vida pede confirmação. O Fiori Elements só confirma ações sem parâmetros (Common.IsActionCritical, usado no Aprovar pedido); Cancelar pedido tem o motivo como parâmetro, por isso é um botão customizado que mostra este MessageBox e, no OK, executa a action, que abre o diálogo padrão do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DDLX mantém as actions padrão no grupo AcoesPedido, para o Preview do serviço. No app, o manifest sobrescreve esse grupo (DataFieldForActionGroup::AcoesPedido) com os botões customizados e o Aprovar pedido padrão; a chave de uma action anotada inclui o tipo do binding (…::PedidoType). Os botões leem __OperationControl/&lt;Action&gt;, o mesmo feature control das actions padrão: na Object Page, o enabled do manifest aponta direto para esse caminho, porque o FE converte cada parte do enabled para booleano e uma comparação com o texto do status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edit-049f9a.png"/><Relationship Id="rId3" Type="http://schemas.openxmlformats.org/officeDocument/2006/relationships/image" Target="../media/icon-bar-chart-049f9a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product-c87b00.png"/><Relationship Id="rId2" Type="http://schemas.openxmlformats.org/officeDocument/2006/relationships/image" Target="../media/icon-shipping-status-c87b00.png"/><Relationship Id="rId3" Type="http://schemas.openxmlformats.org/officeDocument/2006/relationships/image" Target="../media/icon-bar-chart-c87b00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0070f2.png"/><Relationship Id="rId2" Type="http://schemas.openxmlformats.org/officeDocument/2006/relationships/image" Target="../media/icon-accept-0070f2.png"/><Relationship Id="rId3" Type="http://schemas.openxmlformats.org/officeDocument/2006/relationships/image" Target="../media/icon-bar-chart-0070f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con-money-bills-df1278.png"/><Relationship Id="rId2" Type="http://schemas.openxmlformats.org/officeDocument/2006/relationships/image" Target="../media/icon-action-settings-8b47d7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df1278.png"/><Relationship Id="rId2" Type="http://schemas.openxmlformats.org/officeDocument/2006/relationships/image" Target="../media/icon-decision-df1278.png"/><Relationship Id="rId3" Type="http://schemas.openxmlformats.org/officeDocument/2006/relationships/image" Target="../media/icon-bar-chart-df1278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image" Target="../media/icon-cloud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image" Target="../media/icon-validate-256f3a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image" Target="../media/icon-key-8b47d7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list-0070f2.png"/><Relationship Id="rId4" Type="http://schemas.openxmlformats.org/officeDocument/2006/relationships/image" Target="../media/icon-role-c87b00.png"/><Relationship Id="rId5" Type="http://schemas.openxmlformats.org/officeDocument/2006/relationships/image" Target="../media/icon-home-256f3a.png"/><Relationship Id="rId6" Type="http://schemas.openxmlformats.org/officeDocument/2006/relationships/image" Target="../media/icon-alert-c87b0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image" Target="../media/icon-world-256f3a.png"/><Relationship Id="rId2" Type="http://schemas.openxmlformats.org/officeDocument/2006/relationships/image" Target="../media/icon-add-document-0070f2.png"/><Relationship Id="rId3" Type="http://schemas.openxmlformats.org/officeDocument/2006/relationships/image" Target="../media/icon-chain-link-8b47d7.png"/><Relationship Id="rId4" Type="http://schemas.openxmlformats.org/officeDocument/2006/relationships/image" Target="../media/icon-home-c87b0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image" Target="../media/icon-e-learning-0070f2.png"/><Relationship Id="rId2" Type="http://schemas.openxmlformats.org/officeDocument/2006/relationships/image" Target="../media/icon-it-system-049f9a.png"/><Relationship Id="rId3" Type="http://schemas.openxmlformats.org/officeDocument/2006/relationships/image" Target="../media/icon-sap-box-256f3a.png"/><Relationship Id="rId4" Type="http://schemas.openxmlformats.org/officeDocument/2006/relationships/image" Target="../media/icon-key-8b47d7.png"/><Relationship Id="rId5" Type="http://schemas.openxmlformats.org/officeDocument/2006/relationships/image" Target="../media/icon-locked-c87b00.png"/><Relationship Id="rId6" Type="http://schemas.openxmlformats.org/officeDocument/2006/relationships/image" Target="../media/icon-chain-link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product-c87b00.png"/><Relationship Id="rId3" Type="http://schemas.openxmlformats.org/officeDocument/2006/relationships/image" Target="../media/icon-sales-order-0070f2.png"/><Relationship Id="rId4" Type="http://schemas.openxmlformats.org/officeDocument/2006/relationships/image" Target="../media/icon-money-bills-df1278.png"/><Relationship Id="rId5" Type="http://schemas.openxmlformats.org/officeDocument/2006/relationships/image" Target="../media/icon-bar-chart-0070f2.png"/><Relationship Id="rId6" Type="http://schemas.openxmlformats.org/officeDocument/2006/relationships/image" Target="../media/icon-pie-chart-049f9a.png"/><Relationship Id="rId7" Type="http://schemas.openxmlformats.org/officeDocument/2006/relationships/image" Target="../media/icon-line-chart-c87b00.png"/><Relationship Id="rId8" Type="http://schemas.openxmlformats.org/officeDocument/2006/relationships/image" Target="../media/icon-horizontal-bar-chart-df1278.png"/><Relationship Id="rId9" Type="http://schemas.openxmlformats.org/officeDocument/2006/relationships/image" Target="../media/icon-role-0070f2.png"/><Relationship Id="rId10" Type="http://schemas.openxmlformats.org/officeDocument/2006/relationships/image" Target="../media/icon-role-256f3a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image" Target="../media/tela-clientes-cliente-v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image" Target="../media/tela-clientes-endereco-viacep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clientes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image" Target="../media/tela-estoque-item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estoqu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rascunh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pagamento-v2.png"/><Relationship Id="rId2" Type="http://schemas.openxmlformats.org/officeDocument/2006/relationships/image" Target="../media/tela-pedidos-pagamento-dialogo-v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itens-pagament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cancelamento.png"/><Relationship Id="rId2" Type="http://schemas.openxmlformats.org/officeDocument/2006/relationships/image" Target="../media/tela-pedidos-cancelament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processando-reembols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cancelad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pedidos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acoes-menu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aprovacao.png"/><Relationship Id="rId2" Type="http://schemas.openxmlformats.org/officeDocument/2006/relationships/image" Target="../media/tela-reembolsos-aprovaca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aprovad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reembolsos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detalh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confirmacao.png"/><Relationship Id="rId2" Type="http://schemas.openxmlformats.org/officeDocument/2006/relationships/image" Target="../media/tela-pedidos-confirmaca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Menu Ações: só com PENDENTE, com confirmação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cadastro à análise: o fluxo das apps de clientes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6" name="Ícone custom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Clientes,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 abre um rascunho; o score é sorteado e fica somente leitura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Dados e foto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CPF, e-mail e telefone normalizados; foto JPEG, PNG ou WEBP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Endereço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CEP pelo value help ou digitado; o ViaCEP preenche o resto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Principal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O primeiro endereço vira o principal; a ação troca depois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 CPF único, e-mail, telefone e CEP válido e único no cliente</a:t>
            </a:r>
            <a:endParaRPr lang="pt-BR" sz="1050" dirty="0"/>
          </a:p>
        </p:txBody>
      </p:sp>
      <p:sp>
        <p:nvSpPr>
          <p:cNvPr id="34" name="Raia Cliente salv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35" name="Ícone edi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ed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Cliente salvo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Ações na lista e na Object Page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Editar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Reabre o rascunho; um CEP já gravado fica somente leitura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Definir principal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Ação no endereço: troca o endereço principal do cliente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Importar planilha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.xlsx ou .csv, até 500 linhas, tudo ou nada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Excluir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Bloqueado se o cliente tem pedido (features + precheck)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Clientes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QtdeClientes e ScoreMedio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Gênero, ativo, UF, faixa, nome: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#/analise/CliPorUf: troca o gráfico e mostra % e total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ZPCCliente-manage no launchpad; fora dele, a BSP zpc_clientes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ciclo de um item: cadastro, reservas e baixa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6" name="Ícone product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produc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Estoque,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Nome, descrição, categoria, quantidade, preço e foto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GerarSku: SKU-ELE-0000000001, com prefixo da categoria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Status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SEM_ESTOQUE, ACABANDO ou EM_ESTOQUE, recalculado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Mudar a quantidade recalcula disponível e status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Inativar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Some da value help do pedido; excluir exige item sem pedido</a:t>
            </a:r>
            <a:endParaRPr lang="pt-BR" sz="1050" dirty="0"/>
          </a:p>
        </p:txBody>
      </p:sp>
      <p:sp>
        <p:nvSpPr>
          <p:cNvPr id="34" name="Raia Pedidos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35" name="Ícone shipping-status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shipping-stat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Pedidos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Actions internas, por EML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Salvar um pedido soma a quantidade à reservada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Liberar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o pedido ou tirar itens devolve a reserva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Baixar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Aprovar o pedido reduz o estoque e a reservada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Concorrência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Item em edição bloqueia o registro do pedido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Itens do Estoque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itens, reservada e valor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Categoria, situação, nome, SKU: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EstMaisReservados: os dez itens mais reservados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ZPCItemEstoque-manage no launchpad; fora dele, a BSP zpc_estoque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rascunho ao pedido ABERTO com estoque reservado</a:t>
            </a:r>
            <a:endParaRPr lang="pt-BR" sz="3000" dirty="0"/>
          </a:p>
        </p:txBody>
      </p:sp>
      <p:sp>
        <p:nvSpPr>
          <p:cNvPr id="5" name="Raia Rascunh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Rascunho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Pedidos de Compras, Criar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Abre o rascunho já numerado; nada é reservado ainda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Cliente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Escolher o cliente traz o endereço principal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Itens inline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Linhas na própria tabela; item sem estoque é barrado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Totais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Valor do item e total do pedido, por side effects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Gravar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Criar, no rodapé, exige endereço principal, item e saldo</a:t>
            </a:r>
            <a:endParaRPr lang="pt-BR" sz="1050" dirty="0"/>
          </a:p>
        </p:txBody>
      </p:sp>
      <p:sp>
        <p:nvSpPr>
          <p:cNvPr id="34" name="Raia Registr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35" name="Ícone accep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cce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Registro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Ativação do rascunho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Validar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ValidarRegistro roda no Prepare, antes de ativar</a:t>
            </a:r>
            <a:endParaRPr lang="pt-BR" sz="1050" dirty="0"/>
          </a:p>
        </p:txBody>
      </p:sp>
      <p:cxnSp>
        <p:nvCxnSpPr>
          <p:cNvPr id="43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4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ReservarEstoque em cada item, sob o lock do item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6931152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ABERTO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registrado; Editar só muda os itens</a:t>
            </a:r>
            <a:endParaRPr lang="pt-BR" sz="1050" dirty="0"/>
          </a:p>
        </p:txBody>
      </p:sp>
      <p:cxnSp>
        <p:nvCxnSpPr>
          <p:cNvPr id="53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54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5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6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57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Editar ajusta a reserva pela diferença</a:t>
            </a:r>
            <a:endParaRPr lang="pt-BR" sz="1050" dirty="0"/>
          </a:p>
        </p:txBody>
      </p:sp>
      <p:sp>
        <p:nvSpPr>
          <p:cNvPr id="58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59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60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61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62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</a:t>
            </a:r>
            <a:endParaRPr lang="pt-BR" sz="1000" dirty="0"/>
          </a:p>
        </p:txBody>
      </p:sp>
      <p:sp>
        <p:nvSpPr>
          <p:cNvPr id="63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valor, pedidos e ticket médio e os cinco gráficos do domínio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pagamento, UF, mês: valem para KPIs e gráficos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PedValorPorUf: valor total por UF, em colunas ou barras</a:t>
            </a:r>
            <a:endParaRPr lang="pt-BR" sz="1050" dirty="0"/>
          </a:p>
        </p:txBody>
      </p:sp>
      <p:cxnSp>
        <p:nvCxnSpPr>
          <p:cNvPr id="77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8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9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80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81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ZPCPedidoCompra-manage no launchpad; fora dele, a BSP zpc_pedidos</a:t>
            </a:r>
            <a:endParaRPr lang="pt-BR" sz="1050" dirty="0"/>
          </a:p>
        </p:txBody>
      </p:sp>
      <p:sp>
        <p:nvSpPr>
          <p:cNvPr id="8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AÇÕES E STATUS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Pagamento, aprovação e cancelamento no menu Ações</a:t>
            </a:r>
            <a:endParaRPr lang="pt-BR" sz="3000" dirty="0"/>
          </a:p>
        </p:txBody>
      </p:sp>
      <p:sp>
        <p:nvSpPr>
          <p:cNvPr id="5" name="Status ABERTO"/>
          <p:cNvSpPr/>
          <p:nvPr/>
        </p:nvSpPr>
        <p:spPr>
          <a:xfrm>
            <a:off x="548640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Texto"/>
          <p:cNvSpPr txBox="1"/>
          <p:nvPr/>
        </p:nvSpPr>
        <p:spPr>
          <a:xfrm>
            <a:off x="731520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pt-BR" sz="1300" dirty="0"/>
          </a:p>
        </p:txBody>
      </p:sp>
      <p:sp>
        <p:nvSpPr>
          <p:cNvPr id="7" name="Texto"/>
          <p:cNvSpPr txBox="1"/>
          <p:nvPr/>
        </p:nvSpPr>
        <p:spPr>
          <a:xfrm>
            <a:off x="731520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reservado; pagamento recusado mantém aqui</a:t>
            </a:r>
            <a:endParaRPr lang="pt-BR" sz="1050" dirty="0"/>
          </a:p>
        </p:txBody>
      </p:sp>
      <p:sp>
        <p:nvSpPr>
          <p:cNvPr id="8" name="Status AGUARDANDO_APROVACAO"/>
          <p:cNvSpPr/>
          <p:nvPr/>
        </p:nvSpPr>
        <p:spPr>
          <a:xfrm>
            <a:off x="4636008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4818888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4818888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Pagamento aprovado, cartão mascarado</a:t>
            </a:r>
            <a:endParaRPr lang="pt-BR" sz="1050" dirty="0"/>
          </a:p>
        </p:txBody>
      </p:sp>
      <p:sp>
        <p:nvSpPr>
          <p:cNvPr id="11" name="Status FINALIZADO"/>
          <p:cNvSpPr/>
          <p:nvPr/>
        </p:nvSpPr>
        <p:spPr>
          <a:xfrm>
            <a:off x="8897112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12" name="Texto"/>
          <p:cNvSpPr txBox="1"/>
          <p:nvPr/>
        </p:nvSpPr>
        <p:spPr>
          <a:xfrm>
            <a:off x="9079992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pt-BR" sz="1300" dirty="0"/>
          </a:p>
        </p:txBody>
      </p:sp>
      <p:sp>
        <p:nvSpPr>
          <p:cNvPr id="13" name="Texto"/>
          <p:cNvSpPr txBox="1"/>
          <p:nvPr/>
        </p:nvSpPr>
        <p:spPr>
          <a:xfrm>
            <a:off x="9079992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baixado, snapshots e data de finalização</a:t>
            </a:r>
            <a:endParaRPr lang="pt-BR" sz="1050" dirty="0"/>
          </a:p>
        </p:txBody>
      </p:sp>
      <p:sp>
        <p:nvSpPr>
          <p:cNvPr id="14" name="Status CANCELADO"/>
          <p:cNvSpPr/>
          <p:nvPr/>
        </p:nvSpPr>
        <p:spPr>
          <a:xfrm>
            <a:off x="548640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15" name="Texto"/>
          <p:cNvSpPr txBox="1"/>
          <p:nvPr/>
        </p:nvSpPr>
        <p:spPr>
          <a:xfrm>
            <a:off x="731520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731520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liberada, snapshots e motivo gravados</a:t>
            </a:r>
            <a:endParaRPr lang="pt-BR" sz="1050" dirty="0"/>
          </a:p>
        </p:txBody>
      </p:sp>
      <p:sp>
        <p:nvSpPr>
          <p:cNvPr id="17" name="Status PROCESSANDO_REEMBOLSO"/>
          <p:cNvSpPr/>
          <p:nvPr/>
        </p:nvSpPr>
        <p:spPr>
          <a:xfrm>
            <a:off x="4636008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18" name="Texto"/>
          <p:cNvSpPr txBox="1"/>
          <p:nvPr/>
        </p:nvSpPr>
        <p:spPr>
          <a:xfrm>
            <a:off x="4818888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300" dirty="0"/>
          </a:p>
        </p:txBody>
      </p:sp>
      <p:sp>
        <p:nvSpPr>
          <p:cNvPr id="19" name="Texto"/>
          <p:cNvSpPr txBox="1"/>
          <p:nvPr/>
        </p:nvSpPr>
        <p:spPr>
          <a:xfrm>
            <a:off x="4818888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mantida até a decisão do reembolso</a:t>
            </a:r>
            <a:endParaRPr lang="pt-BR" sz="1050" dirty="0"/>
          </a:p>
        </p:txBody>
      </p:sp>
      <p:cxnSp>
        <p:nvCxnSpPr>
          <p:cNvPr id="20" name="Conector"/>
          <p:cNvCxnSpPr/>
          <p:nvPr/>
        </p:nvCxnSpPr>
        <p:spPr>
          <a:xfrm>
            <a:off x="3337560" y="2217420"/>
            <a:ext cx="125272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1" name="Texto"/>
          <p:cNvSpPr txBox="1"/>
          <p:nvPr/>
        </p:nvSpPr>
        <p:spPr>
          <a:xfrm>
            <a:off x="3291840" y="171450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Efetuar Pagamento aprovado</a:t>
            </a:r>
            <a:endParaRPr lang="pt-BR" sz="1000" dirty="0"/>
          </a:p>
        </p:txBody>
      </p:sp>
      <p:cxnSp>
        <p:nvCxnSpPr>
          <p:cNvPr id="22" name="Conector"/>
          <p:cNvCxnSpPr/>
          <p:nvPr/>
        </p:nvCxnSpPr>
        <p:spPr>
          <a:xfrm>
            <a:off x="7424928" y="2217420"/>
            <a:ext cx="142646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3" name="Texto"/>
          <p:cNvSpPr txBox="1"/>
          <p:nvPr/>
        </p:nvSpPr>
        <p:spPr>
          <a:xfrm>
            <a:off x="7379208" y="1714500"/>
            <a:ext cx="1517904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Aprovar pedido</a:t>
            </a:r>
            <a:endParaRPr lang="pt-BR" sz="1000" dirty="0"/>
          </a:p>
        </p:txBody>
      </p:sp>
      <p:cxnSp>
        <p:nvCxnSpPr>
          <p:cNvPr id="24" name="Conector"/>
          <p:cNvCxnSpPr/>
          <p:nvPr/>
        </p:nvCxnSpPr>
        <p:spPr>
          <a:xfrm>
            <a:off x="1920240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Texto"/>
          <p:cNvSpPr txBox="1"/>
          <p:nvPr/>
        </p:nvSpPr>
        <p:spPr>
          <a:xfrm>
            <a:off x="2029968" y="2971800"/>
            <a:ext cx="2011680" cy="5486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pedido (motivo obrigatório)</a:t>
            </a:r>
            <a:endParaRPr lang="pt-BR" sz="1000" dirty="0"/>
          </a:p>
        </p:txBody>
      </p:sp>
      <p:cxnSp>
        <p:nvCxnSpPr>
          <p:cNvPr id="26" name="Conector"/>
          <p:cNvCxnSpPr/>
          <p:nvPr/>
        </p:nvCxnSpPr>
        <p:spPr>
          <a:xfrm>
            <a:off x="5687568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7" name="Texto"/>
          <p:cNvSpPr txBox="1"/>
          <p:nvPr/>
        </p:nvSpPr>
        <p:spPr>
          <a:xfrm>
            <a:off x="3337560" y="2926080"/>
            <a:ext cx="118872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com pagamento aprovado</a:t>
            </a:r>
            <a:endParaRPr lang="pt-BR" sz="1000" dirty="0"/>
          </a:p>
        </p:txBody>
      </p:sp>
      <p:cxnSp>
        <p:nvCxnSpPr>
          <p:cNvPr id="28" name="Conector"/>
          <p:cNvCxnSpPr/>
          <p:nvPr/>
        </p:nvCxnSpPr>
        <p:spPr>
          <a:xfrm flipV="1">
            <a:off x="6327648" y="2788920"/>
            <a:ext cx="0" cy="114300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29" name="Texto"/>
          <p:cNvSpPr txBox="1"/>
          <p:nvPr/>
        </p:nvSpPr>
        <p:spPr>
          <a:xfrm>
            <a:off x="6437376" y="2926080"/>
            <a:ext cx="14630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rejeitado: volta ao status anterior</a:t>
            </a:r>
            <a:endParaRPr lang="pt-BR" sz="1000" dirty="0"/>
          </a:p>
        </p:txBody>
      </p:sp>
      <p:cxnSp>
        <p:nvCxnSpPr>
          <p:cNvPr id="30" name="Conector"/>
          <p:cNvCxnSpPr/>
          <p:nvPr/>
        </p:nvCxnSpPr>
        <p:spPr>
          <a:xfrm flipH="1">
            <a:off x="3337560" y="4503420"/>
            <a:ext cx="1252728" cy="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31" name="Texto"/>
          <p:cNvSpPr txBox="1"/>
          <p:nvPr/>
        </p:nvSpPr>
        <p:spPr>
          <a:xfrm>
            <a:off x="3291840" y="3954780"/>
            <a:ext cx="1344168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aprovado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3291840" y="454914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pagamento DEVOLVIDO</a:t>
            </a:r>
            <a:endParaRPr lang="pt-BR" sz="1000" dirty="0"/>
          </a:p>
        </p:txBody>
      </p:sp>
      <p:sp>
        <p:nvSpPr>
          <p:cNvPr id="33" name="Cartão"/>
          <p:cNvSpPr/>
          <p:nvPr/>
        </p:nvSpPr>
        <p:spPr>
          <a:xfrm>
            <a:off x="8897112" y="397764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money-bills"/>
          <p:cNvSpPr/>
          <p:nvPr/>
        </p:nvSpPr>
        <p:spPr>
          <a:xfrm>
            <a:off x="9061704" y="414223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5" name="Imagem" descr="money-bil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654" y="4243182"/>
            <a:ext cx="218724" cy="218724"/>
          </a:xfrm>
          <a:prstGeom prst="rect">
            <a:avLst/>
          </a:prstGeom>
        </p:spPr>
      </p:pic>
      <p:sp>
        <p:nvSpPr>
          <p:cNvPr id="36" name="Texto"/>
          <p:cNvSpPr txBox="1"/>
          <p:nvPr/>
        </p:nvSpPr>
        <p:spPr>
          <a:xfrm>
            <a:off x="9610344" y="4105656"/>
            <a:ext cx="192024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Gestão de Reembolsos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9061704" y="4617720"/>
            <a:ext cx="246888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Solicitação PENDENTE aguarda a decisão</a:t>
            </a:r>
            <a:endParaRPr lang="pt-BR" sz="1000" dirty="0"/>
          </a:p>
        </p:txBody>
      </p:sp>
      <p:cxnSp>
        <p:nvCxnSpPr>
          <p:cNvPr id="38" name="Conector"/>
          <p:cNvCxnSpPr/>
          <p:nvPr/>
        </p:nvCxnSpPr>
        <p:spPr>
          <a:xfrm>
            <a:off x="7424928" y="4503420"/>
            <a:ext cx="1426464" cy="0"/>
          </a:xfrm>
          <a:prstGeom prst="line">
            <a:avLst/>
          </a:prstGeom>
          <a:noFill/>
          <a:ln w="19050">
            <a:solidFill>
              <a:srgbClr val="DF1278"/>
            </a:solidFill>
            <a:prstDash val="dash"/>
            <a:round/>
            <a:tailEnd type="triangle"/>
          </a:ln>
        </p:spPr>
      </p:cxnSp>
      <p:sp>
        <p:nvSpPr>
          <p:cNvPr id="39" name="Faixa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40" name="Ícone action-settings"/>
          <p:cNvSpPr/>
          <p:nvPr/>
        </p:nvSpPr>
        <p:spPr>
          <a:xfrm>
            <a:off x="749808" y="5532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1" name="Imagem" descr="action-setting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5641848"/>
            <a:ext cx="237744" cy="237744"/>
          </a:xfrm>
          <a:prstGeom prst="rect">
            <a:avLst/>
          </a:prstGeom>
        </p:spPr>
      </p:pic>
      <p:sp>
        <p:nvSpPr>
          <p:cNvPr id="42" name="Texto"/>
          <p:cNvSpPr txBox="1"/>
          <p:nvPr/>
        </p:nvSpPr>
        <p:spPr>
          <a:xfrm>
            <a:off x="1371600" y="5349240"/>
            <a:ext cx="100584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Menu Ações (#FOR_ACTION_GROUP): </a:t>
            </a:r>
            <a:r>
              <a:rPr lang="pt-BR" sz="1200" dirty="0">
                <a:solidFill>
                  <a:srgbClr val="1D2D3E"/>
                </a:solidFill>
              </a:rPr>
              <a:t>cada botão segue o status (feature control) e o perfil (atividade 16) e pede confirmação. FINALIZADO e CANCELADO são imutáveis e a Object Page passa a ler os snapshots.</a:t>
            </a:r>
            <a:endParaRPr lang="pt-BR" sz="12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Da solicitação à decisão: o fluxo das apps de reembolsos</a:t>
            </a:r>
            <a:endParaRPr lang="pt-BR" sz="3000" dirty="0"/>
          </a:p>
        </p:txBody>
      </p:sp>
      <p:sp>
        <p:nvSpPr>
          <p:cNvPr id="5" name="Raia Solicitaçã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Solicitação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Nasce no app de pedidos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Cancelamento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um pedido com pagamento APROVADO, no app de pedidos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55828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796028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905756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5253228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Solicitação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924044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PENDENTE criado por EML, guarda o status anterior do pedido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6931152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7168896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7278624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7626096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Pedido em espera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7296912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PROCESSANDO_REEMBOLSO, com a reserva mantida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930402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9541764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9651492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998964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Lista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9669780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Gestão de Reembolsos, sem criar, editar ou excluir</a:t>
            </a:r>
            <a:endParaRPr lang="pt-BR" sz="1050" dirty="0"/>
          </a:p>
        </p:txBody>
      </p:sp>
      <p:sp>
        <p:nvSpPr>
          <p:cNvPr id="29" name="Raia Decisã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30" name="Ícone decision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1" name="Imagem" descr="deci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2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Decisão</a:t>
            </a:r>
            <a:endParaRPr lang="pt-BR" sz="1300" dirty="0"/>
          </a:p>
        </p:txBody>
      </p:sp>
      <p:sp>
        <p:nvSpPr>
          <p:cNvPr id="33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Só com status PENDENTE</a:t>
            </a:r>
            <a:endParaRPr lang="pt-BR" sz="1000" dirty="0"/>
          </a:p>
        </p:txBody>
      </p:sp>
      <p:sp>
        <p:nvSpPr>
          <p:cNvPr id="34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36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Motivos e datas; o Pedido abre direto no app de pedidos</a:t>
            </a:r>
            <a:endParaRPr lang="pt-BR" sz="1050" dirty="0"/>
          </a:p>
        </p:txBody>
      </p:sp>
      <p:cxnSp>
        <p:nvCxnSpPr>
          <p:cNvPr id="38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9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40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256F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Aprovar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CANCELADO, pagamento DEVOLVIDO; APROVADO</a:t>
            </a:r>
            <a:endParaRPr lang="pt-BR" sz="1050" dirty="0"/>
          </a:p>
        </p:txBody>
      </p:sp>
      <p:sp>
        <p:nvSpPr>
          <p:cNvPr id="43" name="Texto"/>
          <p:cNvSpPr txBox="1"/>
          <p:nvPr/>
        </p:nvSpPr>
        <p:spPr>
          <a:xfrm>
            <a:off x="6894576" y="3657600"/>
            <a:ext cx="2743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556B82"/>
                </a:solidFill>
              </a:rPr>
              <a:t>ou</a:t>
            </a:r>
            <a:endParaRPr lang="pt-BR" sz="1000" dirty="0"/>
          </a:p>
        </p:txBody>
      </p:sp>
      <p:sp>
        <p:nvSpPr>
          <p:cNvPr id="44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45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AA080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Rejeitar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 obrigatório; pedido volta ao status anterior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Encerrar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e pedido mudam na mesma transação</a:t>
            </a:r>
            <a:endParaRPr lang="pt-BR" sz="1050" dirty="0"/>
          </a:p>
        </p:txBody>
      </p:sp>
      <p:sp>
        <p:nvSpPr>
          <p:cNvPr id="53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54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5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6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7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 de Reembolsos</a:t>
            </a:r>
            <a:endParaRPr lang="pt-BR" sz="1000" dirty="0"/>
          </a:p>
        </p:txBody>
      </p:sp>
      <p:sp>
        <p:nvSpPr>
          <p:cNvPr id="58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0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1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quantidade e valor e os cinco gráficos do domínio</a:t>
            </a:r>
            <a:endParaRPr lang="pt-BR" sz="1050" dirty="0"/>
          </a:p>
        </p:txBody>
      </p:sp>
      <p:cxnSp>
        <p:nvCxnSpPr>
          <p:cNvPr id="62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3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UF, mês: valem para KPIs e gráficos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ReePorMotivo: ranking pelo motivo da solicitação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ZPCReembolso-manage no launchpad; fora dele, a BSP zpc_reembolsos</a:t>
            </a:r>
            <a:endParaRPr lang="pt-BR" sz="105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SAP BTP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Apps no SAP BTP, ABAP environment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Deploy com login pelo SAP ID, IAM Apps dos tiles nos Business Catalogs e, no trial, o acesso pelo SAP Build Work Zone.</a:t>
            </a:r>
            <a:endParaRPr lang="pt-BR" sz="1800" dirty="0"/>
          </a:p>
        </p:txBody>
      </p:sp>
      <p:sp>
        <p:nvSpPr>
          <p:cNvPr id="6" name="Ícone cloud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clou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r>
              <a:rPr lang="pt-BR" sz="1100" dirty="0">
                <a:solidFill>
                  <a:srgbClr val="D1EFFF"/>
                </a:solidFill>
              </a:rPr>
              <a:t xml:space="preserve">  deploy-to-abap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r>
              <a:rPr lang="pt-BR" sz="1100" dirty="0">
                <a:solidFill>
                  <a:srgbClr val="D1EFFF"/>
                </a:solidFill>
              </a:rPr>
              <a:t xml:space="preserve">  login no navegador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 · ZPC_ANL_*</a:t>
            </a:r>
            <a:r>
              <a:rPr lang="pt-BR" sz="1100" dirty="0">
                <a:solidFill>
                  <a:srgbClr val="D1EFFF"/>
                </a:solidFill>
              </a:rPr>
              <a:t xml:space="preserve">  BSPs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ZPC_*_UI5R</a:t>
            </a:r>
            <a:r>
              <a:rPr lang="pt-BR" sz="1100" dirty="0">
                <a:solidFill>
                  <a:srgbClr val="D1EFFF"/>
                </a:solidFill>
              </a:rPr>
              <a:t xml:space="preserve">  IAM App do tile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· ZPC_BR_*</a:t>
            </a:r>
            <a:r>
              <a:rPr lang="pt-BR" sz="1100" dirty="0">
                <a:solidFill>
                  <a:srgbClr val="D1EFFF"/>
                </a:solidFill>
              </a:rPr>
              <a:t xml:space="preserve">  catálogos e roles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r>
              <a:rPr lang="pt-BR" sz="1100" dirty="0">
                <a:solidFill>
                  <a:srgbClr val="D1EFFF"/>
                </a:solidFill>
              </a:rPr>
              <a:t xml:space="preserve">  tiles URL no trial</a:t>
            </a:r>
            <a:endParaRPr lang="pt-BR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CONFIGURAÇÃO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a app para o deploy no ABAP environment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257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Gerar a configuração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57984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Passo Deploy do Application Generator ou npx fiori add deploy-config abap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70662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688336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Destino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017520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URL do sistema, cliente 100 e reentranceTicket: login no navegador, sem senha no arquivo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547872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Aplicação BSP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3877056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name ZPC_* (até 15 caracteres), description e o package ZAVBS_PC_* do domínio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442569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4407408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Transporte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4736592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transport vazio no trial (ZLOCAL); em sistemas com transporte, a ordem</a:t>
            </a:r>
            <a:endParaRPr lang="pt-BR" sz="1100" dirty="0"/>
          </a:p>
        </p:txBody>
      </p:sp>
      <p:sp>
        <p:nvSpPr>
          <p:cNvPr id="18" name="Número 5"/>
          <p:cNvSpPr/>
          <p:nvPr/>
        </p:nvSpPr>
        <p:spPr>
          <a:xfrm>
            <a:off x="777240" y="52852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1234440" y="5266944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1234440" y="5596128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inbound do manifest vira o IAM App ZPC_*_UI5R no mesmo pacote</a:t>
            </a:r>
            <a:endParaRPr lang="pt-BR" sz="1100" dirty="0"/>
          </a:p>
        </p:txBody>
      </p:sp>
      <p:sp>
        <p:nvSpPr>
          <p:cNvPr id="21" name="Editor"/>
          <p:cNvSpPr/>
          <p:nvPr/>
        </p:nvSpPr>
        <p:spPr>
          <a:xfrm>
            <a:off x="6035040" y="1645920"/>
            <a:ext cx="5605272" cy="3291840"/>
          </a:xfrm>
          <a:prstGeom prst="roundRect">
            <a:avLst>
              <a:gd name="adj" fmla="val 2400"/>
            </a:avLst>
          </a:prstGeom>
          <a:solidFill>
            <a:srgbClr val="181818"/>
          </a:solidFill>
          <a:ln w="12700">
            <a:solidFill>
              <a:srgbClr val="2B2B2B"/>
            </a:solidFill>
          </a:ln>
        </p:spPr>
      </p:sp>
      <p:sp>
        <p:nvSpPr>
          <p:cNvPr id="22" name="Área do editor"/>
          <p:cNvSpPr/>
          <p:nvPr/>
        </p:nvSpPr>
        <p:spPr>
          <a:xfrm>
            <a:off x="6035040" y="1993392"/>
            <a:ext cx="5605272" cy="2944368"/>
          </a:xfrm>
          <a:prstGeom prst="roundRect">
            <a:avLst>
              <a:gd name="adj" fmla="val 2400"/>
            </a:avLst>
          </a:prstGeom>
          <a:solidFill>
            <a:srgbClr val="1F1F1F"/>
          </a:solidFill>
          <a:ln>
            <a:noFill/>
          </a:ln>
        </p:spPr>
      </p:sp>
      <p:sp>
        <p:nvSpPr>
          <p:cNvPr id="23" name="Forma"/>
          <p:cNvSpPr/>
          <p:nvPr/>
        </p:nvSpPr>
        <p:spPr>
          <a:xfrm>
            <a:off x="6044184" y="1993392"/>
            <a:ext cx="5586984" cy="137160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24" name="Aba manifest.json"/>
          <p:cNvSpPr/>
          <p:nvPr/>
        </p:nvSpPr>
        <p:spPr>
          <a:xfrm>
            <a:off x="6126480" y="1719072"/>
            <a:ext cx="1156716" cy="27432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manifest.json</a:t>
            </a:r>
            <a:endParaRPr lang="pt-BR" sz="1000" dirty="0"/>
          </a:p>
        </p:txBody>
      </p:sp>
      <p:cxnSp>
        <p:nvCxnSpPr>
          <p:cNvPr id="25" name="Conector"/>
          <p:cNvCxnSpPr/>
          <p:nvPr/>
        </p:nvCxnSpPr>
        <p:spPr>
          <a:xfrm>
            <a:off x="6126480" y="1719072"/>
            <a:ext cx="1156716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round/>
          </a:ln>
        </p:spPr>
      </p:cxnSp>
      <p:sp>
        <p:nvSpPr>
          <p:cNvPr id="26" name="Breadcrumb"/>
          <p:cNvSpPr txBox="1"/>
          <p:nvPr/>
        </p:nvSpPr>
        <p:spPr>
          <a:xfrm>
            <a:off x="6263640" y="2103120"/>
            <a:ext cx="5148072" cy="21945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pedidos-compras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webapp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manifest.json</a:t>
            </a:r>
            <a:endParaRPr lang="pt-BR" sz="900" dirty="0"/>
          </a:p>
        </p:txBody>
      </p:sp>
      <p:sp>
        <p:nvSpPr>
          <p:cNvPr id="27" name="Trecho de código"/>
          <p:cNvSpPr txBox="1"/>
          <p:nvPr/>
        </p:nvSpPr>
        <p:spPr>
          <a:xfrm>
            <a:off x="6217920" y="2414016"/>
            <a:ext cx="5285232" cy="24231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"inbounds"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"ZPCPedidoCompra-manage"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"semanticObject"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"ZPCPedidoCompra"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"action"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"subTitle"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"{{flpSubtitle}}"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"icon"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"sap-icon://sales-order"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 } }</a:t>
            </a:r>
            <a:endParaRPr lang="pt-BR" sz="1100" dirty="0"/>
          </a:p>
        </p:txBody>
      </p:sp>
      <p:sp>
        <p:nvSpPr>
          <p:cNvPr id="28" name="Cartão"/>
          <p:cNvSpPr/>
          <p:nvPr/>
        </p:nvSpPr>
        <p:spPr>
          <a:xfrm>
            <a:off x="6035040" y="5120640"/>
            <a:ext cx="560527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validate"/>
          <p:cNvSpPr/>
          <p:nvPr/>
        </p:nvSpPr>
        <p:spPr>
          <a:xfrm>
            <a:off x="6236208" y="534009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0" name="Imagem" descr="valida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5449824"/>
            <a:ext cx="237744" cy="237744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6858000" y="5120640"/>
            <a:ext cx="4663440" cy="10515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Antes de gravar: </a:t>
            </a:r>
            <a:r>
              <a:rPr lang="pt-BR" sz="1200" dirty="0">
                <a:solidFill>
                  <a:srgbClr val="1D2D3E"/>
                </a:solidFill>
              </a:rPr>
              <a:t>npm run deploy-test simula o deploy; sem erros, npm run deploy grava a BSP e o IAM App.</a:t>
            </a:r>
            <a:endParaRPr lang="pt-BR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CATÁLOGOS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IAM App ao usuário: catálogo, role e espaço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key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7" name="Imagem" descr="ke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1"/>
          <p:cNvSpPr/>
          <p:nvPr/>
        </p:nvSpPr>
        <p:spPr>
          <a:xfrm>
            <a:off x="1898294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serviço</a:t>
            </a:r>
            <a:endParaRPr lang="pt-BR" sz="125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ADT: serviço OData + ZPC_ADMIN ou ZPC_PEDIDO; publicar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2611526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2" name="Cartão"/>
          <p:cNvSpPr/>
          <p:nvPr/>
        </p:nvSpPr>
        <p:spPr>
          <a:xfrm>
            <a:off x="2812694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sap-box"/>
          <p:cNvSpPr/>
          <p:nvPr/>
        </p:nvSpPr>
        <p:spPr>
          <a:xfrm>
            <a:off x="299557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4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02" y="1938528"/>
            <a:ext cx="237744" cy="237744"/>
          </a:xfrm>
          <a:prstGeom prst="rect">
            <a:avLst/>
          </a:prstGeom>
        </p:spPr>
      </p:pic>
      <p:sp>
        <p:nvSpPr>
          <p:cNvPr id="15" name="Selo 2"/>
          <p:cNvSpPr/>
          <p:nvPr/>
        </p:nvSpPr>
        <p:spPr>
          <a:xfrm>
            <a:off x="4162349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3F7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49F9A"/>
                </a:solidFill>
              </a:rPr>
              <a:t>2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2995574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tile</a:t>
            </a:r>
            <a:endParaRPr lang="pt-BR" sz="1250" dirty="0"/>
          </a:p>
        </p:txBody>
      </p:sp>
      <p:sp>
        <p:nvSpPr>
          <p:cNvPr id="17" name="Texto"/>
          <p:cNvSpPr txBox="1"/>
          <p:nvPr/>
        </p:nvSpPr>
        <p:spPr>
          <a:xfrm>
            <a:off x="2995574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ZPC_*_UI5R, criado pelo npm run deploy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875581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9" name="Cartão"/>
          <p:cNvSpPr/>
          <p:nvPr/>
        </p:nvSpPr>
        <p:spPr>
          <a:xfrm>
            <a:off x="5076749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259629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21" name="Imagem" descr="l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357" y="1938528"/>
            <a:ext cx="237744" cy="237744"/>
          </a:xfrm>
          <a:prstGeom prst="rect">
            <a:avLst/>
          </a:prstGeom>
        </p:spPr>
      </p:pic>
      <p:sp>
        <p:nvSpPr>
          <p:cNvPr id="22" name="Selo 3"/>
          <p:cNvSpPr/>
          <p:nvPr/>
        </p:nvSpPr>
        <p:spPr>
          <a:xfrm>
            <a:off x="6426403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3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5259629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Catalog</a:t>
            </a:r>
            <a:endParaRPr lang="pt-BR" sz="1250" dirty="0"/>
          </a:p>
        </p:txBody>
      </p:sp>
      <p:sp>
        <p:nvSpPr>
          <p:cNvPr id="24" name="Texto"/>
          <p:cNvSpPr txBox="1"/>
          <p:nvPr/>
        </p:nvSpPr>
        <p:spPr>
          <a:xfrm>
            <a:off x="5259629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ZPC_BC_* do domínio recebe os dois IAM Apps; publicar</a:t>
            </a:r>
            <a:endParaRPr lang="pt-BR" sz="1050" dirty="0"/>
          </a:p>
        </p:txBody>
      </p:sp>
      <p:cxnSp>
        <p:nvCxnSpPr>
          <p:cNvPr id="25" name="Conector"/>
          <p:cNvCxnSpPr/>
          <p:nvPr/>
        </p:nvCxnSpPr>
        <p:spPr>
          <a:xfrm>
            <a:off x="7139635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6" name="Cartão"/>
          <p:cNvSpPr/>
          <p:nvPr/>
        </p:nvSpPr>
        <p:spPr>
          <a:xfrm>
            <a:off x="7340803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7523683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8" name="Imagem" descr="r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411" y="1938528"/>
            <a:ext cx="237744" cy="237744"/>
          </a:xfrm>
          <a:prstGeom prst="rect">
            <a:avLst/>
          </a:prstGeom>
        </p:spPr>
      </p:pic>
      <p:sp>
        <p:nvSpPr>
          <p:cNvPr id="29" name="Selo 4"/>
          <p:cNvSpPr/>
          <p:nvPr/>
        </p:nvSpPr>
        <p:spPr>
          <a:xfrm>
            <a:off x="8690458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4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7523683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Role</a:t>
            </a:r>
            <a:endParaRPr lang="pt-BR" sz="1250" dirty="0"/>
          </a:p>
        </p:txBody>
      </p:sp>
      <p:sp>
        <p:nvSpPr>
          <p:cNvPr id="31" name="Texto"/>
          <p:cNvSpPr txBox="1"/>
          <p:nvPr/>
        </p:nvSpPr>
        <p:spPr>
          <a:xfrm>
            <a:off x="7523683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ZPC_BR_ADMIN e ZPC_BR_COMUM agrupam os catálogos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>
            <a:off x="9403690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3" name="Cartão"/>
          <p:cNvSpPr/>
          <p:nvPr/>
        </p:nvSpPr>
        <p:spPr>
          <a:xfrm>
            <a:off x="9604858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home"/>
          <p:cNvSpPr/>
          <p:nvPr/>
        </p:nvSpPr>
        <p:spPr>
          <a:xfrm>
            <a:off x="978773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5" name="Imagem" descr="ho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466" y="1938528"/>
            <a:ext cx="237744" cy="237744"/>
          </a:xfrm>
          <a:prstGeom prst="rect">
            <a:avLst/>
          </a:prstGeom>
        </p:spPr>
      </p:pic>
      <p:sp>
        <p:nvSpPr>
          <p:cNvPr id="36" name="Selo 5"/>
          <p:cNvSpPr/>
          <p:nvPr/>
        </p:nvSpPr>
        <p:spPr>
          <a:xfrm>
            <a:off x="10954512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5</a:t>
            </a:r>
            <a:endParaRPr lang="pt-BR" sz="1000" dirty="0"/>
          </a:p>
        </p:txBody>
      </p:sp>
      <p:sp>
        <p:nvSpPr>
          <p:cNvPr id="37" name="Texto"/>
          <p:cNvSpPr txBox="1"/>
          <p:nvPr/>
        </p:nvSpPr>
        <p:spPr>
          <a:xfrm>
            <a:off x="9787738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Espaço e usuário</a:t>
            </a:r>
            <a:endParaRPr lang="pt-BR" sz="1250" dirty="0"/>
          </a:p>
        </p:txBody>
      </p:sp>
      <p:sp>
        <p:nvSpPr>
          <p:cNvPr id="38" name="Texto"/>
          <p:cNvSpPr txBox="1"/>
          <p:nvPr/>
        </p:nvSpPr>
        <p:spPr>
          <a:xfrm>
            <a:off x="9787738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Manage Launchpad Spaces: espaço, página e usuários da role</a:t>
            </a:r>
            <a:endParaRPr lang="pt-BR" sz="1050" dirty="0"/>
          </a:p>
        </p:txBody>
      </p:sp>
      <p:sp>
        <p:nvSpPr>
          <p:cNvPr id="39" name="Cartão"/>
          <p:cNvSpPr/>
          <p:nvPr/>
        </p:nvSpPr>
        <p:spPr>
          <a:xfrm>
            <a:off x="548640" y="3703320"/>
            <a:ext cx="6949440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ela"/>
          <p:cNvGraphicFramePr>
            <a:graphicFrameLocks noGrp="1"/>
          </p:cNvGraphicFramePr>
          <p:nvPr/>
        </p:nvGraphicFramePr>
        <p:xfrm>
          <a:off x="685800" y="3794760"/>
          <a:ext cx="6675120" cy="18288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serviço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tile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o"/>
          <p:cNvSpPr txBox="1"/>
          <p:nvPr/>
        </p:nvSpPr>
        <p:spPr>
          <a:xfrm>
            <a:off x="777240" y="5669280"/>
            <a:ext cx="65836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análises (ZPC_ANL_*) também geram o próprio _UI5R no pacote do domínio.</a:t>
            </a:r>
            <a:endParaRPr lang="pt-BR" sz="1000" dirty="0"/>
          </a:p>
        </p:txBody>
      </p:sp>
      <p:sp>
        <p:nvSpPr>
          <p:cNvPr id="42" name="Trial"/>
          <p:cNvSpPr/>
          <p:nvPr/>
        </p:nvSpPr>
        <p:spPr>
          <a:xfrm>
            <a:off x="7726680" y="3703320"/>
            <a:ext cx="3913632" cy="246888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43" name="Ícone alert"/>
          <p:cNvSpPr/>
          <p:nvPr/>
        </p:nvSpPr>
        <p:spPr>
          <a:xfrm>
            <a:off x="7936992" y="39044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4" name="Imagem" descr="ale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014216"/>
            <a:ext cx="237744" cy="237744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8531352" y="3904488"/>
            <a:ext cx="292608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No trial</a:t>
            </a:r>
            <a:endParaRPr lang="pt-BR" sz="1400" dirty="0"/>
          </a:p>
        </p:txBody>
      </p:sp>
      <p:sp>
        <p:nvSpPr>
          <p:cNvPr id="46" name="Texto"/>
          <p:cNvSpPr txBox="1"/>
          <p:nvPr/>
        </p:nvSpPr>
        <p:spPr>
          <a:xfrm>
            <a:off x="7936992" y="4526280"/>
            <a:ext cx="352044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Sem Maintain Business Roles e Manage Launchpad Spaces, as etapas 4 e 5 ficam de fora: c_modo_trial = abap_true e o acesso segue pelo SAP Build Work Zone.</a:t>
            </a:r>
            <a:endParaRPr lang="pt-BR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WORK ZONE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Configurar os tiles no SAP Build Work Zone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7" name="Imagem" descr="wor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Passo 1"/>
          <p:cNvSpPr/>
          <p:nvPr/>
        </p:nvSpPr>
        <p:spPr>
          <a:xfrm>
            <a:off x="2235708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Passo 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Assinar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Subconta: assinar o SAP Build Work Zone, standard edition, e atribuir a role collection Launchpad_Admin</a:t>
            </a:r>
            <a:endParaRPr lang="pt-BR" sz="1050" dirty="0"/>
          </a:p>
        </p:txBody>
      </p:sp>
      <p:sp>
        <p:nvSpPr>
          <p:cNvPr id="11" name="Cartão"/>
          <p:cNvSpPr/>
          <p:nvPr/>
        </p:nvSpPr>
        <p:spPr>
          <a:xfrm>
            <a:off x="3378708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add-document"/>
          <p:cNvSpPr/>
          <p:nvPr/>
        </p:nvSpPr>
        <p:spPr>
          <a:xfrm>
            <a:off x="356158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13" name="Imagem" descr="add-docu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1938528"/>
            <a:ext cx="237744" cy="237744"/>
          </a:xfrm>
          <a:prstGeom prst="rect">
            <a:avLst/>
          </a:prstGeom>
        </p:spPr>
      </p:pic>
      <p:sp>
        <p:nvSpPr>
          <p:cNvPr id="14" name="Selo Passo 2"/>
          <p:cNvSpPr/>
          <p:nvPr/>
        </p:nvSpPr>
        <p:spPr>
          <a:xfrm>
            <a:off x="5065776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Passo 2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3561588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Nova app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3561588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Content Manager → + New → App. Properties: título, URL da BSP e Open App: In a new tab</a:t>
            </a:r>
            <a:endParaRPr lang="pt-BR" sz="1050" dirty="0"/>
          </a:p>
        </p:txBody>
      </p:sp>
      <p:sp>
        <p:nvSpPr>
          <p:cNvPr id="17" name="Cartão"/>
          <p:cNvSpPr/>
          <p:nvPr/>
        </p:nvSpPr>
        <p:spPr>
          <a:xfrm>
            <a:off x="6208776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hain-link"/>
          <p:cNvSpPr/>
          <p:nvPr/>
        </p:nvSpPr>
        <p:spPr>
          <a:xfrm>
            <a:off x="6391656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19" name="Imagem" descr="chain-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938528"/>
            <a:ext cx="237744" cy="237744"/>
          </a:xfrm>
          <a:prstGeom prst="rect">
            <a:avLst/>
          </a:prstGeom>
        </p:spPr>
      </p:pic>
      <p:sp>
        <p:nvSpPr>
          <p:cNvPr id="20" name="Selo Passo 3"/>
          <p:cNvSpPr/>
          <p:nvPr/>
        </p:nvSpPr>
        <p:spPr>
          <a:xfrm>
            <a:off x="7895844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Passo 3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6391656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Intent e visual</a:t>
            </a:r>
            <a:endParaRPr lang="pt-BR" sz="1300" dirty="0"/>
          </a:p>
        </p:txBody>
      </p:sp>
      <p:sp>
        <p:nvSpPr>
          <p:cNvPr id="22" name="Texto"/>
          <p:cNvSpPr txBox="1"/>
          <p:nvPr/>
        </p:nvSpPr>
        <p:spPr>
          <a:xfrm>
            <a:off x="6391656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Navigation: intent próprio, como ZPCClienteWeb-display. Visualization: subtítulo e ícone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9038844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home"/>
          <p:cNvSpPr/>
          <p:nvPr/>
        </p:nvSpPr>
        <p:spPr>
          <a:xfrm>
            <a:off x="922172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5" name="Imagem" descr="ho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1938528"/>
            <a:ext cx="237744" cy="237744"/>
          </a:xfrm>
          <a:prstGeom prst="rect">
            <a:avLst/>
          </a:prstGeom>
        </p:spPr>
      </p:pic>
      <p:sp>
        <p:nvSpPr>
          <p:cNvPr id="26" name="Selo Passo 4"/>
          <p:cNvSpPr/>
          <p:nvPr/>
        </p:nvSpPr>
        <p:spPr>
          <a:xfrm>
            <a:off x="10725912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Passo 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221724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Grupo e site</a:t>
            </a:r>
            <a:endParaRPr lang="pt-BR" sz="1300" dirty="0"/>
          </a:p>
        </p:txBody>
      </p:sp>
      <p:sp>
        <p:nvSpPr>
          <p:cNvPr id="28" name="Texto"/>
          <p:cNvSpPr txBox="1"/>
          <p:nvPr/>
        </p:nvSpPr>
        <p:spPr>
          <a:xfrm>
            <a:off x="9221724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oito apps num grupo e no role Everyone; criar o site e abrir</a:t>
            </a:r>
            <a:endParaRPr lang="pt-BR" sz="1050" dirty="0"/>
          </a:p>
        </p:txBody>
      </p:sp>
      <p:sp>
        <p:nvSpPr>
          <p:cNvPr id="29" name="Cartão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0" name="Texto"/>
          <p:cNvSpPr txBox="1"/>
          <p:nvPr/>
        </p:nvSpPr>
        <p:spPr>
          <a:xfrm>
            <a:off x="777240" y="3794760"/>
            <a:ext cx="106070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URL de cada tile: </a:t>
            </a:r>
            <a:r>
              <a:rPr lang="pt-BR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https://&lt;id&gt;.abap-web.&lt;região&gt;.hana.ondemand.com</a:t>
            </a:r>
            <a:r>
              <a:rPr lang="pt-BR" sz="1150" dirty="0">
                <a:solidFill>
                  <a:srgbClr val="1D2D3E"/>
                </a:solidFill>
              </a:rPr>
              <a:t xml:space="preserve"> + o caminho da BSP</a:t>
            </a:r>
            <a:endParaRPr lang="pt-BR" sz="115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/>
        </p:nvGraphicFramePr>
        <p:xfrm>
          <a:off x="6858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Gestão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/sap/bc/ui5_ui5/sap/zpc_clientes/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/sap/bc/ui5_ui5/sap/zpc_reembolsos/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"/>
          <p:cNvGraphicFramePr>
            <a:graphicFrameLocks noGrp="1"/>
          </p:cNvGraphicFramePr>
          <p:nvPr/>
        </p:nvGraphicFramePr>
        <p:xfrm>
          <a:off x="61722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Análise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/sap/bc/ui5_ui5/sap/zpc_anl_cliente/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Itens do 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/sap/bc/ui5_ui5/sap/zpc_anl_reemb/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PRÉ-REQUISITOS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o sistema antes do primeiro deploy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-learning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e-learn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389888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Versão do SAPUI5</a:t>
            </a:r>
            <a:endParaRPr lang="pt-BR" sz="1400" dirty="0"/>
          </a:p>
        </p:txBody>
      </p:sp>
      <p:sp>
        <p:nvSpPr>
          <p:cNvPr id="9" name="Texto"/>
          <p:cNvSpPr txBox="1"/>
          <p:nvPr/>
        </p:nvSpPr>
        <p:spPr>
          <a:xfrm>
            <a:off x="777240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1.136 ou superior: Sobre, no launchpad, ou /sap/public/bc/ui5_ui5/bootstrap_info.json</a:t>
            </a:r>
            <a:endParaRPr lang="pt-BR" sz="1200" dirty="0"/>
          </a:p>
        </p:txBody>
      </p:sp>
      <p:sp>
        <p:nvSpPr>
          <p:cNvPr id="10" name="Cartão"/>
          <p:cNvSpPr/>
          <p:nvPr/>
        </p:nvSpPr>
        <p:spPr>
          <a:xfrm>
            <a:off x="4338828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it-system"/>
          <p:cNvSpPr/>
          <p:nvPr/>
        </p:nvSpPr>
        <p:spPr>
          <a:xfrm>
            <a:off x="456742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2" name="Imagem" descr="it-syst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45" y="1988637"/>
            <a:ext cx="247254" cy="24725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5180076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Serviços ICF (SICF)</a:t>
            </a:r>
            <a:endParaRPr lang="pt-BR" sz="1400" dirty="0"/>
          </a:p>
        </p:txBody>
      </p:sp>
      <p:sp>
        <p:nvSpPr>
          <p:cNvPr id="14" name="Texto"/>
          <p:cNvSpPr txBox="1"/>
          <p:nvPr/>
        </p:nvSpPr>
        <p:spPr>
          <a:xfrm>
            <a:off x="4567428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/sap/bc/ui5_ui5, /sap/bc/ui2/flp, /sap/opu/odata4 e /sap/opu/odata/ui5/abap_repository_srv</a:t>
            </a:r>
            <a:endParaRPr lang="pt-BR" sz="1200" dirty="0"/>
          </a:p>
        </p:txBody>
      </p:sp>
      <p:sp>
        <p:nvSpPr>
          <p:cNvPr id="15" name="Cartão"/>
          <p:cNvSpPr/>
          <p:nvPr/>
        </p:nvSpPr>
        <p:spPr>
          <a:xfrm>
            <a:off x="8129016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ap-box"/>
          <p:cNvSpPr/>
          <p:nvPr/>
        </p:nvSpPr>
        <p:spPr>
          <a:xfrm>
            <a:off x="8357616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7" name="Imagem" descr="sap-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733" y="1988637"/>
            <a:ext cx="247254" cy="24725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8970264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Pacote e transporte</a:t>
            </a:r>
            <a:endParaRPr lang="pt-BR" sz="1400" dirty="0"/>
          </a:p>
        </p:txBody>
      </p:sp>
      <p:sp>
        <p:nvSpPr>
          <p:cNvPr id="19" name="Texto"/>
          <p:cNvSpPr txBox="1"/>
          <p:nvPr/>
        </p:nvSpPr>
        <p:spPr>
          <a:xfrm>
            <a:off x="8357616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Pacotes Standard ABAP numa camada de transporte e uma ordem Workbench para o transport:</a:t>
            </a:r>
            <a:endParaRPr lang="pt-BR" sz="1200" dirty="0"/>
          </a:p>
        </p:txBody>
      </p:sp>
      <p:sp>
        <p:nvSpPr>
          <p:cNvPr id="20" name="Cartão"/>
          <p:cNvSpPr/>
          <p:nvPr/>
        </p:nvSpPr>
        <p:spPr>
          <a:xfrm>
            <a:off x="548640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key"/>
          <p:cNvSpPr/>
          <p:nvPr/>
        </p:nvSpPr>
        <p:spPr>
          <a:xfrm>
            <a:off x="777240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22" name="Imagem" descr="k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20357"/>
            <a:ext cx="247254" cy="24725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1389888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Usuário de deploy</a:t>
            </a:r>
            <a:endParaRPr lang="pt-BR" sz="1400" dirty="0"/>
          </a:p>
        </p:txBody>
      </p:sp>
      <p:sp>
        <p:nvSpPr>
          <p:cNvPr id="24" name="Texto"/>
          <p:cNvSpPr txBox="1"/>
          <p:nvPr/>
        </p:nvSpPr>
        <p:spPr>
          <a:xfrm>
            <a:off x="777240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S_DEVELOP no pacote e acesso ao repositório UI5; credenciais em ABAP_USER e ABAP_PASSWORD</a:t>
            </a:r>
            <a:endParaRPr lang="pt-BR" sz="1200" dirty="0"/>
          </a:p>
        </p:txBody>
      </p:sp>
      <p:sp>
        <p:nvSpPr>
          <p:cNvPr id="25" name="Cartão"/>
          <p:cNvSpPr/>
          <p:nvPr/>
        </p:nvSpPr>
        <p:spPr>
          <a:xfrm>
            <a:off x="4338828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ocked"/>
          <p:cNvSpPr/>
          <p:nvPr/>
        </p:nvSpPr>
        <p:spPr>
          <a:xfrm>
            <a:off x="4567428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7" name="Imagem" descr="lock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545" y="4320357"/>
            <a:ext cx="247254" cy="24725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5180076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Certificado</a:t>
            </a:r>
            <a:endParaRPr lang="pt-BR" sz="1400" dirty="0"/>
          </a:p>
        </p:txBody>
      </p:sp>
      <p:sp>
        <p:nvSpPr>
          <p:cNvPr id="29" name="Texto"/>
          <p:cNvSpPr txBox="1"/>
          <p:nvPr/>
        </p:nvSpPr>
        <p:spPr>
          <a:xfrm>
            <a:off x="4567428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CA interna instalada na máquina, em vez de ignoreCertErrors: true</a:t>
            </a:r>
            <a:endParaRPr lang="pt-BR" sz="1200" dirty="0"/>
          </a:p>
        </p:txBody>
      </p:sp>
      <p:sp>
        <p:nvSpPr>
          <p:cNvPr id="30" name="Cartão"/>
          <p:cNvSpPr/>
          <p:nvPr/>
        </p:nvSpPr>
        <p:spPr>
          <a:xfrm>
            <a:off x="8129016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835761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2" name="Imagem" descr="chain-li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1733" y="4320357"/>
            <a:ext cx="247254" cy="24725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8970264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Proxy do npm start</a:t>
            </a:r>
            <a:endParaRPr lang="pt-BR" sz="1400" dirty="0"/>
          </a:p>
        </p:txBody>
      </p:sp>
      <p:sp>
        <p:nvSpPr>
          <p:cNvPr id="34" name="Texto"/>
          <p:cNvSpPr txBox="1"/>
          <p:nvPr/>
        </p:nvSpPr>
        <p:spPr>
          <a:xfrm>
            <a:off x="8357616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ui5.yaml aponta para o Web Dispatcher ou o ICM; sem authenticationType, login básico</a:t>
            </a:r>
            <a:endParaRPr lang="pt-BR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/UI2/FLPAM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 app descriptor por app no catálogo técnico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93192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Catálogo técnico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76272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/UI2/FLPAM → novo catálogo ZPC_TC_PEDIDOS_COMPRAS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91693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898648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246120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Título, subtítulo e ícone iguais aos do inbound do manifest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98678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968496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Target mapping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4315968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Semantic object e ação do inbound; app SAPUI5 com o ID do componente e a BSP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50566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5038344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Testar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5385816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Salvar, limpar o cache (/UI2/INVALIDATE_GLOBAL_CACHES) e abrir o intent</a:t>
            </a:r>
            <a:endParaRPr lang="pt-BR" sz="1100" dirty="0"/>
          </a:p>
        </p:txBody>
      </p:sp>
      <p:sp>
        <p:nvSpPr>
          <p:cNvPr id="18" name="Cartão"/>
          <p:cNvSpPr/>
          <p:nvPr/>
        </p:nvSpPr>
        <p:spPr>
          <a:xfrm>
            <a:off x="4709160" y="1645920"/>
            <a:ext cx="693115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9" name="Tabela"/>
          <p:cNvGraphicFramePr>
            <a:graphicFrameLocks noGrp="1"/>
          </p:cNvGraphicFramePr>
          <p:nvPr/>
        </p:nvGraphicFramePr>
        <p:xfrm>
          <a:off x="4846320" y="1755648"/>
          <a:ext cx="6656832" cy="4114800"/>
        </p:xfrm>
        <a:graphic>
          <a:graphicData uri="http://schemas.openxmlformats.org/drawingml/2006/table">
            <a:tbl>
              <a:tblPr/>
              <a:tblGrid>
                <a:gridCol w="2697480"/>
                <a:gridCol w="2057400"/>
                <a:gridCol w="1901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Intent (semantic object-ação)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sap.app.id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ZPCAnalisePedido-display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ZPCAnaliseCliente-display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ZPC_ANL_CLIENTE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ZPCAnaliseItemEstoque-display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ZPCAnaliseReembolso-display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ZPC_ANL_REEMB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ESPAÇO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Espaço, página e roles PFCG levam os tiles ao usuário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o"/>
          <p:cNvSpPr txBox="1"/>
          <p:nvPr/>
        </p:nvSpPr>
        <p:spPr>
          <a:xfrm>
            <a:off x="777240" y="1783080"/>
            <a:ext cx="594360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 xml:space="preserve">Espaço </a:t>
            </a:r>
            <a:r>
              <a:rPr lang="pt-BR" sz="1250" b="1" dirty="0">
                <a:solidFill>
                  <a:srgbClr val="0070F2"/>
                </a:solidFill>
              </a:rPr>
              <a:t>Pedidos de Compras</a:t>
            </a:r>
            <a:r>
              <a:rPr lang="pt-BR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·  /UI2/FLPCM_CUST</a:t>
            </a:r>
            <a:endParaRPr lang="pt-BR" sz="1250" dirty="0"/>
          </a:p>
        </p:txBody>
      </p:sp>
      <p:sp>
        <p:nvSpPr>
          <p:cNvPr id="7" name="Texto"/>
          <p:cNvSpPr txBox="1"/>
          <p:nvPr/>
        </p:nvSpPr>
        <p:spPr>
          <a:xfrm>
            <a:off x="777240" y="224028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GESTÃO</a:t>
            </a:r>
            <a:endParaRPr lang="pt-BR" sz="1000" dirty="0"/>
          </a:p>
        </p:txBody>
      </p:sp>
      <p:sp>
        <p:nvSpPr>
          <p:cNvPr id="8" name="Tile Clientes"/>
          <p:cNvSpPr/>
          <p:nvPr/>
        </p:nvSpPr>
        <p:spPr>
          <a:xfrm>
            <a:off x="77724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9" name="Texto"/>
          <p:cNvSpPr txBox="1"/>
          <p:nvPr/>
        </p:nvSpPr>
        <p:spPr>
          <a:xfrm>
            <a:off x="88696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10" name="Ícone customer"/>
          <p:cNvSpPr/>
          <p:nvPr/>
        </p:nvSpPr>
        <p:spPr>
          <a:xfrm>
            <a:off x="88696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1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3482035"/>
            <a:ext cx="213970" cy="213970"/>
          </a:xfrm>
          <a:prstGeom prst="rect">
            <a:avLst/>
          </a:prstGeom>
        </p:spPr>
      </p:pic>
      <p:sp>
        <p:nvSpPr>
          <p:cNvPr id="12" name="Tile Estoque"/>
          <p:cNvSpPr/>
          <p:nvPr/>
        </p:nvSpPr>
        <p:spPr>
          <a:xfrm>
            <a:off x="228600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3" name="Texto"/>
          <p:cNvSpPr txBox="1"/>
          <p:nvPr/>
        </p:nvSpPr>
        <p:spPr>
          <a:xfrm>
            <a:off x="239572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14" name="Ícone product"/>
          <p:cNvSpPr/>
          <p:nvPr/>
        </p:nvSpPr>
        <p:spPr>
          <a:xfrm>
            <a:off x="239572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5" name="Imagem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483" y="3482035"/>
            <a:ext cx="213970" cy="213970"/>
          </a:xfrm>
          <a:prstGeom prst="rect">
            <a:avLst/>
          </a:prstGeom>
        </p:spPr>
      </p:pic>
      <p:sp>
        <p:nvSpPr>
          <p:cNvPr id="16" name="Tile Pedidos"/>
          <p:cNvSpPr/>
          <p:nvPr/>
        </p:nvSpPr>
        <p:spPr>
          <a:xfrm>
            <a:off x="379476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7" name="Texto"/>
          <p:cNvSpPr txBox="1"/>
          <p:nvPr/>
        </p:nvSpPr>
        <p:spPr>
          <a:xfrm>
            <a:off x="390448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18" name="Ícone sales-order"/>
          <p:cNvSpPr/>
          <p:nvPr/>
        </p:nvSpPr>
        <p:spPr>
          <a:xfrm>
            <a:off x="390448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m" descr="sales-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243" y="3482035"/>
            <a:ext cx="213970" cy="213970"/>
          </a:xfrm>
          <a:prstGeom prst="rect">
            <a:avLst/>
          </a:prstGeom>
        </p:spPr>
      </p:pic>
      <p:sp>
        <p:nvSpPr>
          <p:cNvPr id="20" name="Tile Reembolsos"/>
          <p:cNvSpPr/>
          <p:nvPr/>
        </p:nvSpPr>
        <p:spPr>
          <a:xfrm>
            <a:off x="530352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1" name="Texto"/>
          <p:cNvSpPr txBox="1"/>
          <p:nvPr/>
        </p:nvSpPr>
        <p:spPr>
          <a:xfrm>
            <a:off x="541324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22" name="Ícone money-bills"/>
          <p:cNvSpPr/>
          <p:nvPr/>
        </p:nvSpPr>
        <p:spPr>
          <a:xfrm>
            <a:off x="541324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3" name="Imagem" descr="money-bil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2003" y="348203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777240" y="416052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ANÁLISES</a:t>
            </a:r>
            <a:endParaRPr lang="pt-BR" sz="1000" dirty="0"/>
          </a:p>
        </p:txBody>
      </p:sp>
      <p:sp>
        <p:nvSpPr>
          <p:cNvPr id="25" name="Tile Pedidos"/>
          <p:cNvSpPr/>
          <p:nvPr/>
        </p:nvSpPr>
        <p:spPr>
          <a:xfrm>
            <a:off x="77724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6" name="Texto"/>
          <p:cNvSpPr txBox="1"/>
          <p:nvPr/>
        </p:nvSpPr>
        <p:spPr>
          <a:xfrm>
            <a:off x="88696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27" name="Ícone bar-chart"/>
          <p:cNvSpPr/>
          <p:nvPr/>
        </p:nvSpPr>
        <p:spPr>
          <a:xfrm>
            <a:off x="88696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m" descr="bar-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23" y="5402275"/>
            <a:ext cx="213970" cy="213970"/>
          </a:xfrm>
          <a:prstGeom prst="rect">
            <a:avLst/>
          </a:prstGeom>
        </p:spPr>
      </p:pic>
      <p:sp>
        <p:nvSpPr>
          <p:cNvPr id="29" name="Tile Clientes"/>
          <p:cNvSpPr/>
          <p:nvPr/>
        </p:nvSpPr>
        <p:spPr>
          <a:xfrm>
            <a:off x="228600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0" name="Texto"/>
          <p:cNvSpPr txBox="1"/>
          <p:nvPr/>
        </p:nvSpPr>
        <p:spPr>
          <a:xfrm>
            <a:off x="239572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31" name="Ícone pie-chart"/>
          <p:cNvSpPr/>
          <p:nvPr/>
        </p:nvSpPr>
        <p:spPr>
          <a:xfrm>
            <a:off x="239572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pie-ch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3" y="5402275"/>
            <a:ext cx="213970" cy="213970"/>
          </a:xfrm>
          <a:prstGeom prst="rect">
            <a:avLst/>
          </a:prstGeom>
        </p:spPr>
      </p:pic>
      <p:sp>
        <p:nvSpPr>
          <p:cNvPr id="33" name="Tile Estoque"/>
          <p:cNvSpPr/>
          <p:nvPr/>
        </p:nvSpPr>
        <p:spPr>
          <a:xfrm>
            <a:off x="379476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4" name="Texto"/>
          <p:cNvSpPr txBox="1"/>
          <p:nvPr/>
        </p:nvSpPr>
        <p:spPr>
          <a:xfrm>
            <a:off x="390448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35" name="Ícone line-chart"/>
          <p:cNvSpPr/>
          <p:nvPr/>
        </p:nvSpPr>
        <p:spPr>
          <a:xfrm>
            <a:off x="390448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line-cha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243" y="5402275"/>
            <a:ext cx="213970" cy="213970"/>
          </a:xfrm>
          <a:prstGeom prst="rect">
            <a:avLst/>
          </a:prstGeom>
        </p:spPr>
      </p:pic>
      <p:sp>
        <p:nvSpPr>
          <p:cNvPr id="37" name="Tile Reembolsos"/>
          <p:cNvSpPr/>
          <p:nvPr/>
        </p:nvSpPr>
        <p:spPr>
          <a:xfrm>
            <a:off x="530352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8" name="Texto"/>
          <p:cNvSpPr txBox="1"/>
          <p:nvPr/>
        </p:nvSpPr>
        <p:spPr>
          <a:xfrm>
            <a:off x="541324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39" name="Ícone horizontal-bar-chart"/>
          <p:cNvSpPr/>
          <p:nvPr/>
        </p:nvSpPr>
        <p:spPr>
          <a:xfrm>
            <a:off x="541324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0" name="Imagem" descr="horizontal-bar-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2003" y="5402275"/>
            <a:ext cx="213970" cy="213970"/>
          </a:xfrm>
          <a:prstGeom prst="rect">
            <a:avLst/>
          </a:prstGeom>
        </p:spPr>
      </p:pic>
      <p:sp>
        <p:nvSpPr>
          <p:cNvPr id="41" name="Cartão"/>
          <p:cNvSpPr/>
          <p:nvPr/>
        </p:nvSpPr>
        <p:spPr>
          <a:xfrm>
            <a:off x="7178040" y="164592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role"/>
          <p:cNvSpPr/>
          <p:nvPr/>
        </p:nvSpPr>
        <p:spPr>
          <a:xfrm>
            <a:off x="7388352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3" name="Imagem" descr="ro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956816"/>
            <a:ext cx="237744" cy="237744"/>
          </a:xfrm>
          <a:prstGeom prst="rect">
            <a:avLst/>
          </a:prstGeom>
        </p:spPr>
      </p:pic>
      <p:sp>
        <p:nvSpPr>
          <p:cNvPr id="44" name="Texto"/>
          <p:cNvSpPr txBox="1"/>
          <p:nvPr/>
        </p:nvSpPr>
        <p:spPr>
          <a:xfrm>
            <a:off x="7982712" y="184708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pt-BR" sz="1400" dirty="0"/>
          </a:p>
        </p:txBody>
      </p:sp>
      <p:sp>
        <p:nvSpPr>
          <p:cNvPr id="45" name="Texto"/>
          <p:cNvSpPr txBox="1"/>
          <p:nvPr/>
        </p:nvSpPr>
        <p:spPr>
          <a:xfrm>
            <a:off x="7388352" y="239572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Oito tiles: as quatro gestões e as quatro análises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7388352" y="276148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negócio e o espaço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grupos de serviços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ZPC_ADMIN e ZPC_PEDIDO</a:t>
            </a:r>
            <a:endParaRPr lang="pt-BR" sz="1100" dirty="0"/>
          </a:p>
        </p:txBody>
      </p:sp>
      <p:sp>
        <p:nvSpPr>
          <p:cNvPr id="47" name="Cartão"/>
          <p:cNvSpPr/>
          <p:nvPr/>
        </p:nvSpPr>
        <p:spPr>
          <a:xfrm>
            <a:off x="7178040" y="397764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Ícone role"/>
          <p:cNvSpPr/>
          <p:nvPr/>
        </p:nvSpPr>
        <p:spPr>
          <a:xfrm>
            <a:off x="7388352" y="4178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49" name="Imagem" descr="rol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4288536"/>
            <a:ext cx="237744" cy="237744"/>
          </a:xfrm>
          <a:prstGeom prst="rect">
            <a:avLst/>
          </a:prstGeom>
        </p:spPr>
      </p:pic>
      <p:sp>
        <p:nvSpPr>
          <p:cNvPr id="50" name="Texto"/>
          <p:cNvSpPr txBox="1"/>
          <p:nvPr/>
        </p:nvSpPr>
        <p:spPr>
          <a:xfrm>
            <a:off x="7982712" y="417880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pt-BR" sz="1400" dirty="0"/>
          </a:p>
        </p:txBody>
      </p:sp>
      <p:sp>
        <p:nvSpPr>
          <p:cNvPr id="51" name="Texto"/>
          <p:cNvSpPr txBox="1"/>
          <p:nvPr/>
        </p:nvSpPr>
        <p:spPr>
          <a:xfrm>
            <a:off x="7388352" y="472744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56F3A"/>
                </a:solidFill>
              </a:rPr>
              <a:t>Pedidos, Reembolsos e as análises</a:t>
            </a:r>
            <a:endParaRPr lang="pt-BR" sz="1100" dirty="0"/>
          </a:p>
        </p:txBody>
      </p:sp>
      <p:sp>
        <p:nvSpPr>
          <p:cNvPr id="52" name="Texto"/>
          <p:cNvSpPr txBox="1"/>
          <p:nvPr/>
        </p:nvSpPr>
        <p:spPr>
          <a:xfrm>
            <a:off x="7388352" y="509320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pedidos e reembolsos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serviços usados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ZPC_PEDIDO</a:t>
            </a:r>
            <a:endParaRPr lang="pt-BR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Cliente: score, dados e endereços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Cliente: score, dados e endereço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cliente salvo, em modo de exibição (fluxo, passos 1 a 5).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Cliente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 ou link ZPCCliente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· Endereços · Admin.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 com nome, CPF formatado e o score em barra: 51 de 100, laranja (de 40 a 70)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reabre o rascunho; Excluir é bloqueado se o cliente tem pedido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Endereços com seleção única (radio); Definir como principal ativa ao selecionar a linha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Sem foto, o header mostra o avatar padrão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ENDEREÇO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Endereço: o CEP preenche o resto pelo ViaCEP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Endereço: o CEP preenche o resto pelo ViaCE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sub-página Endereço no rascunho do cliente (fluxo, passos 3 e 4).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Sub-página Endereço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da tabela Endereços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Rodapé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Esboço atualizado · Aplicar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CEP com value help: sugere os CEPs já cadastrados (ZC_PC_CEP_VH)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ViaCEP preencheu Avenida Paulista, Bela Vista, São Paulo e SP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Logradouro e Bairro só ficam editáveis para CEP geral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Número obrigatório; Aplicar volta ao cliente e o Salvar valida o CEP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Clientes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Client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Gênero, Cliente ativo, UF, Faixa de score e Nome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106 clientes e score médio 64,22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por gênero, por UF, por faixa de score, cadastros por mês e score por UF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título de cada card abre o detalhe do cenário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Item: SKU gerado e quantidades do estoque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Item: SKU gerado e quantidades do estoqu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item logo depois do Salvar, com a mensagem Objeto gravado (fluxo, passos 1 a 3).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Item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 ou link ZPCItemEstoque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· Estoque · Admin.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SKU-ELE-0000000424 gerado no Salvar, com o prefixo da categoria Eletrônicos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do estoque no header: Em estoque, em verde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Estoque 25, reservada 0, disponível 25; reservada e disponível são somente leitura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reabre o rascunho; Excluir é bloqueado com pedido ou reserva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Itens do Estoque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Itens do Estoqu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Categoria, Situação do estoque, Nome e SKU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104 itens, 10.880 em estoque, 232 reservados, 10.648 disponíveis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Valor em estoque: R$ 5.654.580,99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por categoria, por situação, valor por categoria e os dez mais reservados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RASCUNHO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Rascunho: itens criados na própria tabela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Rascunho: itens criados na própria tabel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novo em rascunho, antes do Criar (fluxo do registro, passos 1 a 5).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Page, rascunho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Criar, na lista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Rodapé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 · Rejeitar esboço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rascunho já tem número: GerarNumeroPedido roda na criação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Itens inline: Item com value help, Disponível agora e Quantidade obrigatória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Total da linha por side effect: 2 × 2.899,90 = 5.799,80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Pagamento ainda vazio, com status Pendente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Criar registra e reserva o estoque; Rejeitar esboço descarta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EFETUAR PAGAMENTO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Efetuar Pagamento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Efetuar Pagament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ABERTO, menu Ações → Efetuar Pagamento.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Efetuar Pagamen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872" y="2157984"/>
            <a:ext cx="2126648" cy="187452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423367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423367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61772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Diálogo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61772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ext/AcoesPedido.js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504748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5184648"/>
            <a:ext cx="3685032" cy="85039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Máscaras: cartão 9999 9999 9999 9999, validade 99/99, CVV 999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Confirma antes de pagar; o precheck devolve todos os erros de uma vez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PAGAMENTO E FINALIZAÇÃO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 aprovado e pedido finalizado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gamento aprovado e pedido finaliza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o mesmo pedido depois do pagamento e de Aprovar pedido (status FINALIZADO).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 · Pagamento · Finalização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AprovarPedido, sem diálogo</a:t>
            </a:r>
            <a:endParaRPr lang="pt-BR" sz="1000" dirty="0"/>
          </a:p>
        </p:txBody>
      </p:sp>
      <p:cxnSp>
        <p:nvCxnSpPr>
          <p:cNvPr id="13" name="Conector"/>
          <p:cNvCxnSpPr/>
          <p:nvPr/>
        </p:nvCxnSpPr>
        <p:spPr>
          <a:xfrm>
            <a:off x="7726680" y="2642616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4" name="Texto"/>
          <p:cNvSpPr txBox="1"/>
          <p:nvPr/>
        </p:nvSpPr>
        <p:spPr>
          <a:xfrm>
            <a:off x="7726680" y="2779776"/>
            <a:ext cx="3685032" cy="325526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Pagamento: cartão de crédito, VISA, **** **** **** 1111, código SIM897584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Mensagem: Pagamento aprovado (simulação) - VISA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pedido baixa o estoque e leva a FINALIZADO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seção Finalização aparece com a data; Editar fica desabilitado</a:t>
            </a:r>
            <a:endParaRPr lang="pt-BR" sz="115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CANCELAR PEDIDO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Cancelar pedido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Cancelar pedi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em AGUARDANDO_APROVACAO, com pagamento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Cancelar pedid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396" y="2157984"/>
            <a:ext cx="3149600" cy="137160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373075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373075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114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114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ZPC_A_CANCELAMENTO_INPUT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454456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4681728"/>
            <a:ext cx="3685032" cy="135331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 do cancelamento obrigatório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Sem pagamento aprovado: libera a reserva e vai a CANCELADO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Com pagamento aprovado, como aqui: abre um reembolso PENDENTE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PROCESSANDO REEMBOLSO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Pedido aguardando a decisão do reembolso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edido aguardando a decisão do reembols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logo depois do cancelamento com pagamento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Pagamento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Decisão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Reembolsos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 com status em laranja, pagamento Aprovado e valor total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Cliente e CPF como links para a Gestão de Clientes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e Excluir desabilitados até a decisão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reserva de estoque continua até aprovar ou rejeitar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CANCELADO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Pedido cancelado pelo reembolso aprovado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edido cancelado pelo reembolso aprova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aberto pelo link do reembolso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Pagamento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Seção nova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Cancelamento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Header: Cancelado em vermelho e pagamento Devolvido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Dados do cliente e itens vêm dos snapshots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seção Cancelamento mostra o motivo e a data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Pedido encerrado: Editar e Ações sem efeito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Pedidos de Compras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Pedidos de Compra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Status do pedido, Status do pagamento, UF e Mês de criação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R$ 223.465,83 em 107 pedidos, ticket médio R$ 2.088,46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de valor por status, pedidos por mês e valor por UF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Mais abaixo, pedidos por pagamento e ticket médio por status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Solicitação PENDENTE aguardando a decisão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Solicitação PENDENTE aguardando a decisã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solicitação PENDENTE do pedido 0000000218, com o menu Ações aberto.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Reembolso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Menu Ações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 · Rejeitar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Pedido como link direto para a Object Page do pedido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Cliente e CPF como links para a Gestão de Clientes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anterior do pedido: AGUARDANDO_APROVACAO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e Rejeitar só com PENDENTE e com confirmação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APROVAR REEMBOLSO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Aprovar reembolso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Aprovar reembols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Aprovar reembolso na solicitação PENDENTE do pedido 0000000403.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Aprovar reembols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729" y="2157984"/>
            <a:ext cx="2810933" cy="137160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373075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373075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114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114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454456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4681728"/>
            <a:ext cx="3685032" cy="135331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 da decisão, gravado no reembolso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Aprovar: pedido CANCELADO e pagamento DEVOLVIDO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Antes do diálogo, a app pede confirmação; Rejeitar segue igual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APROVADO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Reembolso aprovado: decisão registrada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Reembolso aprovado: decisão registrad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a mesma solicitação depois de Aprovar reembolso.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Ações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desabilitadas</a:t>
            </a:r>
            <a:endParaRPr lang="pt-BR" sz="1000" dirty="0"/>
          </a:p>
        </p:txBody>
      </p:sp>
      <p:cxnSp>
        <p:nvCxnSpPr>
          <p:cNvPr id="13" name="Conector"/>
          <p:cNvCxnSpPr/>
          <p:nvPr/>
        </p:nvCxnSpPr>
        <p:spPr>
          <a:xfrm>
            <a:off x="7726680" y="2642616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4" name="Texto"/>
          <p:cNvSpPr txBox="1"/>
          <p:nvPr/>
        </p:nvSpPr>
        <p:spPr>
          <a:xfrm>
            <a:off x="7726680" y="2779776"/>
            <a:ext cx="3685032" cy="325526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Aprovado, em verde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Motivo, data e usuário da decisão preenchidos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e Rejeitar desabilitados: a decisão é final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link do pedido abre o pedido Cancelado e Devolvido</a:t>
            </a:r>
            <a:endParaRPr lang="pt-BR" sz="115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Pedidos de Reembolsos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Pedidos de Reembolso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Status do reembolso, UF e Mês da solicitação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13 reembolsos, R$ 22.028,83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de valor e quantidade por status e valor por mês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Mais abaixo, valor por UF e quantidade por motivo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ANÁLISE · DETALHE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Detalhe de um cenário: gráfico e tabela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Detalhe de um cenário: gráfico e tabel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detalhe do cenário ReeValorPorStatus, aberto pelo título do card.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Cenário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ReeValorPorStatus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Volta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breadcrumb do painel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Botões trocam o gráfico: colunas, barras, linha ou rosca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Mesmos filtros do painel, já aplicados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Dados da análise: valores, % do total e linha de total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breadcrumb volta ao painel sem perder os filtros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CONFIRMAÇÃO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Confirmação antes de cancelar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Cancelar pedi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0000000215 ABERTO, menu Ações → Cancelar pedido.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Cancelar pedid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396" y="2157984"/>
            <a:ext cx="3149600" cy="137160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373075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373075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114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Botão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114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ext/AcoesPedido.js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454456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4681728"/>
            <a:ext cx="3685032" cy="135331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MessageBox.confirm antes de editFlow.invokeAction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OK segue para o diálogo do motivo (próximo slide)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pedido usa a confirmação padrão (IsActionCritical)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AÇÕES CUSTOMIZADAS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Menu Ações com botões customizados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"actions"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"DataFieldForActionGroup::AcoesPedido"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"menu"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"EfetuarPagamento"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"DataFieldForAction::…AprovarPedido::…PedidoType"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"CancelarPedido"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] },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"EfetuarPagamento"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"press"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"pedidoscompras.ext.AcoesPedido.efetuarPagamento"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"pedidoscompras.ext.AcoesPedido.podePagar"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"requiresSelection"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"{i18n&gt;acaoEfetuarPagamento}"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"CancelarPedido"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"press"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"pedidoscompras.ext.AcoesPedido.cancelarPedido"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"pedidoscompras.ext.AcoesPedido.podeCancelar"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"requiresSelection"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 }</a:t>
            </a:r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AcoesPedido.js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  ›  webapp  ›  ext  ›  AcoesPedido.js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Feature control do RAP: a action está permitida?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acaoPermitida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oContexto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oContexto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getProperty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"IsActiveEntity"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===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oContexto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getProperty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"__OperationControl/"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===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oContexto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aSelecionados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aContextos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oContexto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aSelecionados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MessageBox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"confirmarCancelamento"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[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aContextos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)]),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onClose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(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sAcao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=&gt; {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sAcao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MessageBox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}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editFlow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invokeAction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"CancelarPedido"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aContextos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aContextos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getModel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});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});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