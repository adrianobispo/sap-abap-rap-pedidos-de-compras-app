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7bdcec3f-c6a5-b67e-428f-ca76a991cdfe}">
          <p14:sldIdLst>
            <p14:sldId id="256"/>
            <p14:sldId id="257"/>
          </p14:sldIdLst>
        </p14:section>
        <p14:section name="Fiori Elements" id="{6dc25c47-41cb-75bb-5932-d4a585bfb5d9}">
          <p14:sldIdLst>
            <p14:sldId id="258"/>
            <p14:sldId id="259"/>
            <p14:sldId id="260"/>
            <p14:sldId id="261"/>
          </p14:sldIdLst>
        </p14:section>
        <p14:section name="Análises" id="{c3f89920-05e9-7481-1dcd-ecbdc5039da4}">
          <p14:sldIdLst>
            <p14:sldId id="262"/>
            <p14:sldId id="263"/>
          </p14:sldIdLst>
        </p14:section>
        <p14:section name="Launchpad e deploy" id="{dc8b314f-d1a9-c59f-3750-5fb4bfc5614d}">
          <p14:sldIdLst>
            <p14:sldId id="264"/>
            <p14:sldId id="265"/>
            <p14:sldId id="266"/>
            <p14:sldId id="267"/>
          </p14:sldIdLst>
        </p14:section>
        <p14:section name="Encerramento" id="{c7a41d33-0026-6044-b2e7-d75b50cf8e5b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Os serviços publicados viram apps: Fiori Elements geradas com o SAP Fiori tools para a gestão e apps SAPUI5 freestyle para as análises, reunidas num launchpad e implantadas no ABAP.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 Cliente, CPF, item e SKU são links para as outras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apps têm o mesmo motor e mudam só o catálogo de cenários. Scenarios.js descreve filtros, KPIs e os cinco gráficos; AnalyticsQuery monta o $apply; o AnalyticsService usa $$aggregation do ODataListBinding; o VizFrame desenha. O backend devolve só os totais.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painel tem barra de filtros, KPIs e cinco gráficos. Clicar no título de um card abre o detalhe, com troca do tipo de gráfico (colunas, barras, linha, rosca) e tabela com valores, percentual e total. Os filtros acompanham a navegação.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é um projeto isolado com seus próprios scripts. As apps de gestão passam no ESLint, no ui5 build e no UI5 linter sem achados; as análises têm uma suíte QUnit que cobre o catálogo, as consultas $apply e a moldagem das linhas.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cinco etapas como um único fluxo. Cada uma tem seu deck para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tudo em ABAP Cloud no SAP BTP ABAP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Apps Fiori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Quatro apps Fiori Elements, quatro apps de análise em SAPUI5, navegação entre apps, launchpad local e deploy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APPS DE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SAPUI5 freestyle com agregação no servidor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907024" cy="3586734"/>
          </a:xfrm>
          <a:prstGeom prst="roundRect">
            <a:avLst>
              <a:gd name="adj" fmla="val 3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Painel da 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760720" cy="344043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440680"/>
            <a:ext cx="5907024" cy="731520"/>
          </a:xfrm>
          <a:prstGeom prst="roundRect">
            <a:avLst>
              <a:gd name="adj" fmla="val 1250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586984"/>
            <a:ext cx="55869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.../zui_pc_analitico/0001/ClienteAnalise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?$apply=groupby((Genero),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aggregate(QtdeClientes))</a:t>
            </a:r>
            <a:endParaRPr lang="en-US" sz="1000" dirty="0"/>
          </a:p>
        </p:txBody>
      </p:sp>
      <p:sp>
        <p:nvSpPr>
          <p:cNvPr id="9" name="Cartão"/>
          <p:cNvSpPr/>
          <p:nvPr/>
        </p:nvSpPr>
        <p:spPr>
          <a:xfrm>
            <a:off x="6675120" y="1645920"/>
            <a:ext cx="496793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Ícone list"/>
          <p:cNvSpPr/>
          <p:nvPr/>
        </p:nvSpPr>
        <p:spPr>
          <a:xfrm>
            <a:off x="6876288" y="1865376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1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962" y="1997050"/>
            <a:ext cx="285293" cy="28529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589520" y="1801368"/>
            <a:ext cx="3870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589520" y="2121408"/>
            <a:ext cx="3870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catálogo: entity set, filtros, KPIs, 5 cenários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7150608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5" name="Cartão"/>
          <p:cNvSpPr/>
          <p:nvPr/>
        </p:nvSpPr>
        <p:spPr>
          <a:xfrm>
            <a:off x="6675120" y="2807208"/>
            <a:ext cx="496793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ource-code"/>
          <p:cNvSpPr/>
          <p:nvPr/>
        </p:nvSpPr>
        <p:spPr>
          <a:xfrm>
            <a:off x="6876288" y="302666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7" name="Image 2" descr="source-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962" y="3158338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589520" y="2962656"/>
            <a:ext cx="3870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589520" y="3282696"/>
            <a:ext cx="3870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monta o $apply e molda as linhas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150608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1" name="Cartão"/>
          <p:cNvSpPr/>
          <p:nvPr/>
        </p:nvSpPr>
        <p:spPr>
          <a:xfrm>
            <a:off x="6675120" y="3968496"/>
            <a:ext cx="496793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hain-link"/>
          <p:cNvSpPr/>
          <p:nvPr/>
        </p:nvSpPr>
        <p:spPr>
          <a:xfrm>
            <a:off x="6876288" y="418795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3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7962" y="4319626"/>
            <a:ext cx="285293" cy="285293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589520" y="4123944"/>
            <a:ext cx="3870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7589520" y="4443984"/>
            <a:ext cx="3870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ODataListBinding + $$aggregation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7150608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7" name="Cartão"/>
          <p:cNvSpPr/>
          <p:nvPr/>
        </p:nvSpPr>
        <p:spPr>
          <a:xfrm>
            <a:off x="6675120" y="5129784"/>
            <a:ext cx="496793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bar-chart"/>
          <p:cNvSpPr/>
          <p:nvPr/>
        </p:nvSpPr>
        <p:spPr>
          <a:xfrm>
            <a:off x="6876288" y="53492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2" y="5480914"/>
            <a:ext cx="285293" cy="28529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589520" y="5285232"/>
            <a:ext cx="3870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7589520" y="5605272"/>
            <a:ext cx="3870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 por cenário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CENÁRIOS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Vinte análises, cinco por domínio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5715000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544068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783080"/>
                <a:gridCol w="260604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KPIs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Gráficos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valor total, pedidos, ticket médio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por status, por mês, por UF, por pagamento, ticket médio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clientes, score médio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por gênero, por UF, por faixa de score, cadastros por mês, score por UF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itens, em estoque, reservada, disponível, valor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disponível e valor por categoria, por situação, top 10 reservados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reembolsos, valor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valor e quantidade por status, por mês, por UF, por motivo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Moldura"/>
          <p:cNvSpPr/>
          <p:nvPr/>
        </p:nvSpPr>
        <p:spPr>
          <a:xfrm>
            <a:off x="6421831" y="1645920"/>
            <a:ext cx="5221224" cy="3177159"/>
          </a:xfrm>
          <a:prstGeom prst="roundRect">
            <a:avLst>
              <a:gd name="adj" fmla="val 34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8" name="Image 0" descr="Detalhe da análise Valor dos reembolsos por stat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4983" y="1719072"/>
            <a:ext cx="5074920" cy="303085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94983" y="4932807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Detalhe: gráfico grande, troca de tipo e tabela de valores.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095744" cy="4296664"/>
          </a:xfrm>
          <a:prstGeom prst="roundRect">
            <a:avLst>
              <a:gd name="adj" fmla="val 25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949440" cy="41503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7909560" y="1645920"/>
            <a:ext cx="3733495" cy="2743200"/>
          </a:xfrm>
          <a:prstGeom prst="roundRect">
            <a:avLst>
              <a:gd name="adj" fmla="val 333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8092440" y="1792224"/>
            <a:ext cx="3413455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BTP ABAP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(login no navegador)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backend: mock server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endParaRPr lang="en-US" sz="1150" dirty="0"/>
          </a:p>
        </p:txBody>
      </p:sp>
      <p:sp>
        <p:nvSpPr>
          <p:cNvPr id="9" name="Cartão"/>
          <p:cNvSpPr/>
          <p:nvPr/>
        </p:nvSpPr>
        <p:spPr>
          <a:xfrm>
            <a:off x="7909560" y="4572000"/>
            <a:ext cx="3733495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Ícone chain-link"/>
          <p:cNvSpPr/>
          <p:nvPr/>
        </p:nvSpPr>
        <p:spPr>
          <a:xfrm>
            <a:off x="8138160" y="480060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1" name="Image 1" descr="chain-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277" y="4914717"/>
            <a:ext cx="247254" cy="24725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750808" y="4800600"/>
            <a:ext cx="27093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Proxy /sap → BTP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138160" y="5413248"/>
            <a:ext cx="3276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 ui5.yaml encaminha as chamadas OData ao sistema com reentranceTicket.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Lint, build e testes antes de cada deploy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apps de análise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6629400" y="1645920"/>
            <a:ext cx="5013655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upload-to-cloud"/>
          <p:cNvSpPr/>
          <p:nvPr/>
        </p:nvSpPr>
        <p:spPr>
          <a:xfrm>
            <a:off x="6830568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2242" y="1960474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43800" y="1773936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npm run deploy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543800" y="2103120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deploy-test simula antes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104888" y="2560320"/>
            <a:ext cx="0" cy="246888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6629400" y="2807208"/>
            <a:ext cx="5013655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ap-box"/>
          <p:cNvSpPr/>
          <p:nvPr/>
        </p:nvSpPr>
        <p:spPr>
          <a:xfrm>
            <a:off x="6830568" y="299008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1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242" y="3121762"/>
            <a:ext cx="285293" cy="28529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543800" y="2935224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BSP + IAM App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7543800" y="3264408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ZPC_PEDIDOS · ZPC_PEDIDOS_UI5R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7104888" y="3721608"/>
            <a:ext cx="0" cy="246888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629400" y="3968496"/>
            <a:ext cx="5013655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830568" y="4151376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242" y="4283050"/>
            <a:ext cx="285293" cy="28529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543800" y="4096512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Catalog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7543800" y="4425696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ZPC_BC_PEDIDOS recebe o _UI5R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7104888" y="4882896"/>
            <a:ext cx="0" cy="246888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6629400" y="5129784"/>
            <a:ext cx="5013655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home"/>
          <p:cNvSpPr/>
          <p:nvPr/>
        </p:nvSpPr>
        <p:spPr>
          <a:xfrm>
            <a:off x="6830568" y="531266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3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242" y="5444338"/>
            <a:ext cx="285293" cy="28529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543800" y="5257800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Launchpad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7543800" y="5586984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6E9FF"/>
                </a:solidFill>
              </a:rPr>
              <a:t>tile do intent ZPCPedidoCompra-manage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o ponto de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 SÉRIE COMPLETA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Do banco de dados ao launchpad</a:t>
            </a:r>
            <a:endParaRPr lang="en-US" sz="3000" dirty="0"/>
          </a:p>
        </p:txBody>
      </p:sp>
      <p:sp>
        <p:nvSpPr>
          <p:cNvPr id="4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12000"/>
            </a:srgbClr>
          </a:solidFill>
          <a:ln/>
        </p:spPr>
      </p:sp>
      <p:sp>
        <p:nvSpPr>
          <p:cNvPr id="5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8000"/>
            </a:srgbClr>
          </a:solidFill>
          <a:ln/>
        </p:spPr>
      </p:sp>
      <p:sp>
        <p:nvSpPr>
          <p:cNvPr id="7" name="Cartão"/>
          <p:cNvSpPr/>
          <p:nvPr/>
        </p:nvSpPr>
        <p:spPr>
          <a:xfrm>
            <a:off x="548640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201168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Modelagem de dados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10 tabelas ativas, 8 drafts, CodeLists e índices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2813243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13" name="Text 9"/>
          <p:cNvSpPr/>
          <p:nvPr/>
        </p:nvSpPr>
        <p:spPr>
          <a:xfrm>
            <a:off x="3041843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201168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41843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Core Data Services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41843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Views ZR_, 9 projeções, 11 value helps e 4 cubos</a:t>
            </a:r>
            <a:endParaRPr lang="en-US" sz="1250" dirty="0"/>
          </a:p>
        </p:txBody>
      </p:sp>
      <p:sp>
        <p:nvSpPr>
          <p:cNvPr id="17" name="Cartão"/>
          <p:cNvSpPr/>
          <p:nvPr/>
        </p:nvSpPr>
        <p:spPr>
          <a:xfrm>
            <a:off x="5077846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5306446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9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201168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06446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Comportamento RAP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06446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4 BOs managed com draft, regras, ações e EML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7342449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23" name="Text 17"/>
          <p:cNvSpPr/>
          <p:nvPr/>
        </p:nvSpPr>
        <p:spPr>
          <a:xfrm>
            <a:off x="7571049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pic>
        <p:nvPicPr>
          <p:cNvPr id="24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201168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71049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Serviços OData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7571049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5 serviços OData V4 publicados, IAM e roles</a:t>
            </a:r>
            <a:endParaRPr lang="en-US" sz="1250" dirty="0"/>
          </a:p>
        </p:txBody>
      </p:sp>
      <p:sp>
        <p:nvSpPr>
          <p:cNvPr id="27" name="Cartão"/>
          <p:cNvSpPr/>
          <p:nvPr/>
        </p:nvSpPr>
        <p:spPr>
          <a:xfrm>
            <a:off x="9607052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28" name="Text 21"/>
          <p:cNvSpPr/>
          <p:nvPr/>
        </p:nvSpPr>
        <p:spPr>
          <a:xfrm>
            <a:off x="9835652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pic>
        <p:nvPicPr>
          <p:cNvPr id="29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01168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35652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Apps Fiori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9835652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8 apps, launchpad local e deploy no ABAP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029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4BE"/>
                </a:solidFill>
              </a:rPr>
              <a:t>Arquivos: docs/apresentacoes/01 a 05 · fontes em abap/ e ui5/ · diagramas em docs/diagramas/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Quatro apps Fiori Elements, quatro análises SAPUI5, navegação entre apps e acesso pelo launchpad.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SÉRIE CONCLUÍDA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Modelagem, CDS, RAP, OData e Fiori em ABAP Cloud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2026-10-20T02:47:52Z</dcterms:created>
  <dcterms:modified xsi:type="dcterms:W3CDTF">2026-10-20T02:47:52Z</dcterms:modified>
</cp:coreProperties>
</file>