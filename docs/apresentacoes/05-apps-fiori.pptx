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87" r:id="rId38"/>
    <p:sldId id="278" r:id="rId24"/>
    <p:sldId id="288" r:id="rId39"/>
    <p:sldId id="289" r:id="rId40"/>
    <p:sldId id="290" r:id="rId41"/>
    <p:sldId id="291" r:id="rId42"/>
    <p:sldId id="279" r:id="rId25"/>
    <p:sldId id="292" r:id="rId43"/>
    <p:sldId id="280" r:id="rId26"/>
    <p:sldId id="293" r:id="rId44"/>
    <p:sldId id="283" r:id="rId34"/>
    <p:sldId id="294" r:id="rId45"/>
    <p:sldId id="284" r:id="rId35"/>
    <p:sldId id="295" r:id="rId46"/>
    <p:sldId id="285" r:id="rId36"/>
    <p:sldId id="296" r:id="rId4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cfc9494d-ac92-be99-24aa-31f880c459ad}">
          <p14:sldIdLst>
            <p14:sldId id="256"/>
            <p14:sldId id="257"/>
          </p14:sldIdLst>
        </p14:section>
        <p14:section name="Base comum" id="{6582e595-f51c-f089-9d2e-17c87e50de85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Clientes" id="{17c731ef-c438-0300-3a95-707373ecb97a}">
          <p14:sldIdLst>
            <p14:sldId id="264"/>
            <p14:sldId id="265"/>
            <p14:sldId id="266"/>
          </p14:sldIdLst>
        </p14:section>
        <p14:section name="Estoque" id="{9fb63332-425c-c4a1-f924-4f54f21916e2}">
          <p14:sldIdLst>
            <p14:sldId id="267"/>
            <p14:sldId id="268"/>
            <p14:sldId id="269"/>
          </p14:sldIdLst>
        </p14:section>
        <p14:section name="Pedidos" id="{0d44c27f-d75d-5d3d-9c8b-f7b275d14dfe}">
          <p14:sldIdLst>
            <p14:sldId id="270"/>
            <p14:sldId id="271"/>
            <p14:sldId id="272"/>
            <p14:sldId id="273"/>
            <p14:sldId id="274"/>
          </p14:sldIdLst>
        </p14:section>
        <p14:section name="Reembolsos" id="{d40608c0-c060-f75b-9f88-ce15193eb7b6}">
          <p14:sldIdLst>
            <p14:sldId id="275"/>
            <p14:sldId id="276"/>
            <p14:sldId id="277"/>
          </p14:sldIdLst>
        </p14:section>
        <p14:section name="Qualidade e deploy" id="{29bec76d-974a-81d3-0624-4194ec096bdd}">
          <p14:sldIdLst>
            <p14:sldId id="278"/>
            <p14:sldId id="279"/>
            <p14:sldId id="280"/>
          </p14:sldIdLst>
        </p14:section>
        <p14:section name="Encerramento" id="{b86ea19e-4982-8773-f6b1-aa4a68c302c3}">
          <p14:sldIdLst>
            <p14:sldId id="281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  <Relationship Id="rId34" Type="http://schemas.openxmlformats.org/officeDocument/2006/relationships/slide" Target="slides/slide28.xml"/>
  <Relationship Id="rId35" Type="http://schemas.openxmlformats.org/officeDocument/2006/relationships/slide" Target="slides/slide29.xml"/>
  <Relationship Id="rId36" Type="http://schemas.openxmlformats.org/officeDocument/2006/relationships/slide" Target="slides/slide30.xml"/>
  
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'1.0' encoding='UTF-8' standalone='yes'?>
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Última etapa. Depois da base comum (geração, estrutura, motor das análises, navegação e launchpad), cada seção mostra a app de gestão e a app de análise de um domínio.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quatro apps de gestão são Fiori Elements V4 (List Report + Object Page), quase sem código: a UI vem das anotações do backend. As quatro de análise são SAPUI5 freestyle, com gráficos sap.viz sobre o serviço analítico.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Application Generator do SAP Fiori tools (VS Code ou Business Application Studio) lê o metadata do serviço e monta o projeto. A partir daí, o manifest (descriptor v2) define o serviço, as rotas List Report → Object Page e o inbound do tile.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app em ui5/apps-list-reports/ e ui5/apps-analiticos/ tem package.json, node_modules e configuração próprios. O ui5.yaml sobe o servidor local com proxy para o sistema ABAP (no BTP, login por reentranceTicket); o ui5-mock.yaml usa o metadata salvo em localService para rodar sem backend.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campos marcados com @Consumption.semanticObject viram smart links. A app de destino abre direto a Object Page ao receber a chave técnica ou a semântica (CPF, SKU, número do pedido). No reembolso, o pedido é um link direto (WITH_INTENT_BASED_NAVIGATION).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quatro apps de análise têm o mesmo motor e mudam só o catálogo. Scenarios.js descreve medidas, dimensões, filtros, KPIs e os cinco cenários; o AnalyticsService transforma cada consulta num ODataListBinding com $$aggregation, que o modelo OData V4 converte em $apply.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ui5/launchpad sobe o sandbox sap.ushell com os oito tiles nos grupos Gestão e Análises, abrindo as apps direto do webapp de cada uma, sem build. Os intents são os mesmos dos inbounds dos manifests, então a navegação entre apps funciona como no launchpad do sistema.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 Report com foto, CPF formatado, cidade e UF do endereço principal. A Object Page traz o score no header, os dados do cliente e a tabela de endereços, que abre uma sub-página.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Painel com cinco gráficos sobre ClienteAnalise. A faixa de score (BAIXO, MEDIO, ALTO) é uma dimensão calculada no cubo.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 Report com SKU, categoria, quantidades e status colorido pela CodeList. A Object Page agrupa dados do item, estoque e dados administrativos.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Painel com cinco gráficos sobre ItemAnalise, incluindo os dez itens mais reservados e o valor em estoque (preço × quantidade) calculado no cubo.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Nada nesta tela foi programado no front-end: filtros vêm de selectionField, colunas de lineItem, as cores de criticality, e o menu Ações de FOR_ACTION_GROUP. O botão Importar planilha é a action estática ImportarPlanilha.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Header com status, pagamento e total (dataPoint). Dados do Cliente e Itens leem as tabelas vivas enquanto o pedido está ativo e os snapshots depois de encerrado. Finalização e Cancelamento só aparecem quando fazem sentido.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Só a app de pedidos tem ajustes além do gerado: a tabela de itens cria linhas na própria tabela (creationMode Inline) e um annotation.xml local repete o mapeamento CpfCliente → Cpf para a navegação até a app de clientes.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Painel com cinco gráficos sobre PedidoAnalise. Clicar no título de um card abre o detalhe, com troca do tipo de gráfico e tabela de valores, percentual e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Lista própria sem criar, editar ou excluir. Aprovar e Rejeitar só ficam ativos com a solicitação PENDENTE; rejeitar exige motivo. O número do pedido abre direto a Object Page na app de pedidos.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Painel com cinco gráficos sobre ReembolsoAnalise, inclusive o ranking por motivo da solicitação.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apps de gestão passam no ESLint, no ui5 build e no UI5 linter sem achados; as análises têm uma suíte QUnit que cobre o catálogo (Scenarios) e as consultas $apply (AnalyticsQuery) de cada domínio.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deploy-to-abap do ui5-deploy.yaml cria ou atualiza a aplicação BSP e o IAM App do tile (sufixo _UI5R) no pacote do domínio. No trial, os pacotes do ZLOCAL não usam transporte. Depois, o IAM App do tile entra no Business Catalog do domínio.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 Maintain Business Roles e Manage Launchpad Spaces no ABAP trial, os tiles vão para o SAP Build Work Zone, standard edition, como tiles do tipo URL que abrem a BSP de cada app. Publicar no Cloud Foundry foi testado e descartado: o ABAP trial não aceita o usuário que o Work Zone recebe do 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 da série. Do modelo de dados às apps publicadas, com o mesmo código RAP no SAP BTP, ABAP environment ou num SAP S/4HANA On-Premise.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quem estuda num SAP S/4HANA On-Premise: as mesmas oito apps, sem mudar código. Muda o destino do deploy, que exige ordem de transporte, e o caminho até o usuário: catálogo e espaço do SAP Fiori launchpad e roles PFCG, no lugar de IAM Apps, Business Catalogs e Work Zone.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Versão de deploy no On-Premise: os manifests pedem SAPUI5 1.136 ou superior (minUI5Version 1.136.7 nas apps de gestão e 1.136.0 nas análises). No sistema de referência, SAP S/4HANA 2025 FPS01 com ABAP Platform 2025, o front-end server 2025 embarcado (SAP_UI 816) entrega o SAPUI5 1.136; confira em Sobre, no launchpad. O deploy usa o serviço /UI5/ABAP_REPOSITORY_SRV, grava só a BSP (não há IAM App) e exige uma ordem Workbench. Usuário e senha vêm de variáveis de ambiente, nunca do arquivo.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On-Premise o launchpad é o do próprio sistema, então a navegação entre apps funciona como no launchpad local. Em /UI2/FLPAM cria-se o catálogo técnico com um tile e um target mapping por app; em /UI2/FLPCM_CUST, os catálogos de negócio, o espaço e a página. O catálogo e o espaço entram no menu das roles PFCG, junto com os grupos de serviços.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publicar, cada app passa por lint, build e testes na máquina de quem vai fazer o deploy. Esta seção mostra os comandos, o que cada um evita e de quem é a responsabilidade.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702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comando pega uma classe de erro mais cedo e mais barato do que no sistema. O npm run deploy já roda o build, mas um erro de build no meio do deploy se mistura com erros de conexão, pacote e transporte; rodando antes, cada problema aparece sozinho.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702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há pipeline de CI no repositório: a sequência é manual e é responsabilidade de quem publica. Qualquer falha interrompe a sequência; corrija e recomece pelo lint. No BTP trial a versão publicada vale na hora para todos; no On-Premise a ordem de transporte leva o mesmo código para QAS e PRD.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702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quem estuda no SAP BTP, ABAP environment: o deploy grava a BSP e o IAM App do tile no ABAP Repository; o acesso passa por Business Catalogs e Business Roles e, no trial, pelo SAP Build Work Zone.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702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configuração de deploy pode vir do Application Generator ou ser acrescentada depois com npx fiori add deploy-config abap. No BTP o login é por reentranceTicket: o navegador abre o login do SAP ID e nenhuma senha fica no arquivo. O inbound do manifest vira o IAM App do tile (sufixo _UI5R).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702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Dois IAM Apps por domínio chegam ao mesmo Business Catalog: o do serviço (ZPC_IAM_*, criado no ADT, com o serviço OData e os objetos de autorização) e o do tile (ZPC_*_UI5R, criado pelo deploy). As Business Roles agrupam os catálogos. No trial não há Maintain Business Roles nem Manage Launchpad Spaces, por isso c_modo_trial fica abap_true e o acesso segue pelo Work Zone.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702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Site Manager do SAP Build Work Zone, standard edition, cada app vira um tile do tipo URL que abre a BSP numa nova aba, com um intent próprio. As oito apps vão para um grupo e para o role Everyone. Cada app funciona isolada: a navegação entre apps depende do shell do launchpad.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702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do primeiro npm run deploy no On-Premise: conferir a versão do SAPUI5, ativar os serviços ICF, ter pacotes Standard ABAP numa camada de transporte e uma ordem Workbench, um usuário com S_DEVELOP e o certificado do sistema confiável na máquina de desenvolvimento.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703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Launchpad App Manager (/UI2/FLPAM), o catálogo técnico ZPC_TC_PEDIDOS_COMPRAS recebe um app descriptor por aplicação: o tile e o target mapping com o mesmo semantic object e a mesma ação do inbound do manifest. Um intent diferente quebra a navegação entre apps.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703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 /UI2/FLPCM_CUST, os catálogos de negócio referenciam o catálogo técnico e o espaço Pedidos de Compras tem uma página com as seções Gestão e Análises. As roles PFCG trazem catálogos, espaço e os grupos de serviços (S_START); Z_PC_ADMIN vê os oito tiles e Z_PC_COMUM, pedidos, reembolsos e análises.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70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325880"/>
            <a:ext cx="77724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spc="20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737360"/>
            <a:ext cx="768096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383280"/>
            <a:ext cx="71323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CHAMENTO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325880"/>
            <a:ext cx="69494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spc="20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737360"/>
            <a:ext cx="694944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383280"/>
            <a:ext cx="69494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5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B82"/>
                </a:solidFill>
              </a:rPr>
              <a:t>Pedidos de Compras · SAP RAP no BTP e On-Premise  ·  Etapa 5 de 5 — Apps Fiori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5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A9B4B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100" Type="http://schemas.openxmlformats.org/officeDocument/2006/relationships/image" Target="../media/cap-1-rId100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100" Type="http://schemas.openxmlformats.org/officeDocument/2006/relationships/image" Target="../media/cap-27-rId100.png"/><Relationship Id="rId101" Type="http://schemas.openxmlformats.org/officeDocument/2006/relationships/image" Target="../media/cap-27-rId101.png"/><Relationship Id="rId102" Type="http://schemas.openxmlformats.org/officeDocument/2006/relationships/image" Target="../media/cap-27-rId102.png"/><Relationship Id="rId103" Type="http://schemas.openxmlformats.org/officeDocument/2006/relationships/image" Target="../media/cap-27-rId103.png"/><Relationship Id="rId104" Type="http://schemas.openxmlformats.org/officeDocument/2006/relationships/image" Target="../media/cap-27-rId104.png"/><Relationship Id="rId105" Type="http://schemas.openxmlformats.org/officeDocument/2006/relationships/image" Target="../media/cap-27-rId105.png"/><Relationship Id="rId106" Type="http://schemas.openxmlformats.org/officeDocument/2006/relationships/image" Target="../media/cap-27-rId10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onprem-role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0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image" Target="../media/icon-inspection-4db1ff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image" Target="../media/icon-inspection-0070f2.png"/><Relationship Id="rId2" Type="http://schemas.openxmlformats.org/officeDocument/2006/relationships/image" Target="../media/icon-sap-box-049f9a.png"/><Relationship Id="rId3" Type="http://schemas.openxmlformats.org/officeDocument/2006/relationships/image" Target="../media/icon-validate-256f3a.png"/><Relationship Id="rId4" Type="http://schemas.openxmlformats.org/officeDocument/2006/relationships/image" Target="../media/icon-e-learning-8b47d7.png"/><Relationship Id="rId5" Type="http://schemas.openxmlformats.org/officeDocument/2006/relationships/image" Target="../media/icon-syntax-c87b00.png"/><Relationship Id="rId6" Type="http://schemas.openxmlformats.org/officeDocument/2006/relationships/image" Target="../media/icon-upload-to-cloud-df1278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3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image" Target="../media/icon-inspection-0070f2.png"/><Relationship Id="rId2" Type="http://schemas.openxmlformats.org/officeDocument/2006/relationships/image" Target="../media/icon-validate-256f3a.png"/><Relationship Id="rId3" Type="http://schemas.openxmlformats.org/officeDocument/2006/relationships/image" Target="../media/icon-syntax-c87b00.png"/><Relationship Id="rId4" Type="http://schemas.openxmlformats.org/officeDocument/2006/relationships/image" Target="../media/icon-sap-box-049f9a.png"/><Relationship Id="rId5" Type="http://schemas.openxmlformats.org/officeDocument/2006/relationships/image" Target="../media/icon-upload-to-cloud-df1278.png"/><Relationship Id="rId6" Type="http://schemas.openxmlformats.org/officeDocument/2006/relationships/image" Target="../media/icon-upload-to-cloud-0070f2.png"/><Relationship Id="rId7" Type="http://schemas.openxmlformats.org/officeDocument/2006/relationships/image" Target="../media/icon-alert-aa0808.png"/><Relationship Id="rId8" Type="http://schemas.openxmlformats.org/officeDocument/2006/relationships/image" Target="../media/icon-person-placeholder-0070f2.png"/><Relationship Id="rId9" Type="http://schemas.openxmlformats.org/officeDocument/2006/relationships/image" Target="../media/icon-list-049f9a.png"/><Relationship Id="rId10" Type="http://schemas.openxmlformats.org/officeDocument/2006/relationships/image" Target="../media/icon-it-system-8b47d7.png"/><Relationship Id="rId11" Type="http://schemas.openxmlformats.org/officeDocument/2006/relationships/slideLayout" Target="../slideLayouts/slideLayout4.xml"/><Relationship Id="rId12" Type="http://schemas.openxmlformats.org/officeDocument/2006/relationships/notesSlide" Target="../notesSlides/notesSlide34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image" Target="../media/icon-cloud-4db1ff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image" Target="../media/icon-validate-256f3a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image" Target="../media/icon-key-8b47d7.png"/><Relationship Id="rId2" Type="http://schemas.openxmlformats.org/officeDocument/2006/relationships/image" Target="../media/icon-sap-box-049f9a.png"/><Relationship Id="rId3" Type="http://schemas.openxmlformats.org/officeDocument/2006/relationships/image" Target="../media/icon-list-0070f2.png"/><Relationship Id="rId4" Type="http://schemas.openxmlformats.org/officeDocument/2006/relationships/image" Target="../media/icon-role-c87b00.png"/><Relationship Id="rId5" Type="http://schemas.openxmlformats.org/officeDocument/2006/relationships/image" Target="../media/icon-home-256f3a.png"/><Relationship Id="rId6" Type="http://schemas.openxmlformats.org/officeDocument/2006/relationships/image" Target="../media/icon-alert-c87b00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7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image" Target="../media/icon-world-256f3a.png"/><Relationship Id="rId2" Type="http://schemas.openxmlformats.org/officeDocument/2006/relationships/image" Target="../media/icon-add-document-0070f2.png"/><Relationship Id="rId3" Type="http://schemas.openxmlformats.org/officeDocument/2006/relationships/image" Target="../media/icon-chain-link-8b47d7.png"/><Relationship Id="rId4" Type="http://schemas.openxmlformats.org/officeDocument/2006/relationships/image" Target="../media/icon-home-c87b00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8.xml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image" Target="../media/icon-e-learning-0070f2.png"/><Relationship Id="rId2" Type="http://schemas.openxmlformats.org/officeDocument/2006/relationships/image" Target="../media/icon-it-system-049f9a.png"/><Relationship Id="rId3" Type="http://schemas.openxmlformats.org/officeDocument/2006/relationships/image" Target="../media/icon-sap-box-256f3a.png"/><Relationship Id="rId4" Type="http://schemas.openxmlformats.org/officeDocument/2006/relationships/image" Target="../media/icon-key-8b47d7.png"/><Relationship Id="rId5" Type="http://schemas.openxmlformats.org/officeDocument/2006/relationships/image" Target="../media/icon-locked-c87b00.png"/><Relationship Id="rId6" Type="http://schemas.openxmlformats.org/officeDocument/2006/relationships/image" Target="../media/icon-chain-link-df1278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9.xml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image" Target="../media/icon-customer-049f9a.png"/><Relationship Id="rId2" Type="http://schemas.openxmlformats.org/officeDocument/2006/relationships/image" Target="../media/icon-product-c87b00.png"/><Relationship Id="rId3" Type="http://schemas.openxmlformats.org/officeDocument/2006/relationships/image" Target="../media/icon-sales-order-0070f2.png"/><Relationship Id="rId4" Type="http://schemas.openxmlformats.org/officeDocument/2006/relationships/image" Target="../media/icon-money-bills-df1278.png"/><Relationship Id="rId5" Type="http://schemas.openxmlformats.org/officeDocument/2006/relationships/image" Target="../media/icon-bar-chart-0070f2.png"/><Relationship Id="rId6" Type="http://schemas.openxmlformats.org/officeDocument/2006/relationships/image" Target="../media/icon-pie-chart-049f9a.png"/><Relationship Id="rId7" Type="http://schemas.openxmlformats.org/officeDocument/2006/relationships/image" Target="../media/icon-line-chart-c87b00.png"/><Relationship Id="rId8" Type="http://schemas.openxmlformats.org/officeDocument/2006/relationships/image" Target="../media/icon-horizontal-bar-chart-df1278.png"/><Relationship Id="rId9" Type="http://schemas.openxmlformats.org/officeDocument/2006/relationships/image" Target="../media/icon-role-0070f2.png"/><Relationship Id="rId10" Type="http://schemas.openxmlformats.org/officeDocument/2006/relationships/image" Target="../media/icon-role-256f3a.png"/><Relationship Id="rId11" Type="http://schemas.openxmlformats.org/officeDocument/2006/relationships/slideLayout" Target="../slideLayouts/slideLayout4.xml"/><Relationship Id="rId1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417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ETAPA 05 DE 05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965960"/>
            <a:ext cx="6766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Apps Fiori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84048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D1EFFF"/>
                </a:solidFill>
              </a:rPr>
              <a:t>Quatro apps Fiori Elements e quatro apps de análise SAPUI5, domínio por domínio, até o launchpad e o deploy</a:t>
            </a:r>
            <a:endParaRPr lang="en-US" sz="1800" dirty="0"/>
          </a:p>
        </p:txBody>
      </p:sp>
      <p:sp>
        <p:nvSpPr>
          <p:cNvPr id="5" name="Avatar da etapa"/>
          <p:cNvSpPr/>
          <p:nvPr/>
        </p:nvSpPr>
        <p:spPr>
          <a:xfrm>
            <a:off x="8183880" y="1417320"/>
            <a:ext cx="3291840" cy="3291840"/>
          </a:xfrm>
          <a:prstGeom prst="roundRect">
            <a:avLst>
              <a:gd name="adj" fmla="val 22222"/>
            </a:avLst>
          </a:prstGeom>
          <a:solidFill>
            <a:srgbClr val="1B3A7A"/>
          </a:solidFill>
          <a:ln/>
        </p:spPr>
      </p:sp>
      <p:sp>
        <p:nvSpPr>
          <p:cNvPr id="6" name="Avatar interno"/>
          <p:cNvSpPr/>
          <p:nvPr/>
        </p:nvSpPr>
        <p:spPr>
          <a:xfrm>
            <a:off x="8732520" y="1965960"/>
            <a:ext cx="2194560" cy="2194560"/>
          </a:xfrm>
          <a:prstGeom prst="roundRect">
            <a:avLst>
              <a:gd name="adj" fmla="val 22917"/>
            </a:avLst>
          </a:prstGeom>
          <a:solidFill>
            <a:schemeClr val="accent1"/>
          </a:solidFill>
          <a:ln/>
        </p:spPr>
      </p:sp>
      <p:pic>
        <p:nvPicPr>
          <p:cNvPr id="7" name="Image 0" descr="Apps Fiori">    </p:cNvPr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9281160" y="2514600"/>
            <a:ext cx="1097280" cy="1097280"/>
          </a:xfrm>
          <a:prstGeom prst="rect">
            <a:avLst/>
          </a:prstGeom>
        </p:spPr>
      </p:pic>
      <p:sp>
        <p:nvSpPr>
          <p:cNvPr id="8" name="Etapa 1"/>
          <p:cNvSpPr/>
          <p:nvPr/>
        </p:nvSpPr>
        <p:spPr>
          <a:xfrm>
            <a:off x="8183880" y="5074920"/>
            <a:ext cx="570586" cy="109728"/>
          </a:xfrm>
          <a:prstGeom prst="roundRect">
            <a:avLst>
              <a:gd name="adj" fmla="val 50000"/>
            </a:avLst>
          </a:prstGeom>
          <a:solidFill>
            <a:srgbClr val="1B3A7A"/>
          </a:solidFill>
          <a:ln/>
        </p:spPr>
      </p:sp>
      <p:sp>
        <p:nvSpPr>
          <p:cNvPr id="9" name="Etapa 2"/>
          <p:cNvSpPr/>
          <p:nvPr/>
        </p:nvSpPr>
        <p:spPr>
          <a:xfrm>
            <a:off x="8864194" y="5074920"/>
            <a:ext cx="570586" cy="109728"/>
          </a:xfrm>
          <a:prstGeom prst="roundRect">
            <a:avLst>
              <a:gd name="adj" fmla="val 50000"/>
            </a:avLst>
          </a:prstGeom>
          <a:solidFill>
            <a:srgbClr val="1B3A7A"/>
          </a:solidFill>
          <a:ln/>
        </p:spPr>
      </p:sp>
      <p:sp>
        <p:nvSpPr>
          <p:cNvPr id="10" name="Etapa 3"/>
          <p:cNvSpPr/>
          <p:nvPr/>
        </p:nvSpPr>
        <p:spPr>
          <a:xfrm>
            <a:off x="9544508" y="5074920"/>
            <a:ext cx="570586" cy="109728"/>
          </a:xfrm>
          <a:prstGeom prst="roundRect">
            <a:avLst>
              <a:gd name="adj" fmla="val 50000"/>
            </a:avLst>
          </a:prstGeom>
          <a:solidFill>
            <a:srgbClr val="1B3A7A"/>
          </a:solidFill>
          <a:ln/>
        </p:spPr>
      </p:sp>
      <p:sp>
        <p:nvSpPr>
          <p:cNvPr id="11" name="Etapa 4"/>
          <p:cNvSpPr/>
          <p:nvPr/>
        </p:nvSpPr>
        <p:spPr>
          <a:xfrm>
            <a:off x="10224822" y="5074920"/>
            <a:ext cx="570586" cy="109728"/>
          </a:xfrm>
          <a:prstGeom prst="roundRect">
            <a:avLst>
              <a:gd name="adj" fmla="val 50000"/>
            </a:avLst>
          </a:prstGeom>
          <a:solidFill>
            <a:srgbClr val="1B3A7A"/>
          </a:solidFill>
          <a:ln/>
        </p:spPr>
      </p:sp>
      <p:sp>
        <p:nvSpPr>
          <p:cNvPr id="12" name="Etapa 5"/>
          <p:cNvSpPr/>
          <p:nvPr/>
        </p:nvSpPr>
        <p:spPr>
          <a:xfrm>
            <a:off x="10905136" y="5074920"/>
            <a:ext cx="570586" cy="109728"/>
          </a:xfrm>
          <a:prstGeom prst="roundRect">
            <a:avLst>
              <a:gd name="adj" fmla="val 50000"/>
            </a:avLst>
          </a:prstGeom>
          <a:solidFill>
            <a:srgbClr val="89D1F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183880" y="5303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9D1FF"/>
                </a:solidFill>
              </a:rPr>
              <a:t>Etapa 5 de 5</a:t>
            </a:r>
            <a:endParaRPr lang="en-US" sz="1200" dirty="0"/>
          </a:p>
        </p:txBody>
      </p:sp>
      <p:sp>
        <p:nvSpPr>
          <p:cNvPr id="40" name="Rodapé"/>
          <p:cNvSpPr txBox="1"/>
          <p:nvPr/>
        </p:nvSpPr>
        <p:spPr>
          <a:xfrm>
            <a:off x="731520" y="59893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pt-BR" sz="1200" dirty="0">
                <a:solidFill>
                  <a:srgbClr val="89D1FF"/>
                </a:solidFill>
              </a:rPr>
              <a:t>Pedidos de Compras · SAP RAP no BTP e On-Premise · Design System SAP Horizon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PORTFÓLIO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Oito apps, dois estilos de construção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002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Gestão</a:t>
            </a:r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   Fiori Elements V4 · List Report + Object Page</a:t>
            </a:r>
            <a:endParaRPr lang="en-US" sz="1600" dirty="0"/>
          </a:p>
        </p:txBody>
      </p:sp>
      <p:sp>
        <p:nvSpPr>
          <p:cNvPr id="6" name="Cartão"/>
          <p:cNvSpPr/>
          <p:nvPr/>
        </p:nvSpPr>
        <p:spPr>
          <a:xfrm>
            <a:off x="548640" y="2057400"/>
            <a:ext cx="2602154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77240" y="2240280"/>
            <a:ext cx="16877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Gestão de Clientes</a:t>
            </a:r>
            <a:endParaRPr lang="en-US" sz="1400" dirty="0"/>
          </a:p>
        </p:txBody>
      </p:sp>
      <p:pic>
        <p:nvPicPr>
          <p:cNvPr id="8" name="Image 0" descr="custom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38146" y="2258568"/>
            <a:ext cx="384048" cy="38404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77240" y="2926080"/>
            <a:ext cx="22363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ZUI_PC_CLIENTES_O4</a:t>
            </a:r>
            <a:endParaRPr lang="en-US" sz="95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3218688"/>
            <a:ext cx="22363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70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ZPCCliente-manage</a:t>
            </a:r>
            <a:endParaRPr lang="en-US" sz="950" dirty="0"/>
          </a:p>
        </p:txBody>
      </p:sp>
      <p:sp>
        <p:nvSpPr>
          <p:cNvPr id="11" name="Cartão"/>
          <p:cNvSpPr/>
          <p:nvPr/>
        </p:nvSpPr>
        <p:spPr>
          <a:xfrm>
            <a:off x="3379394" y="2057400"/>
            <a:ext cx="2602154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3607994" y="2240280"/>
            <a:ext cx="16877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Gestão de Estoque</a:t>
            </a:r>
            <a:endParaRPr lang="en-US" sz="1400" dirty="0"/>
          </a:p>
        </p:txBody>
      </p:sp>
      <p:pic>
        <p:nvPicPr>
          <p:cNvPr id="13" name="Image 1" descr="produc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8900" y="2258568"/>
            <a:ext cx="384048" cy="38404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607994" y="2926080"/>
            <a:ext cx="22363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ZUI_PC_ESTOQUE_O4</a:t>
            </a:r>
            <a:endParaRPr lang="en-US" sz="950" dirty="0"/>
          </a:p>
        </p:txBody>
      </p:sp>
      <p:sp>
        <p:nvSpPr>
          <p:cNvPr id="15" name="Text 10"/>
          <p:cNvSpPr txBox="1"/>
          <p:nvPr/>
        </p:nvSpPr>
        <p:spPr>
          <a:xfrm>
            <a:off x="3607994" y="3218688"/>
            <a:ext cx="22363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70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ZPCItemEstoque-manage</a:t>
            </a:r>
            <a:endParaRPr lang="en-US" sz="950" dirty="0"/>
          </a:p>
        </p:txBody>
      </p:sp>
      <p:sp>
        <p:nvSpPr>
          <p:cNvPr id="16" name="Cartão"/>
          <p:cNvSpPr/>
          <p:nvPr/>
        </p:nvSpPr>
        <p:spPr>
          <a:xfrm>
            <a:off x="6210148" y="2057400"/>
            <a:ext cx="2602154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7" name="Text 12"/>
          <p:cNvSpPr txBox="1"/>
          <p:nvPr/>
        </p:nvSpPr>
        <p:spPr>
          <a:xfrm>
            <a:off x="6438748" y="2240280"/>
            <a:ext cx="16877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Pedidos de Compras</a:t>
            </a:r>
            <a:endParaRPr lang="en-US" sz="1400" dirty="0"/>
          </a:p>
        </p:txBody>
      </p:sp>
      <p:pic>
        <p:nvPicPr>
          <p:cNvPr id="18" name="Image 2" descr="sales-ord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9653" y="2258568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438748" y="2926080"/>
            <a:ext cx="22363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ZUI_PC_PEDIDOS_COMPRAS_O4</a:t>
            </a:r>
            <a:endParaRPr lang="en-US" sz="950" dirty="0"/>
          </a:p>
        </p:txBody>
      </p:sp>
      <p:sp>
        <p:nvSpPr>
          <p:cNvPr id="20" name="Text 14"/>
          <p:cNvSpPr txBox="1"/>
          <p:nvPr/>
        </p:nvSpPr>
        <p:spPr>
          <a:xfrm>
            <a:off x="6438748" y="3218688"/>
            <a:ext cx="22363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70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ZPCPedidoCompra-manage</a:t>
            </a:r>
            <a:endParaRPr lang="en-US" sz="950" dirty="0"/>
          </a:p>
        </p:txBody>
      </p:sp>
      <p:sp>
        <p:nvSpPr>
          <p:cNvPr id="21" name="Cartão"/>
          <p:cNvSpPr/>
          <p:nvPr/>
        </p:nvSpPr>
        <p:spPr>
          <a:xfrm>
            <a:off x="9040901" y="2057400"/>
            <a:ext cx="2602154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22" name="Text 16"/>
          <p:cNvSpPr txBox="1"/>
          <p:nvPr/>
        </p:nvSpPr>
        <p:spPr>
          <a:xfrm>
            <a:off x="9269501" y="2240280"/>
            <a:ext cx="16877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Gestão de Reembolsos</a:t>
            </a:r>
            <a:endParaRPr lang="en-US" sz="1400" dirty="0"/>
          </a:p>
        </p:txBody>
      </p:sp>
      <p:pic>
        <p:nvPicPr>
          <p:cNvPr id="23" name="Image 3" descr="money-bill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0407" y="2258568"/>
            <a:ext cx="384048" cy="384048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9269501" y="2926080"/>
            <a:ext cx="22363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ZUI_PC_REEMBOLSOS_O4</a:t>
            </a:r>
            <a:endParaRPr lang="en-US" sz="950" dirty="0"/>
          </a:p>
        </p:txBody>
      </p:sp>
      <p:sp>
        <p:nvSpPr>
          <p:cNvPr id="25" name="Text 18"/>
          <p:cNvSpPr txBox="1"/>
          <p:nvPr/>
        </p:nvSpPr>
        <p:spPr>
          <a:xfrm>
            <a:off x="9269501" y="3218688"/>
            <a:ext cx="22363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70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ZPCReembolso-manage</a:t>
            </a:r>
            <a:endParaRPr lang="en-US" sz="950" dirty="0"/>
          </a:p>
        </p:txBody>
      </p:sp>
      <p:sp>
        <p:nvSpPr>
          <p:cNvPr id="26" name="Text 19"/>
          <p:cNvSpPr txBox="1"/>
          <p:nvPr/>
        </p:nvSpPr>
        <p:spPr>
          <a:xfrm>
            <a:off x="548640" y="3931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Análises</a:t>
            </a:r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   SAPUI5 freestyle · sap.viz · OData V4 $apply</a:t>
            </a:r>
            <a:endParaRPr lang="en-US" sz="1600" dirty="0"/>
          </a:p>
        </p:txBody>
      </p:sp>
      <p:sp>
        <p:nvSpPr>
          <p:cNvPr id="27" name="Cartão"/>
          <p:cNvSpPr/>
          <p:nvPr/>
        </p:nvSpPr>
        <p:spPr>
          <a:xfrm>
            <a:off x="548640" y="4389120"/>
            <a:ext cx="2602154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28" name="Text 21"/>
          <p:cNvSpPr txBox="1"/>
          <p:nvPr/>
        </p:nvSpPr>
        <p:spPr>
          <a:xfrm>
            <a:off x="777240" y="4572000"/>
            <a:ext cx="16877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Análise de Pedidos</a:t>
            </a:r>
            <a:endParaRPr lang="en-US" sz="1400" dirty="0"/>
          </a:p>
        </p:txBody>
      </p:sp>
      <p:pic>
        <p:nvPicPr>
          <p:cNvPr id="29" name="Image 4" descr="bar-char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8146" y="4590288"/>
            <a:ext cx="384048" cy="38404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777240" y="5257800"/>
            <a:ext cx="22363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PedidoAnalise</a:t>
            </a:r>
            <a:endParaRPr lang="en-US" sz="950" dirty="0"/>
          </a:p>
        </p:txBody>
      </p:sp>
      <p:sp>
        <p:nvSpPr>
          <p:cNvPr id="31" name="Text 23"/>
          <p:cNvSpPr txBox="1"/>
          <p:nvPr/>
        </p:nvSpPr>
        <p:spPr>
          <a:xfrm>
            <a:off x="777240" y="5550408"/>
            <a:ext cx="22363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B47D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ZPCAnalisePedido-display</a:t>
            </a:r>
            <a:endParaRPr lang="en-US" sz="950" dirty="0"/>
          </a:p>
        </p:txBody>
      </p:sp>
      <p:sp>
        <p:nvSpPr>
          <p:cNvPr id="32" name="Cartão"/>
          <p:cNvSpPr/>
          <p:nvPr/>
        </p:nvSpPr>
        <p:spPr>
          <a:xfrm>
            <a:off x="3379394" y="4389120"/>
            <a:ext cx="2602154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33" name="Text 25"/>
          <p:cNvSpPr txBox="1"/>
          <p:nvPr/>
        </p:nvSpPr>
        <p:spPr>
          <a:xfrm>
            <a:off x="3607994" y="4572000"/>
            <a:ext cx="16877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Análise de Clientes</a:t>
            </a:r>
            <a:endParaRPr lang="en-US" sz="1400" dirty="0"/>
          </a:p>
        </p:txBody>
      </p:sp>
      <p:pic>
        <p:nvPicPr>
          <p:cNvPr id="34" name="Image 5" descr="pie-char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8900" y="4590288"/>
            <a:ext cx="384048" cy="384048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3607994" y="5257800"/>
            <a:ext cx="22363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ClienteAnalise</a:t>
            </a:r>
            <a:endParaRPr lang="en-US" sz="950" dirty="0"/>
          </a:p>
        </p:txBody>
      </p:sp>
      <p:sp>
        <p:nvSpPr>
          <p:cNvPr id="36" name="Text 27"/>
          <p:cNvSpPr txBox="1"/>
          <p:nvPr/>
        </p:nvSpPr>
        <p:spPr>
          <a:xfrm>
            <a:off x="3607994" y="5550408"/>
            <a:ext cx="22363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B47D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ZPCAnaliseCliente-display</a:t>
            </a:r>
            <a:endParaRPr lang="en-US" sz="950" dirty="0"/>
          </a:p>
        </p:txBody>
      </p:sp>
      <p:sp>
        <p:nvSpPr>
          <p:cNvPr id="37" name="Cartão"/>
          <p:cNvSpPr/>
          <p:nvPr/>
        </p:nvSpPr>
        <p:spPr>
          <a:xfrm>
            <a:off x="6210148" y="4389120"/>
            <a:ext cx="2602154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38" name="Text 29"/>
          <p:cNvSpPr txBox="1"/>
          <p:nvPr/>
        </p:nvSpPr>
        <p:spPr>
          <a:xfrm>
            <a:off x="6438748" y="4572000"/>
            <a:ext cx="16877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Análise de Itens do Estoque</a:t>
            </a:r>
            <a:endParaRPr lang="en-US" sz="1400" dirty="0"/>
          </a:p>
        </p:txBody>
      </p:sp>
      <p:pic>
        <p:nvPicPr>
          <p:cNvPr id="39" name="Image 6" descr="line-char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9653" y="4590288"/>
            <a:ext cx="384048" cy="384048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6438748" y="5257800"/>
            <a:ext cx="22363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ItemAnalise</a:t>
            </a:r>
            <a:endParaRPr lang="en-US" sz="950" dirty="0"/>
          </a:p>
        </p:txBody>
      </p:sp>
      <p:sp>
        <p:nvSpPr>
          <p:cNvPr id="41" name="Text 31"/>
          <p:cNvSpPr txBox="1"/>
          <p:nvPr/>
        </p:nvSpPr>
        <p:spPr>
          <a:xfrm>
            <a:off x="6438748" y="5550408"/>
            <a:ext cx="22363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B47D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ZPCAnaliseItemEstoque-display</a:t>
            </a:r>
            <a:endParaRPr lang="en-US" sz="950" dirty="0"/>
          </a:p>
        </p:txBody>
      </p:sp>
      <p:sp>
        <p:nvSpPr>
          <p:cNvPr id="42" name="Cartão"/>
          <p:cNvSpPr/>
          <p:nvPr/>
        </p:nvSpPr>
        <p:spPr>
          <a:xfrm>
            <a:off x="9040901" y="4389120"/>
            <a:ext cx="2602154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43" name="Text 33"/>
          <p:cNvSpPr txBox="1"/>
          <p:nvPr/>
        </p:nvSpPr>
        <p:spPr>
          <a:xfrm>
            <a:off x="9269501" y="4572000"/>
            <a:ext cx="168775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Análise de Reembolsos</a:t>
            </a:r>
            <a:endParaRPr lang="en-US" sz="1400" dirty="0"/>
          </a:p>
        </p:txBody>
      </p:sp>
      <p:pic>
        <p:nvPicPr>
          <p:cNvPr id="44" name="Image 7" descr="horizontal-bar-chart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30407" y="4590288"/>
            <a:ext cx="384048" cy="384048"/>
          </a:xfrm>
          <a:prstGeom prst="rect">
            <a:avLst/>
          </a:prstGeom>
        </p:spPr>
      </p:pic>
      <p:sp>
        <p:nvSpPr>
          <p:cNvPr id="45" name="Text 34"/>
          <p:cNvSpPr txBox="1"/>
          <p:nvPr/>
        </p:nvSpPr>
        <p:spPr>
          <a:xfrm>
            <a:off x="9269501" y="5257800"/>
            <a:ext cx="22363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ReembolsoAnalise</a:t>
            </a:r>
            <a:endParaRPr lang="en-US" sz="950" dirty="0"/>
          </a:p>
        </p:txBody>
      </p:sp>
      <p:sp>
        <p:nvSpPr>
          <p:cNvPr id="46" name="Text 35"/>
          <p:cNvSpPr txBox="1"/>
          <p:nvPr/>
        </p:nvSpPr>
        <p:spPr>
          <a:xfrm>
            <a:off x="9269501" y="5550408"/>
            <a:ext cx="22363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B47D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ZPCAnaliseReembolso-display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3258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ETAPA 5 · BASE COMUM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737360"/>
            <a:ext cx="6949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O que todas as apps compartilham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3832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Geração com SAP Fiori tools, estrutura de projeto, servidor local com proxy, navegação por semantic objects, o motor das análises e o launchpad local.</a:t>
            </a:r>
            <a:endParaRPr lang="en-US" sz="1800" dirty="0"/>
          </a:p>
        </p:txBody>
      </p:sp>
      <p:sp>
        <p:nvSpPr>
          <p:cNvPr id="7" name="Ícone settings"/>
          <p:cNvSpPr/>
          <p:nvPr/>
        </p:nvSpPr>
        <p:spPr>
          <a:xfrm>
            <a:off x="731520" y="41148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1B3A7A"/>
          </a:solidFill>
          <a:ln/>
        </p:spPr>
      </p:sp>
      <p:pic>
        <p:nvPicPr>
          <p:cNvPr id="8" name="Image 0" descr="setting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085" y="587045"/>
            <a:ext cx="380390" cy="380390"/>
          </a:xfrm>
          <a:prstGeom prst="rect">
            <a:avLst/>
          </a:prstGeom>
        </p:spPr>
      </p:pic>
      <p:sp>
        <p:nvSpPr>
          <p:cNvPr id="9" name="Objetos da seção"/>
          <p:cNvSpPr/>
          <p:nvPr/>
        </p:nvSpPr>
        <p:spPr>
          <a:xfrm>
            <a:off x="8001000" y="1325880"/>
            <a:ext cx="3639312" cy="2990088"/>
          </a:xfrm>
          <a:prstGeom prst="roundRect">
            <a:avLst>
              <a:gd name="adj" fmla="val 3670"/>
            </a:avLst>
          </a:prstGeom>
          <a:solidFill>
            <a:srgbClr val="1B3A7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75320" y="14813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9D1FF"/>
                </a:solidFill>
              </a:rPr>
              <a:t>OBJETOS NESTA SEÇÃO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275320" y="1874520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ui5/apps-*/&lt;app&gt;/</a:t>
            </a:r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  projeto isolado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275320" y="2258568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manifest.json</a:t>
            </a:r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  descriptor v2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275320" y="2642616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ui5.yaml</a:t>
            </a:r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  proxy /sap → ABAP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275320" y="3026664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model/ · service/</a:t>
            </a:r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  motor das análises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275320" y="3410712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ui5/launchpad</a:t>
            </a:r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  sandbox sap.ushell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8275320" y="3794760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ui5-deploy.yaml</a:t>
            </a:r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  deploy-to-abap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SAP FIORI TOOLS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Gerar a app a partir do serviço publicado</a:t>
            </a:r>
            <a:endParaRPr lang="en-US" sz="3000" dirty="0"/>
          </a:p>
        </p:txBody>
      </p:sp>
      <p:sp>
        <p:nvSpPr>
          <p:cNvPr id="5" name="Cartão"/>
          <p:cNvSpPr/>
          <p:nvPr/>
        </p:nvSpPr>
        <p:spPr>
          <a:xfrm>
            <a:off x="548640" y="1645920"/>
            <a:ext cx="484632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1847088"/>
            <a:ext cx="384048" cy="384048"/>
          </a:xfrm>
          <a:prstGeom prst="ellipse">
            <a:avLst/>
          </a:prstGeom>
          <a:solidFill>
            <a:srgbClr val="0070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969264" y="2249424"/>
            <a:ext cx="0" cy="438912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371600" y="1828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Template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371600" y="21031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List Report Page (OData V4)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77240" y="2697480"/>
            <a:ext cx="384048" cy="384048"/>
          </a:xfrm>
          <a:prstGeom prst="ellipse">
            <a:avLst/>
          </a:prstGeom>
          <a:solidFill>
            <a:srgbClr val="0070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969264" y="3099816"/>
            <a:ext cx="0" cy="438912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371600" y="26791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Data source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371600" y="295351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Conectar ao sistema ABAP e escolher ZUI_PC_PEDIDOS_COMPRAS_O4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777240" y="3547872"/>
            <a:ext cx="384048" cy="384048"/>
          </a:xfrm>
          <a:prstGeom prst="ellipse">
            <a:avLst/>
          </a:prstGeom>
          <a:solidFill>
            <a:srgbClr val="0070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969264" y="3950208"/>
            <a:ext cx="0" cy="438912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371600" y="35295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Entidades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371600" y="380390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Main entity Pedido; navegação para Itens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77240" y="4398264"/>
            <a:ext cx="384048" cy="384048"/>
          </a:xfrm>
          <a:prstGeom prst="ellipse">
            <a:avLst/>
          </a:prstGeom>
          <a:solidFill>
            <a:srgbClr val="0070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969264" y="4800600"/>
            <a:ext cx="0" cy="438912"/>
          </a:xfrm>
          <a:prstGeom prst="line">
            <a:avLst/>
          </a:prstGeom>
          <a:noFill/>
          <a:ln w="19050">
            <a:solidFill>
              <a:srgbClr val="D9D9D9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71600" y="43799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Projeto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371600" y="465429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Nome, namespace, pasta ui5/apps-list-reports/pedidos-compras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777240" y="5248656"/>
            <a:ext cx="384048" cy="384048"/>
          </a:xfrm>
          <a:prstGeom prst="ellipse">
            <a:avLst/>
          </a:prstGeom>
          <a:solidFill>
            <a:srgbClr val="0070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371600" y="52303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Deploy e FLP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1371600" y="550468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ui5-deploy.yaml (BSP ZPC_PEDIDOS) e inbound do tile</a:t>
            </a:r>
            <a:endParaRPr lang="en-US" sz="1150" dirty="0"/>
          </a:p>
        </p:txBody>
      </p:sp>
      <p:sp>
        <p:nvSpPr>
          <p:cNvPr id="25" name="Editor"/>
          <p:cNvSpPr/>
          <p:nvPr/>
        </p:nvSpPr>
        <p:spPr>
          <a:xfrm>
            <a:off x="5623560" y="1645920"/>
            <a:ext cx="6019495" cy="4526280"/>
          </a:xfrm>
          <a:prstGeom prst="roundRect">
            <a:avLst>
              <a:gd name="adj" fmla="val 2020"/>
            </a:avLst>
          </a:prstGeom>
          <a:solidFill>
            <a:srgbClr val="181818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26" name="Área do editor"/>
          <p:cNvSpPr/>
          <p:nvPr/>
        </p:nvSpPr>
        <p:spPr>
          <a:xfrm>
            <a:off x="5623560" y="1993392"/>
            <a:ext cx="6019495" cy="4178808"/>
          </a:xfrm>
          <a:prstGeom prst="roundRect">
            <a:avLst>
              <a:gd name="adj" fmla="val 2188"/>
            </a:avLst>
          </a:prstGeom>
          <a:solidFill>
            <a:srgbClr val="1F1F1F"/>
          </a:solidFill>
          <a:ln/>
        </p:spPr>
      </p:sp>
      <p:sp>
        <p:nvSpPr>
          <p:cNvPr id="27" name="Shape 24"/>
          <p:cNvSpPr/>
          <p:nvPr/>
        </p:nvSpPr>
        <p:spPr>
          <a:xfrm>
            <a:off x="5632704" y="1993392"/>
            <a:ext cx="6001207" cy="13716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28" name="Shape 25"/>
          <p:cNvSpPr/>
          <p:nvPr/>
        </p:nvSpPr>
        <p:spPr>
          <a:xfrm>
            <a:off x="5632704" y="1993392"/>
            <a:ext cx="6001207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29" name="Aba manifest.json"/>
          <p:cNvSpPr/>
          <p:nvPr/>
        </p:nvSpPr>
        <p:spPr>
          <a:xfrm>
            <a:off x="5715000" y="1719072"/>
            <a:ext cx="1394460" cy="274320"/>
          </a:xfrm>
          <a:prstGeom prst="rect">
            <a:avLst/>
          </a:prstGeom>
          <a:solidFill>
            <a:srgbClr val="1F1F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manifest.json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715000" y="1719072"/>
            <a:ext cx="1394460" cy="0"/>
          </a:xfrm>
          <a:prstGeom prst="line">
            <a:avLst/>
          </a:prstGeom>
          <a:noFill/>
          <a:ln w="19050">
            <a:solidFill>
              <a:srgbClr val="0078D4"/>
            </a:solidFill>
            <a:prstDash val="solid"/>
          </a:ln>
        </p:spPr>
      </p:sp>
      <p:sp>
        <p:nvSpPr>
          <p:cNvPr id="31" name="Breadcrumb"/>
          <p:cNvSpPr txBox="1"/>
          <p:nvPr/>
        </p:nvSpPr>
        <p:spPr>
          <a:xfrm>
            <a:off x="5852160" y="2103120"/>
            <a:ext cx="55622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ui5</a:t>
            </a:r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</a:rPr>
              <a:t>  ›  </a:t>
            </a:r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apps-list-reports</a:t>
            </a:r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</a:rPr>
              <a:t>  ›  </a:t>
            </a:r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pedidos-compras</a:t>
            </a:r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</a:rPr>
              <a:t>  ›  </a:t>
            </a:r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webapp</a:t>
            </a:r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</a:rPr>
              <a:t>  ›  </a:t>
            </a:r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manifest.json</a:t>
            </a:r>
            <a:endParaRPr lang="en-US" sz="900" dirty="0"/>
          </a:p>
        </p:txBody>
      </p:sp>
      <p:sp>
        <p:nvSpPr>
          <p:cNvPr id="32" name="Trecho de código"/>
          <p:cNvSpPr txBox="1"/>
          <p:nvPr/>
        </p:nvSpPr>
        <p:spPr>
          <a:xfrm>
            <a:off x="5806440" y="2414016"/>
            <a:ext cx="5699455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"routing"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"targets"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"PedidoList"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"type"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"Component"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"sap.fe.templates.ListReport"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"options"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"settings"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"contextPath"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"/Pedido"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"variantManagement"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"Page"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"navigation"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"Pedido"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"detail"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"route"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"PedidoObjectPage"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"initialLoad"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"Enabled"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"PedidoObjectPage"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"sap.fe.templates.ObjectPage"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ESTRUTURA DO PROJETO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Cada app é um projeto isolado</a:t>
            </a:r>
            <a:endParaRPr lang="en-US" sz="3000" dirty="0"/>
          </a:p>
        </p:txBody>
      </p:sp>
      <p:sp>
        <p:nvSpPr>
          <p:cNvPr id="5" name="Editor"/>
          <p:cNvSpPr/>
          <p:nvPr/>
        </p:nvSpPr>
        <p:spPr>
          <a:xfrm>
            <a:off x="548640" y="1645920"/>
            <a:ext cx="5760720" cy="4526280"/>
          </a:xfrm>
          <a:prstGeom prst="roundRect">
            <a:avLst>
              <a:gd name="adj" fmla="val 2020"/>
            </a:avLst>
          </a:prstGeom>
          <a:solidFill>
            <a:srgbClr val="181818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6" name="Área do editor"/>
          <p:cNvSpPr/>
          <p:nvPr/>
        </p:nvSpPr>
        <p:spPr>
          <a:xfrm>
            <a:off x="548640" y="1993392"/>
            <a:ext cx="5760720" cy="4178808"/>
          </a:xfrm>
          <a:prstGeom prst="roundRect">
            <a:avLst>
              <a:gd name="adj" fmla="val 2188"/>
            </a:avLst>
          </a:prstGeom>
          <a:solidFill>
            <a:srgbClr val="1F1F1F"/>
          </a:solidFill>
          <a:ln/>
        </p:spPr>
      </p:sp>
      <p:sp>
        <p:nvSpPr>
          <p:cNvPr id="7" name="Shape 4"/>
          <p:cNvSpPr/>
          <p:nvPr/>
        </p:nvSpPr>
        <p:spPr>
          <a:xfrm>
            <a:off x="557784" y="1993392"/>
            <a:ext cx="5742432" cy="13716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8" name="Shape 5"/>
          <p:cNvSpPr/>
          <p:nvPr/>
        </p:nvSpPr>
        <p:spPr>
          <a:xfrm>
            <a:off x="557784" y="1993392"/>
            <a:ext cx="5742432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9" name="Aba gestao-clientes"/>
          <p:cNvSpPr/>
          <p:nvPr/>
        </p:nvSpPr>
        <p:spPr>
          <a:xfrm>
            <a:off x="640080" y="1719072"/>
            <a:ext cx="1531620" cy="274320"/>
          </a:xfrm>
          <a:prstGeom prst="rect">
            <a:avLst/>
          </a:prstGeom>
          <a:solidFill>
            <a:srgbClr val="1F1F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gestao-clientes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1719072"/>
            <a:ext cx="1531620" cy="0"/>
          </a:xfrm>
          <a:prstGeom prst="line">
            <a:avLst/>
          </a:prstGeom>
          <a:noFill/>
          <a:ln w="19050">
            <a:solidFill>
              <a:srgbClr val="0078D4"/>
            </a:solidFill>
            <a:prstDash val="solid"/>
          </a:ln>
        </p:spPr>
      </p:sp>
      <p:sp>
        <p:nvSpPr>
          <p:cNvPr id="11" name="Breadcrumb"/>
          <p:cNvSpPr txBox="1"/>
          <p:nvPr/>
        </p:nvSpPr>
        <p:spPr>
          <a:xfrm>
            <a:off x="777240" y="210312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ui5</a:t>
            </a:r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</a:rPr>
              <a:t>  ›  </a:t>
            </a:r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apps-list-reports</a:t>
            </a:r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</a:rPr>
              <a:t>  ›  </a:t>
            </a:r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gestao-clientes</a:t>
            </a:r>
            <a:endParaRPr lang="en-US" sz="900" dirty="0"/>
          </a:p>
        </p:txBody>
      </p:sp>
      <p:sp>
        <p:nvSpPr>
          <p:cNvPr id="12" name="Trecho de código"/>
          <p:cNvSpPr txBox="1"/>
          <p:nvPr/>
        </p:nvSpPr>
        <p:spPr>
          <a:xfrm>
            <a:off x="731520" y="2414016"/>
            <a:ext cx="5440680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&lt;app&gt;/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package.json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start-mock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lint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int-test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deploy-test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ui5.yaml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proxy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/sap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UI5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CDN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ui5-local.yaml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igual,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UI5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ui5-mock.yaml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mock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localService/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ui5-deploy.yaml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BSP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/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 (+ IAM App no BTP)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webapp/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manifest.json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serviço,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rotas,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inbound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Component.js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sap/fe/core/AppComponent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annotations/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anotações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locais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i18n/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textos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pt-BR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localService/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mock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test/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OPA5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QUnit</a:t>
            </a:r>
            <a:endParaRPr lang="en-US" sz="1050" dirty="0"/>
          </a:p>
        </p:txBody>
      </p:sp>
      <p:sp>
        <p:nvSpPr>
          <p:cNvPr id="13" name="Editor"/>
          <p:cNvSpPr/>
          <p:nvPr/>
        </p:nvSpPr>
        <p:spPr>
          <a:xfrm>
            <a:off x="6583680" y="1645920"/>
            <a:ext cx="5059375" cy="4526280"/>
          </a:xfrm>
          <a:prstGeom prst="roundRect">
            <a:avLst>
              <a:gd name="adj" fmla="val 2020"/>
            </a:avLst>
          </a:prstGeom>
          <a:solidFill>
            <a:srgbClr val="181818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4" name="Área do editor"/>
          <p:cNvSpPr/>
          <p:nvPr/>
        </p:nvSpPr>
        <p:spPr>
          <a:xfrm>
            <a:off x="6583680" y="1993392"/>
            <a:ext cx="5059375" cy="4178808"/>
          </a:xfrm>
          <a:prstGeom prst="roundRect">
            <a:avLst>
              <a:gd name="adj" fmla="val 2188"/>
            </a:avLst>
          </a:prstGeom>
          <a:solidFill>
            <a:srgbClr val="1F1F1F"/>
          </a:solidFill>
          <a:ln/>
        </p:spPr>
      </p:sp>
      <p:sp>
        <p:nvSpPr>
          <p:cNvPr id="15" name="Shape 12"/>
          <p:cNvSpPr/>
          <p:nvPr/>
        </p:nvSpPr>
        <p:spPr>
          <a:xfrm>
            <a:off x="6592824" y="1993392"/>
            <a:ext cx="5041087" cy="13716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16" name="Shape 13"/>
          <p:cNvSpPr/>
          <p:nvPr/>
        </p:nvSpPr>
        <p:spPr>
          <a:xfrm>
            <a:off x="6592824" y="1993392"/>
            <a:ext cx="5041087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17" name="Aba ui5.yaml"/>
          <p:cNvSpPr/>
          <p:nvPr/>
        </p:nvSpPr>
        <p:spPr>
          <a:xfrm>
            <a:off x="6675120" y="1719072"/>
            <a:ext cx="1051560" cy="274320"/>
          </a:xfrm>
          <a:prstGeom prst="rect">
            <a:avLst/>
          </a:prstGeom>
          <a:solidFill>
            <a:srgbClr val="1F1F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ui5.yaml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675120" y="1719072"/>
            <a:ext cx="1051560" cy="0"/>
          </a:xfrm>
          <a:prstGeom prst="line">
            <a:avLst/>
          </a:prstGeom>
          <a:noFill/>
          <a:ln w="19050">
            <a:solidFill>
              <a:srgbClr val="0078D4"/>
            </a:solidFill>
            <a:prstDash val="solid"/>
          </a:ln>
        </p:spPr>
      </p:sp>
      <p:sp>
        <p:nvSpPr>
          <p:cNvPr id="19" name="Breadcrumb"/>
          <p:cNvSpPr txBox="1"/>
          <p:nvPr/>
        </p:nvSpPr>
        <p:spPr>
          <a:xfrm>
            <a:off x="6812280" y="2103120"/>
            <a:ext cx="460217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ui5</a:t>
            </a:r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</a:rPr>
              <a:t>  ›  </a:t>
            </a:r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apps-list-reports</a:t>
            </a:r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</a:rPr>
              <a:t>  ›  </a:t>
            </a:r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gestao-clientes</a:t>
            </a:r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</a:rPr>
              <a:t>  ›  </a:t>
            </a:r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ui5.yaml</a:t>
            </a:r>
            <a:endParaRPr lang="en-US" sz="900" dirty="0"/>
          </a:p>
        </p:txBody>
      </p:sp>
      <p:sp>
        <p:nvSpPr>
          <p:cNvPr id="20" name="Trecho de código"/>
          <p:cNvSpPr txBox="1"/>
          <p:nvPr/>
        </p:nvSpPr>
        <p:spPr>
          <a:xfrm>
            <a:off x="6766560" y="2414016"/>
            <a:ext cx="4739335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customMiddleware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fiori-tools-proxy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configuration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ui5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/resources, /test-resources ]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https://ui5.sap.com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/sap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https://&lt;id&gt;.abap.us10.hana.ondemand.com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'100'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authenticationType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reentranceTicket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NAVEGAÇÃO ENTRE APPS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Semantic objects ligam as apps entre si</a:t>
            </a:r>
            <a:endParaRPr lang="en-US" sz="3000" dirty="0"/>
          </a:p>
        </p:txBody>
      </p:sp>
      <p:sp>
        <p:nvSpPr>
          <p:cNvPr id="5" name="Cartão"/>
          <p:cNvSpPr/>
          <p:nvPr/>
        </p:nvSpPr>
        <p:spPr>
          <a:xfrm>
            <a:off x="731520" y="2971800"/>
            <a:ext cx="29260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6" name="Ícone sales-order"/>
          <p:cNvSpPr/>
          <p:nvPr/>
        </p:nvSpPr>
        <p:spPr>
          <a:xfrm>
            <a:off x="914400" y="31546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2F4F6"/>
          </a:solidFill>
          <a:ln/>
        </p:spPr>
      </p:sp>
      <p:pic>
        <p:nvPicPr>
          <p:cNvPr id="7" name="Image 0" descr="sales-or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3264408"/>
            <a:ext cx="237744" cy="2377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08760" y="3108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Pedidos de Compras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1508760" y="35021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0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ZPCPedidoCompra</a:t>
            </a:r>
            <a:endParaRPr lang="en-US" sz="1000" dirty="0"/>
          </a:p>
        </p:txBody>
      </p:sp>
      <p:sp>
        <p:nvSpPr>
          <p:cNvPr id="10" name="Cartão"/>
          <p:cNvSpPr/>
          <p:nvPr/>
        </p:nvSpPr>
        <p:spPr>
          <a:xfrm>
            <a:off x="4617720" y="1691640"/>
            <a:ext cx="29260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1" name="Ícone customer"/>
          <p:cNvSpPr/>
          <p:nvPr/>
        </p:nvSpPr>
        <p:spPr>
          <a:xfrm>
            <a:off x="4800600" y="18745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2F4F6"/>
          </a:solidFill>
          <a:ln/>
        </p:spPr>
      </p:sp>
      <p:pic>
        <p:nvPicPr>
          <p:cNvPr id="12" name="Image 1" descr="custom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8" y="1984248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394960" y="18288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Gestão de Clientes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5394960" y="22219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49F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ZPCCliente</a:t>
            </a:r>
            <a:endParaRPr lang="en-US" sz="1000" dirty="0"/>
          </a:p>
        </p:txBody>
      </p:sp>
      <p:sp>
        <p:nvSpPr>
          <p:cNvPr id="15" name="Cartão"/>
          <p:cNvSpPr/>
          <p:nvPr/>
        </p:nvSpPr>
        <p:spPr>
          <a:xfrm>
            <a:off x="4617720" y="4251960"/>
            <a:ext cx="29260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6" name="Ícone product"/>
          <p:cNvSpPr/>
          <p:nvPr/>
        </p:nvSpPr>
        <p:spPr>
          <a:xfrm>
            <a:off x="4800600" y="443484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2F4F6"/>
          </a:solidFill>
          <a:ln/>
        </p:spPr>
      </p:sp>
      <p:pic>
        <p:nvPicPr>
          <p:cNvPr id="17" name="Image 2" descr="produc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0328" y="454456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394960" y="4389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Gestão de Estoque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5394960" y="47823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7B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ZPCItemEstoque</a:t>
            </a:r>
            <a:endParaRPr lang="en-US" sz="1000" dirty="0"/>
          </a:p>
        </p:txBody>
      </p:sp>
      <p:sp>
        <p:nvSpPr>
          <p:cNvPr id="20" name="Cartão"/>
          <p:cNvSpPr/>
          <p:nvPr/>
        </p:nvSpPr>
        <p:spPr>
          <a:xfrm>
            <a:off x="8686800" y="2971800"/>
            <a:ext cx="29260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21" name="Ícone money-bills"/>
          <p:cNvSpPr/>
          <p:nvPr/>
        </p:nvSpPr>
        <p:spPr>
          <a:xfrm>
            <a:off x="8869680" y="31546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2F4F6"/>
          </a:solidFill>
          <a:ln/>
        </p:spPr>
      </p:sp>
      <p:pic>
        <p:nvPicPr>
          <p:cNvPr id="22" name="Image 3" descr="money-bill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08" y="3264408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9464040" y="3108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Gestão de Reembolsos</a:t>
            </a:r>
            <a:endParaRPr lang="en-US" sz="1400" dirty="0"/>
          </a:p>
        </p:txBody>
      </p:sp>
      <p:sp>
        <p:nvSpPr>
          <p:cNvPr id="24" name="Text 17"/>
          <p:cNvSpPr txBox="1"/>
          <p:nvPr/>
        </p:nvSpPr>
        <p:spPr>
          <a:xfrm>
            <a:off x="9464040" y="35021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F1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ZPCReembolso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 flipV="1">
            <a:off x="3108960" y="2377440"/>
            <a:ext cx="1508760" cy="822960"/>
          </a:xfrm>
          <a:prstGeom prst="line">
            <a:avLst/>
          </a:prstGeom>
          <a:noFill/>
          <a:ln w="25400">
            <a:solidFill>
              <a:srgbClr val="049F9A"/>
            </a:solidFill>
            <a:prstDash val="solid"/>
            <a:tailEnd type="triangle"/>
          </a:ln>
        </p:spPr>
      </p:sp>
      <p:sp>
        <p:nvSpPr>
          <p:cNvPr id="26" name="Text 19"/>
          <p:cNvSpPr txBox="1"/>
          <p:nvPr/>
        </p:nvSpPr>
        <p:spPr>
          <a:xfrm>
            <a:off x="3017520" y="22402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D2D3E"/>
                </a:solidFill>
              </a:rPr>
              <a:t>Cliente, CPF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D2D3E"/>
                </a:solidFill>
              </a:rPr>
              <a:t>(+ snapshot)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3108960" y="3794760"/>
            <a:ext cx="1508760" cy="868680"/>
          </a:xfrm>
          <a:prstGeom prst="line">
            <a:avLst/>
          </a:prstGeom>
          <a:noFill/>
          <a:ln w="25400">
            <a:solidFill>
              <a:srgbClr val="C87B00"/>
            </a:solidFill>
            <a:prstDash val="solid"/>
            <a:tailEnd type="triangle"/>
          </a:ln>
        </p:spPr>
      </p:sp>
      <p:sp>
        <p:nvSpPr>
          <p:cNvPr id="28" name="Text 21"/>
          <p:cNvSpPr txBox="1"/>
          <p:nvPr/>
        </p:nvSpPr>
        <p:spPr>
          <a:xfrm>
            <a:off x="3017520" y="44348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D2D3E"/>
                </a:solidFill>
              </a:rPr>
              <a:t>Item, SKU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D2D3E"/>
                </a:solidFill>
              </a:rPr>
              <a:t>(+ snapshot)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 flipH="1" flipV="1">
            <a:off x="7543800" y="2377440"/>
            <a:ext cx="1143000" cy="914400"/>
          </a:xfrm>
          <a:prstGeom prst="line">
            <a:avLst/>
          </a:prstGeom>
          <a:noFill/>
          <a:ln w="25400">
            <a:solidFill>
              <a:srgbClr val="049F9A"/>
            </a:solidFill>
            <a:prstDash val="solid"/>
            <a:tailEnd type="triangle"/>
          </a:ln>
        </p:spPr>
      </p:sp>
      <p:sp>
        <p:nvSpPr>
          <p:cNvPr id="30" name="Text 23"/>
          <p:cNvSpPr txBox="1"/>
          <p:nvPr/>
        </p:nvSpPr>
        <p:spPr>
          <a:xfrm>
            <a:off x="8001000" y="2377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D2D3E"/>
                </a:solidFill>
              </a:rPr>
              <a:t>Cliente, CPF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 flipH="1">
            <a:off x="3108960" y="3493008"/>
            <a:ext cx="5577840" cy="0"/>
          </a:xfrm>
          <a:prstGeom prst="line">
            <a:avLst/>
          </a:prstGeom>
          <a:noFill/>
          <a:ln w="25400">
            <a:solidFill>
              <a:srgbClr val="0070F2"/>
            </a:solidFill>
            <a:prstDash val="dash"/>
            <a:tailEnd type="triangle"/>
          </a:ln>
        </p:spPr>
      </p:sp>
      <p:sp>
        <p:nvSpPr>
          <p:cNvPr id="32" name="Text 25"/>
          <p:cNvSpPr txBox="1"/>
          <p:nvPr/>
        </p:nvSpPr>
        <p:spPr>
          <a:xfrm>
            <a:off x="5394960" y="35204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D2D3E"/>
                </a:solidFill>
              </a:rPr>
              <a:t>Pedido (link direto)</a:t>
            </a:r>
            <a:endParaRPr lang="en-US" sz="1050" dirty="0"/>
          </a:p>
        </p:txBody>
      </p:sp>
      <p:sp>
        <p:nvSpPr>
          <p:cNvPr id="33" name="Cartão"/>
          <p:cNvSpPr/>
          <p:nvPr/>
        </p:nvSpPr>
        <p:spPr>
          <a:xfrm>
            <a:off x="548640" y="5486400"/>
            <a:ext cx="11094415" cy="685800"/>
          </a:xfrm>
          <a:prstGeom prst="roundRect">
            <a:avLst>
              <a:gd name="adj" fmla="val 16000"/>
            </a:avLst>
          </a:prstGeom>
          <a:solidFill>
            <a:srgbClr val="F3ECFB"/>
          </a:solidFill>
          <a:ln/>
        </p:spPr>
      </p:sp>
      <p:pic>
        <p:nvPicPr>
          <p:cNvPr id="34" name="Image 4" descr="bar-char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650992"/>
            <a:ext cx="365760" cy="365760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1325880" y="548640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D2D3E"/>
                </a:solidFill>
              </a:rPr>
              <a:t>Cada app de análise tem o botão Abrir gestão, que navega para ZPC*-manage do seu domínio (ou abre a BSP irmã fora do launchpad).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MOTOR DAS ANÁLISES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Um motor, quatro catálogos de cenários</a:t>
            </a:r>
            <a:endParaRPr lang="en-US" sz="3000" dirty="0"/>
          </a:p>
        </p:txBody>
      </p:sp>
      <p:sp>
        <p:nvSpPr>
          <p:cNvPr id="5" name="Editor"/>
          <p:cNvSpPr/>
          <p:nvPr/>
        </p:nvSpPr>
        <p:spPr>
          <a:xfrm>
            <a:off x="548640" y="1645920"/>
            <a:ext cx="6400800" cy="4526280"/>
          </a:xfrm>
          <a:prstGeom prst="roundRect">
            <a:avLst>
              <a:gd name="adj" fmla="val 2020"/>
            </a:avLst>
          </a:prstGeom>
          <a:solidFill>
            <a:srgbClr val="181818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6" name="Área do editor"/>
          <p:cNvSpPr/>
          <p:nvPr/>
        </p:nvSpPr>
        <p:spPr>
          <a:xfrm>
            <a:off x="548640" y="1993392"/>
            <a:ext cx="6400800" cy="4178808"/>
          </a:xfrm>
          <a:prstGeom prst="roundRect">
            <a:avLst>
              <a:gd name="adj" fmla="val 2188"/>
            </a:avLst>
          </a:prstGeom>
          <a:solidFill>
            <a:srgbClr val="1F1F1F"/>
          </a:solidFill>
          <a:ln/>
        </p:spPr>
      </p:sp>
      <p:sp>
        <p:nvSpPr>
          <p:cNvPr id="7" name="Shape 4"/>
          <p:cNvSpPr/>
          <p:nvPr/>
        </p:nvSpPr>
        <p:spPr>
          <a:xfrm>
            <a:off x="557784" y="1993392"/>
            <a:ext cx="6382512" cy="13716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8" name="Shape 5"/>
          <p:cNvSpPr/>
          <p:nvPr/>
        </p:nvSpPr>
        <p:spPr>
          <a:xfrm>
            <a:off x="557784" y="1993392"/>
            <a:ext cx="6382512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9" name="Aba webapp"/>
          <p:cNvSpPr/>
          <p:nvPr/>
        </p:nvSpPr>
        <p:spPr>
          <a:xfrm>
            <a:off x="640080" y="1719072"/>
            <a:ext cx="914400" cy="274320"/>
          </a:xfrm>
          <a:prstGeom prst="rect">
            <a:avLst/>
          </a:prstGeom>
          <a:solidFill>
            <a:srgbClr val="1F1F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webapp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1719072"/>
            <a:ext cx="914400" cy="0"/>
          </a:xfrm>
          <a:prstGeom prst="line">
            <a:avLst/>
          </a:prstGeom>
          <a:noFill/>
          <a:ln w="19050">
            <a:solidFill>
              <a:srgbClr val="0078D4"/>
            </a:solidFill>
            <a:prstDash val="solid"/>
          </a:ln>
        </p:spPr>
      </p:sp>
      <p:sp>
        <p:nvSpPr>
          <p:cNvPr id="11" name="Breadcrumb"/>
          <p:cNvSpPr txBox="1"/>
          <p:nvPr/>
        </p:nvSpPr>
        <p:spPr>
          <a:xfrm>
            <a:off x="777240" y="2103120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ui5</a:t>
            </a:r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</a:rPr>
              <a:t>  ›  </a:t>
            </a:r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apps-analiticos</a:t>
            </a:r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</a:rPr>
              <a:t>  ›  </a:t>
            </a:r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analise-clientes</a:t>
            </a:r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</a:rPr>
              <a:t>  ›  </a:t>
            </a:r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webapp</a:t>
            </a:r>
            <a:endParaRPr lang="en-US" sz="900" dirty="0"/>
          </a:p>
        </p:txBody>
      </p:sp>
      <p:sp>
        <p:nvSpPr>
          <p:cNvPr id="12" name="Trecho de código"/>
          <p:cNvSpPr txBox="1"/>
          <p:nvPr/>
        </p:nvSpPr>
        <p:spPr>
          <a:xfrm>
            <a:off x="731520" y="2414016"/>
            <a:ext cx="6080760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model/Scenarios.js (Análise de Clientes)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entitySet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"ClienteAnalise"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intent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"ZPCCliente-manage"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bsp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"zpc_clientes"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 {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"Genero"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"list"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"ClienteAtivo"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"boolean"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"Nome"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"search"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],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kpis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"QtdeClientes"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"ScoreMedio"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SCENARIOS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[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"CliPorGenero"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"Genero"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[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"QtdeClientes"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"donut"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"CliPorUf"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"Uf"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[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"QtdeClientes"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"column"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 ... ];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service/AnalyticsService.js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oBinding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_model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bindList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"/"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oQuery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entitySet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[],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aFilters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$$aggregation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oQuery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aggregation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oBinding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requestContexts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MAX_ROWS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</p:txBody>
      </p:sp>
      <p:sp>
        <p:nvSpPr>
          <p:cNvPr id="13" name="Cartão"/>
          <p:cNvSpPr/>
          <p:nvPr/>
        </p:nvSpPr>
        <p:spPr>
          <a:xfrm>
            <a:off x="7223760" y="1645920"/>
            <a:ext cx="4419295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4" name="Ícone list"/>
          <p:cNvSpPr/>
          <p:nvPr/>
        </p:nvSpPr>
        <p:spPr>
          <a:xfrm>
            <a:off x="7406640" y="1865376"/>
            <a:ext cx="530352" cy="530352"/>
          </a:xfrm>
          <a:prstGeom prst="roundRect">
            <a:avLst>
              <a:gd name="adj" fmla="val 22000"/>
            </a:avLst>
          </a:prstGeom>
          <a:solidFill>
            <a:srgbClr val="F3ECFB"/>
          </a:solidFill>
          <a:ln/>
        </p:spPr>
      </p:sp>
      <p:pic>
        <p:nvPicPr>
          <p:cNvPr id="15" name="Image 0" descr="lis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33924" y="1992660"/>
            <a:ext cx="275783" cy="275783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8092440" y="1801368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model/Scenarios.js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8092440" y="2121408"/>
            <a:ext cx="34134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catálogo do domínio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7671816" y="2633472"/>
            <a:ext cx="0" cy="173736"/>
          </a:xfrm>
          <a:prstGeom prst="line">
            <a:avLst/>
          </a:prstGeom>
          <a:noFill/>
          <a:ln w="19050">
            <a:solidFill>
              <a:srgbClr val="8B47D7"/>
            </a:solidFill>
            <a:prstDash val="solid"/>
            <a:tailEnd type="triangle"/>
          </a:ln>
        </p:spPr>
      </p:sp>
      <p:sp>
        <p:nvSpPr>
          <p:cNvPr id="19" name="Cartão"/>
          <p:cNvSpPr/>
          <p:nvPr/>
        </p:nvSpPr>
        <p:spPr>
          <a:xfrm>
            <a:off x="7223760" y="2807208"/>
            <a:ext cx="4419295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20" name="Ícone source-code"/>
          <p:cNvSpPr/>
          <p:nvPr/>
        </p:nvSpPr>
        <p:spPr>
          <a:xfrm>
            <a:off x="7406640" y="3026664"/>
            <a:ext cx="530352" cy="530352"/>
          </a:xfrm>
          <a:prstGeom prst="roundRect">
            <a:avLst>
              <a:gd name="adj" fmla="val 22000"/>
            </a:avLst>
          </a:prstGeom>
          <a:solidFill>
            <a:srgbClr val="F3ECFB"/>
          </a:solidFill>
          <a:ln/>
        </p:spPr>
      </p:sp>
      <p:pic>
        <p:nvPicPr>
          <p:cNvPr id="21" name="Image 1" descr="source-cod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3924" y="3153948"/>
            <a:ext cx="275783" cy="275783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092440" y="2962656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model/AnalyticsQuery.js</a:t>
            </a:r>
            <a:endParaRPr lang="en-US" sz="1100" dirty="0"/>
          </a:p>
        </p:txBody>
      </p:sp>
      <p:sp>
        <p:nvSpPr>
          <p:cNvPr id="23" name="Text 18"/>
          <p:cNvSpPr txBox="1"/>
          <p:nvPr/>
        </p:nvSpPr>
        <p:spPr>
          <a:xfrm>
            <a:off x="8092440" y="3282696"/>
            <a:ext cx="34134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descritor e moldagem das linhas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7671816" y="3794760"/>
            <a:ext cx="0" cy="173736"/>
          </a:xfrm>
          <a:prstGeom prst="line">
            <a:avLst/>
          </a:prstGeom>
          <a:noFill/>
          <a:ln w="19050">
            <a:solidFill>
              <a:srgbClr val="8B47D7"/>
            </a:solidFill>
            <a:prstDash val="solid"/>
            <a:tailEnd type="triangle"/>
          </a:ln>
        </p:spPr>
      </p:sp>
      <p:sp>
        <p:nvSpPr>
          <p:cNvPr id="25" name="Cartão"/>
          <p:cNvSpPr/>
          <p:nvPr/>
        </p:nvSpPr>
        <p:spPr>
          <a:xfrm>
            <a:off x="7223760" y="3968496"/>
            <a:ext cx="4419295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26" name="Ícone chain-link"/>
          <p:cNvSpPr/>
          <p:nvPr/>
        </p:nvSpPr>
        <p:spPr>
          <a:xfrm>
            <a:off x="7406640" y="4187952"/>
            <a:ext cx="530352" cy="530352"/>
          </a:xfrm>
          <a:prstGeom prst="roundRect">
            <a:avLst>
              <a:gd name="adj" fmla="val 22000"/>
            </a:avLst>
          </a:prstGeom>
          <a:solidFill>
            <a:srgbClr val="F3ECFB"/>
          </a:solidFill>
          <a:ln/>
        </p:spPr>
      </p:sp>
      <p:pic>
        <p:nvPicPr>
          <p:cNvPr id="27" name="Image 2" descr="chain-lin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3924" y="4315236"/>
            <a:ext cx="275783" cy="275783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8092440" y="4123944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service/AnalyticsService.js</a:t>
            </a:r>
            <a:endParaRPr lang="en-US" sz="1100" dirty="0"/>
          </a:p>
        </p:txBody>
      </p:sp>
      <p:sp>
        <p:nvSpPr>
          <p:cNvPr id="29" name="Text 23"/>
          <p:cNvSpPr txBox="1"/>
          <p:nvPr/>
        </p:nvSpPr>
        <p:spPr>
          <a:xfrm>
            <a:off x="8092440" y="4443984"/>
            <a:ext cx="34134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bindList + $$aggregation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7671816" y="4956048"/>
            <a:ext cx="0" cy="173736"/>
          </a:xfrm>
          <a:prstGeom prst="line">
            <a:avLst/>
          </a:prstGeom>
          <a:noFill/>
          <a:ln w="19050">
            <a:solidFill>
              <a:srgbClr val="8B47D7"/>
            </a:solidFill>
            <a:prstDash val="solid"/>
            <a:tailEnd type="triangle"/>
          </a:ln>
        </p:spPr>
      </p:sp>
      <p:sp>
        <p:nvSpPr>
          <p:cNvPr id="31" name="Cartão"/>
          <p:cNvSpPr/>
          <p:nvPr/>
        </p:nvSpPr>
        <p:spPr>
          <a:xfrm>
            <a:off x="7223760" y="5129784"/>
            <a:ext cx="4419295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32" name="Ícone bar-chart"/>
          <p:cNvSpPr/>
          <p:nvPr/>
        </p:nvSpPr>
        <p:spPr>
          <a:xfrm>
            <a:off x="7406640" y="5349240"/>
            <a:ext cx="530352" cy="530352"/>
          </a:xfrm>
          <a:prstGeom prst="roundRect">
            <a:avLst>
              <a:gd name="adj" fmla="val 22000"/>
            </a:avLst>
          </a:prstGeom>
          <a:solidFill>
            <a:srgbClr val="F3ECFB"/>
          </a:solidFill>
          <a:ln/>
        </p:spPr>
      </p:sp>
      <p:pic>
        <p:nvPicPr>
          <p:cNvPr id="33" name="Image 3" descr="bar-char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3924" y="5476524"/>
            <a:ext cx="275783" cy="275783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8092440" y="5285232"/>
            <a:ext cx="3413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control/AnalysisChart.js</a:t>
            </a:r>
            <a:endParaRPr lang="en-US" sz="1100" dirty="0"/>
          </a:p>
        </p:txBody>
      </p:sp>
      <p:sp>
        <p:nvSpPr>
          <p:cNvPr id="35" name="Text 28"/>
          <p:cNvSpPr txBox="1"/>
          <p:nvPr/>
        </p:nvSpPr>
        <p:spPr>
          <a:xfrm>
            <a:off x="8092440" y="5605272"/>
            <a:ext cx="34134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VizFrame (sap.viz)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LAUNCHPAD LOCAL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Um sandbox do launchpad para testar tudo junto</a:t>
            </a:r>
            <a:endParaRPr lang="en-US" sz="3000" dirty="0"/>
          </a:p>
        </p:txBody>
      </p:sp>
      <p:sp>
        <p:nvSpPr>
          <p:cNvPr id="5" name="Moldura"/>
          <p:cNvSpPr/>
          <p:nvPr/>
        </p:nvSpPr>
        <p:spPr>
          <a:xfrm>
            <a:off x="548640" y="1645920"/>
            <a:ext cx="5266944" cy="3204464"/>
          </a:xfrm>
          <a:prstGeom prst="roundRect">
            <a:avLst>
              <a:gd name="adj" fmla="val 34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pic>
        <p:nvPicPr>
          <p:cNvPr id="6" name="Image 0" descr="Launchpad local com oito ti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719072"/>
            <a:ext cx="5120640" cy="3058160"/>
          </a:xfrm>
          <a:prstGeom prst="rect">
            <a:avLst/>
          </a:prstGeom>
        </p:spPr>
      </p:pic>
      <p:sp>
        <p:nvSpPr>
          <p:cNvPr id="7" name="Editor"/>
          <p:cNvSpPr/>
          <p:nvPr/>
        </p:nvSpPr>
        <p:spPr>
          <a:xfrm>
            <a:off x="548640" y="5051552"/>
            <a:ext cx="5266944" cy="1120648"/>
          </a:xfrm>
          <a:prstGeom prst="roundRect">
            <a:avLst>
              <a:gd name="adj" fmla="val 8160"/>
            </a:avLst>
          </a:prstGeom>
          <a:solidFill>
            <a:srgbClr val="1F1F1F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8" name="Trecho de código"/>
          <p:cNvSpPr txBox="1"/>
          <p:nvPr/>
        </p:nvSpPr>
        <p:spPr>
          <a:xfrm>
            <a:off x="731520" y="5197856"/>
            <a:ext cx="4946904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ui5/launchpad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install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dados reais do sistema ABAP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start-mock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sem backend</a:t>
            </a:r>
            <a:endParaRPr lang="en-US" sz="1050" dirty="0"/>
          </a:p>
        </p:txBody>
      </p:sp>
      <p:sp>
        <p:nvSpPr>
          <p:cNvPr id="9" name="Editor"/>
          <p:cNvSpPr/>
          <p:nvPr/>
        </p:nvSpPr>
        <p:spPr>
          <a:xfrm>
            <a:off x="6080760" y="1645920"/>
            <a:ext cx="5562295" cy="4526280"/>
          </a:xfrm>
          <a:prstGeom prst="roundRect">
            <a:avLst>
              <a:gd name="adj" fmla="val 2020"/>
            </a:avLst>
          </a:prstGeom>
          <a:solidFill>
            <a:srgbClr val="181818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0" name="Área do editor"/>
          <p:cNvSpPr/>
          <p:nvPr/>
        </p:nvSpPr>
        <p:spPr>
          <a:xfrm>
            <a:off x="6080760" y="1993392"/>
            <a:ext cx="5562295" cy="4178808"/>
          </a:xfrm>
          <a:prstGeom prst="roundRect">
            <a:avLst>
              <a:gd name="adj" fmla="val 2188"/>
            </a:avLst>
          </a:prstGeom>
          <a:solidFill>
            <a:srgbClr val="1F1F1F"/>
          </a:solidFill>
          <a:ln/>
        </p:spPr>
      </p:sp>
      <p:sp>
        <p:nvSpPr>
          <p:cNvPr id="11" name="Shape 7"/>
          <p:cNvSpPr/>
          <p:nvPr/>
        </p:nvSpPr>
        <p:spPr>
          <a:xfrm>
            <a:off x="6089904" y="1993392"/>
            <a:ext cx="5544007" cy="13716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12" name="Shape 8"/>
          <p:cNvSpPr/>
          <p:nvPr/>
        </p:nvSpPr>
        <p:spPr>
          <a:xfrm>
            <a:off x="6089904" y="1993392"/>
            <a:ext cx="5544007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13" name="Aba fioriSandboxConfig.json"/>
          <p:cNvSpPr/>
          <p:nvPr/>
        </p:nvSpPr>
        <p:spPr>
          <a:xfrm>
            <a:off x="6172200" y="1719072"/>
            <a:ext cx="2080260" cy="274320"/>
          </a:xfrm>
          <a:prstGeom prst="rect">
            <a:avLst/>
          </a:prstGeom>
          <a:solidFill>
            <a:srgbClr val="1F1F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fioriSandboxConfig.json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72200" y="1719072"/>
            <a:ext cx="2080260" cy="0"/>
          </a:xfrm>
          <a:prstGeom prst="line">
            <a:avLst/>
          </a:prstGeom>
          <a:noFill/>
          <a:ln w="19050">
            <a:solidFill>
              <a:srgbClr val="0078D4"/>
            </a:solidFill>
            <a:prstDash val="solid"/>
          </a:ln>
        </p:spPr>
      </p:sp>
      <p:sp>
        <p:nvSpPr>
          <p:cNvPr id="15" name="Breadcrumb"/>
          <p:cNvSpPr txBox="1"/>
          <p:nvPr/>
        </p:nvSpPr>
        <p:spPr>
          <a:xfrm>
            <a:off x="6309360" y="2103120"/>
            <a:ext cx="51050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launchpad</a:t>
            </a:r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</a:rPr>
              <a:t>  ›  </a:t>
            </a:r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webapp</a:t>
            </a:r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</a:rPr>
              <a:t>  ›  </a:t>
            </a:r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appconfig</a:t>
            </a:r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</a:rPr>
              <a:t>  ›  </a:t>
            </a:r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fioriSandboxConfig.json</a:t>
            </a:r>
            <a:endParaRPr lang="en-US" sz="900" dirty="0"/>
          </a:p>
        </p:txBody>
      </p:sp>
      <p:sp>
        <p:nvSpPr>
          <p:cNvPr id="16" name="Trecho de código"/>
          <p:cNvSpPr txBox="1"/>
          <p:nvPr/>
        </p:nvSpPr>
        <p:spPr>
          <a:xfrm>
            <a:off x="6263640" y="2414016"/>
            <a:ext cx="5242255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"groups"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"id"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"gestao"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"title"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"Gestão"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"tiles"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"id"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"tile-gestaoclientes"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"tileType"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"sap.ushell.ui.tile.StaticTile"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"properties"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"title"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"Gestão de Clientes"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"subtitle"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"Clientes e endereços"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"icon"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"sap-icon://customer"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"targetURL"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"#ZPCCliente-manage"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"id"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"analises"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"title"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"Análises"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}]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3258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ETAPA 5 · CLIENTES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737360"/>
            <a:ext cx="6949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Apps de clientes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3832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A app de gestão com foto, score e endereços, e a análise de clientes por gênero, UF, faixa de score e mês de cadastro.</a:t>
            </a:r>
            <a:endParaRPr lang="en-US" sz="1800" dirty="0"/>
          </a:p>
        </p:txBody>
      </p:sp>
      <p:sp>
        <p:nvSpPr>
          <p:cNvPr id="7" name="Ícone customer"/>
          <p:cNvSpPr/>
          <p:nvPr/>
        </p:nvSpPr>
        <p:spPr>
          <a:xfrm>
            <a:off x="731520" y="41148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1B3A7A"/>
          </a:solidFill>
          <a:ln/>
        </p:spPr>
      </p:sp>
      <p:pic>
        <p:nvPicPr>
          <p:cNvPr id="8" name="Image 0" descr="custom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085" y="587045"/>
            <a:ext cx="380390" cy="380390"/>
          </a:xfrm>
          <a:prstGeom prst="rect">
            <a:avLst/>
          </a:prstGeom>
        </p:spPr>
      </p:pic>
      <p:sp>
        <p:nvSpPr>
          <p:cNvPr id="9" name="Objetos da seção"/>
          <p:cNvSpPr/>
          <p:nvPr/>
        </p:nvSpPr>
        <p:spPr>
          <a:xfrm>
            <a:off x="8001000" y="1325880"/>
            <a:ext cx="3639312" cy="2221992"/>
          </a:xfrm>
          <a:prstGeom prst="roundRect">
            <a:avLst>
              <a:gd name="adj" fmla="val 4938"/>
            </a:avLst>
          </a:prstGeom>
          <a:solidFill>
            <a:srgbClr val="1B3A7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75320" y="14813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9D1FF"/>
                </a:solidFill>
              </a:rPr>
              <a:t>OBJETOS NESTA SEÇÃO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275320" y="1874520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ui5/apps-list-reports/gestao-clientes</a:t>
            </a:r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  Fiori Elements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275320" y="2258568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ZPC_CLIENTES</a:t>
            </a:r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  BSP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275320" y="2642616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ui5/apps-analiticos/analise-clientes</a:t>
            </a:r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  SAPUI5 freestyle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275320" y="3026664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ZPC_ANL_CLIENTE</a:t>
            </a:r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  BSP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CLIENTES · GESTÃO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Gestão de Clientes</a:t>
            </a:r>
            <a:endParaRPr lang="en-US" sz="3000" dirty="0"/>
          </a:p>
        </p:txBody>
      </p:sp>
      <p:sp>
        <p:nvSpPr>
          <p:cNvPr id="5" name="Moldura"/>
          <p:cNvSpPr/>
          <p:nvPr/>
        </p:nvSpPr>
        <p:spPr>
          <a:xfrm>
            <a:off x="548640" y="1645920"/>
            <a:ext cx="6729984" cy="4078224"/>
          </a:xfrm>
          <a:prstGeom prst="roundRect">
            <a:avLst>
              <a:gd name="adj" fmla="val 26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pic>
        <p:nvPicPr>
          <p:cNvPr id="6" name="Image 0" descr="List Report da Gestão de Client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719072"/>
            <a:ext cx="6583680" cy="3931920"/>
          </a:xfrm>
          <a:prstGeom prst="rect">
            <a:avLst/>
          </a:prstGeom>
        </p:spPr>
      </p:pic>
      <p:sp>
        <p:nvSpPr>
          <p:cNvPr id="7" name="Cartão"/>
          <p:cNvSpPr/>
          <p:nvPr/>
        </p:nvSpPr>
        <p:spPr>
          <a:xfrm>
            <a:off x="7498080" y="1645920"/>
            <a:ext cx="4144975" cy="452628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7726680" y="1828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Pasta</a:t>
            </a:r>
            <a:endParaRPr lang="en-US" sz="1050" dirty="0"/>
          </a:p>
        </p:txBody>
      </p:sp>
      <p:sp>
        <p:nvSpPr>
          <p:cNvPr id="9" name="Text 5"/>
          <p:cNvSpPr txBox="1"/>
          <p:nvPr/>
        </p:nvSpPr>
        <p:spPr>
          <a:xfrm>
            <a:off x="8823960" y="1828800"/>
            <a:ext cx="2636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ui5/apps-list-reports/</a:t>
            </a:r>
            <a:br>
              <a:rPr lang="en-US" sz="10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</a:br>
            <a:r>
              <a:rPr lang="en-US" sz="10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gestao-clientes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26680" y="22128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Serviço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8823960" y="2212848"/>
            <a:ext cx="2636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ZUI_PC_CLIENTES_O4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7726680" y="25968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Intent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8823960" y="2596896"/>
            <a:ext cx="2636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ZPCCliente-manage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7726680" y="298094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BSP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8823960" y="2980944"/>
            <a:ext cx="2636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ZPC_CLIENTES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7726680" y="33649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Páginas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8823960" y="3364992"/>
            <a:ext cx="2636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 → Endereço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7726680" y="3886200"/>
            <a:ext cx="3687775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7726680" y="4023360"/>
            <a:ext cx="368777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D2D3E"/>
                </a:solidFill>
              </a:rPr>
              <a:t>Foto no header (imageUrl) e upload JPEG/PNG/WEBP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D2D3E"/>
                </a:solidFill>
              </a:rPr>
              <a:t>Score como barra de progresso colorida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D2D3E"/>
                </a:solidFill>
              </a:rPr>
              <a:t>Endereços com CEP pelo ViaCEP e side effects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D2D3E"/>
                </a:solidFill>
              </a:rPr>
              <a:t>Ação Definir endereço principal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D2D3E"/>
                </a:solidFill>
              </a:rPr>
              <a:t>Importar planilha (.xlsx ou .csv)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D2D3E"/>
                </a:solidFill>
              </a:rPr>
              <a:t>Exclusão bloqueada para cliente com pedido</a:t>
            </a:r>
            <a:endParaRPr lang="en-US" sz="1150" dirty="0"/>
          </a:p>
        </p:txBody>
      </p:sp>
      <p:sp>
        <p:nvSpPr>
          <p:cNvPr id="20" name="Text 16"/>
          <p:cNvSpPr txBox="1"/>
          <p:nvPr/>
        </p:nvSpPr>
        <p:spPr>
          <a:xfrm>
            <a:off x="548640" y="5833872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Gestão: List Report + Object Page, gerada com SAP Fiori tools.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CLIENTES · ANÁLISE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Análise de Clientes</a:t>
            </a:r>
            <a:endParaRPr lang="en-US" sz="3000" dirty="0"/>
          </a:p>
        </p:txBody>
      </p:sp>
      <p:sp>
        <p:nvSpPr>
          <p:cNvPr id="5" name="Fundo da tabela"/>
          <p:cNvSpPr/>
          <p:nvPr/>
        </p:nvSpPr>
        <p:spPr>
          <a:xfrm>
            <a:off x="548640" y="1645920"/>
            <a:ext cx="6720840" cy="2798064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55648"/>
          <a:ext cx="6446520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1600200"/>
                <a:gridCol w="1737360"/>
                <a:gridCol w="86868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2D3E"/>
                          </a:solidFill>
                        </a:rPr>
                        <a:t>Cenário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2D3E"/>
                          </a:solidFill>
                        </a:rPr>
                        <a:t>Dimensão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2D3E"/>
                          </a:solidFill>
                        </a:rPr>
                        <a:t>Medida(s)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2D3E"/>
                          </a:solidFill>
                        </a:rPr>
                        <a:t>Gráfico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CliPorGenero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Genero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QtdeClientes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</a:rPr>
                        <a:t>rosca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CliPorUf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Uf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QtdeClientes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</a:rPr>
                        <a:t>colunas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CliPorFaixaScore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FaixaScore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QtdeClientes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</a:rPr>
                        <a:t>rosca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CliCadastrosPorMes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MesCadastro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QtdeClientes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</a:rPr>
                        <a:t>colunas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CliScorePorUf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Uf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ScoreMedio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</a:rPr>
                        <a:t>colunas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Cartão"/>
          <p:cNvSpPr/>
          <p:nvPr/>
        </p:nvSpPr>
        <p:spPr>
          <a:xfrm>
            <a:off x="548640" y="4608576"/>
            <a:ext cx="3154680" cy="1563624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731520" y="4745736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D3E"/>
                </a:solidFill>
              </a:rPr>
              <a:t>Filtros</a:t>
            </a:r>
            <a:endParaRPr lang="en-US" sz="1250" dirty="0"/>
          </a:p>
        </p:txBody>
      </p:sp>
      <p:sp>
        <p:nvSpPr>
          <p:cNvPr id="9" name="Status Genero"/>
          <p:cNvSpPr/>
          <p:nvPr/>
        </p:nvSpPr>
        <p:spPr>
          <a:xfrm>
            <a:off x="731520" y="5111496"/>
            <a:ext cx="687629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Genero</a:t>
            </a:r>
            <a:endParaRPr lang="en-US" sz="1000" dirty="0"/>
          </a:p>
        </p:txBody>
      </p:sp>
      <p:sp>
        <p:nvSpPr>
          <p:cNvPr id="10" name="Status ClienteAtivo"/>
          <p:cNvSpPr/>
          <p:nvPr/>
        </p:nvSpPr>
        <p:spPr>
          <a:xfrm>
            <a:off x="1510589" y="5111496"/>
            <a:ext cx="1082650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ClienteAtivo</a:t>
            </a:r>
            <a:endParaRPr lang="en-US" sz="1000" dirty="0"/>
          </a:p>
        </p:txBody>
      </p:sp>
      <p:sp>
        <p:nvSpPr>
          <p:cNvPr id="11" name="Status Uf"/>
          <p:cNvSpPr/>
          <p:nvPr/>
        </p:nvSpPr>
        <p:spPr>
          <a:xfrm>
            <a:off x="2684678" y="5111496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Uf</a:t>
            </a:r>
            <a:endParaRPr lang="en-US" sz="1000" dirty="0"/>
          </a:p>
        </p:txBody>
      </p:sp>
      <p:sp>
        <p:nvSpPr>
          <p:cNvPr id="12" name="Status FaixaScore"/>
          <p:cNvSpPr/>
          <p:nvPr/>
        </p:nvSpPr>
        <p:spPr>
          <a:xfrm>
            <a:off x="731520" y="5440680"/>
            <a:ext cx="950976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FaixaScore</a:t>
            </a:r>
            <a:endParaRPr lang="en-US" sz="1000" dirty="0"/>
          </a:p>
        </p:txBody>
      </p:sp>
      <p:sp>
        <p:nvSpPr>
          <p:cNvPr id="13" name="Status Nome"/>
          <p:cNvSpPr/>
          <p:nvPr/>
        </p:nvSpPr>
        <p:spPr>
          <a:xfrm>
            <a:off x="1773936" y="5440680"/>
            <a:ext cx="555955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endParaRPr lang="en-US" sz="1000" dirty="0"/>
          </a:p>
        </p:txBody>
      </p:sp>
      <p:sp>
        <p:nvSpPr>
          <p:cNvPr id="14" name="Cartão"/>
          <p:cNvSpPr/>
          <p:nvPr/>
        </p:nvSpPr>
        <p:spPr>
          <a:xfrm>
            <a:off x="3977640" y="4608576"/>
            <a:ext cx="3154680" cy="1563624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4160520" y="4745736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D3E"/>
                </a:solidFill>
              </a:rPr>
              <a:t>Indicadores (KPIs)</a:t>
            </a:r>
            <a:endParaRPr lang="en-US" sz="1250" dirty="0"/>
          </a:p>
        </p:txBody>
      </p:sp>
      <p:sp>
        <p:nvSpPr>
          <p:cNvPr id="16" name="Status QtdeClientes"/>
          <p:cNvSpPr/>
          <p:nvPr/>
        </p:nvSpPr>
        <p:spPr>
          <a:xfrm>
            <a:off x="4160520" y="5111496"/>
            <a:ext cx="1082650" cy="274320"/>
          </a:xfrm>
          <a:prstGeom prst="roundRect">
            <a:avLst>
              <a:gd name="adj" fmla="val 50000"/>
            </a:avLst>
          </a:prstGeom>
          <a:solidFill>
            <a:srgbClr val="F5FA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QtdeClientes</a:t>
            </a:r>
            <a:endParaRPr lang="en-US" sz="1000" dirty="0"/>
          </a:p>
        </p:txBody>
      </p:sp>
      <p:sp>
        <p:nvSpPr>
          <p:cNvPr id="17" name="Status ScoreMedio"/>
          <p:cNvSpPr/>
          <p:nvPr/>
        </p:nvSpPr>
        <p:spPr>
          <a:xfrm>
            <a:off x="5334610" y="5111496"/>
            <a:ext cx="950976" cy="274320"/>
          </a:xfrm>
          <a:prstGeom prst="roundRect">
            <a:avLst>
              <a:gd name="adj" fmla="val 50000"/>
            </a:avLst>
          </a:prstGeom>
          <a:solidFill>
            <a:srgbClr val="F5FA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ScoreMedio</a:t>
            </a:r>
            <a:endParaRPr lang="en-US" sz="1000" dirty="0"/>
          </a:p>
        </p:txBody>
      </p:sp>
      <p:sp>
        <p:nvSpPr>
          <p:cNvPr id="18" name="Cartão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6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7635240" y="17830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Entity set</a:t>
            </a:r>
            <a:endParaRPr lang="en-US" sz="1050" dirty="0"/>
          </a:p>
        </p:txBody>
      </p:sp>
      <p:sp>
        <p:nvSpPr>
          <p:cNvPr id="20" name="Text 16"/>
          <p:cNvSpPr txBox="1"/>
          <p:nvPr/>
        </p:nvSpPr>
        <p:spPr>
          <a:xfrm>
            <a:off x="8778240" y="1783080"/>
            <a:ext cx="2727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ClienteAnalise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7635240" y="21488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Abrir gestão</a:t>
            </a:r>
            <a:endParaRPr 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8778240" y="2148840"/>
            <a:ext cx="2727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ZPCCliente-manage</a:t>
            </a:r>
            <a:endParaRPr lang="en-US" sz="1000" dirty="0"/>
          </a:p>
        </p:txBody>
      </p:sp>
      <p:sp>
        <p:nvSpPr>
          <p:cNvPr id="23" name="Text 19"/>
          <p:cNvSpPr txBox="1"/>
          <p:nvPr/>
        </p:nvSpPr>
        <p:spPr>
          <a:xfrm>
            <a:off x="7635240" y="25146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BSP</a:t>
            </a:r>
            <a:endParaRPr lang="en-US" sz="1050" dirty="0"/>
          </a:p>
        </p:txBody>
      </p:sp>
      <p:sp>
        <p:nvSpPr>
          <p:cNvPr id="24" name="Text 20"/>
          <p:cNvSpPr txBox="1"/>
          <p:nvPr/>
        </p:nvSpPr>
        <p:spPr>
          <a:xfrm>
            <a:off x="8778240" y="2514600"/>
            <a:ext cx="2727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ZPC_ANL_CLIENTE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7635240" y="288036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Painel</a:t>
            </a:r>
            <a:endParaRPr lang="en-US" sz="1050" dirty="0"/>
          </a:p>
        </p:txBody>
      </p:sp>
      <p:sp>
        <p:nvSpPr>
          <p:cNvPr id="26" name="Text 22"/>
          <p:cNvSpPr txBox="1"/>
          <p:nvPr/>
        </p:nvSpPr>
        <p:spPr>
          <a:xfrm>
            <a:off x="8778240" y="2880360"/>
            <a:ext cx="2727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#/</a:t>
            </a:r>
            <a:endParaRPr lang="en-US" sz="1000" dirty="0"/>
          </a:p>
        </p:txBody>
      </p:sp>
      <p:sp>
        <p:nvSpPr>
          <p:cNvPr id="27" name="Text 23"/>
          <p:cNvSpPr txBox="1"/>
          <p:nvPr/>
        </p:nvSpPr>
        <p:spPr>
          <a:xfrm>
            <a:off x="7635240" y="32461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Detalhe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8778240" y="3246120"/>
            <a:ext cx="2727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#/analise/&lt;cenário&gt;</a:t>
            </a:r>
            <a:endParaRPr lang="en-US" sz="1000" dirty="0"/>
          </a:p>
        </p:txBody>
      </p:sp>
      <p:sp>
        <p:nvSpPr>
          <p:cNvPr id="29" name="Text 25"/>
          <p:cNvSpPr txBox="1"/>
          <p:nvPr/>
        </p:nvSpPr>
        <p:spPr>
          <a:xfrm>
            <a:off x="7635240" y="36118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Gráficos</a:t>
            </a:r>
            <a:endParaRPr lang="en-US" sz="1050" dirty="0"/>
          </a:p>
        </p:txBody>
      </p:sp>
      <p:sp>
        <p:nvSpPr>
          <p:cNvPr id="30" name="Text 26"/>
          <p:cNvSpPr txBox="1"/>
          <p:nvPr/>
        </p:nvSpPr>
        <p:spPr>
          <a:xfrm>
            <a:off x="8778240" y="3611880"/>
            <a:ext cx="2727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sap.viz VizFrame</a:t>
            </a:r>
            <a:endParaRPr lang="en-US" sz="1000" dirty="0"/>
          </a:p>
        </p:txBody>
      </p:sp>
      <p:sp>
        <p:nvSpPr>
          <p:cNvPr id="31" name="Text 27"/>
          <p:cNvSpPr txBox="1"/>
          <p:nvPr/>
        </p:nvSpPr>
        <p:spPr>
          <a:xfrm>
            <a:off x="7635240" y="39776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Testes</a:t>
            </a:r>
            <a:endParaRPr lang="en-US" sz="1050" dirty="0"/>
          </a:p>
        </p:txBody>
      </p:sp>
      <p:sp>
        <p:nvSpPr>
          <p:cNvPr id="32" name="Text 28"/>
          <p:cNvSpPr txBox="1"/>
          <p:nvPr/>
        </p:nvSpPr>
        <p:spPr>
          <a:xfrm>
            <a:off x="8778240" y="3977640"/>
            <a:ext cx="2727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QUnit (Scenarios, Query)</a:t>
            </a:r>
            <a:endParaRPr lang="en-US" sz="1000" dirty="0"/>
          </a:p>
        </p:txBody>
      </p:sp>
      <p:sp>
        <p:nvSpPr>
          <p:cNvPr id="33" name="Text 29"/>
          <p:cNvSpPr txBox="1"/>
          <p:nvPr/>
        </p:nvSpPr>
        <p:spPr>
          <a:xfrm>
            <a:off x="7635240" y="4480560"/>
            <a:ext cx="382493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O detalhe de cada cenário troca o tipo de gráfico (colunas, barras, linha, rosca) e mostra a tabela com valores, percentual e total.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3258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ETAPA 5 · ESTOQUE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737360"/>
            <a:ext cx="6949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Apps de estoque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3832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A app de gestão de itens com status colorido e a análise do estoque por categoria e situação.</a:t>
            </a:r>
            <a:endParaRPr lang="en-US" sz="1800" dirty="0"/>
          </a:p>
        </p:txBody>
      </p:sp>
      <p:sp>
        <p:nvSpPr>
          <p:cNvPr id="7" name="Ícone product"/>
          <p:cNvSpPr/>
          <p:nvPr/>
        </p:nvSpPr>
        <p:spPr>
          <a:xfrm>
            <a:off x="731520" y="41148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1B3A7A"/>
          </a:solidFill>
          <a:ln/>
        </p:spPr>
      </p:sp>
      <p:pic>
        <p:nvPicPr>
          <p:cNvPr id="8" name="Image 0" descr="produc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085" y="587045"/>
            <a:ext cx="380390" cy="380390"/>
          </a:xfrm>
          <a:prstGeom prst="rect">
            <a:avLst/>
          </a:prstGeom>
        </p:spPr>
      </p:pic>
      <p:sp>
        <p:nvSpPr>
          <p:cNvPr id="9" name="Objetos da seção"/>
          <p:cNvSpPr/>
          <p:nvPr/>
        </p:nvSpPr>
        <p:spPr>
          <a:xfrm>
            <a:off x="8001000" y="1325880"/>
            <a:ext cx="3639312" cy="2221992"/>
          </a:xfrm>
          <a:prstGeom prst="roundRect">
            <a:avLst>
              <a:gd name="adj" fmla="val 4938"/>
            </a:avLst>
          </a:prstGeom>
          <a:solidFill>
            <a:srgbClr val="1B3A7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75320" y="14813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9D1FF"/>
                </a:solidFill>
              </a:rPr>
              <a:t>OBJETOS NESTA SEÇÃO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275320" y="1874520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ui5/apps-list-reports/gestao-estoque</a:t>
            </a:r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  Fiori Elements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275320" y="2258568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ZPC_ESTOQUE</a:t>
            </a:r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  BSP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275320" y="2642616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ui5/apps-analiticos/analise-estoque</a:t>
            </a:r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  SAPUI5 freestyle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275320" y="3026664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ZPC_ANL_ESTOQUE</a:t>
            </a:r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  BSP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ESTOQUE · GESTÃO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Gestão de Estoque</a:t>
            </a:r>
            <a:endParaRPr lang="en-US" sz="3000" dirty="0"/>
          </a:p>
        </p:txBody>
      </p:sp>
      <p:sp>
        <p:nvSpPr>
          <p:cNvPr id="5" name="Moldura"/>
          <p:cNvSpPr/>
          <p:nvPr/>
        </p:nvSpPr>
        <p:spPr>
          <a:xfrm>
            <a:off x="548640" y="1645920"/>
            <a:ext cx="6729984" cy="4078224"/>
          </a:xfrm>
          <a:prstGeom prst="roundRect">
            <a:avLst>
              <a:gd name="adj" fmla="val 26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pic>
        <p:nvPicPr>
          <p:cNvPr id="6" name="Image 0" descr="List Report da Gestão de Esto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719072"/>
            <a:ext cx="6583680" cy="3931920"/>
          </a:xfrm>
          <a:prstGeom prst="rect">
            <a:avLst/>
          </a:prstGeom>
        </p:spPr>
      </p:pic>
      <p:sp>
        <p:nvSpPr>
          <p:cNvPr id="7" name="Cartão"/>
          <p:cNvSpPr/>
          <p:nvPr/>
        </p:nvSpPr>
        <p:spPr>
          <a:xfrm>
            <a:off x="7498080" y="1645920"/>
            <a:ext cx="4144975" cy="452628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7726680" y="1828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Pasta</a:t>
            </a:r>
            <a:endParaRPr lang="en-US" sz="1050" dirty="0"/>
          </a:p>
        </p:txBody>
      </p:sp>
      <p:sp>
        <p:nvSpPr>
          <p:cNvPr id="9" name="Text 5"/>
          <p:cNvSpPr txBox="1"/>
          <p:nvPr/>
        </p:nvSpPr>
        <p:spPr>
          <a:xfrm>
            <a:off x="8823960" y="1828800"/>
            <a:ext cx="2636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ui5/apps-list-reports/</a:t>
            </a:r>
            <a:br>
              <a:rPr lang="en-US" sz="10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</a:br>
            <a:r>
              <a:rPr lang="en-US" sz="10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gestao-estoque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26680" y="22128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Serviço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8823960" y="2212848"/>
            <a:ext cx="2636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ZUI_PC_ESTOQUE_O4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7726680" y="25968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Intent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8823960" y="2596896"/>
            <a:ext cx="2636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ZPCItemEstoque-manage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7726680" y="298094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BSP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8823960" y="2980944"/>
            <a:ext cx="2636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ZPC_ESTOQUE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7726680" y="33649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Páginas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8823960" y="3364992"/>
            <a:ext cx="2636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7726680" y="3886200"/>
            <a:ext cx="3687775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7726680" y="4023360"/>
            <a:ext cx="368777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D2D3E"/>
                </a:solidFill>
              </a:rPr>
              <a:t>SKU gerado no salvar, com prefixo da categoria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D2D3E"/>
                </a:solidFill>
              </a:rPr>
              <a:t>Status do estoque colorido (sem, acabando, em estoque)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D2D3E"/>
                </a:solidFill>
              </a:rPr>
              <a:t>Reservada e disponível somente leitura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D2D3E"/>
                </a:solidFill>
              </a:rPr>
              <a:t>Foto do item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D2D3E"/>
                </a:solidFill>
              </a:rPr>
              <a:t>Importar planilha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D2D3E"/>
                </a:solidFill>
              </a:rPr>
              <a:t>Item inativo some da value help do pedido</a:t>
            </a:r>
            <a:endParaRPr lang="en-US" sz="1150" dirty="0"/>
          </a:p>
        </p:txBody>
      </p:sp>
      <p:sp>
        <p:nvSpPr>
          <p:cNvPr id="20" name="Text 16"/>
          <p:cNvSpPr txBox="1"/>
          <p:nvPr/>
        </p:nvSpPr>
        <p:spPr>
          <a:xfrm>
            <a:off x="548640" y="5833872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Gestão: List Report + Object Page, gerada com SAP Fiori tools.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ESTOQUE · ANÁLISE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Análise de Itens do Estoque</a:t>
            </a:r>
            <a:endParaRPr lang="en-US" sz="3000" dirty="0"/>
          </a:p>
        </p:txBody>
      </p:sp>
      <p:sp>
        <p:nvSpPr>
          <p:cNvPr id="5" name="Fundo da tabela"/>
          <p:cNvSpPr/>
          <p:nvPr/>
        </p:nvSpPr>
        <p:spPr>
          <a:xfrm>
            <a:off x="548640" y="1645920"/>
            <a:ext cx="6720840" cy="2798064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55648"/>
          <a:ext cx="6446520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1600200"/>
                <a:gridCol w="1737360"/>
                <a:gridCol w="86868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2D3E"/>
                          </a:solidFill>
                        </a:rPr>
                        <a:t>Cenário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2D3E"/>
                          </a:solidFill>
                        </a:rPr>
                        <a:t>Dimensão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2D3E"/>
                          </a:solidFill>
                        </a:rPr>
                        <a:t>Medida(s)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2D3E"/>
                          </a:solidFill>
                        </a:rPr>
                        <a:t>Gráfico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EstDisponivelPorCategoria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Categoria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Reservada, Disponível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</a:rPr>
                        <a:t>colunas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EstItensPorSituacao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StatusEstoque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QtdeItens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</a:rPr>
                        <a:t>rosca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EstValorPorCategoria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Categoria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ValorEstoque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</a:rPr>
                        <a:t>colunas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EstMaisReservados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Nome (top 10)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QtdeReservada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</a:rPr>
                        <a:t>colunas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EstItensPorCategoria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Categoria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QtdeItens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</a:rPr>
                        <a:t>rosca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Cartão"/>
          <p:cNvSpPr/>
          <p:nvPr/>
        </p:nvSpPr>
        <p:spPr>
          <a:xfrm>
            <a:off x="548640" y="4608576"/>
            <a:ext cx="3154680" cy="1563624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731520" y="4745736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D3E"/>
                </a:solidFill>
              </a:rPr>
              <a:t>Filtros</a:t>
            </a:r>
            <a:endParaRPr lang="en-US" sz="1250" dirty="0"/>
          </a:p>
        </p:txBody>
      </p:sp>
      <p:sp>
        <p:nvSpPr>
          <p:cNvPr id="9" name="Status Categoria"/>
          <p:cNvSpPr/>
          <p:nvPr/>
        </p:nvSpPr>
        <p:spPr>
          <a:xfrm>
            <a:off x="731520" y="5111496"/>
            <a:ext cx="885139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Categoria</a:t>
            </a:r>
            <a:endParaRPr lang="en-US" sz="1000" dirty="0"/>
          </a:p>
        </p:txBody>
      </p:sp>
      <p:sp>
        <p:nvSpPr>
          <p:cNvPr id="10" name="Status StatusEstoque"/>
          <p:cNvSpPr/>
          <p:nvPr/>
        </p:nvSpPr>
        <p:spPr>
          <a:xfrm>
            <a:off x="1708099" y="5111496"/>
            <a:ext cx="1148486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StatusEstoque</a:t>
            </a:r>
            <a:endParaRPr lang="en-US" sz="1000" dirty="0"/>
          </a:p>
        </p:txBody>
      </p:sp>
      <p:sp>
        <p:nvSpPr>
          <p:cNvPr id="11" name="Status Nome"/>
          <p:cNvSpPr/>
          <p:nvPr/>
        </p:nvSpPr>
        <p:spPr>
          <a:xfrm>
            <a:off x="2948026" y="5111496"/>
            <a:ext cx="555955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endParaRPr lang="en-US" sz="1000" dirty="0"/>
          </a:p>
        </p:txBody>
      </p:sp>
      <p:sp>
        <p:nvSpPr>
          <p:cNvPr id="12" name="Status Sku"/>
          <p:cNvSpPr/>
          <p:nvPr/>
        </p:nvSpPr>
        <p:spPr>
          <a:xfrm>
            <a:off x="731520" y="5440680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Sku</a:t>
            </a:r>
            <a:endParaRPr lang="en-US" sz="1000" dirty="0"/>
          </a:p>
        </p:txBody>
      </p:sp>
      <p:sp>
        <p:nvSpPr>
          <p:cNvPr id="13" name="Cartão"/>
          <p:cNvSpPr/>
          <p:nvPr/>
        </p:nvSpPr>
        <p:spPr>
          <a:xfrm>
            <a:off x="3977640" y="4608576"/>
            <a:ext cx="3154680" cy="1563624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4160520" y="4745736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D3E"/>
                </a:solidFill>
              </a:rPr>
              <a:t>Indicadores (KPIs)</a:t>
            </a:r>
            <a:endParaRPr lang="en-US" sz="1250" dirty="0"/>
          </a:p>
        </p:txBody>
      </p:sp>
      <p:sp>
        <p:nvSpPr>
          <p:cNvPr id="15" name="Status QtdeItens"/>
          <p:cNvSpPr/>
          <p:nvPr/>
        </p:nvSpPr>
        <p:spPr>
          <a:xfrm>
            <a:off x="4160520" y="5111496"/>
            <a:ext cx="885139" cy="274320"/>
          </a:xfrm>
          <a:prstGeom prst="roundRect">
            <a:avLst>
              <a:gd name="adj" fmla="val 50000"/>
            </a:avLst>
          </a:prstGeom>
          <a:solidFill>
            <a:srgbClr val="F5FA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QtdeItens</a:t>
            </a:r>
            <a:endParaRPr lang="en-US" sz="1000" dirty="0"/>
          </a:p>
        </p:txBody>
      </p:sp>
      <p:sp>
        <p:nvSpPr>
          <p:cNvPr id="16" name="Status QtdeEstoque"/>
          <p:cNvSpPr/>
          <p:nvPr/>
        </p:nvSpPr>
        <p:spPr>
          <a:xfrm>
            <a:off x="5137099" y="5111496"/>
            <a:ext cx="1016813" cy="274320"/>
          </a:xfrm>
          <a:prstGeom prst="roundRect">
            <a:avLst>
              <a:gd name="adj" fmla="val 50000"/>
            </a:avLst>
          </a:prstGeom>
          <a:solidFill>
            <a:srgbClr val="F5FA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QtdeEstoque</a:t>
            </a:r>
            <a:endParaRPr lang="en-US" sz="1000" dirty="0"/>
          </a:p>
        </p:txBody>
      </p:sp>
      <p:sp>
        <p:nvSpPr>
          <p:cNvPr id="17" name="Status QtdeReservada"/>
          <p:cNvSpPr/>
          <p:nvPr/>
        </p:nvSpPr>
        <p:spPr>
          <a:xfrm>
            <a:off x="4160520" y="5440680"/>
            <a:ext cx="1148486" cy="274320"/>
          </a:xfrm>
          <a:prstGeom prst="roundRect">
            <a:avLst>
              <a:gd name="adj" fmla="val 50000"/>
            </a:avLst>
          </a:prstGeom>
          <a:solidFill>
            <a:srgbClr val="F5FA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QtdeReservada</a:t>
            </a:r>
            <a:endParaRPr lang="en-US" sz="1000" dirty="0"/>
          </a:p>
        </p:txBody>
      </p:sp>
      <p:sp>
        <p:nvSpPr>
          <p:cNvPr id="18" name="Status QtdeDisponivel"/>
          <p:cNvSpPr/>
          <p:nvPr/>
        </p:nvSpPr>
        <p:spPr>
          <a:xfrm>
            <a:off x="5400446" y="5440680"/>
            <a:ext cx="1214323" cy="274320"/>
          </a:xfrm>
          <a:prstGeom prst="roundRect">
            <a:avLst>
              <a:gd name="adj" fmla="val 50000"/>
            </a:avLst>
          </a:prstGeom>
          <a:solidFill>
            <a:srgbClr val="F5FA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QtdeDisponivel</a:t>
            </a:r>
            <a:endParaRPr lang="en-US" sz="1000" dirty="0"/>
          </a:p>
        </p:txBody>
      </p:sp>
      <p:sp>
        <p:nvSpPr>
          <p:cNvPr id="19" name="Status ValorEstoque"/>
          <p:cNvSpPr/>
          <p:nvPr/>
        </p:nvSpPr>
        <p:spPr>
          <a:xfrm>
            <a:off x="4160520" y="5769864"/>
            <a:ext cx="1082650" cy="274320"/>
          </a:xfrm>
          <a:prstGeom prst="roundRect">
            <a:avLst>
              <a:gd name="adj" fmla="val 50000"/>
            </a:avLst>
          </a:prstGeom>
          <a:solidFill>
            <a:srgbClr val="F5FA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ValorEstoque</a:t>
            </a:r>
            <a:endParaRPr lang="en-US" sz="1000" dirty="0"/>
          </a:p>
        </p:txBody>
      </p:sp>
      <p:sp>
        <p:nvSpPr>
          <p:cNvPr id="20" name="Moldura"/>
          <p:cNvSpPr/>
          <p:nvPr/>
        </p:nvSpPr>
        <p:spPr>
          <a:xfrm>
            <a:off x="7452360" y="1645920"/>
            <a:ext cx="4190695" cy="2561704"/>
          </a:xfrm>
          <a:prstGeom prst="roundRect">
            <a:avLst>
              <a:gd name="adj" fmla="val 42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pic>
        <p:nvPicPr>
          <p:cNvPr id="21" name="Image 0" descr="Análise de Itens do Esto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5512" y="1719072"/>
            <a:ext cx="4044391" cy="2415400"/>
          </a:xfrm>
          <a:prstGeom prst="rect">
            <a:avLst/>
          </a:prstGeom>
        </p:spPr>
      </p:pic>
      <p:sp>
        <p:nvSpPr>
          <p:cNvPr id="22" name="Cartão"/>
          <p:cNvSpPr/>
          <p:nvPr/>
        </p:nvSpPr>
        <p:spPr>
          <a:xfrm>
            <a:off x="7452360" y="4408792"/>
            <a:ext cx="4190695" cy="1763408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23" name="Text 18"/>
          <p:cNvSpPr txBox="1"/>
          <p:nvPr/>
        </p:nvSpPr>
        <p:spPr>
          <a:xfrm>
            <a:off x="7635240" y="454595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Entity set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8778240" y="4545952"/>
            <a:ext cx="2727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ItemAnalise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7635240" y="491171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Abrir gestão</a:t>
            </a:r>
            <a:endParaRPr lang="en-US" sz="1050" dirty="0"/>
          </a:p>
        </p:txBody>
      </p:sp>
      <p:sp>
        <p:nvSpPr>
          <p:cNvPr id="26" name="Text 21"/>
          <p:cNvSpPr txBox="1"/>
          <p:nvPr/>
        </p:nvSpPr>
        <p:spPr>
          <a:xfrm>
            <a:off x="8778240" y="4911712"/>
            <a:ext cx="2727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ZPCItemEstoque-manage</a:t>
            </a:r>
            <a:endParaRPr lang="en-US" sz="1000" dirty="0"/>
          </a:p>
        </p:txBody>
      </p:sp>
      <p:sp>
        <p:nvSpPr>
          <p:cNvPr id="27" name="Text 22"/>
          <p:cNvSpPr txBox="1"/>
          <p:nvPr/>
        </p:nvSpPr>
        <p:spPr>
          <a:xfrm>
            <a:off x="7635240" y="527747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BSP</a:t>
            </a:r>
            <a:endParaRPr lang="en-US" sz="1050" dirty="0"/>
          </a:p>
        </p:txBody>
      </p:sp>
      <p:sp>
        <p:nvSpPr>
          <p:cNvPr id="28" name="Text 23"/>
          <p:cNvSpPr txBox="1"/>
          <p:nvPr/>
        </p:nvSpPr>
        <p:spPr>
          <a:xfrm>
            <a:off x="8778240" y="5277472"/>
            <a:ext cx="2727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ZPC_ANL_ESTOQUE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3258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ETAPA 5 · PEDIDOS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737360"/>
            <a:ext cx="6949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Apps de pedidos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3832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A app mais completa: List Report com menu de ações, Object Page dinâmica, itens criados na própria tabela e a análise de pedidos.</a:t>
            </a:r>
            <a:endParaRPr lang="en-US" sz="1800" dirty="0"/>
          </a:p>
        </p:txBody>
      </p:sp>
      <p:sp>
        <p:nvSpPr>
          <p:cNvPr id="7" name="Ícone sales-order"/>
          <p:cNvSpPr/>
          <p:nvPr/>
        </p:nvSpPr>
        <p:spPr>
          <a:xfrm>
            <a:off x="731520" y="41148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1B3A7A"/>
          </a:solidFill>
          <a:ln/>
        </p:spPr>
      </p:sp>
      <p:pic>
        <p:nvPicPr>
          <p:cNvPr id="8" name="Image 0" descr="sales-or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085" y="587045"/>
            <a:ext cx="380390" cy="380390"/>
          </a:xfrm>
          <a:prstGeom prst="rect">
            <a:avLst/>
          </a:prstGeom>
        </p:spPr>
      </p:pic>
      <p:sp>
        <p:nvSpPr>
          <p:cNvPr id="9" name="Objetos da seção"/>
          <p:cNvSpPr/>
          <p:nvPr/>
        </p:nvSpPr>
        <p:spPr>
          <a:xfrm>
            <a:off x="8001000" y="1325880"/>
            <a:ext cx="3639312" cy="2606040"/>
          </a:xfrm>
          <a:prstGeom prst="roundRect">
            <a:avLst>
              <a:gd name="adj" fmla="val 4211"/>
            </a:avLst>
          </a:prstGeom>
          <a:solidFill>
            <a:srgbClr val="1B3A7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75320" y="14813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9D1FF"/>
                </a:solidFill>
              </a:rPr>
              <a:t>OBJETOS NESTA SEÇÃO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275320" y="1874520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ui5/apps-list-reports/pedidos-compras</a:t>
            </a:r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  Fiori Elements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275320" y="2258568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ZPC_PEDIDOS</a:t>
            </a:r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  BSP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275320" y="2642616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annotation.xml</a:t>
            </a:r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  anotação local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275320" y="3026664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ui5/apps-analiticos/analise-pedidos</a:t>
            </a:r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  SAPUI5 freestyle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275320" y="3410712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ZPC_ANL_PEDIDOS</a:t>
            </a:r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  BSP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PEDIDOS · LIST REPORT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 lista é desenhada pelas anotações do backend</a:t>
            </a:r>
            <a:endParaRPr lang="en-US" sz="3000" dirty="0"/>
          </a:p>
        </p:txBody>
      </p:sp>
      <p:sp>
        <p:nvSpPr>
          <p:cNvPr id="5" name="Moldura"/>
          <p:cNvSpPr/>
          <p:nvPr/>
        </p:nvSpPr>
        <p:spPr>
          <a:xfrm>
            <a:off x="548640" y="1645920"/>
            <a:ext cx="7644384" cy="4624324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pic>
        <p:nvPicPr>
          <p:cNvPr id="6" name="Image 0" descr="List Report de Pedidos de Compr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719072"/>
            <a:ext cx="7498080" cy="4478020"/>
          </a:xfrm>
          <a:prstGeom prst="rect">
            <a:avLst/>
          </a:prstGeom>
        </p:spPr>
      </p:pic>
      <p:sp>
        <p:nvSpPr>
          <p:cNvPr id="7" name="Cartão"/>
          <p:cNvSpPr/>
          <p:nvPr/>
        </p:nvSpPr>
        <p:spPr>
          <a:xfrm>
            <a:off x="8458200" y="1645920"/>
            <a:ext cx="3184855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8" name="Ícone filter"/>
          <p:cNvSpPr/>
          <p:nvPr/>
        </p:nvSpPr>
        <p:spPr>
          <a:xfrm>
            <a:off x="8622792" y="1801368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pic>
        <p:nvPicPr>
          <p:cNvPr id="9" name="Image 1" descr="filt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6909" y="1915485"/>
            <a:ext cx="247254" cy="24725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9235440" y="1737360"/>
            <a:ext cx="2270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Filtros</a:t>
            </a:r>
            <a:endParaRPr lang="en-US" sz="1300" dirty="0"/>
          </a:p>
        </p:txBody>
      </p:sp>
      <p:sp>
        <p:nvSpPr>
          <p:cNvPr id="11" name="Text 6"/>
          <p:cNvSpPr txBox="1"/>
          <p:nvPr/>
        </p:nvSpPr>
        <p:spPr>
          <a:xfrm>
            <a:off x="9235440" y="2048256"/>
            <a:ext cx="2270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@UI.selectionField</a:t>
            </a:r>
            <a:endParaRPr lang="en-US" sz="1050" dirty="0"/>
          </a:p>
        </p:txBody>
      </p:sp>
      <p:sp>
        <p:nvSpPr>
          <p:cNvPr id="12" name="Cartão"/>
          <p:cNvSpPr/>
          <p:nvPr/>
        </p:nvSpPr>
        <p:spPr>
          <a:xfrm>
            <a:off x="8458200" y="2551176"/>
            <a:ext cx="3184855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3" name="Ícone table-view"/>
          <p:cNvSpPr/>
          <p:nvPr/>
        </p:nvSpPr>
        <p:spPr>
          <a:xfrm>
            <a:off x="8622792" y="2706624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pic>
        <p:nvPicPr>
          <p:cNvPr id="14" name="Image 2" descr="table-view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6909" y="2820741"/>
            <a:ext cx="247254" cy="24725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9235440" y="2642616"/>
            <a:ext cx="2270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Colunas</a:t>
            </a:r>
            <a:endParaRPr lang="en-US" sz="1300" dirty="0"/>
          </a:p>
        </p:txBody>
      </p:sp>
      <p:sp>
        <p:nvSpPr>
          <p:cNvPr id="16" name="Text 10"/>
          <p:cNvSpPr txBox="1"/>
          <p:nvPr/>
        </p:nvSpPr>
        <p:spPr>
          <a:xfrm>
            <a:off x="9235440" y="2953512"/>
            <a:ext cx="2270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@UI.lineItem</a:t>
            </a:r>
            <a:endParaRPr lang="en-US" sz="1050" dirty="0"/>
          </a:p>
        </p:txBody>
      </p:sp>
      <p:sp>
        <p:nvSpPr>
          <p:cNvPr id="17" name="Cartão"/>
          <p:cNvSpPr/>
          <p:nvPr/>
        </p:nvSpPr>
        <p:spPr>
          <a:xfrm>
            <a:off x="8458200" y="3456432"/>
            <a:ext cx="3184855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8" name="Ícone status-positive"/>
          <p:cNvSpPr/>
          <p:nvPr/>
        </p:nvSpPr>
        <p:spPr>
          <a:xfrm>
            <a:off x="8622792" y="3611880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pic>
        <p:nvPicPr>
          <p:cNvPr id="19" name="Image 3" descr="status-positiv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6909" y="3725997"/>
            <a:ext cx="247254" cy="247254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9235440" y="3547872"/>
            <a:ext cx="2270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Status coloridos</a:t>
            </a:r>
            <a:endParaRPr lang="en-US" sz="1300" dirty="0"/>
          </a:p>
        </p:txBody>
      </p:sp>
      <p:sp>
        <p:nvSpPr>
          <p:cNvPr id="21" name="Text 14"/>
          <p:cNvSpPr txBox="1"/>
          <p:nvPr/>
        </p:nvSpPr>
        <p:spPr>
          <a:xfrm>
            <a:off x="9235440" y="3858768"/>
            <a:ext cx="2270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criticality da CodeList</a:t>
            </a:r>
            <a:endParaRPr lang="en-US" sz="1050" dirty="0"/>
          </a:p>
        </p:txBody>
      </p:sp>
      <p:sp>
        <p:nvSpPr>
          <p:cNvPr id="22" name="Cartão"/>
          <p:cNvSpPr/>
          <p:nvPr/>
        </p:nvSpPr>
        <p:spPr>
          <a:xfrm>
            <a:off x="8458200" y="4361688"/>
            <a:ext cx="3184855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23" name="Ícone action-settings"/>
          <p:cNvSpPr/>
          <p:nvPr/>
        </p:nvSpPr>
        <p:spPr>
          <a:xfrm>
            <a:off x="8622792" y="4517136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pic>
        <p:nvPicPr>
          <p:cNvPr id="24" name="Image 4" descr="action-setting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6909" y="4631253"/>
            <a:ext cx="247254" cy="247254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9235440" y="4453128"/>
            <a:ext cx="2270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Menu Ações</a:t>
            </a:r>
            <a:endParaRPr lang="en-US" sz="1300" dirty="0"/>
          </a:p>
        </p:txBody>
      </p:sp>
      <p:sp>
        <p:nvSpPr>
          <p:cNvPr id="26" name="Text 18"/>
          <p:cNvSpPr txBox="1"/>
          <p:nvPr/>
        </p:nvSpPr>
        <p:spPr>
          <a:xfrm>
            <a:off x="9235440" y="4764024"/>
            <a:ext cx="2270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#FOR_ACTION_GROUP</a:t>
            </a:r>
            <a:endParaRPr lang="en-US" sz="1050" dirty="0"/>
          </a:p>
        </p:txBody>
      </p:sp>
      <p:sp>
        <p:nvSpPr>
          <p:cNvPr id="27" name="Cartão"/>
          <p:cNvSpPr/>
          <p:nvPr/>
        </p:nvSpPr>
        <p:spPr>
          <a:xfrm>
            <a:off x="8458200" y="5266944"/>
            <a:ext cx="3184855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28" name="Ícone excel-attachment"/>
          <p:cNvSpPr/>
          <p:nvPr/>
        </p:nvSpPr>
        <p:spPr>
          <a:xfrm>
            <a:off x="8622792" y="5422392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pic>
        <p:nvPicPr>
          <p:cNvPr id="29" name="Image 5" descr="excel-attachmen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6909" y="5536509"/>
            <a:ext cx="247254" cy="247254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9235440" y="5358384"/>
            <a:ext cx="2270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Importar planilha</a:t>
            </a:r>
            <a:endParaRPr lang="en-US" sz="1300" dirty="0"/>
          </a:p>
        </p:txBody>
      </p:sp>
      <p:sp>
        <p:nvSpPr>
          <p:cNvPr id="31" name="Text 22"/>
          <p:cNvSpPr txBox="1"/>
          <p:nvPr/>
        </p:nvSpPr>
        <p:spPr>
          <a:xfrm>
            <a:off x="9235440" y="5669280"/>
            <a:ext cx="2270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action deep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PEDIDOS · OBJECT PAGE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Seções que mudam conforme o status do pedido</a:t>
            </a:r>
            <a:endParaRPr lang="en-US" sz="3000" dirty="0"/>
          </a:p>
        </p:txBody>
      </p:sp>
      <p:sp>
        <p:nvSpPr>
          <p:cNvPr id="5" name="Moldura"/>
          <p:cNvSpPr/>
          <p:nvPr/>
        </p:nvSpPr>
        <p:spPr>
          <a:xfrm>
            <a:off x="548640" y="1645920"/>
            <a:ext cx="7644384" cy="4624324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pic>
        <p:nvPicPr>
          <p:cNvPr id="6" name="Image 0" descr="Object Page de um pedido finaliza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719072"/>
            <a:ext cx="7498080" cy="4478020"/>
          </a:xfrm>
          <a:prstGeom prst="rect">
            <a:avLst/>
          </a:prstGeom>
        </p:spPr>
      </p:pic>
      <p:sp>
        <p:nvSpPr>
          <p:cNvPr id="7" name="Cartão"/>
          <p:cNvSpPr/>
          <p:nvPr/>
        </p:nvSpPr>
        <p:spPr>
          <a:xfrm>
            <a:off x="8458200" y="1645920"/>
            <a:ext cx="3184855" cy="4526280"/>
          </a:xfrm>
          <a:prstGeom prst="roundRect">
            <a:avLst>
              <a:gd name="adj" fmla="val 34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8686800" y="1828800"/>
            <a:ext cx="2727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Seções do pedido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8686800" y="2286000"/>
            <a:ext cx="2727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D3E"/>
                </a:solidFill>
              </a:rPr>
              <a:t>Dados do Cliente</a:t>
            </a:r>
            <a:endParaRPr lang="en-US" sz="1250" dirty="0"/>
          </a:p>
        </p:txBody>
      </p:sp>
      <p:sp>
        <p:nvSpPr>
          <p:cNvPr id="10" name="Status vivo ou snapshot"/>
          <p:cNvSpPr/>
          <p:nvPr/>
        </p:nvSpPr>
        <p:spPr>
          <a:xfrm>
            <a:off x="8686800" y="2560320"/>
            <a:ext cx="1345997" cy="256032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vivo ou snapshot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8686800" y="2907792"/>
            <a:ext cx="2727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D3E"/>
                </a:solidFill>
              </a:rPr>
              <a:t>Dados do Pedido</a:t>
            </a:r>
            <a:endParaRPr lang="en-US" sz="1250" dirty="0"/>
          </a:p>
        </p:txBody>
      </p:sp>
      <p:sp>
        <p:nvSpPr>
          <p:cNvPr id="12" name="Status sempre"/>
          <p:cNvSpPr/>
          <p:nvPr/>
        </p:nvSpPr>
        <p:spPr>
          <a:xfrm>
            <a:off x="8686800" y="3182112"/>
            <a:ext cx="687629" cy="256032"/>
          </a:xfrm>
          <a:prstGeom prst="roundRect">
            <a:avLst>
              <a:gd name="adj" fmla="val 50000"/>
            </a:avLst>
          </a:prstGeom>
          <a:solidFill>
            <a:srgbClr val="EFF1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56B82"/>
                </a:solidFill>
              </a:rPr>
              <a:t>sempre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8686800" y="3529584"/>
            <a:ext cx="2727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D3E"/>
                </a:solidFill>
              </a:rPr>
              <a:t>Itens</a:t>
            </a:r>
            <a:endParaRPr lang="en-US" sz="1250" dirty="0"/>
          </a:p>
        </p:txBody>
      </p:sp>
      <p:sp>
        <p:nvSpPr>
          <p:cNvPr id="14" name="Status vivo ou snapshot"/>
          <p:cNvSpPr/>
          <p:nvPr/>
        </p:nvSpPr>
        <p:spPr>
          <a:xfrm>
            <a:off x="8686800" y="3803904"/>
            <a:ext cx="1345997" cy="256032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vivo ou snapshot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8686800" y="4151376"/>
            <a:ext cx="2727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D3E"/>
                </a:solidFill>
              </a:rPr>
              <a:t>Pagamento</a:t>
            </a:r>
            <a:endParaRPr lang="en-US" sz="1250" dirty="0"/>
          </a:p>
        </p:txBody>
      </p:sp>
      <p:sp>
        <p:nvSpPr>
          <p:cNvPr id="16" name="Status última tentativa"/>
          <p:cNvSpPr/>
          <p:nvPr/>
        </p:nvSpPr>
        <p:spPr>
          <a:xfrm>
            <a:off x="8686800" y="4425696"/>
            <a:ext cx="1345997" cy="256032"/>
          </a:xfrm>
          <a:prstGeom prst="roundRect">
            <a:avLst>
              <a:gd name="adj" fmla="val 50000"/>
            </a:avLst>
          </a:prstGeom>
          <a:solidFill>
            <a:srgbClr val="EFF1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56B82"/>
                </a:solidFill>
              </a:rPr>
              <a:t>última tentativa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8686800" y="4773168"/>
            <a:ext cx="2727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D3E"/>
                </a:solidFill>
              </a:rPr>
              <a:t>Finalização</a:t>
            </a:r>
            <a:endParaRPr lang="en-US" sz="1250" dirty="0"/>
          </a:p>
        </p:txBody>
      </p:sp>
      <p:sp>
        <p:nvSpPr>
          <p:cNvPr id="18" name="Status só FINALIZADO"/>
          <p:cNvSpPr/>
          <p:nvPr/>
        </p:nvSpPr>
        <p:spPr>
          <a:xfrm>
            <a:off x="8686800" y="5047488"/>
            <a:ext cx="1148486" cy="256032"/>
          </a:xfrm>
          <a:prstGeom prst="roundRect">
            <a:avLst>
              <a:gd name="adj" fmla="val 50000"/>
            </a:avLst>
          </a:prstGeom>
          <a:solidFill>
            <a:srgbClr val="F5FA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F3A"/>
                </a:solidFill>
              </a:rPr>
              <a:t>só FINALIZADO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8686800" y="5394960"/>
            <a:ext cx="2727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D3E"/>
                </a:solidFill>
              </a:rPr>
              <a:t>Cancelamento</a:t>
            </a:r>
            <a:endParaRPr lang="en-US" sz="1250" dirty="0"/>
          </a:p>
        </p:txBody>
      </p:sp>
      <p:sp>
        <p:nvSpPr>
          <p:cNvPr id="20" name="Status só CANCELADO"/>
          <p:cNvSpPr/>
          <p:nvPr/>
        </p:nvSpPr>
        <p:spPr>
          <a:xfrm>
            <a:off x="8686800" y="5669280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FFEAF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A0808"/>
                </a:solidFill>
              </a:rPr>
              <a:t>só CANCELADO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PEDIDOS · CONFIGURAÇÃO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Itens inline e uma anotação local</a:t>
            </a:r>
            <a:endParaRPr lang="en-US" sz="3000" dirty="0"/>
          </a:p>
        </p:txBody>
      </p:sp>
      <p:sp>
        <p:nvSpPr>
          <p:cNvPr id="5" name="Editor"/>
          <p:cNvSpPr/>
          <p:nvPr/>
        </p:nvSpPr>
        <p:spPr>
          <a:xfrm>
            <a:off x="548640" y="1645920"/>
            <a:ext cx="5852160" cy="4526280"/>
          </a:xfrm>
          <a:prstGeom prst="roundRect">
            <a:avLst>
              <a:gd name="adj" fmla="val 2020"/>
            </a:avLst>
          </a:prstGeom>
          <a:solidFill>
            <a:srgbClr val="181818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6" name="Área do editor"/>
          <p:cNvSpPr/>
          <p:nvPr/>
        </p:nvSpPr>
        <p:spPr>
          <a:xfrm>
            <a:off x="548640" y="1993392"/>
            <a:ext cx="5852160" cy="4178808"/>
          </a:xfrm>
          <a:prstGeom prst="roundRect">
            <a:avLst>
              <a:gd name="adj" fmla="val 2188"/>
            </a:avLst>
          </a:prstGeom>
          <a:solidFill>
            <a:srgbClr val="1F1F1F"/>
          </a:solidFill>
          <a:ln/>
        </p:spPr>
      </p:sp>
      <p:sp>
        <p:nvSpPr>
          <p:cNvPr id="7" name="Shape 4"/>
          <p:cNvSpPr/>
          <p:nvPr/>
        </p:nvSpPr>
        <p:spPr>
          <a:xfrm>
            <a:off x="557784" y="1993392"/>
            <a:ext cx="5833872" cy="13716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8" name="Shape 5"/>
          <p:cNvSpPr/>
          <p:nvPr/>
        </p:nvSpPr>
        <p:spPr>
          <a:xfrm>
            <a:off x="557784" y="1993392"/>
            <a:ext cx="5833872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9" name="Aba manifest.json"/>
          <p:cNvSpPr/>
          <p:nvPr/>
        </p:nvSpPr>
        <p:spPr>
          <a:xfrm>
            <a:off x="640080" y="1719072"/>
            <a:ext cx="1394460" cy="274320"/>
          </a:xfrm>
          <a:prstGeom prst="rect">
            <a:avLst/>
          </a:prstGeom>
          <a:solidFill>
            <a:srgbClr val="1F1F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manifest.json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1719072"/>
            <a:ext cx="1394460" cy="0"/>
          </a:xfrm>
          <a:prstGeom prst="line">
            <a:avLst/>
          </a:prstGeom>
          <a:noFill/>
          <a:ln w="19050">
            <a:solidFill>
              <a:srgbClr val="0078D4"/>
            </a:solidFill>
            <a:prstDash val="solid"/>
          </a:ln>
        </p:spPr>
      </p:sp>
      <p:sp>
        <p:nvSpPr>
          <p:cNvPr id="11" name="Breadcrumb"/>
          <p:cNvSpPr txBox="1"/>
          <p:nvPr/>
        </p:nvSpPr>
        <p:spPr>
          <a:xfrm>
            <a:off x="777240" y="2103120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pedidos-compras</a:t>
            </a:r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</a:rPr>
              <a:t>  ›  </a:t>
            </a:r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webapp</a:t>
            </a:r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</a:rPr>
              <a:t>  ›  </a:t>
            </a:r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manifest.json</a:t>
            </a:r>
            <a:endParaRPr lang="en-US" sz="900" dirty="0"/>
          </a:p>
        </p:txBody>
      </p:sp>
      <p:sp>
        <p:nvSpPr>
          <p:cNvPr id="12" name="Trecho de código"/>
          <p:cNvSpPr txBox="1"/>
          <p:nvPr/>
        </p:nvSpPr>
        <p:spPr>
          <a:xfrm>
            <a:off x="731520" y="2414016"/>
            <a:ext cx="5532120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"PedidoObjectPage"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"name"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"sap.fe.templates.ObjectPage"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"options"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"settings"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"contextPath"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"/Pedido"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"navigation"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"_Itens"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"detail"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"route"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"Pedido__ItensObjectPage"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"_ItensSnapshot"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"detail"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"route"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"Pedido__ItensSnapshotObjectPage"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"controlConfiguration"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"_Itens/@com.sap.vocabularies.UI.v1.LineItem"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"tableSettings"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"creationMode"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"name"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"Inline"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"createAtEnd"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 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3" name="Editor"/>
          <p:cNvSpPr/>
          <p:nvPr/>
        </p:nvSpPr>
        <p:spPr>
          <a:xfrm>
            <a:off x="6629400" y="1645920"/>
            <a:ext cx="5013655" cy="4526280"/>
          </a:xfrm>
          <a:prstGeom prst="roundRect">
            <a:avLst>
              <a:gd name="adj" fmla="val 2020"/>
            </a:avLst>
          </a:prstGeom>
          <a:solidFill>
            <a:srgbClr val="181818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4" name="Área do editor"/>
          <p:cNvSpPr/>
          <p:nvPr/>
        </p:nvSpPr>
        <p:spPr>
          <a:xfrm>
            <a:off x="6629400" y="1993392"/>
            <a:ext cx="5013655" cy="4178808"/>
          </a:xfrm>
          <a:prstGeom prst="roundRect">
            <a:avLst>
              <a:gd name="adj" fmla="val 2188"/>
            </a:avLst>
          </a:prstGeom>
          <a:solidFill>
            <a:srgbClr val="1F1F1F"/>
          </a:solidFill>
          <a:ln/>
        </p:spPr>
      </p:sp>
      <p:sp>
        <p:nvSpPr>
          <p:cNvPr id="15" name="Shape 12"/>
          <p:cNvSpPr/>
          <p:nvPr/>
        </p:nvSpPr>
        <p:spPr>
          <a:xfrm>
            <a:off x="6638544" y="1993392"/>
            <a:ext cx="4995367" cy="13716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16" name="Shape 13"/>
          <p:cNvSpPr/>
          <p:nvPr/>
        </p:nvSpPr>
        <p:spPr>
          <a:xfrm>
            <a:off x="6638544" y="1993392"/>
            <a:ext cx="4995367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17" name="Aba annotation.xml"/>
          <p:cNvSpPr/>
          <p:nvPr/>
        </p:nvSpPr>
        <p:spPr>
          <a:xfrm>
            <a:off x="6720840" y="1719072"/>
            <a:ext cx="1463040" cy="274320"/>
          </a:xfrm>
          <a:prstGeom prst="rect">
            <a:avLst/>
          </a:prstGeom>
          <a:solidFill>
            <a:srgbClr val="1F1F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annotation.xml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720840" y="1719072"/>
            <a:ext cx="1463040" cy="0"/>
          </a:xfrm>
          <a:prstGeom prst="line">
            <a:avLst/>
          </a:prstGeom>
          <a:noFill/>
          <a:ln w="19050">
            <a:solidFill>
              <a:srgbClr val="0078D4"/>
            </a:solidFill>
            <a:prstDash val="solid"/>
          </a:ln>
        </p:spPr>
      </p:sp>
      <p:sp>
        <p:nvSpPr>
          <p:cNvPr id="19" name="Breadcrumb"/>
          <p:cNvSpPr txBox="1"/>
          <p:nvPr/>
        </p:nvSpPr>
        <p:spPr>
          <a:xfrm>
            <a:off x="6858000" y="2103120"/>
            <a:ext cx="45564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pedidos-compras</a:t>
            </a:r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</a:rPr>
              <a:t>  ›  </a:t>
            </a:r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webapp</a:t>
            </a:r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</a:rPr>
              <a:t>  ›  </a:t>
            </a:r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annotations</a:t>
            </a:r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</a:rPr>
              <a:t>  ›  </a:t>
            </a:r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annotation.xml</a:t>
            </a:r>
            <a:endParaRPr lang="en-US" sz="900" dirty="0"/>
          </a:p>
        </p:txBody>
      </p:sp>
      <p:sp>
        <p:nvSpPr>
          <p:cNvPr id="20" name="Trecho de código"/>
          <p:cNvSpPr txBox="1"/>
          <p:nvPr/>
        </p:nvSpPr>
        <p:spPr>
          <a:xfrm>
            <a:off x="6812280" y="2414016"/>
            <a:ext cx="4693615" cy="366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Annotations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"SAP__self.PedidoType/NomeCliente"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Annotation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"Common.SemanticObjectMapping"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Collection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"Common.SemanticObjectMappingType"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PropertyValue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Property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"LocalProperty"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PropertyPath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"CpfCliente"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PropertyValue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Property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"SemanticObjectProperty"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"Cpf"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/&gt;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Collection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Annotation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Annotations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PEDIDOS · ANÁLISE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Análise de Pedidos de Compras</a:t>
            </a:r>
            <a:endParaRPr lang="en-US" sz="3000" dirty="0"/>
          </a:p>
        </p:txBody>
      </p:sp>
      <p:sp>
        <p:nvSpPr>
          <p:cNvPr id="5" name="Fundo da tabela"/>
          <p:cNvSpPr/>
          <p:nvPr/>
        </p:nvSpPr>
        <p:spPr>
          <a:xfrm>
            <a:off x="548640" y="1645920"/>
            <a:ext cx="6720840" cy="2798064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55648"/>
          <a:ext cx="6446520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1600200"/>
                <a:gridCol w="1737360"/>
                <a:gridCol w="86868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2D3E"/>
                          </a:solidFill>
                        </a:rPr>
                        <a:t>Cenário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2D3E"/>
                          </a:solidFill>
                        </a:rPr>
                        <a:t>Dimensão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2D3E"/>
                          </a:solidFill>
                        </a:rPr>
                        <a:t>Medida(s)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2D3E"/>
                          </a:solidFill>
                        </a:rPr>
                        <a:t>Gráfico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PedValorPorStatus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StatusPedido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ValorTotal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</a:rPr>
                        <a:t>colunas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PedPorMes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MesCriacao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QtdePedidos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</a:rPr>
                        <a:t>colunas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PedValorPorUf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Uf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ValorTotal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</a:rPr>
                        <a:t>colunas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PedPorPagamento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StatusPagamento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QtdePedidos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</a:rPr>
                        <a:t>rosca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PedTicketMedio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StatusPedido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ValorMedio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</a:rPr>
                        <a:t>colunas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Cartão"/>
          <p:cNvSpPr/>
          <p:nvPr/>
        </p:nvSpPr>
        <p:spPr>
          <a:xfrm>
            <a:off x="548640" y="4608576"/>
            <a:ext cx="3154680" cy="1563624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731520" y="4745736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D3E"/>
                </a:solidFill>
              </a:rPr>
              <a:t>Filtros</a:t>
            </a:r>
            <a:endParaRPr lang="en-US" sz="1250" dirty="0"/>
          </a:p>
        </p:txBody>
      </p:sp>
      <p:sp>
        <p:nvSpPr>
          <p:cNvPr id="9" name="Status StatusPedido"/>
          <p:cNvSpPr/>
          <p:nvPr/>
        </p:nvSpPr>
        <p:spPr>
          <a:xfrm>
            <a:off x="731520" y="5111496"/>
            <a:ext cx="1082650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StatusPedido</a:t>
            </a:r>
            <a:endParaRPr lang="en-US" sz="1000" dirty="0"/>
          </a:p>
        </p:txBody>
      </p:sp>
      <p:sp>
        <p:nvSpPr>
          <p:cNvPr id="10" name="Status StatusPagamento"/>
          <p:cNvSpPr/>
          <p:nvPr/>
        </p:nvSpPr>
        <p:spPr>
          <a:xfrm>
            <a:off x="1905610" y="5111496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StatusPagamento</a:t>
            </a:r>
            <a:endParaRPr lang="en-US" sz="1000" dirty="0"/>
          </a:p>
        </p:txBody>
      </p:sp>
      <p:sp>
        <p:nvSpPr>
          <p:cNvPr id="11" name="Status Uf"/>
          <p:cNvSpPr/>
          <p:nvPr/>
        </p:nvSpPr>
        <p:spPr>
          <a:xfrm>
            <a:off x="731520" y="5440680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Uf</a:t>
            </a:r>
            <a:endParaRPr lang="en-US" sz="1000" dirty="0"/>
          </a:p>
        </p:txBody>
      </p:sp>
      <p:sp>
        <p:nvSpPr>
          <p:cNvPr id="12" name="Status MesCriacao"/>
          <p:cNvSpPr/>
          <p:nvPr/>
        </p:nvSpPr>
        <p:spPr>
          <a:xfrm>
            <a:off x="1371600" y="5440680"/>
            <a:ext cx="950976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MesCriacao</a:t>
            </a:r>
            <a:endParaRPr lang="en-US" sz="1000" dirty="0"/>
          </a:p>
        </p:txBody>
      </p:sp>
      <p:sp>
        <p:nvSpPr>
          <p:cNvPr id="13" name="Cartão"/>
          <p:cNvSpPr/>
          <p:nvPr/>
        </p:nvSpPr>
        <p:spPr>
          <a:xfrm>
            <a:off x="3977640" y="4608576"/>
            <a:ext cx="3154680" cy="1563624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4160520" y="4745736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D3E"/>
                </a:solidFill>
              </a:rPr>
              <a:t>Indicadores (KPIs)</a:t>
            </a:r>
            <a:endParaRPr lang="en-US" sz="1250" dirty="0"/>
          </a:p>
        </p:txBody>
      </p:sp>
      <p:sp>
        <p:nvSpPr>
          <p:cNvPr id="15" name="Status ValorTotal"/>
          <p:cNvSpPr/>
          <p:nvPr/>
        </p:nvSpPr>
        <p:spPr>
          <a:xfrm>
            <a:off x="4160520" y="5111496"/>
            <a:ext cx="950976" cy="274320"/>
          </a:xfrm>
          <a:prstGeom prst="roundRect">
            <a:avLst>
              <a:gd name="adj" fmla="val 50000"/>
            </a:avLst>
          </a:prstGeom>
          <a:solidFill>
            <a:srgbClr val="F5FA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ValorTotal</a:t>
            </a:r>
            <a:endParaRPr lang="en-US" sz="1000" dirty="0"/>
          </a:p>
        </p:txBody>
      </p:sp>
      <p:sp>
        <p:nvSpPr>
          <p:cNvPr id="16" name="Status QtdePedidos"/>
          <p:cNvSpPr/>
          <p:nvPr/>
        </p:nvSpPr>
        <p:spPr>
          <a:xfrm>
            <a:off x="5202936" y="5111496"/>
            <a:ext cx="1016813" cy="274320"/>
          </a:xfrm>
          <a:prstGeom prst="roundRect">
            <a:avLst>
              <a:gd name="adj" fmla="val 50000"/>
            </a:avLst>
          </a:prstGeom>
          <a:solidFill>
            <a:srgbClr val="F5FA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QtdePedidos</a:t>
            </a:r>
            <a:endParaRPr lang="en-US" sz="1000" dirty="0"/>
          </a:p>
        </p:txBody>
      </p:sp>
      <p:sp>
        <p:nvSpPr>
          <p:cNvPr id="17" name="Status ValorMedio"/>
          <p:cNvSpPr/>
          <p:nvPr/>
        </p:nvSpPr>
        <p:spPr>
          <a:xfrm>
            <a:off x="4160520" y="5440680"/>
            <a:ext cx="950976" cy="274320"/>
          </a:xfrm>
          <a:prstGeom prst="roundRect">
            <a:avLst>
              <a:gd name="adj" fmla="val 50000"/>
            </a:avLst>
          </a:prstGeom>
          <a:solidFill>
            <a:srgbClr val="F5FA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ValorMedio</a:t>
            </a:r>
            <a:endParaRPr lang="en-US" sz="1000" dirty="0"/>
          </a:p>
        </p:txBody>
      </p:sp>
      <p:sp>
        <p:nvSpPr>
          <p:cNvPr id="18" name="Cartão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6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7635240" y="17830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Entity set</a:t>
            </a:r>
            <a:endParaRPr lang="en-US" sz="1050" dirty="0"/>
          </a:p>
        </p:txBody>
      </p:sp>
      <p:sp>
        <p:nvSpPr>
          <p:cNvPr id="20" name="Text 16"/>
          <p:cNvSpPr txBox="1"/>
          <p:nvPr/>
        </p:nvSpPr>
        <p:spPr>
          <a:xfrm>
            <a:off x="8778240" y="1783080"/>
            <a:ext cx="2727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PedidoAnalise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7635240" y="21488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Abrir gestão</a:t>
            </a:r>
            <a:endParaRPr 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8778240" y="2148840"/>
            <a:ext cx="2727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ZPCPedidoCompra-manage</a:t>
            </a:r>
            <a:endParaRPr lang="en-US" sz="1000" dirty="0"/>
          </a:p>
        </p:txBody>
      </p:sp>
      <p:sp>
        <p:nvSpPr>
          <p:cNvPr id="23" name="Text 19"/>
          <p:cNvSpPr txBox="1"/>
          <p:nvPr/>
        </p:nvSpPr>
        <p:spPr>
          <a:xfrm>
            <a:off x="7635240" y="25146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BSP</a:t>
            </a:r>
            <a:endParaRPr lang="en-US" sz="1050" dirty="0"/>
          </a:p>
        </p:txBody>
      </p:sp>
      <p:sp>
        <p:nvSpPr>
          <p:cNvPr id="24" name="Text 20"/>
          <p:cNvSpPr txBox="1"/>
          <p:nvPr/>
        </p:nvSpPr>
        <p:spPr>
          <a:xfrm>
            <a:off x="8778240" y="2514600"/>
            <a:ext cx="2727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ZPC_ANL_PEDIDOS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7635240" y="288036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Painel</a:t>
            </a:r>
            <a:endParaRPr lang="en-US" sz="1050" dirty="0"/>
          </a:p>
        </p:txBody>
      </p:sp>
      <p:sp>
        <p:nvSpPr>
          <p:cNvPr id="26" name="Text 22"/>
          <p:cNvSpPr txBox="1"/>
          <p:nvPr/>
        </p:nvSpPr>
        <p:spPr>
          <a:xfrm>
            <a:off x="8778240" y="2880360"/>
            <a:ext cx="2727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#/</a:t>
            </a:r>
            <a:endParaRPr lang="en-US" sz="1000" dirty="0"/>
          </a:p>
        </p:txBody>
      </p:sp>
      <p:sp>
        <p:nvSpPr>
          <p:cNvPr id="27" name="Text 23"/>
          <p:cNvSpPr txBox="1"/>
          <p:nvPr/>
        </p:nvSpPr>
        <p:spPr>
          <a:xfrm>
            <a:off x="7635240" y="32461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Detalhe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8778240" y="3246120"/>
            <a:ext cx="2727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#/analise/&lt;cenário&gt;</a:t>
            </a:r>
            <a:endParaRPr lang="en-US" sz="1000" dirty="0"/>
          </a:p>
        </p:txBody>
      </p:sp>
      <p:sp>
        <p:nvSpPr>
          <p:cNvPr id="29" name="Text 25"/>
          <p:cNvSpPr txBox="1"/>
          <p:nvPr/>
        </p:nvSpPr>
        <p:spPr>
          <a:xfrm>
            <a:off x="7635240" y="361188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Gráficos</a:t>
            </a:r>
            <a:endParaRPr lang="en-US" sz="1050" dirty="0"/>
          </a:p>
        </p:txBody>
      </p:sp>
      <p:sp>
        <p:nvSpPr>
          <p:cNvPr id="30" name="Text 26"/>
          <p:cNvSpPr txBox="1"/>
          <p:nvPr/>
        </p:nvSpPr>
        <p:spPr>
          <a:xfrm>
            <a:off x="8778240" y="3611880"/>
            <a:ext cx="2727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sap.viz VizFrame</a:t>
            </a:r>
            <a:endParaRPr lang="en-US" sz="1000" dirty="0"/>
          </a:p>
        </p:txBody>
      </p:sp>
      <p:sp>
        <p:nvSpPr>
          <p:cNvPr id="31" name="Text 27"/>
          <p:cNvSpPr txBox="1"/>
          <p:nvPr/>
        </p:nvSpPr>
        <p:spPr>
          <a:xfrm>
            <a:off x="7635240" y="39776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Testes</a:t>
            </a:r>
            <a:endParaRPr lang="en-US" sz="1050" dirty="0"/>
          </a:p>
        </p:txBody>
      </p:sp>
      <p:sp>
        <p:nvSpPr>
          <p:cNvPr id="32" name="Text 28"/>
          <p:cNvSpPr txBox="1"/>
          <p:nvPr/>
        </p:nvSpPr>
        <p:spPr>
          <a:xfrm>
            <a:off x="8778240" y="3977640"/>
            <a:ext cx="2727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QUnit (Scenarios, Query)</a:t>
            </a:r>
            <a:endParaRPr lang="en-US" sz="1000" dirty="0"/>
          </a:p>
        </p:txBody>
      </p:sp>
      <p:sp>
        <p:nvSpPr>
          <p:cNvPr id="33" name="Text 29"/>
          <p:cNvSpPr txBox="1"/>
          <p:nvPr/>
        </p:nvSpPr>
        <p:spPr>
          <a:xfrm>
            <a:off x="7635240" y="4480560"/>
            <a:ext cx="382493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O detalhe de cada cenário troca o tipo de gráfico (colunas, barras, linha, rosca) e mostra a tabela com valores, percentual e total.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3258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ETAPA 5 · REEMBOLSOS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737360"/>
            <a:ext cx="6949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Apps de reembolsos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3832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A app de decisão, sem criar nem editar, e a análise das solicitações por status, mês, UF e motivo.</a:t>
            </a:r>
            <a:endParaRPr lang="en-US" sz="1800" dirty="0"/>
          </a:p>
        </p:txBody>
      </p:sp>
      <p:sp>
        <p:nvSpPr>
          <p:cNvPr id="7" name="Ícone money-bills"/>
          <p:cNvSpPr/>
          <p:nvPr/>
        </p:nvSpPr>
        <p:spPr>
          <a:xfrm>
            <a:off x="731520" y="41148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1B3A7A"/>
          </a:solidFill>
          <a:ln/>
        </p:spPr>
      </p:sp>
      <p:pic>
        <p:nvPicPr>
          <p:cNvPr id="8" name="Image 0" descr="money-bill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085" y="587045"/>
            <a:ext cx="380390" cy="380390"/>
          </a:xfrm>
          <a:prstGeom prst="rect">
            <a:avLst/>
          </a:prstGeom>
        </p:spPr>
      </p:pic>
      <p:sp>
        <p:nvSpPr>
          <p:cNvPr id="9" name="Objetos da seção"/>
          <p:cNvSpPr/>
          <p:nvPr/>
        </p:nvSpPr>
        <p:spPr>
          <a:xfrm>
            <a:off x="8001000" y="1325880"/>
            <a:ext cx="3639312" cy="2221992"/>
          </a:xfrm>
          <a:prstGeom prst="roundRect">
            <a:avLst>
              <a:gd name="adj" fmla="val 4938"/>
            </a:avLst>
          </a:prstGeom>
          <a:solidFill>
            <a:srgbClr val="1B3A7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75320" y="14813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9D1FF"/>
                </a:solidFill>
              </a:rPr>
              <a:t>OBJETOS NESTA SEÇÃO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275320" y="1874520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ui5/apps-list-reports/</a:t>
            </a:r>
            <a:b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</a:b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gestao-reembolsos</a:t>
            </a:r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  Fiori Elements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275320" y="2258568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ZPC_REEMBOLSOS</a:t>
            </a:r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  BSP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275320" y="2642616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ui5/apps-analiticos/</a:t>
            </a:r>
            <a:b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</a:b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analise-reembolsos</a:t>
            </a:r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  SAPUI5 freestyle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275320" y="3026664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ZPC_ANL_REEMB</a:t>
            </a:r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  BSP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REEMBOLSOS · GESTÃO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Gestão de Reembolsos</a:t>
            </a:r>
            <a:endParaRPr lang="en-US" sz="3000" dirty="0"/>
          </a:p>
        </p:txBody>
      </p:sp>
      <p:sp>
        <p:nvSpPr>
          <p:cNvPr id="5" name="Moldura"/>
          <p:cNvSpPr/>
          <p:nvPr/>
        </p:nvSpPr>
        <p:spPr>
          <a:xfrm>
            <a:off x="548640" y="1645920"/>
            <a:ext cx="6729984" cy="4078224"/>
          </a:xfrm>
          <a:prstGeom prst="roundRect">
            <a:avLst>
              <a:gd name="adj" fmla="val 26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pic>
        <p:nvPicPr>
          <p:cNvPr id="6" name="Image 0" descr="Lista da Gestão de Reembols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719072"/>
            <a:ext cx="6583680" cy="3931920"/>
          </a:xfrm>
          <a:prstGeom prst="rect">
            <a:avLst/>
          </a:prstGeom>
        </p:spPr>
      </p:pic>
      <p:sp>
        <p:nvSpPr>
          <p:cNvPr id="7" name="Cartão"/>
          <p:cNvSpPr/>
          <p:nvPr/>
        </p:nvSpPr>
        <p:spPr>
          <a:xfrm>
            <a:off x="7498080" y="1645920"/>
            <a:ext cx="4144975" cy="452628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7726680" y="1828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Pasta</a:t>
            </a:r>
            <a:endParaRPr lang="en-US" sz="1050" dirty="0"/>
          </a:p>
        </p:txBody>
      </p:sp>
      <p:sp>
        <p:nvSpPr>
          <p:cNvPr id="9" name="Text 5"/>
          <p:cNvSpPr txBox="1"/>
          <p:nvPr/>
        </p:nvSpPr>
        <p:spPr>
          <a:xfrm>
            <a:off x="8823960" y="1828800"/>
            <a:ext cx="2636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ui5/apps-list-reports/</a:t>
            </a:r>
            <a:br>
              <a:rPr lang="en-US" sz="10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</a:br>
            <a:r>
              <a:rPr lang="en-US" sz="10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gestao-reembolsos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26680" y="22128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Serviço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8823960" y="2212848"/>
            <a:ext cx="2636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ZUI_PC_REEMBOLSOS_O4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7726680" y="25968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Intent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8823960" y="2596896"/>
            <a:ext cx="2636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ZPCReembolso-manage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7726680" y="298094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BSP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8823960" y="2980944"/>
            <a:ext cx="2636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ZPC_REEMBOLSOS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7726680" y="33649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Páginas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8823960" y="3364992"/>
            <a:ext cx="2636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Reembolso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7726680" y="3886200"/>
            <a:ext cx="3687775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7726680" y="4023360"/>
            <a:ext cx="368777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D2D3E"/>
                </a:solidFill>
              </a:rPr>
              <a:t>Aprovar reembolso: cancela o pedido e devolve o pagamento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D2D3E"/>
                </a:solidFill>
              </a:rPr>
              <a:t>Rejeitar reembolso: motivo obrigatório, pedido retomado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D2D3E"/>
                </a:solidFill>
              </a:rPr>
              <a:t>Botões só com status PENDENTE (feature control)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D2D3E"/>
                </a:solidFill>
              </a:rPr>
              <a:t>Pedido como link direto (WITH_INTENT_BASED_NAVIGATION)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D2D3E"/>
                </a:solidFill>
              </a:rPr>
              <a:t>Cliente e CPF como links para Gestão de Clientes</a:t>
            </a:r>
            <a:endParaRPr lang="en-US" sz="1150" dirty="0"/>
          </a:p>
        </p:txBody>
      </p:sp>
      <p:sp>
        <p:nvSpPr>
          <p:cNvPr id="20" name="Text 16"/>
          <p:cNvSpPr txBox="1"/>
          <p:nvPr/>
        </p:nvSpPr>
        <p:spPr>
          <a:xfrm>
            <a:off x="548640" y="5833872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Gestão: List Report + Object Page, gerada com SAP Fiori tools.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REEMBOLSOS · ANÁLISE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Análise de Pedidos de Reembolsos</a:t>
            </a:r>
            <a:endParaRPr lang="en-US" sz="3000" dirty="0"/>
          </a:p>
        </p:txBody>
      </p:sp>
      <p:sp>
        <p:nvSpPr>
          <p:cNvPr id="5" name="Fundo da tabela"/>
          <p:cNvSpPr/>
          <p:nvPr/>
        </p:nvSpPr>
        <p:spPr>
          <a:xfrm>
            <a:off x="548640" y="1645920"/>
            <a:ext cx="6720840" cy="2798064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55648"/>
          <a:ext cx="6446520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1600200"/>
                <a:gridCol w="1737360"/>
                <a:gridCol w="86868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2D3E"/>
                          </a:solidFill>
                        </a:rPr>
                        <a:t>Cenário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2D3E"/>
                          </a:solidFill>
                        </a:rPr>
                        <a:t>Dimensão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2D3E"/>
                          </a:solidFill>
                        </a:rPr>
                        <a:t>Medida(s)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D2D3E"/>
                          </a:solidFill>
                        </a:rPr>
                        <a:t>Gráfico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ReeValorPorStatus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StatusReembolso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ValorReembolso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</a:rPr>
                        <a:t>colunas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ReeQtdePorStatus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StatusReembolso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QtdeReembolsos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</a:rPr>
                        <a:t>rosca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ReeValorPorMes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MesSolicitacao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ValorReembolso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</a:rPr>
                        <a:t>colunas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ReeValorPorUf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Uf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ValorReembolso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</a:rPr>
                        <a:t>colunas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ReePorMotivo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MotivoSolicitacao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QtdeReembolsos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D2D3E"/>
                          </a:solidFill>
                        </a:rPr>
                        <a:t>colunas</a:t>
                      </a:r>
                      <a:endParaRPr lang="en-US" sz="10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Cartão"/>
          <p:cNvSpPr/>
          <p:nvPr/>
        </p:nvSpPr>
        <p:spPr>
          <a:xfrm>
            <a:off x="548640" y="4608576"/>
            <a:ext cx="3154680" cy="1563624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731520" y="4745736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D3E"/>
                </a:solidFill>
              </a:rPr>
              <a:t>Filtros</a:t>
            </a:r>
            <a:endParaRPr lang="en-US" sz="1250" dirty="0"/>
          </a:p>
        </p:txBody>
      </p:sp>
      <p:sp>
        <p:nvSpPr>
          <p:cNvPr id="9" name="Status StatusReembolso"/>
          <p:cNvSpPr/>
          <p:nvPr/>
        </p:nvSpPr>
        <p:spPr>
          <a:xfrm>
            <a:off x="731520" y="5111496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StatusReembolso</a:t>
            </a:r>
            <a:endParaRPr lang="en-US" sz="1000" dirty="0"/>
          </a:p>
        </p:txBody>
      </p:sp>
      <p:sp>
        <p:nvSpPr>
          <p:cNvPr id="10" name="Status Uf"/>
          <p:cNvSpPr/>
          <p:nvPr/>
        </p:nvSpPr>
        <p:spPr>
          <a:xfrm>
            <a:off x="2103120" y="5111496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Uf</a:t>
            </a:r>
            <a:endParaRPr lang="en-US" sz="1000" dirty="0"/>
          </a:p>
        </p:txBody>
      </p:sp>
      <p:sp>
        <p:nvSpPr>
          <p:cNvPr id="11" name="Status MesSolicitacao"/>
          <p:cNvSpPr/>
          <p:nvPr/>
        </p:nvSpPr>
        <p:spPr>
          <a:xfrm>
            <a:off x="731520" y="5440680"/>
            <a:ext cx="1214323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MesSolicitacao</a:t>
            </a:r>
            <a:endParaRPr lang="en-US" sz="1000" dirty="0"/>
          </a:p>
        </p:txBody>
      </p:sp>
      <p:sp>
        <p:nvSpPr>
          <p:cNvPr id="12" name="Cartão"/>
          <p:cNvSpPr/>
          <p:nvPr/>
        </p:nvSpPr>
        <p:spPr>
          <a:xfrm>
            <a:off x="3977640" y="4608576"/>
            <a:ext cx="3154680" cy="1563624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4160520" y="4745736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2D3E"/>
                </a:solidFill>
              </a:rPr>
              <a:t>Indicadores (KPIs)</a:t>
            </a:r>
            <a:endParaRPr lang="en-US" sz="1250" dirty="0"/>
          </a:p>
        </p:txBody>
      </p:sp>
      <p:sp>
        <p:nvSpPr>
          <p:cNvPr id="14" name="Status QtdeReembolsos"/>
          <p:cNvSpPr/>
          <p:nvPr/>
        </p:nvSpPr>
        <p:spPr>
          <a:xfrm>
            <a:off x="4160520" y="5111496"/>
            <a:ext cx="1214323" cy="274320"/>
          </a:xfrm>
          <a:prstGeom prst="roundRect">
            <a:avLst>
              <a:gd name="adj" fmla="val 50000"/>
            </a:avLst>
          </a:prstGeom>
          <a:solidFill>
            <a:srgbClr val="F5FA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QtdeReembolsos</a:t>
            </a:r>
            <a:endParaRPr lang="en-US" sz="1000" dirty="0"/>
          </a:p>
        </p:txBody>
      </p:sp>
      <p:sp>
        <p:nvSpPr>
          <p:cNvPr id="15" name="Status ValorReembolso"/>
          <p:cNvSpPr/>
          <p:nvPr/>
        </p:nvSpPr>
        <p:spPr>
          <a:xfrm>
            <a:off x="5466283" y="5111496"/>
            <a:ext cx="1214323" cy="274320"/>
          </a:xfrm>
          <a:prstGeom prst="roundRect">
            <a:avLst>
              <a:gd name="adj" fmla="val 50000"/>
            </a:avLst>
          </a:prstGeom>
          <a:solidFill>
            <a:srgbClr val="F5FA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ValorReembolso</a:t>
            </a:r>
            <a:endParaRPr lang="en-US" sz="1000" dirty="0"/>
          </a:p>
        </p:txBody>
      </p:sp>
      <p:sp>
        <p:nvSpPr>
          <p:cNvPr id="16" name="Moldura"/>
          <p:cNvSpPr/>
          <p:nvPr/>
        </p:nvSpPr>
        <p:spPr>
          <a:xfrm>
            <a:off x="7452360" y="1645920"/>
            <a:ext cx="4190695" cy="2561704"/>
          </a:xfrm>
          <a:prstGeom prst="roundRect">
            <a:avLst>
              <a:gd name="adj" fmla="val 42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pic>
        <p:nvPicPr>
          <p:cNvPr id="17" name="Image 0" descr="Análise de Pedidos de Reembols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5512" y="1719072"/>
            <a:ext cx="4044391" cy="2415400"/>
          </a:xfrm>
          <a:prstGeom prst="rect">
            <a:avLst/>
          </a:prstGeom>
        </p:spPr>
      </p:pic>
      <p:sp>
        <p:nvSpPr>
          <p:cNvPr id="18" name="Cartão"/>
          <p:cNvSpPr/>
          <p:nvPr/>
        </p:nvSpPr>
        <p:spPr>
          <a:xfrm>
            <a:off x="7452360" y="4408792"/>
            <a:ext cx="4190695" cy="1763408"/>
          </a:xfrm>
          <a:prstGeom prst="roundRect">
            <a:avLst>
              <a:gd name="adj" fmla="val 6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9" name="Text 14"/>
          <p:cNvSpPr txBox="1"/>
          <p:nvPr/>
        </p:nvSpPr>
        <p:spPr>
          <a:xfrm>
            <a:off x="7635240" y="454595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Entity set</a:t>
            </a:r>
            <a:endParaRPr lang="en-US" sz="1050" dirty="0"/>
          </a:p>
        </p:txBody>
      </p:sp>
      <p:sp>
        <p:nvSpPr>
          <p:cNvPr id="20" name="Text 15"/>
          <p:cNvSpPr txBox="1"/>
          <p:nvPr/>
        </p:nvSpPr>
        <p:spPr>
          <a:xfrm>
            <a:off x="8778240" y="4545952"/>
            <a:ext cx="2727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ReembolsoAnalise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7635240" y="491171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Abrir gestão</a:t>
            </a:r>
            <a:endParaRPr lang="en-US" sz="1050" dirty="0"/>
          </a:p>
        </p:txBody>
      </p:sp>
      <p:sp>
        <p:nvSpPr>
          <p:cNvPr id="22" name="Text 17"/>
          <p:cNvSpPr txBox="1"/>
          <p:nvPr/>
        </p:nvSpPr>
        <p:spPr>
          <a:xfrm>
            <a:off x="8778240" y="4911712"/>
            <a:ext cx="2727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ZPCReembolso-manage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7635240" y="527747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BSP</a:t>
            </a:r>
            <a:endParaRPr lang="en-US" sz="1050" dirty="0"/>
          </a:p>
        </p:txBody>
      </p:sp>
      <p:sp>
        <p:nvSpPr>
          <p:cNvPr id="24" name="Text 19"/>
          <p:cNvSpPr txBox="1"/>
          <p:nvPr/>
        </p:nvSpPr>
        <p:spPr>
          <a:xfrm>
            <a:off x="8778240" y="5277472"/>
            <a:ext cx="2727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ZPC_ANL_REEMB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ANTES DO DEPLOY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Rode os comandos de lint, build e testes</a:t>
            </a:r>
            <a:endParaRPr lang="en-US" sz="3000" dirty="0"/>
          </a:p>
        </p:txBody>
      </p:sp>
      <p:sp>
        <p:nvSpPr>
          <p:cNvPr id="5" name="Cartão"/>
          <p:cNvSpPr/>
          <p:nvPr/>
        </p:nvSpPr>
        <p:spPr>
          <a:xfrm>
            <a:off x="548640" y="1645920"/>
            <a:ext cx="3515258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6" name="Ícone inspection"/>
          <p:cNvSpPr/>
          <p:nvPr/>
        </p:nvSpPr>
        <p:spPr>
          <a:xfrm>
            <a:off x="777240" y="1874520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pic>
        <p:nvPicPr>
          <p:cNvPr id="7" name="Image 0" descr="inspec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357" y="1988637"/>
            <a:ext cx="247254" cy="24725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89888" y="1874520"/>
            <a:ext cx="249113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lint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487168"/>
            <a:ext cx="30580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ESLint com @sap-ux/eslint-plugin-fiori-tools</a:t>
            </a:r>
            <a:endParaRPr lang="en-US" sz="1300" dirty="0"/>
          </a:p>
        </p:txBody>
      </p:sp>
      <p:sp>
        <p:nvSpPr>
          <p:cNvPr id="10" name="Cartão"/>
          <p:cNvSpPr/>
          <p:nvPr/>
        </p:nvSpPr>
        <p:spPr>
          <a:xfrm>
            <a:off x="4338218" y="1645920"/>
            <a:ext cx="3515258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1" name="Ícone sap-box"/>
          <p:cNvSpPr/>
          <p:nvPr/>
        </p:nvSpPr>
        <p:spPr>
          <a:xfrm>
            <a:off x="4566818" y="1874520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E3F7F6"/>
          </a:solidFill>
          <a:ln/>
        </p:spPr>
      </p:sp>
      <p:pic>
        <p:nvPicPr>
          <p:cNvPr id="12" name="Image 1" descr="sap-box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936" y="1988637"/>
            <a:ext cx="247254" cy="24725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179466" y="1874520"/>
            <a:ext cx="249113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build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4566818" y="2487168"/>
            <a:ext cx="30580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ui5 build gera dist/ com cachebuster</a:t>
            </a:r>
            <a:endParaRPr lang="en-US" sz="1300" dirty="0"/>
          </a:p>
        </p:txBody>
      </p:sp>
      <p:sp>
        <p:nvSpPr>
          <p:cNvPr id="15" name="Cartão"/>
          <p:cNvSpPr/>
          <p:nvPr/>
        </p:nvSpPr>
        <p:spPr>
          <a:xfrm>
            <a:off x="8127797" y="1645920"/>
            <a:ext cx="3515258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6" name="Ícone validate"/>
          <p:cNvSpPr/>
          <p:nvPr/>
        </p:nvSpPr>
        <p:spPr>
          <a:xfrm>
            <a:off x="8356397" y="1874520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F5FAE5"/>
          </a:solidFill>
          <a:ln/>
        </p:spPr>
      </p:sp>
      <p:pic>
        <p:nvPicPr>
          <p:cNvPr id="17" name="Image 2" descr="valida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0514" y="1988637"/>
            <a:ext cx="247254" cy="24725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969045" y="1874520"/>
            <a:ext cx="249113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int-test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8356397" y="2487168"/>
            <a:ext cx="30580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OPA5 gerados pelo Fiori tools, com mock server</a:t>
            </a:r>
            <a:endParaRPr lang="en-US" sz="1300" dirty="0"/>
          </a:p>
        </p:txBody>
      </p:sp>
      <p:sp>
        <p:nvSpPr>
          <p:cNvPr id="20" name="Cartão"/>
          <p:cNvSpPr/>
          <p:nvPr/>
        </p:nvSpPr>
        <p:spPr>
          <a:xfrm>
            <a:off x="548640" y="4069080"/>
            <a:ext cx="3515258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21" name="Ícone e-learning"/>
          <p:cNvSpPr/>
          <p:nvPr/>
        </p:nvSpPr>
        <p:spPr>
          <a:xfrm>
            <a:off x="777240" y="4297680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F3ECFB"/>
          </a:solidFill>
          <a:ln/>
        </p:spPr>
      </p:sp>
      <p:pic>
        <p:nvPicPr>
          <p:cNvPr id="22" name="Image 3" descr="e-learni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357" y="4411797"/>
            <a:ext cx="247254" cy="24725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389888" y="4297680"/>
            <a:ext cx="249113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unit-test</a:t>
            </a:r>
            <a:endParaRPr lang="en-US" sz="1400" dirty="0"/>
          </a:p>
        </p:txBody>
      </p:sp>
      <p:sp>
        <p:nvSpPr>
          <p:cNvPr id="24" name="Text 17"/>
          <p:cNvSpPr txBox="1"/>
          <p:nvPr/>
        </p:nvSpPr>
        <p:spPr>
          <a:xfrm>
            <a:off x="777240" y="4910328"/>
            <a:ext cx="30580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QUnit das análises: Scenarios e AnalyticsQuery</a:t>
            </a:r>
            <a:endParaRPr lang="en-US" sz="1300" dirty="0"/>
          </a:p>
        </p:txBody>
      </p:sp>
      <p:sp>
        <p:nvSpPr>
          <p:cNvPr id="25" name="Cartão"/>
          <p:cNvSpPr/>
          <p:nvPr/>
        </p:nvSpPr>
        <p:spPr>
          <a:xfrm>
            <a:off x="4338218" y="4069080"/>
            <a:ext cx="3515258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26" name="Ícone syntax"/>
          <p:cNvSpPr/>
          <p:nvPr/>
        </p:nvSpPr>
        <p:spPr>
          <a:xfrm>
            <a:off x="4566818" y="4297680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FFF3E0"/>
          </a:solidFill>
          <a:ln/>
        </p:spPr>
      </p:sp>
      <p:pic>
        <p:nvPicPr>
          <p:cNvPr id="27" name="Image 4" descr="syntax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0936" y="4411797"/>
            <a:ext cx="247254" cy="247254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5179466" y="4297680"/>
            <a:ext cx="249113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UI5 linter</a:t>
            </a:r>
            <a:endParaRPr lang="en-US" sz="1400" dirty="0"/>
          </a:p>
        </p:txBody>
      </p:sp>
      <p:sp>
        <p:nvSpPr>
          <p:cNvPr id="29" name="Text 21"/>
          <p:cNvSpPr txBox="1"/>
          <p:nvPr/>
        </p:nvSpPr>
        <p:spPr>
          <a:xfrm>
            <a:off x="4566818" y="4910328"/>
            <a:ext cx="30580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APIs depreciadas e boas práticas do SAPUI5</a:t>
            </a:r>
            <a:endParaRPr lang="en-US" sz="1300" dirty="0"/>
          </a:p>
        </p:txBody>
      </p:sp>
      <p:sp>
        <p:nvSpPr>
          <p:cNvPr id="30" name="Cartão"/>
          <p:cNvSpPr/>
          <p:nvPr/>
        </p:nvSpPr>
        <p:spPr>
          <a:xfrm>
            <a:off x="8127797" y="4069080"/>
            <a:ext cx="3515258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31" name="Ícone display"/>
          <p:cNvSpPr/>
          <p:nvPr/>
        </p:nvSpPr>
        <p:spPr>
          <a:xfrm>
            <a:off x="8356397" y="4297680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FDE8F1"/>
          </a:solidFill>
          <a:ln/>
        </p:spPr>
      </p:sp>
      <p:pic>
        <p:nvPicPr>
          <p:cNvPr id="32" name="Image 5" descr="display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0514" y="4411797"/>
            <a:ext cx="247254" cy="247254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8969045" y="4297680"/>
            <a:ext cx="249113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start-mock</a:t>
            </a:r>
            <a:endParaRPr lang="en-US" sz="1400" dirty="0"/>
          </a:p>
        </p:txBody>
      </p:sp>
      <p:sp>
        <p:nvSpPr>
          <p:cNvPr id="34" name="Text 25"/>
          <p:cNvSpPr txBox="1"/>
          <p:nvPr/>
        </p:nvSpPr>
        <p:spPr>
          <a:xfrm>
            <a:off x="8356397" y="4910328"/>
            <a:ext cx="30580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Interface sem backend, com dados gerados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DEPLOY · SAP BTP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npm run deploy grava a app no ABAP Repository</a:t>
            </a:r>
            <a:endParaRPr lang="en-US" sz="3000" dirty="0"/>
          </a:p>
        </p:txBody>
      </p:sp>
      <p:sp>
        <p:nvSpPr>
          <p:cNvPr id="5" name="Editor"/>
          <p:cNvSpPr/>
          <p:nvPr/>
        </p:nvSpPr>
        <p:spPr>
          <a:xfrm>
            <a:off x="548640" y="1645920"/>
            <a:ext cx="5760720" cy="3383280"/>
          </a:xfrm>
          <a:prstGeom prst="roundRect">
            <a:avLst>
              <a:gd name="adj" fmla="val 2703"/>
            </a:avLst>
          </a:prstGeom>
          <a:solidFill>
            <a:srgbClr val="181818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6" name="Área do editor"/>
          <p:cNvSpPr/>
          <p:nvPr/>
        </p:nvSpPr>
        <p:spPr>
          <a:xfrm>
            <a:off x="548640" y="1993392"/>
            <a:ext cx="5760720" cy="3035808"/>
          </a:xfrm>
          <a:prstGeom prst="roundRect">
            <a:avLst>
              <a:gd name="adj" fmla="val 3012"/>
            </a:avLst>
          </a:prstGeom>
          <a:solidFill>
            <a:srgbClr val="1F1F1F"/>
          </a:solidFill>
          <a:ln/>
        </p:spPr>
      </p:sp>
      <p:sp>
        <p:nvSpPr>
          <p:cNvPr id="7" name="Shape 4"/>
          <p:cNvSpPr/>
          <p:nvPr/>
        </p:nvSpPr>
        <p:spPr>
          <a:xfrm>
            <a:off x="557784" y="1993392"/>
            <a:ext cx="5742432" cy="13716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8" name="Shape 5"/>
          <p:cNvSpPr/>
          <p:nvPr/>
        </p:nvSpPr>
        <p:spPr>
          <a:xfrm>
            <a:off x="557784" y="1993392"/>
            <a:ext cx="5742432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9" name="Aba ui5-deploy.yaml"/>
          <p:cNvSpPr/>
          <p:nvPr/>
        </p:nvSpPr>
        <p:spPr>
          <a:xfrm>
            <a:off x="640080" y="1719072"/>
            <a:ext cx="1531620" cy="274320"/>
          </a:xfrm>
          <a:prstGeom prst="rect">
            <a:avLst/>
          </a:prstGeom>
          <a:solidFill>
            <a:srgbClr val="1F1F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ui5-deploy.yaml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1719072"/>
            <a:ext cx="1531620" cy="0"/>
          </a:xfrm>
          <a:prstGeom prst="line">
            <a:avLst/>
          </a:prstGeom>
          <a:noFill/>
          <a:ln w="19050">
            <a:solidFill>
              <a:srgbClr val="0078D4"/>
            </a:solidFill>
            <a:prstDash val="solid"/>
          </a:ln>
        </p:spPr>
      </p:sp>
      <p:sp>
        <p:nvSpPr>
          <p:cNvPr id="11" name="Breadcrumb"/>
          <p:cNvSpPr txBox="1"/>
          <p:nvPr/>
        </p:nvSpPr>
        <p:spPr>
          <a:xfrm>
            <a:off x="777240" y="210312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ui5</a:t>
            </a:r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</a:rPr>
              <a:t>  ›  </a:t>
            </a:r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apps-list-reports</a:t>
            </a:r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</a:rPr>
              <a:t>  ›  </a:t>
            </a:r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pedidos-compras</a:t>
            </a:r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</a:rPr>
              <a:t>  ›  </a:t>
            </a:r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ui5-deploy.yaml</a:t>
            </a:r>
            <a:endParaRPr lang="en-US" sz="900" dirty="0"/>
          </a:p>
        </p:txBody>
      </p:sp>
      <p:sp>
        <p:nvSpPr>
          <p:cNvPr id="12" name="Trecho de código"/>
          <p:cNvSpPr txBox="1"/>
          <p:nvPr/>
        </p:nvSpPr>
        <p:spPr>
          <a:xfrm>
            <a:off x="731520" y="2414016"/>
            <a:ext cx="5440680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customTasks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deploy-to-abap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afterTask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generateCachebusterInfo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configuration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https://&lt;id&gt;.abap.us10.hana.ondemand.com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"100"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authenticationType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reentranceTicket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ZPC_PEDIDOS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 de Compras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ZAVBS_PC_PEDIDOS</a:t>
            </a: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ou ZPK_PC_PEDIDOS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transport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endParaRPr lang="en-US" sz="1100" dirty="0"/>
          </a:p>
        </p:txBody>
      </p:sp>
      <p:sp>
        <p:nvSpPr>
          <p:cNvPr id="13" name="Fundo da tabela"/>
          <p:cNvSpPr/>
          <p:nvPr/>
        </p:nvSpPr>
        <p:spPr>
          <a:xfrm>
            <a:off x="6629400" y="1645920"/>
            <a:ext cx="5013655" cy="2852928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1755648"/>
          <a:ext cx="4739335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280160"/>
                <a:gridCol w="1858975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App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BSP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Pacote (prefixo opcional)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D2D3E"/>
                          </a:solidFill>
                        </a:rPr>
                        <a:t>Gestão de Clientes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ZPC_CLIENTES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ZAVBS_PC_CLIENTES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D2D3E"/>
                          </a:solidFill>
                        </a:rPr>
                        <a:t>Gestão de Estoque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ZPC_ESTOQUE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ZAVBS_PC_ESTOQUE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D2D3E"/>
                          </a:solidFill>
                        </a:rPr>
                        <a:t>Pedidos de Compras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ZPC_PEDIDOS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ZAVBS_PC_PEDIDOS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D2D3E"/>
                          </a:solidFill>
                        </a:rPr>
                        <a:t>Gestão de Reembolsos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ZPC_REEMBOLSOS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ZAVBS_PC_REEMBOLSOS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D2D3E"/>
                          </a:solidFill>
                        </a:rPr>
                        <a:t>4 análises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ZPC_ANL_*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pacote do domínio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Cartão"/>
          <p:cNvSpPr/>
          <p:nvPr/>
        </p:nvSpPr>
        <p:spPr>
          <a:xfrm>
            <a:off x="548640" y="5257800"/>
            <a:ext cx="2602154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6" name="Ícone upload-to-cloud"/>
          <p:cNvSpPr/>
          <p:nvPr/>
        </p:nvSpPr>
        <p:spPr>
          <a:xfrm>
            <a:off x="731520" y="544068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pic>
        <p:nvPicPr>
          <p:cNvPr id="17" name="Image 0" descr="upload-to-clou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194" y="5572354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417320" y="5257800"/>
            <a:ext cx="15963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npm run deploy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3169082" y="5715000"/>
            <a:ext cx="192024" cy="0"/>
          </a:xfrm>
          <a:prstGeom prst="line">
            <a:avLst/>
          </a:prstGeom>
          <a:noFill/>
          <a:ln w="19050">
            <a:solidFill>
              <a:srgbClr val="556B82"/>
            </a:solidFill>
            <a:prstDash val="solid"/>
            <a:tailEnd type="triangle"/>
          </a:ln>
        </p:spPr>
      </p:sp>
      <p:sp>
        <p:nvSpPr>
          <p:cNvPr id="20" name="Cartão"/>
          <p:cNvSpPr/>
          <p:nvPr/>
        </p:nvSpPr>
        <p:spPr>
          <a:xfrm>
            <a:off x="3379394" y="5257800"/>
            <a:ext cx="2602154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21" name="Ícone sap-box"/>
          <p:cNvSpPr/>
          <p:nvPr/>
        </p:nvSpPr>
        <p:spPr>
          <a:xfrm>
            <a:off x="3562274" y="544068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pic>
        <p:nvPicPr>
          <p:cNvPr id="22" name="Image 1" descr="sap-box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3947" y="5572354"/>
            <a:ext cx="285293" cy="285293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4248074" y="5257800"/>
            <a:ext cx="15963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BSP + IAM App _UI5R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5999836" y="5715000"/>
            <a:ext cx="192024" cy="0"/>
          </a:xfrm>
          <a:prstGeom prst="line">
            <a:avLst/>
          </a:prstGeom>
          <a:noFill/>
          <a:ln w="19050">
            <a:solidFill>
              <a:srgbClr val="556B82"/>
            </a:solidFill>
            <a:prstDash val="solid"/>
            <a:tailEnd type="triangle"/>
          </a:ln>
        </p:spPr>
      </p:sp>
      <p:sp>
        <p:nvSpPr>
          <p:cNvPr id="25" name="Cartão"/>
          <p:cNvSpPr/>
          <p:nvPr/>
        </p:nvSpPr>
        <p:spPr>
          <a:xfrm>
            <a:off x="6210148" y="5257800"/>
            <a:ext cx="2602154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26" name="Ícone list"/>
          <p:cNvSpPr/>
          <p:nvPr/>
        </p:nvSpPr>
        <p:spPr>
          <a:xfrm>
            <a:off x="6393028" y="544068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pic>
        <p:nvPicPr>
          <p:cNvPr id="27" name="Image 2" descr="lis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701" y="5572354"/>
            <a:ext cx="285293" cy="285293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7078828" y="5257800"/>
            <a:ext cx="15963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Business Catalog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8830589" y="5715000"/>
            <a:ext cx="192024" cy="0"/>
          </a:xfrm>
          <a:prstGeom prst="line">
            <a:avLst/>
          </a:prstGeom>
          <a:noFill/>
          <a:ln w="19050">
            <a:solidFill>
              <a:srgbClr val="556B82"/>
            </a:solidFill>
            <a:prstDash val="solid"/>
            <a:tailEnd type="triangle"/>
          </a:ln>
        </p:spPr>
      </p:sp>
      <p:sp>
        <p:nvSpPr>
          <p:cNvPr id="30" name="Cartão"/>
          <p:cNvSpPr/>
          <p:nvPr/>
        </p:nvSpPr>
        <p:spPr>
          <a:xfrm>
            <a:off x="9040901" y="5257800"/>
            <a:ext cx="2602154" cy="914400"/>
          </a:xfrm>
          <a:prstGeom prst="roundRect">
            <a:avLst>
              <a:gd name="adj" fmla="val 12000"/>
            </a:avLst>
          </a:prstGeom>
          <a:solidFill>
            <a:srgbClr val="0070F2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31" name="Ícone home"/>
          <p:cNvSpPr/>
          <p:nvPr/>
        </p:nvSpPr>
        <p:spPr>
          <a:xfrm>
            <a:off x="9223781" y="544068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/>
        </p:spPr>
      </p:sp>
      <p:pic>
        <p:nvPicPr>
          <p:cNvPr id="32" name="Image 3" descr="hom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5455" y="5572354"/>
            <a:ext cx="285293" cy="285293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9909581" y="5257800"/>
            <a:ext cx="15963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Launchpad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ACESSO NO TRIAL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No trial, a entrada é o SAP Build Work Zone</a:t>
            </a:r>
            <a:endParaRPr lang="en-US" sz="3000" dirty="0"/>
          </a:p>
        </p:txBody>
      </p:sp>
      <p:sp>
        <p:nvSpPr>
          <p:cNvPr id="5" name="Cartão"/>
          <p:cNvSpPr/>
          <p:nvPr/>
        </p:nvSpPr>
        <p:spPr>
          <a:xfrm>
            <a:off x="548640" y="1645920"/>
            <a:ext cx="3515258" cy="4526280"/>
          </a:xfrm>
          <a:prstGeom prst="roundRect">
            <a:avLst>
              <a:gd name="adj" fmla="val 31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6" name="Ícone world"/>
          <p:cNvSpPr/>
          <p:nvPr/>
        </p:nvSpPr>
        <p:spPr>
          <a:xfrm>
            <a:off x="822960" y="1874520"/>
            <a:ext cx="594360" cy="594360"/>
          </a:xfrm>
          <a:prstGeom prst="roundRect">
            <a:avLst>
              <a:gd name="adj" fmla="val 22000"/>
            </a:avLst>
          </a:prstGeom>
          <a:solidFill>
            <a:srgbClr val="F5FAE5"/>
          </a:solidFill>
          <a:ln/>
        </p:spPr>
      </p:sp>
      <p:pic>
        <p:nvPicPr>
          <p:cNvPr id="7" name="Image 0" descr="worl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2017166"/>
            <a:ext cx="309067" cy="309067"/>
          </a:xfrm>
          <a:prstGeom prst="rect">
            <a:avLst/>
          </a:prstGeom>
        </p:spPr>
      </p:pic>
      <p:sp>
        <p:nvSpPr>
          <p:cNvPr id="8" name="Status Adotado"/>
          <p:cNvSpPr/>
          <p:nvPr/>
        </p:nvSpPr>
        <p:spPr>
          <a:xfrm>
            <a:off x="2990027" y="2011680"/>
            <a:ext cx="799551" cy="274320"/>
          </a:xfrm>
          <a:prstGeom prst="roundRect">
            <a:avLst>
              <a:gd name="adj" fmla="val 50000"/>
            </a:avLst>
          </a:prstGeom>
          <a:solidFill>
            <a:srgbClr val="F5FA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F3A"/>
                </a:solidFill>
              </a:rPr>
              <a:t>Adotado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2697480"/>
            <a:ext cx="29666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Work Zone com tiles URL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3383280"/>
            <a:ext cx="29666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2D3E"/>
                </a:solidFill>
              </a:rPr>
              <a:t>Content Manager → New App: URL da BSP, abrir em nova aba, intent próprio e role Everyone.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22960" y="4846320"/>
            <a:ext cx="2966618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22960" y="4983480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Cada app funciona isolada; a navegação entre apps depende do shell.</a:t>
            </a:r>
            <a:endParaRPr lang="en-US" sz="1150" dirty="0"/>
          </a:p>
        </p:txBody>
      </p:sp>
      <p:sp>
        <p:nvSpPr>
          <p:cNvPr id="13" name="Cartão"/>
          <p:cNvSpPr/>
          <p:nvPr/>
        </p:nvSpPr>
        <p:spPr>
          <a:xfrm>
            <a:off x="4338218" y="1645920"/>
            <a:ext cx="3515258" cy="4526280"/>
          </a:xfrm>
          <a:prstGeom prst="roundRect">
            <a:avLst>
              <a:gd name="adj" fmla="val 31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4" name="Ícone home"/>
          <p:cNvSpPr/>
          <p:nvPr/>
        </p:nvSpPr>
        <p:spPr>
          <a:xfrm>
            <a:off x="4612538" y="1874520"/>
            <a:ext cx="594360" cy="59436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pic>
        <p:nvPicPr>
          <p:cNvPr id="15" name="Image 1" descr="hom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5185" y="2017166"/>
            <a:ext cx="309067" cy="309067"/>
          </a:xfrm>
          <a:prstGeom prst="rect">
            <a:avLst/>
          </a:prstGeom>
        </p:spPr>
      </p:pic>
      <p:sp>
        <p:nvSpPr>
          <p:cNvPr id="16" name="Status Fora do trial"/>
          <p:cNvSpPr/>
          <p:nvPr/>
        </p:nvSpPr>
        <p:spPr>
          <a:xfrm>
            <a:off x="6345083" y="2011680"/>
            <a:ext cx="1234074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4D9"/>
                </a:solidFill>
              </a:rPr>
              <a:t>Fora do trial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4612538" y="2697480"/>
            <a:ext cx="29666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Launchpad do ABAP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4612538" y="3383280"/>
            <a:ext cx="29666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2D3E"/>
                </a:solidFill>
              </a:rPr>
              <a:t>ZPC_*_UI5R nos catálogos ZPC_BC_* → Business Roles → Manage Launchpad Spaces.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4612538" y="4846320"/>
            <a:ext cx="2966618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4612538" y="4983480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Caminho padrão em sistemas com os apps de administração.</a:t>
            </a:r>
            <a:endParaRPr lang="en-US" sz="1150" dirty="0"/>
          </a:p>
        </p:txBody>
      </p:sp>
      <p:sp>
        <p:nvSpPr>
          <p:cNvPr id="21" name="Cartão"/>
          <p:cNvSpPr/>
          <p:nvPr/>
        </p:nvSpPr>
        <p:spPr>
          <a:xfrm>
            <a:off x="8127797" y="1645920"/>
            <a:ext cx="3515258" cy="4526280"/>
          </a:xfrm>
          <a:prstGeom prst="roundRect">
            <a:avLst>
              <a:gd name="adj" fmla="val 31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22" name="Ícone cloud"/>
          <p:cNvSpPr/>
          <p:nvPr/>
        </p:nvSpPr>
        <p:spPr>
          <a:xfrm>
            <a:off x="8402117" y="1874520"/>
            <a:ext cx="594360" cy="594360"/>
          </a:xfrm>
          <a:prstGeom prst="roundRect">
            <a:avLst>
              <a:gd name="adj" fmla="val 22000"/>
            </a:avLst>
          </a:prstGeom>
          <a:solidFill>
            <a:srgbClr val="FFEAF4"/>
          </a:solidFill>
          <a:ln/>
        </p:spPr>
      </p:sp>
      <p:pic>
        <p:nvPicPr>
          <p:cNvPr id="23" name="Image 2" descr="clou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763" y="2017166"/>
            <a:ext cx="309067" cy="309067"/>
          </a:xfrm>
          <a:prstGeom prst="rect">
            <a:avLst/>
          </a:prstGeom>
        </p:spPr>
      </p:pic>
      <p:sp>
        <p:nvSpPr>
          <p:cNvPr id="24" name="Status Descartado"/>
          <p:cNvSpPr/>
          <p:nvPr/>
        </p:nvSpPr>
        <p:spPr>
          <a:xfrm>
            <a:off x="10351922" y="2011680"/>
            <a:ext cx="1016813" cy="274320"/>
          </a:xfrm>
          <a:prstGeom prst="roundRect">
            <a:avLst>
              <a:gd name="adj" fmla="val 50000"/>
            </a:avLst>
          </a:prstGeom>
          <a:solidFill>
            <a:srgbClr val="FFEAF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A0808"/>
                </a:solidFill>
              </a:rPr>
              <a:t>Descartado</a:t>
            </a:r>
            <a:endParaRPr lang="en-US" sz="1100" dirty="0"/>
          </a:p>
        </p:txBody>
      </p:sp>
      <p:sp>
        <p:nvSpPr>
          <p:cNvPr id="25" name="Text 19"/>
          <p:cNvSpPr txBox="1"/>
          <p:nvPr/>
        </p:nvSpPr>
        <p:spPr>
          <a:xfrm>
            <a:off x="8402117" y="2697480"/>
            <a:ext cx="29666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HTML5 repo no Cloud Foundry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8402117" y="3383280"/>
            <a:ext cx="29666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2D3E"/>
                </a:solidFill>
              </a:rPr>
              <a:t>Work Zone só aceita login pelo IAS; o ABAP trial reconhece só o usuário do SAP ID.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8402117" y="4846320"/>
            <a:ext cx="2966618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8402117" y="4983480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Resultado: OData responde 401, mesmo com token exchange.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RESUMO DA ETAPA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9601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O que construímos na etapa 5</a:t>
            </a:r>
            <a:endParaRPr lang="en-US" sz="3600" dirty="0"/>
          </a:p>
        </p:txBody>
      </p:sp>
      <p:sp>
        <p:nvSpPr>
          <p:cNvPr id="4" name="Marcador"/>
          <p:cNvSpPr/>
          <p:nvPr/>
        </p:nvSpPr>
        <p:spPr>
          <a:xfrm>
            <a:off x="731520" y="2103120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5" name="Image 0" descr="concluído">    </p:cNvPr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832104" y="2203704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202996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Quatro apps Fiori Elements geradas com SAP Fiori tools</a:t>
            </a:r>
            <a:endParaRPr lang="en-US" sz="1500" dirty="0"/>
          </a:p>
        </p:txBody>
      </p:sp>
      <p:sp>
        <p:nvSpPr>
          <p:cNvPr id="7" name="Marcador"/>
          <p:cNvSpPr/>
          <p:nvPr/>
        </p:nvSpPr>
        <p:spPr>
          <a:xfrm>
            <a:off x="6263640" y="2103120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8" name="Image 1" descr="concluído">    </p:cNvPr>
          <p:cNvPicPr>
            <a:picLocks noChangeAspect="1"/>
          </p:cNvPicPr>
          <p:nvPr/>
        </p:nvPicPr>
        <p:blipFill>
          <a:blip r:embed="rId101"/>
          <a:stretch>
            <a:fillRect/>
          </a:stretch>
        </p:blipFill>
        <p:spPr>
          <a:xfrm>
            <a:off x="6364224" y="2203704"/>
            <a:ext cx="256032" cy="25603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903720" y="202996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Quatro análises SAPUI5 freestyle sobre ZUI_PC_ANALITICO</a:t>
            </a:r>
            <a:endParaRPr lang="en-US" sz="1500" dirty="0"/>
          </a:p>
        </p:txBody>
      </p:sp>
      <p:sp>
        <p:nvSpPr>
          <p:cNvPr id="10" name="Marcador"/>
          <p:cNvSpPr/>
          <p:nvPr/>
        </p:nvSpPr>
        <p:spPr>
          <a:xfrm>
            <a:off x="731520" y="3063240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11" name="Image 2" descr="concluído">    </p:cNvPr>
          <p:cNvPicPr>
            <a:picLocks noChangeAspect="1"/>
          </p:cNvPicPr>
          <p:nvPr/>
        </p:nvPicPr>
        <p:blipFill>
          <a:blip r:embed="rId102"/>
          <a:stretch>
            <a:fillRect/>
          </a:stretch>
        </p:blipFill>
        <p:spPr>
          <a:xfrm>
            <a:off x="832104" y="3163824"/>
            <a:ext cx="256032" cy="25603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71600" y="299008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Navegação entre apps por semantic objects</a:t>
            </a:r>
            <a:endParaRPr lang="en-US" sz="1500" dirty="0"/>
          </a:p>
        </p:txBody>
      </p:sp>
      <p:sp>
        <p:nvSpPr>
          <p:cNvPr id="13" name="Marcador"/>
          <p:cNvSpPr/>
          <p:nvPr/>
        </p:nvSpPr>
        <p:spPr>
          <a:xfrm>
            <a:off x="6263640" y="3063240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14" name="Image 3" descr="concluído">    </p:cNvPr>
          <p:cNvPicPr>
            <a:picLocks noChangeAspect="1"/>
          </p:cNvPicPr>
          <p:nvPr/>
        </p:nvPicPr>
        <p:blipFill>
          <a:blip r:embed="rId103"/>
          <a:stretch>
            <a:fillRect/>
          </a:stretch>
        </p:blipFill>
        <p:spPr>
          <a:xfrm>
            <a:off x="6364224" y="3163824"/>
            <a:ext cx="256032" cy="25603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903720" y="299008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Launchpad local para testar tudo junto</a:t>
            </a:r>
            <a:endParaRPr lang="en-US" sz="1500" dirty="0"/>
          </a:p>
        </p:txBody>
      </p:sp>
      <p:sp>
        <p:nvSpPr>
          <p:cNvPr id="16" name="Marcador"/>
          <p:cNvSpPr/>
          <p:nvPr/>
        </p:nvSpPr>
        <p:spPr>
          <a:xfrm>
            <a:off x="731520" y="4023360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17" name="Image 4" descr="concluído">    </p:cNvPr>
          <p:cNvPicPr>
            <a:picLocks noChangeAspect="1"/>
          </p:cNvPicPr>
          <p:nvPr/>
        </p:nvPicPr>
        <p:blipFill>
          <a:blip r:embed="rId104"/>
          <a:stretch>
            <a:fillRect/>
          </a:stretch>
        </p:blipFill>
        <p:spPr>
          <a:xfrm>
            <a:off x="832104" y="4123944"/>
            <a:ext cx="256032" cy="25603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371600" y="395020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SAP BTP: BSP, IAM App e acesso pelo SAP Build Work Zone</a:t>
            </a:r>
            <a:endParaRPr lang="en-US" sz="1500" dirty="0"/>
          </a:p>
        </p:txBody>
      </p:sp>
      <p:sp>
        <p:nvSpPr>
          <p:cNvPr id="19" name="Marcador"/>
          <p:cNvSpPr/>
          <p:nvPr/>
        </p:nvSpPr>
        <p:spPr>
          <a:xfrm>
            <a:off x="6263640" y="4023360"/>
            <a:ext cx="457200" cy="457200"/>
          </a:xfrm>
          <a:prstGeom prst="roundRect">
            <a:avLst>
              <a:gd name="adj" fmla="val 22000"/>
            </a:avLst>
          </a:prstGeom>
          <a:solidFill>
            <a:schemeClr val="accent1"/>
          </a:solidFill>
          <a:ln/>
        </p:spPr>
      </p:sp>
      <p:pic>
        <p:nvPicPr>
          <p:cNvPr id="20" name="Image 5" descr="concluído">    </p:cNvPr>
          <p:cNvPicPr>
            <a:picLocks noChangeAspect="1"/>
          </p:cNvPicPr>
          <p:nvPr/>
        </p:nvPicPr>
        <p:blipFill>
          <a:blip r:embed="rId105"/>
          <a:stretch>
            <a:fillRect/>
          </a:stretch>
        </p:blipFill>
        <p:spPr>
          <a:xfrm>
            <a:off x="6364224" y="4123944"/>
            <a:ext cx="256032" cy="256032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6903720" y="3950208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On-Premise: SAPUI5 1.136+, roles PFCG e SAP Fiori launchpad</a:t>
            </a:r>
            <a:endParaRPr lang="en-US" sz="1500" dirty="0"/>
          </a:p>
        </p:txBody>
      </p:sp>
      <p:sp>
        <p:nvSpPr>
          <p:cNvPr id="22" name="Próxima etapa"/>
          <p:cNvSpPr/>
          <p:nvPr/>
        </p:nvSpPr>
        <p:spPr>
          <a:xfrm>
            <a:off x="731520" y="5394960"/>
            <a:ext cx="10725912" cy="777240"/>
          </a:xfrm>
          <a:prstGeom prst="roundRect">
            <a:avLst>
              <a:gd name="adj" fmla="val 16471"/>
            </a:avLst>
          </a:prstGeom>
          <a:solidFill>
            <a:srgbClr val="1B3A7A"/>
          </a:solidFill>
          <a:ln/>
        </p:spPr>
      </p:sp>
      <p:pic>
        <p:nvPicPr>
          <p:cNvPr id="23" name="Image 6" descr="próxima etapa">    </p:cNvPr>
          <p:cNvPicPr>
            <a:picLocks noChangeAspect="1"/>
          </p:cNvPicPr>
          <p:nvPr/>
        </p:nvPicPr>
        <p:blipFill>
          <a:blip r:embed="rId106"/>
          <a:stretch>
            <a:fillRect/>
          </a:stretch>
        </p:blipFill>
        <p:spPr>
          <a:xfrm>
            <a:off x="960120" y="5559552"/>
            <a:ext cx="438912" cy="438912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600200" y="544068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9D1FF"/>
                </a:solidFill>
              </a:rPr>
              <a:t>Série concluída ·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CDS, RAP, OData e Fiori no SAP BTP ou On-Premise.</a:t>
            </a:r>
            <a:endParaRPr lang="en-US" sz="1600" dirty="0"/>
          </a:p>
        </p:txBody>
      </p:sp>
      <p:sp>
        <p:nvSpPr>
          <p:cNvPr id="40" name="Rodapé"/>
          <p:cNvSpPr txBox="1"/>
          <p:nvPr/>
        </p:nvSpPr>
        <p:spPr>
          <a:xfrm>
            <a:off x="731520" y="6419088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pt-BR" sz="1000" dirty="0">
                <a:solidFill>
                  <a:srgbClr val="89D1FF"/>
                </a:solidFill>
              </a:rPr>
              <a:t>Pedidos de Compras · SAP RAP no BTP e On-Premise  ·  Etapa 5 de 5 — Apps Fiori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3258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ETAPA 5 · ON-PREMISE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1737360"/>
            <a:ext cx="6949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Apps no SAP Fiori launchpad do S/4HANA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3832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Versão de deploy, BSPs publicadas com transporte, conteúdo do launchpad e as autorizações que liberam os tiles e os serviços.</a:t>
            </a:r>
            <a:endParaRPr lang="en-US" sz="1800" dirty="0"/>
          </a:p>
        </p:txBody>
      </p:sp>
      <p:sp>
        <p:nvSpPr>
          <p:cNvPr id="7" name="Ícone settings"/>
          <p:cNvSpPr/>
          <p:nvPr/>
        </p:nvSpPr>
        <p:spPr>
          <a:xfrm>
            <a:off x="731520" y="41148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1B3A7A"/>
          </a:solidFill>
          <a:ln/>
        </p:spPr>
      </p:sp>
      <p:pic>
        <p:nvPicPr>
          <p:cNvPr id="8" name="Image 0" descr="setting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085" y="587045"/>
            <a:ext cx="380390" cy="380390"/>
          </a:xfrm>
          <a:prstGeom prst="rect">
            <a:avLst/>
          </a:prstGeom>
        </p:spPr>
      </p:pic>
      <p:sp>
        <p:nvSpPr>
          <p:cNvPr id="9" name="Objetos da seção"/>
          <p:cNvSpPr/>
          <p:nvPr/>
        </p:nvSpPr>
        <p:spPr>
          <a:xfrm>
            <a:off x="8001000" y="1325880"/>
            <a:ext cx="3639312" cy="2990088"/>
          </a:xfrm>
          <a:prstGeom prst="roundRect">
            <a:avLst>
              <a:gd name="adj" fmla="val 3670"/>
            </a:avLst>
          </a:prstGeom>
          <a:solidFill>
            <a:srgbClr val="1B3A7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275320" y="14813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89D1FF"/>
                </a:solidFill>
              </a:rPr>
              <a:t>OBJETOS NESTA SEÇÃO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275320" y="1874520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SAPUI5 1.136+</a:t>
            </a:r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  versão mínima das apps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275320" y="2258568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S/4HANA 2025 FPS01</a:t>
            </a:r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  FES 2025 · SAP_UI 816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275320" y="2642616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/UI5/ABAP_REPOSITORY_SRV</a:t>
            </a:r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  deploy das BSPs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275320" y="3026664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/UI2/FLPAM</a:t>
            </a:r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  catálogo técnico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275320" y="3410712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/UI2/FLPCM_CUST</a:t>
            </a:r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  espaço e página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8275320" y="3794760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Z_PC_ADMIN · Z_PC_COMUM</a:t>
            </a:r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  roles PFCG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DEPLOY · ON-PREMISE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Deploy no On-Premise: SAPUI5 1.136 e ordem de transporte</a:t>
            </a:r>
            <a:endParaRPr lang="en-US" sz="3000" dirty="0"/>
          </a:p>
        </p:txBody>
      </p:sp>
      <p:sp>
        <p:nvSpPr>
          <p:cNvPr id="5" name="Editor"/>
          <p:cNvSpPr/>
          <p:nvPr/>
        </p:nvSpPr>
        <p:spPr>
          <a:xfrm>
            <a:off x="548640" y="1645920"/>
            <a:ext cx="5760720" cy="3383280"/>
          </a:xfrm>
          <a:prstGeom prst="roundRect">
            <a:avLst>
              <a:gd name="adj" fmla="val 2703"/>
            </a:avLst>
          </a:prstGeom>
          <a:solidFill>
            <a:srgbClr val="181818"/>
          </a:solidFill>
          <a:ln w="9525">
            <a:solidFill>
              <a:srgbClr val="2B2B2B"/>
            </a:solidFill>
            <a:prstDash val="solid"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6" name="Área do editor"/>
          <p:cNvSpPr/>
          <p:nvPr/>
        </p:nvSpPr>
        <p:spPr>
          <a:xfrm>
            <a:off x="548640" y="1993392"/>
            <a:ext cx="5760720" cy="3035808"/>
          </a:xfrm>
          <a:prstGeom prst="roundRect">
            <a:avLst>
              <a:gd name="adj" fmla="val 3012"/>
            </a:avLst>
          </a:prstGeom>
          <a:solidFill>
            <a:srgbClr val="1F1F1F"/>
          </a:solidFill>
          <a:ln/>
        </p:spPr>
      </p:sp>
      <p:sp>
        <p:nvSpPr>
          <p:cNvPr id="7" name="Shape 4"/>
          <p:cNvSpPr/>
          <p:nvPr/>
        </p:nvSpPr>
        <p:spPr>
          <a:xfrm>
            <a:off x="557784" y="1993392"/>
            <a:ext cx="5742432" cy="13716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8" name="Shape 5"/>
          <p:cNvSpPr/>
          <p:nvPr/>
        </p:nvSpPr>
        <p:spPr>
          <a:xfrm>
            <a:off x="557784" y="1993392"/>
            <a:ext cx="5742432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9" name="Aba ui5-deploy.yaml"/>
          <p:cNvSpPr/>
          <p:nvPr/>
        </p:nvSpPr>
        <p:spPr>
          <a:xfrm>
            <a:off x="640080" y="1719072"/>
            <a:ext cx="1531620" cy="274320"/>
          </a:xfrm>
          <a:prstGeom prst="rect">
            <a:avLst/>
          </a:prstGeom>
          <a:solidFill>
            <a:srgbClr val="1F1F1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ui5-deploy.yaml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1719072"/>
            <a:ext cx="1531620" cy="0"/>
          </a:xfrm>
          <a:prstGeom prst="line">
            <a:avLst/>
          </a:prstGeom>
          <a:noFill/>
          <a:ln w="19050">
            <a:solidFill>
              <a:srgbClr val="0078D4"/>
            </a:solidFill>
            <a:prstDash val="solid"/>
          </a:ln>
        </p:spPr>
      </p:sp>
      <p:sp>
        <p:nvSpPr>
          <p:cNvPr id="11" name="Breadcrumb"/>
          <p:cNvSpPr txBox="1"/>
          <p:nvPr/>
        </p:nvSpPr>
        <p:spPr>
          <a:xfrm>
            <a:off x="777240" y="210312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ui5</a:t>
            </a:r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</a:rPr>
              <a:t>  ›  </a:t>
            </a:r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apps-list-reports</a:t>
            </a:r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</a:rPr>
              <a:t>  ›  </a:t>
            </a:r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pedidos-compras</a:t>
            </a:r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</a:rPr>
              <a:t>  ›  </a:t>
            </a:r>
            <a:pPr indent="0" marL="0">
              <a:buNone/>
            </a:pPr>
            <a:r>
              <a:rPr lang="en-US" sz="900" dirty="0">
                <a:solidFill>
                  <a:srgbClr val="A9A9A9"/>
                </a:solidFill>
              </a:rPr>
              <a:t>ui5-deploy.yaml</a:t>
            </a:r>
            <a:endParaRPr lang="en-US" sz="900" dirty="0"/>
          </a:p>
        </p:txBody>
      </p:sp>
      <p:sp>
        <p:nvSpPr>
          <p:cNvPr id="12" name="Trecho de código"/>
          <p:cNvSpPr txBox="1"/>
          <p:nvPr/>
        </p:nvSpPr>
        <p:spPr>
          <a:xfrm>
            <a:off x="731520" y="2414016"/>
            <a:ext cx="5440680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1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customTasks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2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-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deploy-to-abap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3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afterTask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generateCachebusterInfo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4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configuration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5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6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https://s4h2025.empresa.local:44300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7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"100"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8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credentials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9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username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env:ABAP_USER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10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env:ABAP_PASSWORD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11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12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ZPC_PEDIDOS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13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ZAVBS_PC_PEDIDOS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14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transport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S4DK900123</a:t>
            </a:r>
            <a:endParaRPr lang="en-US" sz="1100" dirty="0"/>
          </a:p>
        </p:txBody>
      </p:sp>
      <p:sp>
        <p:nvSpPr>
          <p:cNvPr id="13" name="Fundo da tabela"/>
          <p:cNvSpPr/>
          <p:nvPr/>
        </p:nvSpPr>
        <p:spPr>
          <a:xfrm>
            <a:off x="6629400" y="1645920"/>
            <a:ext cx="5013655" cy="2852928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1755648"/>
          <a:ext cx="4739335" cy="914400"/>
        </p:xfrm>
        <a:graphic>
          <a:graphicData uri="http://schemas.openxmlformats.org/drawingml/2006/table">
            <a:tbl>
              <a:tblPr/>
              <a:tblGrid>
                <a:gridCol w="1150000"/>
                <a:gridCol w="2250000"/>
                <a:gridCol w="1339335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Item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Versão / valor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Onde conferir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D2D3E"/>
                          </a:solidFill>
                        </a:rPr>
                        <a:t>SAPUI5 mínimo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1.136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minUI5Version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D2D3E"/>
                          </a:solidFill>
                        </a:rPr>
                        <a:t>Sistema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S/4HANA 2025 FPS01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CVERS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D2D3E"/>
                          </a:solidFill>
                        </a:rPr>
                        <a:t>Front-end server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FES 2025 · SAP_UI 816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Sobre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D2D3E"/>
                          </a:solidFill>
                        </a:rPr>
                        <a:t>Serviço de deploy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/UI5/ABAP_REPOSITORY_SRV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SICF ativo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D2D3E"/>
                          </a:solidFill>
                        </a:rPr>
                        <a:t>Transporte</a:t>
                      </a:r>
                      <a:endParaRPr lang="en-US" sz="105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ordem Workbench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transport: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Cartão"/>
          <p:cNvSpPr/>
          <p:nvPr/>
        </p:nvSpPr>
        <p:spPr>
          <a:xfrm>
            <a:off x="548640" y="5257800"/>
            <a:ext cx="2602154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6" name="Ícone upload-to-cloud"/>
          <p:cNvSpPr/>
          <p:nvPr/>
        </p:nvSpPr>
        <p:spPr>
          <a:xfrm>
            <a:off x="731520" y="544068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pic>
        <p:nvPicPr>
          <p:cNvPr id="17" name="Image 0" descr="upload-to-clou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194" y="5572354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417320" y="5257800"/>
            <a:ext cx="15963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npm run deploy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3169082" y="5715000"/>
            <a:ext cx="192024" cy="0"/>
          </a:xfrm>
          <a:prstGeom prst="line">
            <a:avLst/>
          </a:prstGeom>
          <a:noFill/>
          <a:ln w="19050">
            <a:solidFill>
              <a:srgbClr val="556B82"/>
            </a:solidFill>
            <a:prstDash val="solid"/>
            <a:tailEnd type="triangle"/>
          </a:ln>
        </p:spPr>
      </p:sp>
      <p:sp>
        <p:nvSpPr>
          <p:cNvPr id="20" name="Cartão"/>
          <p:cNvSpPr/>
          <p:nvPr/>
        </p:nvSpPr>
        <p:spPr>
          <a:xfrm>
            <a:off x="3379394" y="5257800"/>
            <a:ext cx="2602154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21" name="Ícone sap-box"/>
          <p:cNvSpPr/>
          <p:nvPr/>
        </p:nvSpPr>
        <p:spPr>
          <a:xfrm>
            <a:off x="3562274" y="544068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pic>
        <p:nvPicPr>
          <p:cNvPr id="22" name="Image 1" descr="sap-box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3947" y="5572354"/>
            <a:ext cx="285293" cy="285293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4248074" y="5257800"/>
            <a:ext cx="15963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BSP (sem IAM App)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5999836" y="5715000"/>
            <a:ext cx="192024" cy="0"/>
          </a:xfrm>
          <a:prstGeom prst="line">
            <a:avLst/>
          </a:prstGeom>
          <a:noFill/>
          <a:ln w="19050">
            <a:solidFill>
              <a:srgbClr val="556B82"/>
            </a:solidFill>
            <a:prstDash val="solid"/>
            <a:tailEnd type="triangle"/>
          </a:ln>
        </p:spPr>
      </p:sp>
      <p:sp>
        <p:nvSpPr>
          <p:cNvPr id="25" name="Cartão"/>
          <p:cNvSpPr/>
          <p:nvPr/>
        </p:nvSpPr>
        <p:spPr>
          <a:xfrm>
            <a:off x="6210148" y="5257800"/>
            <a:ext cx="2602154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26" name="Ícone list"/>
          <p:cNvSpPr/>
          <p:nvPr/>
        </p:nvSpPr>
        <p:spPr>
          <a:xfrm>
            <a:off x="6393028" y="544068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pic>
        <p:nvPicPr>
          <p:cNvPr id="27" name="Image 2" descr="lis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701" y="5572354"/>
            <a:ext cx="285293" cy="285293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7078828" y="5257800"/>
            <a:ext cx="15963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Catálogo /UI2/FLPAM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8830589" y="5715000"/>
            <a:ext cx="192024" cy="0"/>
          </a:xfrm>
          <a:prstGeom prst="line">
            <a:avLst/>
          </a:prstGeom>
          <a:noFill/>
          <a:ln w="19050">
            <a:solidFill>
              <a:srgbClr val="556B82"/>
            </a:solidFill>
            <a:prstDash val="solid"/>
            <a:tailEnd type="triangle"/>
          </a:ln>
        </p:spPr>
      </p:sp>
      <p:sp>
        <p:nvSpPr>
          <p:cNvPr id="30" name="Cartão"/>
          <p:cNvSpPr/>
          <p:nvPr/>
        </p:nvSpPr>
        <p:spPr>
          <a:xfrm>
            <a:off x="9040901" y="5257800"/>
            <a:ext cx="2602154" cy="914400"/>
          </a:xfrm>
          <a:prstGeom prst="roundRect">
            <a:avLst>
              <a:gd name="adj" fmla="val 12000"/>
            </a:avLst>
          </a:prstGeom>
          <a:solidFill>
            <a:srgbClr val="0070F2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31" name="Ícone home"/>
          <p:cNvSpPr/>
          <p:nvPr/>
        </p:nvSpPr>
        <p:spPr>
          <a:xfrm>
            <a:off x="9223781" y="544068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/>
        </p:spPr>
      </p:sp>
      <p:pic>
        <p:nvPicPr>
          <p:cNvPr id="32" name="Image 3" descr="hom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5455" y="5572354"/>
            <a:ext cx="285293" cy="285293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9909581" y="5257800"/>
            <a:ext cx="15963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Launchpad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ACESSO NO ON-PREMISE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No On-Premise, a entrada é o SAP Fiori launchpad</a:t>
            </a:r>
            <a:endParaRPr lang="en-US" sz="3000" dirty="0"/>
          </a:p>
        </p:txBody>
      </p:sp>
      <p:sp>
        <p:nvSpPr>
          <p:cNvPr id="5" name="Cartão"/>
          <p:cNvSpPr/>
          <p:nvPr/>
        </p:nvSpPr>
        <p:spPr>
          <a:xfrm>
            <a:off x="548640" y="1645920"/>
            <a:ext cx="3515258" cy="4526280"/>
          </a:xfrm>
          <a:prstGeom prst="roundRect">
            <a:avLst>
              <a:gd name="adj" fmla="val 31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6" name="Ícone world"/>
          <p:cNvSpPr/>
          <p:nvPr/>
        </p:nvSpPr>
        <p:spPr>
          <a:xfrm>
            <a:off x="822960" y="1874520"/>
            <a:ext cx="594360" cy="594360"/>
          </a:xfrm>
          <a:prstGeom prst="roundRect">
            <a:avLst>
              <a:gd name="adj" fmla="val 22000"/>
            </a:avLst>
          </a:prstGeom>
          <a:solidFill>
            <a:srgbClr val="F5FAE5"/>
          </a:solidFill>
          <a:ln/>
        </p:spPr>
      </p:sp>
      <p:pic>
        <p:nvPicPr>
          <p:cNvPr id="7" name="Image 0" descr="worl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2017166"/>
            <a:ext cx="309067" cy="309067"/>
          </a:xfrm>
          <a:prstGeom prst="rect">
            <a:avLst/>
          </a:prstGeom>
        </p:spPr>
      </p:pic>
      <p:sp>
        <p:nvSpPr>
          <p:cNvPr id="8" name="Status Adotado"/>
          <p:cNvSpPr/>
          <p:nvPr/>
        </p:nvSpPr>
        <p:spPr>
          <a:xfrm>
            <a:off x="2990027" y="2011680"/>
            <a:ext cx="799551" cy="274320"/>
          </a:xfrm>
          <a:prstGeom prst="roundRect">
            <a:avLst>
              <a:gd name="adj" fmla="val 50000"/>
            </a:avLst>
          </a:prstGeom>
          <a:solidFill>
            <a:srgbClr val="F5FA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F3A"/>
                </a:solidFill>
              </a:rPr>
              <a:t>Passo 1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2697480"/>
            <a:ext cx="29666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Catálogo técnico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3383280"/>
            <a:ext cx="29666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2D3E"/>
                </a:solidFill>
              </a:rPr>
              <a:t>/UI2/FLPAM: um app descriptor por app, com tile e target mapping (ZPCPedidoCompra-manage → ZPC_PEDIDOS).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22960" y="4846320"/>
            <a:ext cx="2966618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22960" y="4983480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Os intents são os mesmos dos manifests e do launchpad local.</a:t>
            </a:r>
            <a:endParaRPr lang="en-US" sz="1150" dirty="0"/>
          </a:p>
        </p:txBody>
      </p:sp>
      <p:sp>
        <p:nvSpPr>
          <p:cNvPr id="13" name="Cartão"/>
          <p:cNvSpPr/>
          <p:nvPr/>
        </p:nvSpPr>
        <p:spPr>
          <a:xfrm>
            <a:off x="4338218" y="1645920"/>
            <a:ext cx="3515258" cy="4526280"/>
          </a:xfrm>
          <a:prstGeom prst="roundRect">
            <a:avLst>
              <a:gd name="adj" fmla="val 31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4" name="Ícone home"/>
          <p:cNvSpPr/>
          <p:nvPr/>
        </p:nvSpPr>
        <p:spPr>
          <a:xfrm>
            <a:off x="4612538" y="1874520"/>
            <a:ext cx="594360" cy="59436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pic>
        <p:nvPicPr>
          <p:cNvPr id="15" name="Image 1" descr="hom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5185" y="2017166"/>
            <a:ext cx="309067" cy="309067"/>
          </a:xfrm>
          <a:prstGeom prst="rect">
            <a:avLst/>
          </a:prstGeom>
        </p:spPr>
      </p:pic>
      <p:sp>
        <p:nvSpPr>
          <p:cNvPr id="16" name="Status Fora do trial"/>
          <p:cNvSpPr/>
          <p:nvPr/>
        </p:nvSpPr>
        <p:spPr>
          <a:xfrm>
            <a:off x="6345083" y="2011680"/>
            <a:ext cx="1234074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4D9"/>
                </a:solidFill>
              </a:rPr>
              <a:t>Passo 2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4612538" y="2697480"/>
            <a:ext cx="29666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Catálogo, espaço e página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4612538" y="3383280"/>
            <a:ext cx="29666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2D3E"/>
                </a:solidFill>
              </a:rPr>
              <a:t>/UI2/FLPCM_CUST: catálogos de negócio e o espaço Pedidos de Compras, com as seções Gestão e Análises.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4612538" y="4846320"/>
            <a:ext cx="2966618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4612538" y="4983480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Depois, limpe o cache com /UI2/INVALIDATE_GLOBAL_CACHES.</a:t>
            </a:r>
            <a:endParaRPr lang="en-US" sz="1150" dirty="0"/>
          </a:p>
        </p:txBody>
      </p:sp>
      <p:sp>
        <p:nvSpPr>
          <p:cNvPr id="21" name="Cartão"/>
          <p:cNvSpPr/>
          <p:nvPr/>
        </p:nvSpPr>
        <p:spPr>
          <a:xfrm>
            <a:off x="8127797" y="1645920"/>
            <a:ext cx="3515258" cy="4526280"/>
          </a:xfrm>
          <a:prstGeom prst="roundRect">
            <a:avLst>
              <a:gd name="adj" fmla="val 31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22" name="Ícone cloud"/>
          <p:cNvSpPr/>
          <p:nvPr/>
        </p:nvSpPr>
        <p:spPr>
          <a:xfrm>
            <a:off x="8402117" y="1874520"/>
            <a:ext cx="594360" cy="59436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pic>
        <p:nvPicPr>
          <p:cNvPr id="23" name="Image 2" descr="clou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763" y="2017166"/>
            <a:ext cx="309067" cy="309067"/>
          </a:xfrm>
          <a:prstGeom prst="rect">
            <a:avLst/>
          </a:prstGeom>
        </p:spPr>
      </p:pic>
      <p:sp>
        <p:nvSpPr>
          <p:cNvPr id="24" name="Status Descartado"/>
          <p:cNvSpPr/>
          <p:nvPr/>
        </p:nvSpPr>
        <p:spPr>
          <a:xfrm>
            <a:off x="10351922" y="2011680"/>
            <a:ext cx="1016813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4D9"/>
                </a:solidFill>
              </a:rPr>
              <a:t>Passo 3</a:t>
            </a:r>
            <a:endParaRPr lang="en-US" sz="1100" dirty="0"/>
          </a:p>
        </p:txBody>
      </p:sp>
      <p:sp>
        <p:nvSpPr>
          <p:cNvPr id="25" name="Text 19"/>
          <p:cNvSpPr txBox="1"/>
          <p:nvPr/>
        </p:nvSpPr>
        <p:spPr>
          <a:xfrm>
            <a:off x="8402117" y="2697480"/>
            <a:ext cx="29666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Role PFCG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8402117" y="3383280"/>
            <a:ext cx="29666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D2D3E"/>
                </a:solidFill>
              </a:rPr>
              <a:t>Menu da role com catálogo, espaço e grupos de serviços (S_START); gerar perfil e atribuir na SU01.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8402117" y="4846320"/>
            <a:ext cx="2966618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8402117" y="4983480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Z_PC_ADMIN: oito tiles. Z_PC_COMUM: Pedidos, Reembolsos e análises.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o"/>
          <p:cNvSpPr/>
          <p:nvPr>
            <p:ph idx="100" type="body" hasCustomPrompt="1"/>
          </p:nvPr>
        </p:nvSpPr>
        <p:spPr>
          <a:xfrm>
            <a:off x="731520" y="13258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400" b="1" spc="200" kern="0" dirty="0">
                <a:solidFill>
                  <a:srgbClr val="89D1FF"/>
                </a:solidFill>
              </a:rPr>
              <a:t>ETAPA 5 · ANTES DO DEPLOY</a:t>
            </a:r>
            <a:endParaRPr lang="pt-BR" sz="1400" dirty="0"/>
          </a:p>
        </p:txBody>
      </p:sp>
      <p:sp>
        <p:nvSpPr>
          <p:cNvPr id="4" name="Texto"/>
          <p:cNvSpPr/>
          <p:nvPr>
            <p:ph idx="101" type="title" hasCustomPrompt="1"/>
          </p:nvPr>
        </p:nvSpPr>
        <p:spPr>
          <a:xfrm>
            <a:off x="731520" y="1737360"/>
            <a:ext cx="6949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t-BR" sz="4400" b="1" dirty="0">
                <a:solidFill>
                  <a:schemeClr val="bg1"/>
                </a:solidFill>
              </a:rPr>
              <a:t>Qualidade e testes antes de publicar</a:t>
            </a:r>
            <a:endParaRPr lang="pt-BR" sz="4400" dirty="0"/>
          </a:p>
        </p:txBody>
      </p:sp>
      <p:sp>
        <p:nvSpPr>
          <p:cNvPr id="5" name="Texto"/>
          <p:cNvSpPr/>
          <p:nvPr>
            <p:ph idx="102" type="body" hasCustomPrompt="1"/>
          </p:nvPr>
        </p:nvSpPr>
        <p:spPr>
          <a:xfrm>
            <a:off x="731520" y="33832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t-BR" sz="1800" dirty="0">
                <a:solidFill>
                  <a:schemeClr val="bg2"/>
                </a:solidFill>
              </a:rPr>
              <a:t>Os comandos que quem publica roda na própria máquina, em cada app alterada, antes do npm run deploy.</a:t>
            </a:r>
            <a:endParaRPr lang="pt-BR" sz="1800" dirty="0"/>
          </a:p>
        </p:txBody>
      </p:sp>
      <p:sp>
        <p:nvSpPr>
          <p:cNvPr id="6" name="Ícone inspection"/>
          <p:cNvSpPr/>
          <p:nvPr/>
        </p:nvSpPr>
        <p:spPr>
          <a:xfrm>
            <a:off x="731520" y="41148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1B3A7A"/>
          </a:solidFill>
          <a:ln>
            <a:noFill/>
          </a:ln>
        </p:spPr>
      </p:sp>
      <p:pic>
        <p:nvPicPr>
          <p:cNvPr id="7" name="Imagem" descr="inspecti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585216"/>
            <a:ext cx="384048" cy="384048"/>
          </a:xfrm>
          <a:prstGeom prst="rect">
            <a:avLst/>
          </a:prstGeom>
        </p:spPr>
      </p:pic>
      <p:sp>
        <p:nvSpPr>
          <p:cNvPr id="8" name="Objetos da seção"/>
          <p:cNvSpPr/>
          <p:nvPr/>
        </p:nvSpPr>
        <p:spPr>
          <a:xfrm>
            <a:off x="8001000" y="1325880"/>
            <a:ext cx="3639312" cy="2980944"/>
          </a:xfrm>
          <a:prstGeom prst="roundRect">
            <a:avLst>
              <a:gd name="adj" fmla="val 3670"/>
            </a:avLst>
          </a:prstGeom>
          <a:solidFill>
            <a:srgbClr val="1B3A7A"/>
          </a:solidFill>
          <a:ln>
            <a:noFill/>
          </a:ln>
        </p:spPr>
      </p:sp>
      <p:sp>
        <p:nvSpPr>
          <p:cNvPr id="9" name="Texto"/>
          <p:cNvSpPr txBox="1"/>
          <p:nvPr/>
        </p:nvSpPr>
        <p:spPr>
          <a:xfrm>
            <a:off x="8275320" y="1481328"/>
            <a:ext cx="3090672" cy="27432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100" b="1" spc="150" kern="0" dirty="0">
                <a:solidFill>
                  <a:srgbClr val="89D1FF"/>
                </a:solidFill>
              </a:rPr>
              <a:t>OBJETOS NESTA SEÇÃO</a:t>
            </a:r>
            <a:endParaRPr lang="pt-BR" sz="1100" dirty="0"/>
          </a:p>
        </p:txBody>
      </p:sp>
      <p:sp>
        <p:nvSpPr>
          <p:cNvPr id="10" name="Texto"/>
          <p:cNvSpPr txBox="1"/>
          <p:nvPr/>
        </p:nvSpPr>
        <p:spPr>
          <a:xfrm>
            <a:off x="8275320" y="1874520"/>
            <a:ext cx="3246120" cy="384048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lint</a:t>
            </a:r>
            <a:r>
              <a:rPr lang="pt-BR" sz="1100" dirty="0">
                <a:solidFill>
                  <a:srgbClr val="D1EFFF"/>
                </a:solidFill>
              </a:rPr>
              <a:t xml:space="preserve">  ESLint do Fiori tools</a:t>
            </a:r>
            <a:endParaRPr lang="pt-BR" sz="1100" dirty="0"/>
          </a:p>
        </p:txBody>
      </p:sp>
      <p:sp>
        <p:nvSpPr>
          <p:cNvPr id="11" name="Texto"/>
          <p:cNvSpPr txBox="1"/>
          <p:nvPr/>
        </p:nvSpPr>
        <p:spPr>
          <a:xfrm>
            <a:off x="8275320" y="2258568"/>
            <a:ext cx="3246120" cy="384048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build</a:t>
            </a:r>
            <a:r>
              <a:rPr lang="pt-BR" sz="1100" dirty="0">
                <a:solidFill>
                  <a:srgbClr val="D1EFFF"/>
                </a:solidFill>
              </a:rPr>
              <a:t xml:space="preserve">  dist/ do ui5 build</a:t>
            </a:r>
            <a:endParaRPr lang="pt-BR" sz="1100" dirty="0"/>
          </a:p>
        </p:txBody>
      </p:sp>
      <p:sp>
        <p:nvSpPr>
          <p:cNvPr id="12" name="Texto"/>
          <p:cNvSpPr txBox="1"/>
          <p:nvPr/>
        </p:nvSpPr>
        <p:spPr>
          <a:xfrm>
            <a:off x="8275320" y="2642616"/>
            <a:ext cx="3246120" cy="384048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int-test</a:t>
            </a:r>
            <a:r>
              <a:rPr lang="pt-BR" sz="1100" dirty="0">
                <a:solidFill>
                  <a:srgbClr val="D1EFFF"/>
                </a:solidFill>
              </a:rPr>
              <a:t xml:space="preserve">  OPA5, apps de gestão</a:t>
            </a:r>
            <a:endParaRPr lang="pt-BR" sz="1100" dirty="0"/>
          </a:p>
        </p:txBody>
      </p:sp>
      <p:sp>
        <p:nvSpPr>
          <p:cNvPr id="13" name="Texto"/>
          <p:cNvSpPr txBox="1"/>
          <p:nvPr/>
        </p:nvSpPr>
        <p:spPr>
          <a:xfrm>
            <a:off x="8275320" y="3026664"/>
            <a:ext cx="3246120" cy="384048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unit-test</a:t>
            </a:r>
            <a:r>
              <a:rPr lang="pt-BR" sz="1100" dirty="0">
                <a:solidFill>
                  <a:srgbClr val="D1EFFF"/>
                </a:solidFill>
              </a:rPr>
              <a:t xml:space="preserve">  QUnit, análises</a:t>
            </a:r>
            <a:endParaRPr lang="pt-BR" sz="1100" dirty="0"/>
          </a:p>
        </p:txBody>
      </p:sp>
      <p:sp>
        <p:nvSpPr>
          <p:cNvPr id="14" name="Texto"/>
          <p:cNvSpPr txBox="1"/>
          <p:nvPr/>
        </p:nvSpPr>
        <p:spPr>
          <a:xfrm>
            <a:off x="8275320" y="3410712"/>
            <a:ext cx="3246120" cy="384048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@ui5/linter</a:t>
            </a:r>
            <a:r>
              <a:rPr lang="pt-BR" sz="1100" dirty="0">
                <a:solidFill>
                  <a:srgbClr val="D1EFFF"/>
                </a:solidFill>
              </a:rPr>
              <a:t xml:space="preserve">  UI5 linter</a:t>
            </a:r>
            <a:endParaRPr lang="pt-BR" sz="1100" dirty="0"/>
          </a:p>
        </p:txBody>
      </p:sp>
      <p:sp>
        <p:nvSpPr>
          <p:cNvPr id="15" name="Texto"/>
          <p:cNvSpPr txBox="1"/>
          <p:nvPr/>
        </p:nvSpPr>
        <p:spPr>
          <a:xfrm>
            <a:off x="8275320" y="3794760"/>
            <a:ext cx="3246120" cy="384048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deploy-test</a:t>
            </a:r>
            <a:r>
              <a:rPr lang="pt-BR" sz="1100" dirty="0">
                <a:solidFill>
                  <a:srgbClr val="D1EFFF"/>
                </a:solidFill>
              </a:rPr>
              <a:t xml:space="preserve">  deploy simulado</a:t>
            </a:r>
            <a:endParaRPr lang="pt-BR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ótulo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100" b="1" spc="150" kern="0" dirty="0">
                <a:solidFill>
                  <a:schemeClr val="accent1"/>
                </a:solidFill>
              </a:rPr>
              <a:t>ANTES DO DEPLOY · IMPORTÂNCIA</a:t>
            </a:r>
            <a:endParaRPr lang="pt-BR" sz="1100" dirty="0"/>
          </a:p>
        </p:txBody>
      </p:sp>
      <p:sp>
        <p:nvSpPr>
          <p:cNvPr id="4" name="Título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3000" b="1" dirty="0">
                <a:solidFill>
                  <a:schemeClr val="tx1"/>
                </a:solidFill>
              </a:rPr>
              <a:t>O que cada comando impede de chegar ao sistema</a:t>
            </a:r>
            <a:endParaRPr lang="pt-BR" sz="3000" dirty="0"/>
          </a:p>
        </p:txBody>
      </p:sp>
      <p:sp>
        <p:nvSpPr>
          <p:cNvPr id="5" name="Texto"/>
          <p:cNvSpPr txBox="1"/>
          <p:nvPr/>
        </p:nvSpPr>
        <p:spPr>
          <a:xfrm>
            <a:off x="3108960" y="1463040"/>
            <a:ext cx="384048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000" b="1" spc="120" kern="0" dirty="0">
                <a:solidFill>
                  <a:srgbClr val="556B82"/>
                </a:solidFill>
              </a:rPr>
              <a:t>O QUE VERIFICA</a:t>
            </a:r>
            <a:endParaRPr lang="pt-BR" sz="1000" dirty="0"/>
          </a:p>
        </p:txBody>
      </p:sp>
      <p:sp>
        <p:nvSpPr>
          <p:cNvPr id="6" name="Texto"/>
          <p:cNvSpPr txBox="1"/>
          <p:nvPr/>
        </p:nvSpPr>
        <p:spPr>
          <a:xfrm>
            <a:off x="7315200" y="1463040"/>
            <a:ext cx="4206240" cy="256032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000" b="1" spc="120" kern="0" dirty="0">
                <a:solidFill>
                  <a:srgbClr val="AA0808"/>
                </a:solidFill>
              </a:rPr>
              <a:t>SE PULAR, APARECE…</a:t>
            </a:r>
            <a:endParaRPr lang="pt-BR" sz="1000" dirty="0"/>
          </a:p>
        </p:txBody>
      </p:sp>
      <p:sp>
        <p:nvSpPr>
          <p:cNvPr id="7" name="Cartão"/>
          <p:cNvSpPr/>
          <p:nvPr/>
        </p:nvSpPr>
        <p:spPr>
          <a:xfrm>
            <a:off x="548640" y="1783080"/>
            <a:ext cx="11091672" cy="630936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8" name="Ícone inspection"/>
          <p:cNvSpPr/>
          <p:nvPr/>
        </p:nvSpPr>
        <p:spPr>
          <a:xfrm>
            <a:off x="713232" y="1892808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>
            <a:noFill/>
          </a:ln>
        </p:spPr>
      </p:sp>
      <p:pic>
        <p:nvPicPr>
          <p:cNvPr id="9" name="Imagem" descr="inspecti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987" y="1991563"/>
            <a:ext cx="213970" cy="213970"/>
          </a:xfrm>
          <a:prstGeom prst="rect">
            <a:avLst/>
          </a:prstGeom>
        </p:spPr>
      </p:pic>
      <p:sp>
        <p:nvSpPr>
          <p:cNvPr id="10" name="Texto"/>
          <p:cNvSpPr txBox="1"/>
          <p:nvPr/>
        </p:nvSpPr>
        <p:spPr>
          <a:xfrm>
            <a:off x="1261872" y="1783080"/>
            <a:ext cx="1783080" cy="630936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10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lint</a:t>
            </a:r>
            <a:endParaRPr lang="pt-BR" sz="1100" dirty="0"/>
          </a:p>
        </p:txBody>
      </p:sp>
      <p:sp>
        <p:nvSpPr>
          <p:cNvPr id="11" name="Texto"/>
          <p:cNvSpPr txBox="1"/>
          <p:nvPr/>
        </p:nvSpPr>
        <p:spPr>
          <a:xfrm>
            <a:off x="3108960" y="1783080"/>
            <a:ext cx="3840480" cy="630936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150" dirty="0">
                <a:solidFill>
                  <a:srgbClr val="1D2D3E"/>
                </a:solidFill>
              </a:rPr>
              <a:t>Erros de JavaScript e as regras do plugin Fiori tools do ESLint</a:t>
            </a:r>
            <a:endParaRPr lang="pt-BR" sz="1150" dirty="0"/>
          </a:p>
        </p:txBody>
      </p:sp>
      <p:cxnSp>
        <p:nvCxnSpPr>
          <p:cNvPr id="12" name="Conector"/>
          <p:cNvCxnSpPr/>
          <p:nvPr/>
        </p:nvCxnSpPr>
        <p:spPr>
          <a:xfrm>
            <a:off x="7178040" y="1920240"/>
            <a:ext cx="0" cy="356616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  <a:round/>
          </a:ln>
        </p:spPr>
      </p:cxnSp>
      <p:sp>
        <p:nvSpPr>
          <p:cNvPr id="13" name="Texto"/>
          <p:cNvSpPr txBox="1"/>
          <p:nvPr/>
        </p:nvSpPr>
        <p:spPr>
          <a:xfrm>
            <a:off x="7315200" y="1783080"/>
            <a:ext cx="4206240" cy="630936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150" dirty="0">
                <a:solidFill>
                  <a:srgbClr val="556B82"/>
                </a:solidFill>
              </a:rPr>
              <a:t>…no navegador de quem abre a app publicada</a:t>
            </a:r>
            <a:endParaRPr lang="pt-BR" sz="1150" dirty="0"/>
          </a:p>
        </p:txBody>
      </p:sp>
      <p:sp>
        <p:nvSpPr>
          <p:cNvPr id="14" name="Cartão"/>
          <p:cNvSpPr/>
          <p:nvPr/>
        </p:nvSpPr>
        <p:spPr>
          <a:xfrm>
            <a:off x="548640" y="2505456"/>
            <a:ext cx="11091672" cy="630936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5" name="Ícone sap-box"/>
          <p:cNvSpPr/>
          <p:nvPr/>
        </p:nvSpPr>
        <p:spPr>
          <a:xfrm>
            <a:off x="713232" y="2615184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E3F7F6"/>
          </a:solidFill>
          <a:ln>
            <a:noFill/>
          </a:ln>
        </p:spPr>
      </p:sp>
      <p:pic>
        <p:nvPicPr>
          <p:cNvPr id="16" name="Imagem" descr="sap-box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987" y="2713939"/>
            <a:ext cx="213970" cy="213970"/>
          </a:xfrm>
          <a:prstGeom prst="rect">
            <a:avLst/>
          </a:prstGeom>
        </p:spPr>
      </p:pic>
      <p:sp>
        <p:nvSpPr>
          <p:cNvPr id="17" name="Texto"/>
          <p:cNvSpPr txBox="1"/>
          <p:nvPr/>
        </p:nvSpPr>
        <p:spPr>
          <a:xfrm>
            <a:off x="1261872" y="2505456"/>
            <a:ext cx="1783080" cy="630936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10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build</a:t>
            </a:r>
            <a:endParaRPr lang="pt-BR" sz="1100" dirty="0"/>
          </a:p>
        </p:txBody>
      </p:sp>
      <p:sp>
        <p:nvSpPr>
          <p:cNvPr id="18" name="Texto"/>
          <p:cNvSpPr txBox="1"/>
          <p:nvPr/>
        </p:nvSpPr>
        <p:spPr>
          <a:xfrm>
            <a:off x="3108960" y="2505456"/>
            <a:ext cx="3840480" cy="630936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150" dirty="0">
                <a:solidFill>
                  <a:srgbClr val="1D2D3E"/>
                </a:solidFill>
              </a:rPr>
              <a:t>Que o projeto gera o dist/ com preload e cachebuster</a:t>
            </a:r>
            <a:endParaRPr lang="pt-BR" sz="1150" dirty="0"/>
          </a:p>
        </p:txBody>
      </p:sp>
      <p:cxnSp>
        <p:nvCxnSpPr>
          <p:cNvPr id="19" name="Conector"/>
          <p:cNvCxnSpPr/>
          <p:nvPr/>
        </p:nvCxnSpPr>
        <p:spPr>
          <a:xfrm>
            <a:off x="7178040" y="2642616"/>
            <a:ext cx="0" cy="356616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  <a:round/>
          </a:ln>
        </p:spPr>
      </p:cxnSp>
      <p:sp>
        <p:nvSpPr>
          <p:cNvPr id="20" name="Texto"/>
          <p:cNvSpPr txBox="1"/>
          <p:nvPr/>
        </p:nvSpPr>
        <p:spPr>
          <a:xfrm>
            <a:off x="7315200" y="2505456"/>
            <a:ext cx="4206240" cy="630936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150" dirty="0">
                <a:solidFill>
                  <a:srgbClr val="556B82"/>
                </a:solidFill>
              </a:rPr>
              <a:t>…no meio do deploy, junto com erros de conexão e pacote</a:t>
            </a:r>
            <a:endParaRPr lang="pt-BR" sz="1150" dirty="0"/>
          </a:p>
        </p:txBody>
      </p:sp>
      <p:sp>
        <p:nvSpPr>
          <p:cNvPr id="21" name="Cartão"/>
          <p:cNvSpPr/>
          <p:nvPr/>
        </p:nvSpPr>
        <p:spPr>
          <a:xfrm>
            <a:off x="548640" y="3227832"/>
            <a:ext cx="11091672" cy="630936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22" name="Ícone validate"/>
          <p:cNvSpPr/>
          <p:nvPr/>
        </p:nvSpPr>
        <p:spPr>
          <a:xfrm>
            <a:off x="713232" y="333756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F5FAE5"/>
          </a:solidFill>
          <a:ln>
            <a:noFill/>
          </a:ln>
        </p:spPr>
      </p:sp>
      <p:pic>
        <p:nvPicPr>
          <p:cNvPr id="23" name="Imagem" descr="validat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987" y="3436315"/>
            <a:ext cx="213970" cy="213970"/>
          </a:xfrm>
          <a:prstGeom prst="rect">
            <a:avLst/>
          </a:prstGeom>
        </p:spPr>
      </p:pic>
      <p:sp>
        <p:nvSpPr>
          <p:cNvPr id="24" name="Texto"/>
          <p:cNvSpPr txBox="1"/>
          <p:nvPr/>
        </p:nvSpPr>
        <p:spPr>
          <a:xfrm>
            <a:off x="1261872" y="3227832"/>
            <a:ext cx="1783080" cy="630936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10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int-test</a:t>
            </a:r>
            <a:endParaRPr lang="pt-BR" sz="1100" dirty="0"/>
          </a:p>
        </p:txBody>
      </p:sp>
      <p:sp>
        <p:nvSpPr>
          <p:cNvPr id="25" name="Texto"/>
          <p:cNvSpPr txBox="1"/>
          <p:nvPr/>
        </p:nvSpPr>
        <p:spPr>
          <a:xfrm>
            <a:off x="3108960" y="3227832"/>
            <a:ext cx="3840480" cy="630936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150" dirty="0">
                <a:solidFill>
                  <a:srgbClr val="1D2D3E"/>
                </a:solidFill>
              </a:rPr>
              <a:t>List Report e Object Page abrem e navegam com o mock</a:t>
            </a:r>
            <a:endParaRPr lang="pt-BR" sz="1150" dirty="0"/>
          </a:p>
        </p:txBody>
      </p:sp>
      <p:cxnSp>
        <p:nvCxnSpPr>
          <p:cNvPr id="26" name="Conector"/>
          <p:cNvCxnSpPr/>
          <p:nvPr/>
        </p:nvCxnSpPr>
        <p:spPr>
          <a:xfrm>
            <a:off x="7178040" y="3364992"/>
            <a:ext cx="0" cy="356616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  <a:round/>
          </a:ln>
        </p:spPr>
      </p:cxnSp>
      <p:sp>
        <p:nvSpPr>
          <p:cNvPr id="27" name="Texto"/>
          <p:cNvSpPr txBox="1"/>
          <p:nvPr/>
        </p:nvSpPr>
        <p:spPr>
          <a:xfrm>
            <a:off x="7315200" y="3227832"/>
            <a:ext cx="4206240" cy="630936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150" dirty="0">
                <a:solidFill>
                  <a:srgbClr val="556B82"/>
                </a:solidFill>
              </a:rPr>
              <a:t>…como tela quebrada após mudar manifest ou anotações</a:t>
            </a:r>
            <a:endParaRPr lang="pt-BR" sz="1150" dirty="0"/>
          </a:p>
        </p:txBody>
      </p:sp>
      <p:sp>
        <p:nvSpPr>
          <p:cNvPr id="28" name="Cartão"/>
          <p:cNvSpPr/>
          <p:nvPr/>
        </p:nvSpPr>
        <p:spPr>
          <a:xfrm>
            <a:off x="548640" y="3950208"/>
            <a:ext cx="11091672" cy="630936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29" name="Ícone e-learning"/>
          <p:cNvSpPr/>
          <p:nvPr/>
        </p:nvSpPr>
        <p:spPr>
          <a:xfrm>
            <a:off x="713232" y="4059936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F3ECFB"/>
          </a:solidFill>
          <a:ln>
            <a:noFill/>
          </a:ln>
        </p:spPr>
      </p:sp>
      <p:pic>
        <p:nvPicPr>
          <p:cNvPr id="30" name="Imagem" descr="e-learn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987" y="4158691"/>
            <a:ext cx="213970" cy="213970"/>
          </a:xfrm>
          <a:prstGeom prst="rect">
            <a:avLst/>
          </a:prstGeom>
        </p:spPr>
      </p:pic>
      <p:sp>
        <p:nvSpPr>
          <p:cNvPr id="31" name="Texto"/>
          <p:cNvSpPr txBox="1"/>
          <p:nvPr/>
        </p:nvSpPr>
        <p:spPr>
          <a:xfrm>
            <a:off x="1261872" y="3950208"/>
            <a:ext cx="1783080" cy="630936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10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unit-test</a:t>
            </a:r>
            <a:endParaRPr lang="pt-BR" sz="1100" dirty="0"/>
          </a:p>
        </p:txBody>
      </p:sp>
      <p:sp>
        <p:nvSpPr>
          <p:cNvPr id="32" name="Texto"/>
          <p:cNvSpPr txBox="1"/>
          <p:nvPr/>
        </p:nvSpPr>
        <p:spPr>
          <a:xfrm>
            <a:off x="3108960" y="3950208"/>
            <a:ext cx="3840480" cy="630936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150" dirty="0">
                <a:solidFill>
                  <a:srgbClr val="1D2D3E"/>
                </a:solidFill>
              </a:rPr>
              <a:t>Catálogo de cenários, textos i18n e o $apply das consultas</a:t>
            </a:r>
            <a:endParaRPr lang="pt-BR" sz="1150" dirty="0"/>
          </a:p>
        </p:txBody>
      </p:sp>
      <p:cxnSp>
        <p:nvCxnSpPr>
          <p:cNvPr id="33" name="Conector"/>
          <p:cNvCxnSpPr/>
          <p:nvPr/>
        </p:nvCxnSpPr>
        <p:spPr>
          <a:xfrm>
            <a:off x="7178040" y="4087368"/>
            <a:ext cx="0" cy="356616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  <a:round/>
          </a:ln>
        </p:spPr>
      </p:cxnSp>
      <p:sp>
        <p:nvSpPr>
          <p:cNvPr id="34" name="Texto"/>
          <p:cNvSpPr txBox="1"/>
          <p:nvPr/>
        </p:nvSpPr>
        <p:spPr>
          <a:xfrm>
            <a:off x="7315200" y="3950208"/>
            <a:ext cx="4206240" cy="630936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150" dirty="0">
                <a:solidFill>
                  <a:srgbClr val="556B82"/>
                </a:solidFill>
              </a:rPr>
              <a:t>…como gráfico vazio ou erro de groupby na análise</a:t>
            </a:r>
            <a:endParaRPr lang="pt-BR" sz="1150" dirty="0"/>
          </a:p>
        </p:txBody>
      </p:sp>
      <p:sp>
        <p:nvSpPr>
          <p:cNvPr id="35" name="Cartão"/>
          <p:cNvSpPr/>
          <p:nvPr/>
        </p:nvSpPr>
        <p:spPr>
          <a:xfrm>
            <a:off x="548640" y="4672584"/>
            <a:ext cx="11091672" cy="630936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36" name="Ícone syntax"/>
          <p:cNvSpPr/>
          <p:nvPr/>
        </p:nvSpPr>
        <p:spPr>
          <a:xfrm>
            <a:off x="713232" y="4782312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FFF3E0"/>
          </a:solidFill>
          <a:ln>
            <a:noFill/>
          </a:ln>
        </p:spPr>
      </p:sp>
      <p:pic>
        <p:nvPicPr>
          <p:cNvPr id="37" name="Imagem" descr="syntax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987" y="4881067"/>
            <a:ext cx="213970" cy="213970"/>
          </a:xfrm>
          <a:prstGeom prst="rect">
            <a:avLst/>
          </a:prstGeom>
        </p:spPr>
      </p:pic>
      <p:sp>
        <p:nvSpPr>
          <p:cNvPr id="38" name="Texto"/>
          <p:cNvSpPr txBox="1"/>
          <p:nvPr/>
        </p:nvSpPr>
        <p:spPr>
          <a:xfrm>
            <a:off x="1261872" y="4672584"/>
            <a:ext cx="1783080" cy="630936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10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@ui5/linter</a:t>
            </a:r>
            <a:endParaRPr lang="pt-BR" sz="1100" dirty="0"/>
          </a:p>
        </p:txBody>
      </p:sp>
      <p:sp>
        <p:nvSpPr>
          <p:cNvPr id="39" name="Texto"/>
          <p:cNvSpPr txBox="1"/>
          <p:nvPr/>
        </p:nvSpPr>
        <p:spPr>
          <a:xfrm>
            <a:off x="3108960" y="4672584"/>
            <a:ext cx="3840480" cy="630936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150" dirty="0">
                <a:solidFill>
                  <a:srgbClr val="1D2D3E"/>
                </a:solidFill>
              </a:rPr>
              <a:t>APIs depreciadas e práticas fora do padrão SAPUI5</a:t>
            </a:r>
            <a:endParaRPr lang="pt-BR" sz="1150" dirty="0"/>
          </a:p>
        </p:txBody>
      </p:sp>
      <p:cxnSp>
        <p:nvCxnSpPr>
          <p:cNvPr id="40" name="Conector"/>
          <p:cNvCxnSpPr/>
          <p:nvPr/>
        </p:nvCxnSpPr>
        <p:spPr>
          <a:xfrm>
            <a:off x="7178040" y="4809744"/>
            <a:ext cx="0" cy="356616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  <a:round/>
          </a:ln>
        </p:spPr>
      </p:cxnSp>
      <p:sp>
        <p:nvSpPr>
          <p:cNvPr id="41" name="Texto"/>
          <p:cNvSpPr txBox="1"/>
          <p:nvPr/>
        </p:nvSpPr>
        <p:spPr>
          <a:xfrm>
            <a:off x="7315200" y="4672584"/>
            <a:ext cx="4206240" cy="630936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150" dirty="0">
                <a:solidFill>
                  <a:srgbClr val="556B82"/>
                </a:solidFill>
              </a:rPr>
              <a:t>…no próximo upgrade do SAPUI5 do BTP ou do FES</a:t>
            </a:r>
            <a:endParaRPr lang="pt-BR" sz="1150" dirty="0"/>
          </a:p>
        </p:txBody>
      </p:sp>
      <p:sp>
        <p:nvSpPr>
          <p:cNvPr id="42" name="Cartão"/>
          <p:cNvSpPr/>
          <p:nvPr/>
        </p:nvSpPr>
        <p:spPr>
          <a:xfrm>
            <a:off x="548640" y="5394960"/>
            <a:ext cx="11091672" cy="630936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43" name="Ícone upload-to-cloud"/>
          <p:cNvSpPr/>
          <p:nvPr/>
        </p:nvSpPr>
        <p:spPr>
          <a:xfrm>
            <a:off x="713232" y="5504688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FDE8F1"/>
          </a:solidFill>
          <a:ln>
            <a:noFill/>
          </a:ln>
        </p:spPr>
      </p:sp>
      <p:pic>
        <p:nvPicPr>
          <p:cNvPr id="44" name="Imagem" descr="upload-to-cloud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987" y="5603443"/>
            <a:ext cx="213970" cy="213970"/>
          </a:xfrm>
          <a:prstGeom prst="rect">
            <a:avLst/>
          </a:prstGeom>
        </p:spPr>
      </p:pic>
      <p:sp>
        <p:nvSpPr>
          <p:cNvPr id="45" name="Texto"/>
          <p:cNvSpPr txBox="1"/>
          <p:nvPr/>
        </p:nvSpPr>
        <p:spPr>
          <a:xfrm>
            <a:off x="1261872" y="5394960"/>
            <a:ext cx="1783080" cy="630936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10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deploy-test</a:t>
            </a:r>
            <a:endParaRPr lang="pt-BR" sz="1100" dirty="0"/>
          </a:p>
        </p:txBody>
      </p:sp>
      <p:sp>
        <p:nvSpPr>
          <p:cNvPr id="46" name="Texto"/>
          <p:cNvSpPr txBox="1"/>
          <p:nvPr/>
        </p:nvSpPr>
        <p:spPr>
          <a:xfrm>
            <a:off x="3108960" y="5394960"/>
            <a:ext cx="3840480" cy="630936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150" dirty="0">
                <a:solidFill>
                  <a:srgbClr val="1D2D3E"/>
                </a:solidFill>
              </a:rPr>
              <a:t>URL, cliente, login, pacote e transporte, sem gravar</a:t>
            </a:r>
            <a:endParaRPr lang="pt-BR" sz="1150" dirty="0"/>
          </a:p>
        </p:txBody>
      </p:sp>
      <p:cxnSp>
        <p:nvCxnSpPr>
          <p:cNvPr id="47" name="Conector"/>
          <p:cNvCxnSpPr/>
          <p:nvPr/>
        </p:nvCxnSpPr>
        <p:spPr>
          <a:xfrm>
            <a:off x="7178040" y="5532120"/>
            <a:ext cx="0" cy="356616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  <a:round/>
          </a:ln>
        </p:spPr>
      </p:cxnSp>
      <p:sp>
        <p:nvSpPr>
          <p:cNvPr id="48" name="Texto"/>
          <p:cNvSpPr txBox="1"/>
          <p:nvPr/>
        </p:nvSpPr>
        <p:spPr>
          <a:xfrm>
            <a:off x="7315200" y="5394960"/>
            <a:ext cx="4206240" cy="630936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150" dirty="0">
                <a:solidFill>
                  <a:srgbClr val="556B82"/>
                </a:solidFill>
              </a:rPr>
              <a:t>…já gravando no ABAP Repository do sistema</a:t>
            </a:r>
            <a:endParaRPr lang="pt-BR" sz="1150" dirty="0"/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ótulo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100" b="1" spc="150" kern="0" dirty="0">
                <a:solidFill>
                  <a:schemeClr val="accent1"/>
                </a:solidFill>
              </a:rPr>
              <a:t>ANTES DO DEPLOY · RESPONSABILIDADE</a:t>
            </a:r>
            <a:endParaRPr lang="pt-BR" sz="1100" dirty="0"/>
          </a:p>
        </p:txBody>
      </p:sp>
      <p:sp>
        <p:nvSpPr>
          <p:cNvPr id="4" name="Título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3000" b="1" dirty="0">
                <a:solidFill>
                  <a:schemeClr val="tx1"/>
                </a:solidFill>
              </a:rPr>
              <a:t>Quem roda o deploy responde pelo que publica</a:t>
            </a:r>
            <a:endParaRPr lang="pt-BR" sz="3000" dirty="0"/>
          </a:p>
        </p:txBody>
      </p:sp>
      <p:sp>
        <p:nvSpPr>
          <p:cNvPr id="5" name="Etapa lint"/>
          <p:cNvSpPr/>
          <p:nvPr/>
        </p:nvSpPr>
        <p:spPr>
          <a:xfrm>
            <a:off x="548640" y="1645920"/>
            <a:ext cx="1658112" cy="86868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6" name="Ícone inspection"/>
          <p:cNvSpPr/>
          <p:nvPr/>
        </p:nvSpPr>
        <p:spPr>
          <a:xfrm>
            <a:off x="685800" y="1865376"/>
            <a:ext cx="438912" cy="438912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>
            <a:noFill/>
          </a:ln>
        </p:spPr>
      </p:sp>
      <p:pic>
        <p:nvPicPr>
          <p:cNvPr id="7" name="Imagem" descr="inspecti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139" y="1970715"/>
            <a:ext cx="228234" cy="228234"/>
          </a:xfrm>
          <a:prstGeom prst="rect">
            <a:avLst/>
          </a:prstGeom>
        </p:spPr>
      </p:pic>
      <p:sp>
        <p:nvSpPr>
          <p:cNvPr id="8" name="Texto"/>
          <p:cNvSpPr txBox="1"/>
          <p:nvPr/>
        </p:nvSpPr>
        <p:spPr>
          <a:xfrm>
            <a:off x="1234440" y="1645920"/>
            <a:ext cx="880872" cy="86868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250" b="1" dirty="0">
                <a:solidFill>
                  <a:srgbClr val="1D2D3E"/>
                </a:solidFill>
              </a:rPr>
              <a:t>1. lint</a:t>
            </a:r>
            <a:endParaRPr lang="pt-BR" sz="1250" dirty="0"/>
          </a:p>
        </p:txBody>
      </p:sp>
      <p:cxnSp>
        <p:nvCxnSpPr>
          <p:cNvPr id="9" name="Conector"/>
          <p:cNvCxnSpPr/>
          <p:nvPr/>
        </p:nvCxnSpPr>
        <p:spPr>
          <a:xfrm>
            <a:off x="2234184" y="2080260"/>
            <a:ext cx="173736" cy="0"/>
          </a:xfrm>
          <a:prstGeom prst="line">
            <a:avLst/>
          </a:prstGeom>
          <a:noFill/>
          <a:ln w="19050">
            <a:solidFill>
              <a:srgbClr val="556B82"/>
            </a:solidFill>
            <a:prstDash val="solid"/>
            <a:round/>
            <a:tailEnd type="triangle"/>
          </a:ln>
        </p:spPr>
      </p:cxnSp>
      <p:sp>
        <p:nvSpPr>
          <p:cNvPr id="10" name="Etapa testes"/>
          <p:cNvSpPr/>
          <p:nvPr/>
        </p:nvSpPr>
        <p:spPr>
          <a:xfrm>
            <a:off x="2435352" y="1645920"/>
            <a:ext cx="1658112" cy="86868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1" name="Ícone validate"/>
          <p:cNvSpPr/>
          <p:nvPr/>
        </p:nvSpPr>
        <p:spPr>
          <a:xfrm>
            <a:off x="2572512" y="1865376"/>
            <a:ext cx="438912" cy="438912"/>
          </a:xfrm>
          <a:prstGeom prst="roundRect">
            <a:avLst>
              <a:gd name="adj" fmla="val 22000"/>
            </a:avLst>
          </a:prstGeom>
          <a:solidFill>
            <a:srgbClr val="F5FAE5"/>
          </a:solidFill>
          <a:ln>
            <a:noFill/>
          </a:ln>
        </p:spPr>
      </p:sp>
      <p:pic>
        <p:nvPicPr>
          <p:cNvPr id="12" name="Imagem" descr="valida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7851" y="1970715"/>
            <a:ext cx="228234" cy="228234"/>
          </a:xfrm>
          <a:prstGeom prst="rect">
            <a:avLst/>
          </a:prstGeom>
        </p:spPr>
      </p:pic>
      <p:sp>
        <p:nvSpPr>
          <p:cNvPr id="13" name="Texto"/>
          <p:cNvSpPr txBox="1"/>
          <p:nvPr/>
        </p:nvSpPr>
        <p:spPr>
          <a:xfrm>
            <a:off x="3121152" y="1645920"/>
            <a:ext cx="880872" cy="86868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250" b="1" dirty="0">
                <a:solidFill>
                  <a:srgbClr val="1D2D3E"/>
                </a:solidFill>
              </a:rPr>
              <a:t>2. testes</a:t>
            </a:r>
            <a:endParaRPr lang="pt-BR" sz="1250" dirty="0"/>
          </a:p>
        </p:txBody>
      </p:sp>
      <p:cxnSp>
        <p:nvCxnSpPr>
          <p:cNvPr id="14" name="Conector"/>
          <p:cNvCxnSpPr/>
          <p:nvPr/>
        </p:nvCxnSpPr>
        <p:spPr>
          <a:xfrm>
            <a:off x="4120896" y="2080260"/>
            <a:ext cx="173736" cy="0"/>
          </a:xfrm>
          <a:prstGeom prst="line">
            <a:avLst/>
          </a:prstGeom>
          <a:noFill/>
          <a:ln w="19050">
            <a:solidFill>
              <a:srgbClr val="556B82"/>
            </a:solidFill>
            <a:prstDash val="solid"/>
            <a:round/>
            <a:tailEnd type="triangle"/>
          </a:ln>
        </p:spPr>
      </p:cxnSp>
      <p:sp>
        <p:nvSpPr>
          <p:cNvPr id="15" name="Etapa UI5 linter"/>
          <p:cNvSpPr/>
          <p:nvPr/>
        </p:nvSpPr>
        <p:spPr>
          <a:xfrm>
            <a:off x="4322064" y="1645920"/>
            <a:ext cx="1658112" cy="86868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6" name="Ícone syntax"/>
          <p:cNvSpPr/>
          <p:nvPr/>
        </p:nvSpPr>
        <p:spPr>
          <a:xfrm>
            <a:off x="4459224" y="1865376"/>
            <a:ext cx="438912" cy="438912"/>
          </a:xfrm>
          <a:prstGeom prst="roundRect">
            <a:avLst>
              <a:gd name="adj" fmla="val 22000"/>
            </a:avLst>
          </a:prstGeom>
          <a:solidFill>
            <a:srgbClr val="FFF3E0"/>
          </a:solidFill>
          <a:ln>
            <a:noFill/>
          </a:ln>
        </p:spPr>
      </p:sp>
      <p:pic>
        <p:nvPicPr>
          <p:cNvPr id="17" name="Imagem" descr="synta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4563" y="1970715"/>
            <a:ext cx="228234" cy="228234"/>
          </a:xfrm>
          <a:prstGeom prst="rect">
            <a:avLst/>
          </a:prstGeom>
        </p:spPr>
      </p:pic>
      <p:sp>
        <p:nvSpPr>
          <p:cNvPr id="18" name="Texto"/>
          <p:cNvSpPr txBox="1"/>
          <p:nvPr/>
        </p:nvSpPr>
        <p:spPr>
          <a:xfrm>
            <a:off x="5007864" y="1645920"/>
            <a:ext cx="880872" cy="86868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250" b="1" dirty="0">
                <a:solidFill>
                  <a:srgbClr val="1D2D3E"/>
                </a:solidFill>
              </a:rPr>
              <a:t>3. UI5 linter</a:t>
            </a:r>
            <a:endParaRPr lang="pt-BR" sz="1250" dirty="0"/>
          </a:p>
        </p:txBody>
      </p:sp>
      <p:cxnSp>
        <p:nvCxnSpPr>
          <p:cNvPr id="19" name="Conector"/>
          <p:cNvCxnSpPr/>
          <p:nvPr/>
        </p:nvCxnSpPr>
        <p:spPr>
          <a:xfrm>
            <a:off x="6007608" y="2080260"/>
            <a:ext cx="173736" cy="0"/>
          </a:xfrm>
          <a:prstGeom prst="line">
            <a:avLst/>
          </a:prstGeom>
          <a:noFill/>
          <a:ln w="19050">
            <a:solidFill>
              <a:srgbClr val="556B82"/>
            </a:solidFill>
            <a:prstDash val="solid"/>
            <a:round/>
            <a:tailEnd type="triangle"/>
          </a:ln>
        </p:spPr>
      </p:cxnSp>
      <p:sp>
        <p:nvSpPr>
          <p:cNvPr id="20" name="Etapa build"/>
          <p:cNvSpPr/>
          <p:nvPr/>
        </p:nvSpPr>
        <p:spPr>
          <a:xfrm>
            <a:off x="6208776" y="1645920"/>
            <a:ext cx="1658112" cy="86868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21" name="Ícone sap-box"/>
          <p:cNvSpPr/>
          <p:nvPr/>
        </p:nvSpPr>
        <p:spPr>
          <a:xfrm>
            <a:off x="6345936" y="1865376"/>
            <a:ext cx="438912" cy="438912"/>
          </a:xfrm>
          <a:prstGeom prst="roundRect">
            <a:avLst>
              <a:gd name="adj" fmla="val 22000"/>
            </a:avLst>
          </a:prstGeom>
          <a:solidFill>
            <a:srgbClr val="E3F7F6"/>
          </a:solidFill>
          <a:ln>
            <a:noFill/>
          </a:ln>
        </p:spPr>
      </p:sp>
      <p:pic>
        <p:nvPicPr>
          <p:cNvPr id="22" name="Imagem" descr="sap-box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1275" y="1970715"/>
            <a:ext cx="228234" cy="228234"/>
          </a:xfrm>
          <a:prstGeom prst="rect">
            <a:avLst/>
          </a:prstGeom>
        </p:spPr>
      </p:pic>
      <p:sp>
        <p:nvSpPr>
          <p:cNvPr id="23" name="Texto"/>
          <p:cNvSpPr txBox="1"/>
          <p:nvPr/>
        </p:nvSpPr>
        <p:spPr>
          <a:xfrm>
            <a:off x="6894576" y="1645920"/>
            <a:ext cx="880872" cy="86868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250" b="1" dirty="0">
                <a:solidFill>
                  <a:srgbClr val="1D2D3E"/>
                </a:solidFill>
              </a:rPr>
              <a:t>4. build</a:t>
            </a:r>
            <a:endParaRPr lang="pt-BR" sz="1250" dirty="0"/>
          </a:p>
        </p:txBody>
      </p:sp>
      <p:cxnSp>
        <p:nvCxnSpPr>
          <p:cNvPr id="24" name="Conector"/>
          <p:cNvCxnSpPr/>
          <p:nvPr/>
        </p:nvCxnSpPr>
        <p:spPr>
          <a:xfrm>
            <a:off x="7894320" y="2080260"/>
            <a:ext cx="173736" cy="0"/>
          </a:xfrm>
          <a:prstGeom prst="line">
            <a:avLst/>
          </a:prstGeom>
          <a:noFill/>
          <a:ln w="19050">
            <a:solidFill>
              <a:srgbClr val="556B82"/>
            </a:solidFill>
            <a:prstDash val="solid"/>
            <a:round/>
            <a:tailEnd type="triangle"/>
          </a:ln>
        </p:spPr>
      </p:cxnSp>
      <p:sp>
        <p:nvSpPr>
          <p:cNvPr id="25" name="Etapa deploy-test"/>
          <p:cNvSpPr/>
          <p:nvPr/>
        </p:nvSpPr>
        <p:spPr>
          <a:xfrm>
            <a:off x="8095488" y="1645920"/>
            <a:ext cx="1658112" cy="86868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26" name="Ícone upload-to-cloud"/>
          <p:cNvSpPr/>
          <p:nvPr/>
        </p:nvSpPr>
        <p:spPr>
          <a:xfrm>
            <a:off x="8232648" y="1865376"/>
            <a:ext cx="438912" cy="438912"/>
          </a:xfrm>
          <a:prstGeom prst="roundRect">
            <a:avLst>
              <a:gd name="adj" fmla="val 22000"/>
            </a:avLst>
          </a:prstGeom>
          <a:solidFill>
            <a:srgbClr val="FDE8F1"/>
          </a:solidFill>
          <a:ln>
            <a:noFill/>
          </a:ln>
        </p:spPr>
      </p:sp>
      <p:pic>
        <p:nvPicPr>
          <p:cNvPr id="27" name="Imagem" descr="upload-to-clou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7987" y="1970715"/>
            <a:ext cx="228234" cy="228234"/>
          </a:xfrm>
          <a:prstGeom prst="rect">
            <a:avLst/>
          </a:prstGeom>
        </p:spPr>
      </p:pic>
      <p:sp>
        <p:nvSpPr>
          <p:cNvPr id="28" name="Texto"/>
          <p:cNvSpPr txBox="1"/>
          <p:nvPr/>
        </p:nvSpPr>
        <p:spPr>
          <a:xfrm>
            <a:off x="8781288" y="1645920"/>
            <a:ext cx="880872" cy="86868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250" b="1" dirty="0">
                <a:solidFill>
                  <a:srgbClr val="1D2D3E"/>
                </a:solidFill>
              </a:rPr>
              <a:t>5. deploy-test</a:t>
            </a:r>
            <a:endParaRPr lang="pt-BR" sz="1250" dirty="0"/>
          </a:p>
        </p:txBody>
      </p:sp>
      <p:cxnSp>
        <p:nvCxnSpPr>
          <p:cNvPr id="29" name="Conector"/>
          <p:cNvCxnSpPr/>
          <p:nvPr/>
        </p:nvCxnSpPr>
        <p:spPr>
          <a:xfrm>
            <a:off x="9781032" y="2080260"/>
            <a:ext cx="173736" cy="0"/>
          </a:xfrm>
          <a:prstGeom prst="line">
            <a:avLst/>
          </a:prstGeom>
          <a:noFill/>
          <a:ln w="19050">
            <a:solidFill>
              <a:srgbClr val="556B82"/>
            </a:solidFill>
            <a:prstDash val="solid"/>
            <a:round/>
            <a:tailEnd type="triangle"/>
          </a:ln>
        </p:spPr>
      </p:cxnSp>
      <p:sp>
        <p:nvSpPr>
          <p:cNvPr id="30" name="Etapa deploy"/>
          <p:cNvSpPr/>
          <p:nvPr/>
        </p:nvSpPr>
        <p:spPr>
          <a:xfrm>
            <a:off x="9982200" y="1645920"/>
            <a:ext cx="1658112" cy="868680"/>
          </a:xfrm>
          <a:prstGeom prst="roundRect">
            <a:avLst>
              <a:gd name="adj" fmla="val 5217"/>
            </a:avLst>
          </a:prstGeom>
          <a:solidFill>
            <a:srgbClr val="0070F2"/>
          </a:solidFill>
          <a:ln>
            <a:noFill/>
          </a:ln>
        </p:spPr>
      </p:sp>
      <p:sp>
        <p:nvSpPr>
          <p:cNvPr id="31" name="Ícone upload-to-cloud"/>
          <p:cNvSpPr/>
          <p:nvPr/>
        </p:nvSpPr>
        <p:spPr>
          <a:xfrm>
            <a:off x="10119360" y="1865376"/>
            <a:ext cx="438912" cy="43891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</p:sp>
      <p:pic>
        <p:nvPicPr>
          <p:cNvPr id="32" name="Imagem" descr="upload-to-cloud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24699" y="1970715"/>
            <a:ext cx="228234" cy="228234"/>
          </a:xfrm>
          <a:prstGeom prst="rect">
            <a:avLst/>
          </a:prstGeom>
        </p:spPr>
      </p:pic>
      <p:sp>
        <p:nvSpPr>
          <p:cNvPr id="33" name="Texto"/>
          <p:cNvSpPr txBox="1"/>
          <p:nvPr/>
        </p:nvSpPr>
        <p:spPr>
          <a:xfrm>
            <a:off x="10668000" y="1645920"/>
            <a:ext cx="880872" cy="86868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250" b="1" dirty="0">
                <a:solidFill>
                  <a:srgbClr val="FFFFFF"/>
                </a:solidFill>
              </a:rPr>
              <a:t>6. deploy</a:t>
            </a:r>
            <a:endParaRPr lang="pt-BR" sz="1250" dirty="0"/>
          </a:p>
        </p:txBody>
      </p:sp>
      <p:sp>
        <p:nvSpPr>
          <p:cNvPr id="34" name="Regra"/>
          <p:cNvSpPr/>
          <p:nvPr/>
        </p:nvSpPr>
        <p:spPr>
          <a:xfrm>
            <a:off x="548640" y="2697480"/>
            <a:ext cx="11091672" cy="640080"/>
          </a:xfrm>
          <a:prstGeom prst="roundRect">
            <a:avLst>
              <a:gd name="adj" fmla="val 9000"/>
            </a:avLst>
          </a:prstGeom>
          <a:solidFill>
            <a:srgbClr val="FFEAF4"/>
          </a:solidFill>
          <a:ln>
            <a:noFill/>
          </a:ln>
        </p:spPr>
      </p:sp>
      <p:sp>
        <p:nvSpPr>
          <p:cNvPr id="35" name="Ícone alert"/>
          <p:cNvSpPr/>
          <p:nvPr/>
        </p:nvSpPr>
        <p:spPr>
          <a:xfrm>
            <a:off x="713232" y="2798064"/>
            <a:ext cx="438912" cy="43891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</p:sp>
      <p:pic>
        <p:nvPicPr>
          <p:cNvPr id="36" name="Imagem" descr="aler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8571" y="2903403"/>
            <a:ext cx="228234" cy="228234"/>
          </a:xfrm>
          <a:prstGeom prst="rect">
            <a:avLst/>
          </a:prstGeom>
        </p:spPr>
      </p:pic>
      <p:sp>
        <p:nvSpPr>
          <p:cNvPr id="37" name="Texto"/>
          <p:cNvSpPr txBox="1"/>
          <p:nvPr/>
        </p:nvSpPr>
        <p:spPr>
          <a:xfrm>
            <a:off x="1325880" y="2697480"/>
            <a:ext cx="10149840" cy="64008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250" b="1" dirty="0">
                <a:solidFill>
                  <a:srgbClr val="AA0808"/>
                </a:solidFill>
              </a:rPr>
              <a:t xml:space="preserve">Regra: </a:t>
            </a:r>
            <a:r>
              <a:rPr lang="pt-BR" sz="1250" dirty="0">
                <a:solidFill>
                  <a:srgbClr val="1D2D3E"/>
                </a:solidFill>
              </a:rPr>
              <a:t>qualquer falha interrompe a sequência. Corrija, rode de novo desde o lint e só então siga para o deploy.</a:t>
            </a:r>
            <a:endParaRPr lang="pt-BR" sz="1250" dirty="0"/>
          </a:p>
        </p:txBody>
      </p:sp>
      <p:sp>
        <p:nvSpPr>
          <p:cNvPr id="38" name="Cartão"/>
          <p:cNvSpPr/>
          <p:nvPr/>
        </p:nvSpPr>
        <p:spPr>
          <a:xfrm>
            <a:off x="548640" y="3520440"/>
            <a:ext cx="3511296" cy="26517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39" name="Ícone person-placeholder"/>
          <p:cNvSpPr/>
          <p:nvPr/>
        </p:nvSpPr>
        <p:spPr>
          <a:xfrm>
            <a:off x="777240" y="3721608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>
            <a:noFill/>
          </a:ln>
        </p:spPr>
      </p:sp>
      <p:pic>
        <p:nvPicPr>
          <p:cNvPr id="40" name="Imagem" descr="person-placeholder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1357" y="3835725"/>
            <a:ext cx="247254" cy="247254"/>
          </a:xfrm>
          <a:prstGeom prst="rect">
            <a:avLst/>
          </a:prstGeom>
        </p:spPr>
      </p:pic>
      <p:sp>
        <p:nvSpPr>
          <p:cNvPr id="41" name="Texto"/>
          <p:cNvSpPr txBox="1"/>
          <p:nvPr/>
        </p:nvSpPr>
        <p:spPr>
          <a:xfrm>
            <a:off x="1371600" y="3721608"/>
            <a:ext cx="2560320" cy="475488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400" b="1" dirty="0">
                <a:solidFill>
                  <a:srgbClr val="1D2D3E"/>
                </a:solidFill>
              </a:rPr>
              <a:t>Sem CI no repositório</a:t>
            </a:r>
            <a:endParaRPr lang="pt-BR" sz="1400" dirty="0"/>
          </a:p>
        </p:txBody>
      </p:sp>
      <p:sp>
        <p:nvSpPr>
          <p:cNvPr id="42" name="Texto"/>
          <p:cNvSpPr txBox="1"/>
          <p:nvPr/>
        </p:nvSpPr>
        <p:spPr>
          <a:xfrm>
            <a:off x="777240" y="4343400"/>
            <a:ext cx="3063240" cy="123444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t-BR" sz="1200" dirty="0">
                <a:solidFill>
                  <a:srgbClr val="1D2D3E"/>
                </a:solidFill>
              </a:rPr>
              <a:t>Nenhum pipeline roda os testes por você: a única barreira entre o código e o sistema é quem executa o npm run deploy.</a:t>
            </a:r>
            <a:endParaRPr lang="pt-BR" sz="1200" dirty="0"/>
          </a:p>
        </p:txBody>
      </p:sp>
      <p:cxnSp>
        <p:nvCxnSpPr>
          <p:cNvPr id="43" name="Conector"/>
          <p:cNvCxnSpPr/>
          <p:nvPr/>
        </p:nvCxnSpPr>
        <p:spPr>
          <a:xfrm>
            <a:off x="777240" y="5623560"/>
            <a:ext cx="3054096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  <a:round/>
          </a:ln>
        </p:spPr>
      </p:cxnSp>
      <p:sp>
        <p:nvSpPr>
          <p:cNvPr id="44" name="Texto"/>
          <p:cNvSpPr txBox="1"/>
          <p:nvPr/>
        </p:nvSpPr>
        <p:spPr>
          <a:xfrm>
            <a:off x="777240" y="5687568"/>
            <a:ext cx="3063240" cy="36576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100" b="1" dirty="0">
                <a:solidFill>
                  <a:srgbClr val="0070F2"/>
                </a:solidFill>
              </a:rPr>
              <a:t>Responsável: quem publica</a:t>
            </a:r>
            <a:endParaRPr lang="pt-BR" sz="1100" dirty="0"/>
          </a:p>
        </p:txBody>
      </p:sp>
      <p:sp>
        <p:nvSpPr>
          <p:cNvPr id="45" name="Cartão"/>
          <p:cNvSpPr/>
          <p:nvPr/>
        </p:nvSpPr>
        <p:spPr>
          <a:xfrm>
            <a:off x="4338828" y="3520440"/>
            <a:ext cx="3511296" cy="26517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46" name="Ícone list"/>
          <p:cNvSpPr/>
          <p:nvPr/>
        </p:nvSpPr>
        <p:spPr>
          <a:xfrm>
            <a:off x="4567428" y="3721608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E3F7F6"/>
          </a:solidFill>
          <a:ln>
            <a:noFill/>
          </a:ln>
        </p:spPr>
      </p:sp>
      <p:pic>
        <p:nvPicPr>
          <p:cNvPr id="47" name="Imagem" descr="list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81545" y="3835725"/>
            <a:ext cx="247254" cy="247254"/>
          </a:xfrm>
          <a:prstGeom prst="rect">
            <a:avLst/>
          </a:prstGeom>
        </p:spPr>
      </p:pic>
      <p:sp>
        <p:nvSpPr>
          <p:cNvPr id="48" name="Texto"/>
          <p:cNvSpPr txBox="1"/>
          <p:nvPr/>
        </p:nvSpPr>
        <p:spPr>
          <a:xfrm>
            <a:off x="5161788" y="3721608"/>
            <a:ext cx="2560320" cy="475488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400" b="1" dirty="0">
                <a:solidFill>
                  <a:srgbClr val="1D2D3E"/>
                </a:solidFill>
              </a:rPr>
              <a:t>Cada app é um projeto</a:t>
            </a:r>
            <a:endParaRPr lang="pt-BR" sz="1400" dirty="0"/>
          </a:p>
        </p:txBody>
      </p:sp>
      <p:sp>
        <p:nvSpPr>
          <p:cNvPr id="49" name="Texto"/>
          <p:cNvSpPr txBox="1"/>
          <p:nvPr/>
        </p:nvSpPr>
        <p:spPr>
          <a:xfrm>
            <a:off x="4567428" y="4343400"/>
            <a:ext cx="3063240" cy="123444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t-BR" sz="1200" dirty="0">
                <a:solidFill>
                  <a:srgbClr val="1D2D3E"/>
                </a:solidFill>
              </a:rPr>
              <a:t>Os comandos rodam na pasta de cada app alterada. Uma correção no motor das análises vale para as quatro e exige rodar as quatro.</a:t>
            </a:r>
            <a:endParaRPr lang="pt-BR" sz="1200" dirty="0"/>
          </a:p>
        </p:txBody>
      </p:sp>
      <p:cxnSp>
        <p:nvCxnSpPr>
          <p:cNvPr id="50" name="Conector"/>
          <p:cNvCxnSpPr/>
          <p:nvPr/>
        </p:nvCxnSpPr>
        <p:spPr>
          <a:xfrm>
            <a:off x="4567428" y="5623560"/>
            <a:ext cx="3054096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  <a:round/>
          </a:ln>
        </p:spPr>
      </p:cxnSp>
      <p:sp>
        <p:nvSpPr>
          <p:cNvPr id="51" name="Texto"/>
          <p:cNvSpPr txBox="1"/>
          <p:nvPr/>
        </p:nvSpPr>
        <p:spPr>
          <a:xfrm>
            <a:off x="4567428" y="5687568"/>
            <a:ext cx="3063240" cy="36576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100" b="1" dirty="0">
                <a:solidFill>
                  <a:srgbClr val="049F9A"/>
                </a:solidFill>
              </a:rPr>
              <a:t>Escopo: todas as apps tocadas</a:t>
            </a:r>
            <a:endParaRPr lang="pt-BR" sz="1100" dirty="0"/>
          </a:p>
        </p:txBody>
      </p:sp>
      <p:sp>
        <p:nvSpPr>
          <p:cNvPr id="52" name="Cartão"/>
          <p:cNvSpPr/>
          <p:nvPr/>
        </p:nvSpPr>
        <p:spPr>
          <a:xfrm>
            <a:off x="8129016" y="3520440"/>
            <a:ext cx="3511296" cy="26517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53" name="Ícone it-system"/>
          <p:cNvSpPr/>
          <p:nvPr/>
        </p:nvSpPr>
        <p:spPr>
          <a:xfrm>
            <a:off x="8357616" y="3721608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F3ECFB"/>
          </a:solidFill>
          <a:ln>
            <a:noFill/>
          </a:ln>
        </p:spPr>
      </p:sp>
      <p:pic>
        <p:nvPicPr>
          <p:cNvPr id="54" name="Imagem" descr="it-system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71733" y="3835725"/>
            <a:ext cx="247254" cy="247254"/>
          </a:xfrm>
          <a:prstGeom prst="rect">
            <a:avLst/>
          </a:prstGeom>
        </p:spPr>
      </p:pic>
      <p:sp>
        <p:nvSpPr>
          <p:cNvPr id="55" name="Texto"/>
          <p:cNvSpPr txBox="1"/>
          <p:nvPr/>
        </p:nvSpPr>
        <p:spPr>
          <a:xfrm>
            <a:off x="8951976" y="3721608"/>
            <a:ext cx="2560320" cy="475488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400" b="1" dirty="0">
                <a:solidFill>
                  <a:srgbClr val="1D2D3E"/>
                </a:solidFill>
              </a:rPr>
              <a:t>O sistema é compartilhado</a:t>
            </a:r>
            <a:endParaRPr lang="pt-BR" sz="1400" dirty="0"/>
          </a:p>
        </p:txBody>
      </p:sp>
      <p:sp>
        <p:nvSpPr>
          <p:cNvPr id="56" name="Texto"/>
          <p:cNvSpPr txBox="1"/>
          <p:nvPr/>
        </p:nvSpPr>
        <p:spPr>
          <a:xfrm>
            <a:off x="8357616" y="4343400"/>
            <a:ext cx="3063240" cy="123444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t-BR" sz="1200" dirty="0">
                <a:solidFill>
                  <a:srgbClr val="1D2D3E"/>
                </a:solidFill>
              </a:rPr>
              <a:t>No BTP trial o pacote ZLOCAL não tem transporte: a versão vale na hora. No On-Premise a ordem leva o mesmo código a QAS e PRD.</a:t>
            </a:r>
            <a:endParaRPr lang="pt-BR" sz="1200" dirty="0"/>
          </a:p>
        </p:txBody>
      </p:sp>
      <p:cxnSp>
        <p:nvCxnSpPr>
          <p:cNvPr id="57" name="Conector"/>
          <p:cNvCxnSpPr/>
          <p:nvPr/>
        </p:nvCxnSpPr>
        <p:spPr>
          <a:xfrm>
            <a:off x="8357616" y="5623560"/>
            <a:ext cx="3054096" cy="0"/>
          </a:xfrm>
          <a:prstGeom prst="line">
            <a:avLst/>
          </a:prstGeom>
          <a:noFill/>
          <a:ln w="12700">
            <a:solidFill>
              <a:srgbClr val="E5E5E5"/>
            </a:solidFill>
            <a:prstDash val="solid"/>
            <a:round/>
          </a:ln>
        </p:spPr>
      </p:cxnSp>
      <p:sp>
        <p:nvSpPr>
          <p:cNvPr id="58" name="Texto"/>
          <p:cNvSpPr txBox="1"/>
          <p:nvPr/>
        </p:nvSpPr>
        <p:spPr>
          <a:xfrm>
            <a:off x="8357616" y="5687568"/>
            <a:ext cx="3063240" cy="36576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100" b="1" dirty="0">
                <a:solidFill>
                  <a:srgbClr val="8B47D7"/>
                </a:solidFill>
              </a:rPr>
              <a:t>Impacto: todos os usuários</a:t>
            </a:r>
            <a:endParaRPr lang="pt-BR" sz="1100" dirty="0"/>
          </a:p>
        </p:txBody>
      </p:sp>
      <p:sp>
        <p:nvSpPr>
          <p:cNvPr id="5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o"/>
          <p:cNvSpPr/>
          <p:nvPr>
            <p:ph idx="100" type="body" hasCustomPrompt="1"/>
          </p:nvPr>
        </p:nvSpPr>
        <p:spPr>
          <a:xfrm>
            <a:off x="731520" y="13258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400" b="1" spc="200" kern="0" dirty="0">
                <a:solidFill>
                  <a:srgbClr val="89D1FF"/>
                </a:solidFill>
              </a:rPr>
              <a:t>ETAPA 5 · SAP BTP</a:t>
            </a:r>
            <a:endParaRPr lang="pt-BR" sz="1400" dirty="0"/>
          </a:p>
        </p:txBody>
      </p:sp>
      <p:sp>
        <p:nvSpPr>
          <p:cNvPr id="4" name="Texto"/>
          <p:cNvSpPr/>
          <p:nvPr>
            <p:ph idx="101" type="title" hasCustomPrompt="1"/>
          </p:nvPr>
        </p:nvSpPr>
        <p:spPr>
          <a:xfrm>
            <a:off x="731520" y="1737360"/>
            <a:ext cx="6949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t-BR" sz="4400" b="1" dirty="0">
                <a:solidFill>
                  <a:schemeClr val="bg1"/>
                </a:solidFill>
              </a:rPr>
              <a:t>Apps no SAP BTP, ABAP environment</a:t>
            </a:r>
            <a:endParaRPr lang="pt-BR" sz="4400" dirty="0"/>
          </a:p>
        </p:txBody>
      </p:sp>
      <p:sp>
        <p:nvSpPr>
          <p:cNvPr id="5" name="Texto"/>
          <p:cNvSpPr/>
          <p:nvPr>
            <p:ph idx="102" type="body" hasCustomPrompt="1"/>
          </p:nvPr>
        </p:nvSpPr>
        <p:spPr>
          <a:xfrm>
            <a:off x="731520" y="33832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t-BR" sz="1800" dirty="0">
                <a:solidFill>
                  <a:schemeClr val="bg2"/>
                </a:solidFill>
              </a:rPr>
              <a:t>Deploy com login pelo SAP ID, IAM Apps dos tiles nos Business Catalogs e, no trial, o acesso pelo SAP Build Work Zone.</a:t>
            </a:r>
            <a:endParaRPr lang="pt-BR" sz="1800" dirty="0"/>
          </a:p>
        </p:txBody>
      </p:sp>
      <p:sp>
        <p:nvSpPr>
          <p:cNvPr id="6" name="Ícone cloud"/>
          <p:cNvSpPr/>
          <p:nvPr/>
        </p:nvSpPr>
        <p:spPr>
          <a:xfrm>
            <a:off x="731520" y="41148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1B3A7A"/>
          </a:solidFill>
          <a:ln>
            <a:noFill/>
          </a:ln>
        </p:spPr>
      </p:sp>
      <p:pic>
        <p:nvPicPr>
          <p:cNvPr id="7" name="Imagem" descr="clou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585216"/>
            <a:ext cx="384048" cy="384048"/>
          </a:xfrm>
          <a:prstGeom prst="rect">
            <a:avLst/>
          </a:prstGeom>
        </p:spPr>
      </p:pic>
      <p:sp>
        <p:nvSpPr>
          <p:cNvPr id="8" name="Objetos da seção"/>
          <p:cNvSpPr/>
          <p:nvPr/>
        </p:nvSpPr>
        <p:spPr>
          <a:xfrm>
            <a:off x="8001000" y="1325880"/>
            <a:ext cx="3639312" cy="2980944"/>
          </a:xfrm>
          <a:prstGeom prst="roundRect">
            <a:avLst>
              <a:gd name="adj" fmla="val 3670"/>
            </a:avLst>
          </a:prstGeom>
          <a:solidFill>
            <a:srgbClr val="1B3A7A"/>
          </a:solidFill>
          <a:ln>
            <a:noFill/>
          </a:ln>
        </p:spPr>
      </p:sp>
      <p:sp>
        <p:nvSpPr>
          <p:cNvPr id="9" name="Texto"/>
          <p:cNvSpPr txBox="1"/>
          <p:nvPr/>
        </p:nvSpPr>
        <p:spPr>
          <a:xfrm>
            <a:off x="8275320" y="1481328"/>
            <a:ext cx="3090672" cy="27432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100" b="1" spc="150" kern="0" dirty="0">
                <a:solidFill>
                  <a:srgbClr val="89D1FF"/>
                </a:solidFill>
              </a:rPr>
              <a:t>OBJETOS NESTA SEÇÃO</a:t>
            </a:r>
            <a:endParaRPr lang="pt-BR" sz="1100" dirty="0"/>
          </a:p>
        </p:txBody>
      </p:sp>
      <p:sp>
        <p:nvSpPr>
          <p:cNvPr id="10" name="Texto"/>
          <p:cNvSpPr txBox="1"/>
          <p:nvPr/>
        </p:nvSpPr>
        <p:spPr>
          <a:xfrm>
            <a:off x="8275320" y="1874520"/>
            <a:ext cx="3246120" cy="384048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ui5-deploy.yaml</a:t>
            </a:r>
            <a:r>
              <a:rPr lang="pt-BR" sz="1100" dirty="0">
                <a:solidFill>
                  <a:srgbClr val="D1EFFF"/>
                </a:solidFill>
              </a:rPr>
              <a:t xml:space="preserve">  deploy-to-abap</a:t>
            </a:r>
            <a:endParaRPr lang="pt-BR" sz="1100" dirty="0"/>
          </a:p>
        </p:txBody>
      </p:sp>
      <p:sp>
        <p:nvSpPr>
          <p:cNvPr id="11" name="Texto"/>
          <p:cNvSpPr txBox="1"/>
          <p:nvPr/>
        </p:nvSpPr>
        <p:spPr>
          <a:xfrm>
            <a:off x="8275320" y="2258568"/>
            <a:ext cx="3246120" cy="384048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reentranceTicket</a:t>
            </a:r>
            <a:r>
              <a:rPr lang="pt-BR" sz="1100" dirty="0">
                <a:solidFill>
                  <a:srgbClr val="D1EFFF"/>
                </a:solidFill>
              </a:rPr>
              <a:t xml:space="preserve">  login no navegador</a:t>
            </a:r>
            <a:endParaRPr lang="pt-BR" sz="1100" dirty="0"/>
          </a:p>
        </p:txBody>
      </p:sp>
      <p:sp>
        <p:nvSpPr>
          <p:cNvPr id="12" name="Texto"/>
          <p:cNvSpPr txBox="1"/>
          <p:nvPr/>
        </p:nvSpPr>
        <p:spPr>
          <a:xfrm>
            <a:off x="8275320" y="2642616"/>
            <a:ext cx="3246120" cy="384048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ZPC_* · ZPC_ANL_*</a:t>
            </a:r>
            <a:r>
              <a:rPr lang="pt-BR" sz="1100" dirty="0">
                <a:solidFill>
                  <a:srgbClr val="D1EFFF"/>
                </a:solidFill>
              </a:rPr>
              <a:t xml:space="preserve">  BSPs</a:t>
            </a:r>
            <a:endParaRPr lang="pt-BR" sz="1100" dirty="0"/>
          </a:p>
        </p:txBody>
      </p:sp>
      <p:sp>
        <p:nvSpPr>
          <p:cNvPr id="13" name="Texto"/>
          <p:cNvSpPr txBox="1"/>
          <p:nvPr/>
        </p:nvSpPr>
        <p:spPr>
          <a:xfrm>
            <a:off x="8275320" y="3026664"/>
            <a:ext cx="3246120" cy="384048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ZPC_*_UI5R</a:t>
            </a:r>
            <a:r>
              <a:rPr lang="pt-BR" sz="1100" dirty="0">
                <a:solidFill>
                  <a:srgbClr val="D1EFFF"/>
                </a:solidFill>
              </a:rPr>
              <a:t xml:space="preserve">  IAM App do tile</a:t>
            </a:r>
            <a:endParaRPr lang="pt-BR" sz="1100" dirty="0"/>
          </a:p>
        </p:txBody>
      </p:sp>
      <p:sp>
        <p:nvSpPr>
          <p:cNvPr id="14" name="Texto"/>
          <p:cNvSpPr txBox="1"/>
          <p:nvPr/>
        </p:nvSpPr>
        <p:spPr>
          <a:xfrm>
            <a:off x="8275320" y="3410712"/>
            <a:ext cx="3246120" cy="384048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ZPC_BC_* · ZPC_BR_*</a:t>
            </a:r>
            <a:r>
              <a:rPr lang="pt-BR" sz="1100" dirty="0">
                <a:solidFill>
                  <a:srgbClr val="D1EFFF"/>
                </a:solidFill>
              </a:rPr>
              <a:t xml:space="preserve">  catálogos e roles</a:t>
            </a:r>
            <a:endParaRPr lang="pt-BR" sz="1100" dirty="0"/>
          </a:p>
        </p:txBody>
      </p:sp>
      <p:sp>
        <p:nvSpPr>
          <p:cNvPr id="15" name="Texto"/>
          <p:cNvSpPr txBox="1"/>
          <p:nvPr/>
        </p:nvSpPr>
        <p:spPr>
          <a:xfrm>
            <a:off x="8275320" y="3794760"/>
            <a:ext cx="3246120" cy="384048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 Zone</a:t>
            </a:r>
            <a:r>
              <a:rPr lang="pt-BR" sz="1100" dirty="0">
                <a:solidFill>
                  <a:srgbClr val="D1EFFF"/>
                </a:solidFill>
              </a:rPr>
              <a:t xml:space="preserve">  tiles URL no trial</a:t>
            </a:r>
            <a:endParaRPr lang="pt-BR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ótulo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100" b="1" spc="150" kern="0" dirty="0">
                <a:solidFill>
                  <a:schemeClr val="accent1"/>
                </a:solidFill>
              </a:rPr>
              <a:t>SAP BTP · CONFIGURAÇÃO</a:t>
            </a:r>
            <a:endParaRPr lang="pt-BR" sz="1100" dirty="0"/>
          </a:p>
        </p:txBody>
      </p:sp>
      <p:sp>
        <p:nvSpPr>
          <p:cNvPr id="4" name="Título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3000" b="1" dirty="0">
                <a:solidFill>
                  <a:schemeClr val="tx1"/>
                </a:solidFill>
              </a:rPr>
              <a:t>Preparar a app para o deploy no ABAP environment</a:t>
            </a:r>
            <a:endParaRPr lang="pt-BR" sz="3000" dirty="0"/>
          </a:p>
        </p:txBody>
      </p:sp>
      <p:sp>
        <p:nvSpPr>
          <p:cNvPr id="5" name="Cartão"/>
          <p:cNvSpPr/>
          <p:nvPr/>
        </p:nvSpPr>
        <p:spPr>
          <a:xfrm>
            <a:off x="548640" y="1645920"/>
            <a:ext cx="5257800" cy="452628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6" name="Número 1"/>
          <p:cNvSpPr/>
          <p:nvPr/>
        </p:nvSpPr>
        <p:spPr>
          <a:xfrm>
            <a:off x="777240" y="1847088"/>
            <a:ext cx="310896" cy="310896"/>
          </a:xfrm>
          <a:prstGeom prst="ellipse">
            <a:avLst/>
          </a:prstGeom>
          <a:solidFill>
            <a:srgbClr val="0070F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b="1" dirty="0">
                <a:solidFill>
                  <a:srgbClr val="FFFFFF"/>
                </a:solidFill>
              </a:rPr>
              <a:t>1</a:t>
            </a:r>
            <a:endParaRPr lang="pt-BR" sz="1000" dirty="0"/>
          </a:p>
        </p:txBody>
      </p:sp>
      <p:sp>
        <p:nvSpPr>
          <p:cNvPr id="7" name="Texto"/>
          <p:cNvSpPr txBox="1"/>
          <p:nvPr/>
        </p:nvSpPr>
        <p:spPr>
          <a:xfrm>
            <a:off x="1234440" y="1828800"/>
            <a:ext cx="4389120" cy="310896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300" b="1" dirty="0">
                <a:solidFill>
                  <a:srgbClr val="1D2D3E"/>
                </a:solidFill>
              </a:rPr>
              <a:t>Gerar a configuração</a:t>
            </a:r>
            <a:endParaRPr lang="pt-BR" sz="1300" dirty="0"/>
          </a:p>
        </p:txBody>
      </p:sp>
      <p:sp>
        <p:nvSpPr>
          <p:cNvPr id="8" name="Texto"/>
          <p:cNvSpPr txBox="1"/>
          <p:nvPr/>
        </p:nvSpPr>
        <p:spPr>
          <a:xfrm>
            <a:off x="1234440" y="2157984"/>
            <a:ext cx="4389120" cy="475488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t-BR" sz="1100" dirty="0">
                <a:solidFill>
                  <a:srgbClr val="556B82"/>
                </a:solidFill>
              </a:rPr>
              <a:t>Passo Deploy do Application Generator ou npx fiori add deploy-config abap</a:t>
            </a:r>
            <a:endParaRPr lang="pt-BR" sz="1100" dirty="0"/>
          </a:p>
        </p:txBody>
      </p:sp>
      <p:sp>
        <p:nvSpPr>
          <p:cNvPr id="9" name="Número 2"/>
          <p:cNvSpPr/>
          <p:nvPr/>
        </p:nvSpPr>
        <p:spPr>
          <a:xfrm>
            <a:off x="777240" y="2706624"/>
            <a:ext cx="310896" cy="310896"/>
          </a:xfrm>
          <a:prstGeom prst="ellipse">
            <a:avLst/>
          </a:prstGeom>
          <a:solidFill>
            <a:srgbClr val="0070F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b="1" dirty="0">
                <a:solidFill>
                  <a:srgbClr val="FFFFFF"/>
                </a:solidFill>
              </a:rPr>
              <a:t>2</a:t>
            </a:r>
            <a:endParaRPr lang="pt-BR" sz="1000" dirty="0"/>
          </a:p>
        </p:txBody>
      </p:sp>
      <p:sp>
        <p:nvSpPr>
          <p:cNvPr id="10" name="Texto"/>
          <p:cNvSpPr txBox="1"/>
          <p:nvPr/>
        </p:nvSpPr>
        <p:spPr>
          <a:xfrm>
            <a:off x="1234440" y="2688336"/>
            <a:ext cx="4389120" cy="310896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300" b="1" dirty="0">
                <a:solidFill>
                  <a:srgbClr val="1D2D3E"/>
                </a:solidFill>
              </a:rPr>
              <a:t>Destino</a:t>
            </a:r>
            <a:endParaRPr lang="pt-BR" sz="1300" dirty="0"/>
          </a:p>
        </p:txBody>
      </p:sp>
      <p:sp>
        <p:nvSpPr>
          <p:cNvPr id="11" name="Texto"/>
          <p:cNvSpPr txBox="1"/>
          <p:nvPr/>
        </p:nvSpPr>
        <p:spPr>
          <a:xfrm>
            <a:off x="1234440" y="3017520"/>
            <a:ext cx="4389120" cy="475488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t-BR" sz="1100" dirty="0">
                <a:solidFill>
                  <a:srgbClr val="556B82"/>
                </a:solidFill>
              </a:rPr>
              <a:t>URL do sistema, cliente 100 e reentranceTicket: login no navegador, sem senha no arquivo</a:t>
            </a:r>
            <a:endParaRPr lang="pt-BR" sz="1100" dirty="0"/>
          </a:p>
        </p:txBody>
      </p:sp>
      <p:sp>
        <p:nvSpPr>
          <p:cNvPr id="12" name="Número 3"/>
          <p:cNvSpPr/>
          <p:nvPr/>
        </p:nvSpPr>
        <p:spPr>
          <a:xfrm>
            <a:off x="777240" y="3566160"/>
            <a:ext cx="310896" cy="310896"/>
          </a:xfrm>
          <a:prstGeom prst="ellipse">
            <a:avLst/>
          </a:prstGeom>
          <a:solidFill>
            <a:srgbClr val="0070F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b="1" dirty="0">
                <a:solidFill>
                  <a:srgbClr val="FFFFFF"/>
                </a:solidFill>
              </a:rPr>
              <a:t>3</a:t>
            </a:r>
            <a:endParaRPr lang="pt-BR" sz="1000" dirty="0"/>
          </a:p>
        </p:txBody>
      </p:sp>
      <p:sp>
        <p:nvSpPr>
          <p:cNvPr id="13" name="Texto"/>
          <p:cNvSpPr txBox="1"/>
          <p:nvPr/>
        </p:nvSpPr>
        <p:spPr>
          <a:xfrm>
            <a:off x="1234440" y="3547872"/>
            <a:ext cx="4389120" cy="310896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300" b="1" dirty="0">
                <a:solidFill>
                  <a:srgbClr val="1D2D3E"/>
                </a:solidFill>
              </a:rPr>
              <a:t>Aplicação BSP</a:t>
            </a:r>
            <a:endParaRPr lang="pt-BR" sz="1300" dirty="0"/>
          </a:p>
        </p:txBody>
      </p:sp>
      <p:sp>
        <p:nvSpPr>
          <p:cNvPr id="14" name="Texto"/>
          <p:cNvSpPr txBox="1"/>
          <p:nvPr/>
        </p:nvSpPr>
        <p:spPr>
          <a:xfrm>
            <a:off x="1234440" y="3877056"/>
            <a:ext cx="4389120" cy="475488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t-BR" sz="1100" dirty="0">
                <a:solidFill>
                  <a:srgbClr val="556B82"/>
                </a:solidFill>
              </a:rPr>
              <a:t>name ZPC_* (até 15 caracteres), description e o package ZAVBS_PC_* do domínio</a:t>
            </a:r>
            <a:endParaRPr lang="pt-BR" sz="1100" dirty="0"/>
          </a:p>
        </p:txBody>
      </p:sp>
      <p:sp>
        <p:nvSpPr>
          <p:cNvPr id="15" name="Número 4"/>
          <p:cNvSpPr/>
          <p:nvPr/>
        </p:nvSpPr>
        <p:spPr>
          <a:xfrm>
            <a:off x="777240" y="4425696"/>
            <a:ext cx="310896" cy="310896"/>
          </a:xfrm>
          <a:prstGeom prst="ellipse">
            <a:avLst/>
          </a:prstGeom>
          <a:solidFill>
            <a:srgbClr val="0070F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b="1" dirty="0">
                <a:solidFill>
                  <a:srgbClr val="FFFFFF"/>
                </a:solidFill>
              </a:rPr>
              <a:t>4</a:t>
            </a:r>
            <a:endParaRPr lang="pt-BR" sz="1000" dirty="0"/>
          </a:p>
        </p:txBody>
      </p:sp>
      <p:sp>
        <p:nvSpPr>
          <p:cNvPr id="16" name="Texto"/>
          <p:cNvSpPr txBox="1"/>
          <p:nvPr/>
        </p:nvSpPr>
        <p:spPr>
          <a:xfrm>
            <a:off x="1234440" y="4407408"/>
            <a:ext cx="4389120" cy="310896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300" b="1" dirty="0">
                <a:solidFill>
                  <a:srgbClr val="1D2D3E"/>
                </a:solidFill>
              </a:rPr>
              <a:t>Transporte</a:t>
            </a:r>
            <a:endParaRPr lang="pt-BR" sz="1300" dirty="0"/>
          </a:p>
        </p:txBody>
      </p:sp>
      <p:sp>
        <p:nvSpPr>
          <p:cNvPr id="17" name="Texto"/>
          <p:cNvSpPr txBox="1"/>
          <p:nvPr/>
        </p:nvSpPr>
        <p:spPr>
          <a:xfrm>
            <a:off x="1234440" y="4736592"/>
            <a:ext cx="4389120" cy="475488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t-BR" sz="1100" dirty="0">
                <a:solidFill>
                  <a:srgbClr val="556B82"/>
                </a:solidFill>
              </a:rPr>
              <a:t>transport vazio no trial (ZLOCAL); em sistemas com transporte, a ordem</a:t>
            </a:r>
            <a:endParaRPr lang="pt-BR" sz="1100" dirty="0"/>
          </a:p>
        </p:txBody>
      </p:sp>
      <p:sp>
        <p:nvSpPr>
          <p:cNvPr id="18" name="Número 5"/>
          <p:cNvSpPr/>
          <p:nvPr/>
        </p:nvSpPr>
        <p:spPr>
          <a:xfrm>
            <a:off x="777240" y="5285232"/>
            <a:ext cx="310896" cy="310896"/>
          </a:xfrm>
          <a:prstGeom prst="ellipse">
            <a:avLst/>
          </a:prstGeom>
          <a:solidFill>
            <a:srgbClr val="0070F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b="1" dirty="0">
                <a:solidFill>
                  <a:srgbClr val="FFFFFF"/>
                </a:solidFill>
              </a:rPr>
              <a:t>5</a:t>
            </a:r>
            <a:endParaRPr lang="pt-BR" sz="1000" dirty="0"/>
          </a:p>
        </p:txBody>
      </p:sp>
      <p:sp>
        <p:nvSpPr>
          <p:cNvPr id="19" name="Texto"/>
          <p:cNvSpPr txBox="1"/>
          <p:nvPr/>
        </p:nvSpPr>
        <p:spPr>
          <a:xfrm>
            <a:off x="1234440" y="5266944"/>
            <a:ext cx="4389120" cy="310896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300" b="1" dirty="0">
                <a:solidFill>
                  <a:srgbClr val="1D2D3E"/>
                </a:solidFill>
              </a:rPr>
              <a:t>Tile</a:t>
            </a:r>
            <a:endParaRPr lang="pt-BR" sz="1300" dirty="0"/>
          </a:p>
        </p:txBody>
      </p:sp>
      <p:sp>
        <p:nvSpPr>
          <p:cNvPr id="20" name="Texto"/>
          <p:cNvSpPr txBox="1"/>
          <p:nvPr/>
        </p:nvSpPr>
        <p:spPr>
          <a:xfrm>
            <a:off x="1234440" y="5596128"/>
            <a:ext cx="4389120" cy="475488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t-BR" sz="1100" dirty="0">
                <a:solidFill>
                  <a:srgbClr val="556B82"/>
                </a:solidFill>
              </a:rPr>
              <a:t>O inbound do manifest vira o IAM App ZPC_*_UI5R no mesmo pacote</a:t>
            </a:r>
            <a:endParaRPr lang="pt-BR" sz="1100" dirty="0"/>
          </a:p>
        </p:txBody>
      </p:sp>
      <p:sp>
        <p:nvSpPr>
          <p:cNvPr id="21" name="Editor"/>
          <p:cNvSpPr/>
          <p:nvPr/>
        </p:nvSpPr>
        <p:spPr>
          <a:xfrm>
            <a:off x="6035040" y="1645920"/>
            <a:ext cx="5605272" cy="3291840"/>
          </a:xfrm>
          <a:prstGeom prst="roundRect">
            <a:avLst>
              <a:gd name="adj" fmla="val 2400"/>
            </a:avLst>
          </a:prstGeom>
          <a:solidFill>
            <a:srgbClr val="181818"/>
          </a:solidFill>
          <a:ln w="12700">
            <a:solidFill>
              <a:srgbClr val="2B2B2B"/>
            </a:solidFill>
          </a:ln>
        </p:spPr>
      </p:sp>
      <p:sp>
        <p:nvSpPr>
          <p:cNvPr id="22" name="Área do editor"/>
          <p:cNvSpPr/>
          <p:nvPr/>
        </p:nvSpPr>
        <p:spPr>
          <a:xfrm>
            <a:off x="6035040" y="1993392"/>
            <a:ext cx="5605272" cy="2944368"/>
          </a:xfrm>
          <a:prstGeom prst="roundRect">
            <a:avLst>
              <a:gd name="adj" fmla="val 2400"/>
            </a:avLst>
          </a:prstGeom>
          <a:solidFill>
            <a:srgbClr val="1F1F1F"/>
          </a:solidFill>
          <a:ln>
            <a:noFill/>
          </a:ln>
        </p:spPr>
      </p:sp>
      <p:sp>
        <p:nvSpPr>
          <p:cNvPr id="23" name="Forma"/>
          <p:cNvSpPr/>
          <p:nvPr/>
        </p:nvSpPr>
        <p:spPr>
          <a:xfrm>
            <a:off x="6044184" y="1993392"/>
            <a:ext cx="5586984" cy="137160"/>
          </a:xfrm>
          <a:prstGeom prst="rect">
            <a:avLst/>
          </a:prstGeom>
          <a:solidFill>
            <a:srgbClr val="1F1F1F"/>
          </a:solidFill>
          <a:ln>
            <a:noFill/>
          </a:ln>
        </p:spPr>
      </p:sp>
      <p:sp>
        <p:nvSpPr>
          <p:cNvPr id="24" name="Aba manifest.json"/>
          <p:cNvSpPr/>
          <p:nvPr/>
        </p:nvSpPr>
        <p:spPr>
          <a:xfrm>
            <a:off x="6126480" y="1719072"/>
            <a:ext cx="1156716" cy="27432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dirty="0">
                <a:solidFill>
                  <a:srgbClr val="FFFFFF"/>
                </a:solidFill>
              </a:rPr>
              <a:t>manifest.json</a:t>
            </a:r>
            <a:endParaRPr lang="pt-BR" sz="1000" dirty="0"/>
          </a:p>
        </p:txBody>
      </p:sp>
      <p:cxnSp>
        <p:nvCxnSpPr>
          <p:cNvPr id="25" name="Conector"/>
          <p:cNvCxnSpPr/>
          <p:nvPr/>
        </p:nvCxnSpPr>
        <p:spPr>
          <a:xfrm>
            <a:off x="6126480" y="1719072"/>
            <a:ext cx="1156716" cy="0"/>
          </a:xfrm>
          <a:prstGeom prst="line">
            <a:avLst/>
          </a:prstGeom>
          <a:noFill/>
          <a:ln w="19050">
            <a:solidFill>
              <a:srgbClr val="0078D4"/>
            </a:solidFill>
            <a:prstDash val="solid"/>
            <a:round/>
          </a:ln>
        </p:spPr>
      </p:cxnSp>
      <p:sp>
        <p:nvSpPr>
          <p:cNvPr id="26" name="Breadcrumb"/>
          <p:cNvSpPr txBox="1"/>
          <p:nvPr/>
        </p:nvSpPr>
        <p:spPr>
          <a:xfrm>
            <a:off x="6263640" y="2103120"/>
            <a:ext cx="5148072" cy="219456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900" dirty="0">
                <a:solidFill>
                  <a:srgbClr val="A9A9A9"/>
                </a:solidFill>
              </a:rPr>
              <a:t>pedidos-compras</a:t>
            </a:r>
            <a:r>
              <a:rPr lang="pt-BR" sz="900" dirty="0">
                <a:solidFill>
                  <a:srgbClr val="6E7681"/>
                </a:solidFill>
              </a:rPr>
              <a:t xml:space="preserve">  ›  </a:t>
            </a:r>
            <a:r>
              <a:rPr lang="pt-BR" sz="900" dirty="0">
                <a:solidFill>
                  <a:srgbClr val="A9A9A9"/>
                </a:solidFill>
              </a:rPr>
              <a:t>webapp</a:t>
            </a:r>
            <a:r>
              <a:rPr lang="pt-BR" sz="900" dirty="0">
                <a:solidFill>
                  <a:srgbClr val="6E7681"/>
                </a:solidFill>
              </a:rPr>
              <a:t xml:space="preserve">  ›  </a:t>
            </a:r>
            <a:r>
              <a:rPr lang="pt-BR" sz="900" dirty="0">
                <a:solidFill>
                  <a:srgbClr val="A9A9A9"/>
                </a:solidFill>
              </a:rPr>
              <a:t>manifest.json</a:t>
            </a:r>
            <a:endParaRPr lang="pt-BR" sz="900" dirty="0"/>
          </a:p>
        </p:txBody>
      </p:sp>
      <p:sp>
        <p:nvSpPr>
          <p:cNvPr id="27" name="Trecho de código"/>
          <p:cNvSpPr txBox="1"/>
          <p:nvPr/>
        </p:nvSpPr>
        <p:spPr>
          <a:xfrm>
            <a:off x="6217920" y="2414016"/>
            <a:ext cx="5285232" cy="242316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t-BR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1  </a:t>
            </a:r>
            <a:r>
              <a:rPr lang="pt-BR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"crossNavigation"</a:t>
            </a:r>
            <a:r>
              <a:rPr lang="pt-BR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</a:t>
            </a:r>
            <a:endParaRPr lang="pt-BR" sz="1100" dirty="0"/>
          </a:p>
          <a:p>
            <a:pPr algn="l" indent="0" marL="0">
              <a:buNone/>
            </a:pPr>
            <a:r>
              <a:rPr lang="pt-BR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2  </a:t>
            </a:r>
            <a:r>
              <a:rPr lang="pt-BR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"inbounds"</a:t>
            </a:r>
            <a:r>
              <a:rPr lang="pt-BR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</a:t>
            </a:r>
            <a:endParaRPr lang="pt-BR" sz="1100" dirty="0"/>
          </a:p>
          <a:p>
            <a:pPr algn="l" indent="0" marL="0">
              <a:buNone/>
            </a:pPr>
            <a:r>
              <a:rPr lang="pt-BR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3  </a:t>
            </a:r>
            <a:r>
              <a:rPr lang="pt-BR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"ZPCPedidoCompra-manage"</a:t>
            </a:r>
            <a:r>
              <a:rPr lang="pt-BR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</a:t>
            </a:r>
            <a:endParaRPr lang="pt-BR" sz="1100" dirty="0"/>
          </a:p>
          <a:p>
            <a:pPr algn="l" indent="0" marL="0">
              <a:buNone/>
            </a:pPr>
            <a:r>
              <a:rPr lang="pt-BR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4  </a:t>
            </a:r>
            <a:r>
              <a:rPr lang="pt-BR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"semanticObject"</a:t>
            </a:r>
            <a:r>
              <a:rPr lang="pt-BR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: </a:t>
            </a:r>
            <a:r>
              <a:rPr lang="pt-BR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"ZPCPedidoCompra"</a:t>
            </a:r>
            <a:r>
              <a:rPr lang="pt-BR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pt-BR" sz="1100" dirty="0"/>
          </a:p>
          <a:p>
            <a:pPr algn="l" indent="0" marL="0">
              <a:buNone/>
            </a:pPr>
            <a:r>
              <a:rPr lang="pt-BR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5  </a:t>
            </a:r>
            <a:r>
              <a:rPr lang="pt-BR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"action"</a:t>
            </a:r>
            <a:r>
              <a:rPr lang="pt-BR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: </a:t>
            </a:r>
            <a:r>
              <a:rPr lang="pt-BR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"manage"</a:t>
            </a:r>
            <a:r>
              <a:rPr lang="pt-BR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pt-BR" sz="1100" dirty="0"/>
          </a:p>
          <a:p>
            <a:pPr algn="l" indent="0" marL="0">
              <a:buNone/>
            </a:pPr>
            <a:r>
              <a:rPr lang="pt-BR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6  </a:t>
            </a:r>
            <a:r>
              <a:rPr lang="pt-BR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"title"</a:t>
            </a:r>
            <a:r>
              <a:rPr lang="pt-BR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: </a:t>
            </a:r>
            <a:r>
              <a:rPr lang="pt-BR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"{{flpTitle}}"</a:t>
            </a:r>
            <a:r>
              <a:rPr lang="pt-BR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pt-BR" sz="1100" dirty="0"/>
          </a:p>
          <a:p>
            <a:pPr algn="l" indent="0" marL="0">
              <a:buNone/>
            </a:pPr>
            <a:r>
              <a:rPr lang="pt-BR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7  </a:t>
            </a:r>
            <a:r>
              <a:rPr lang="pt-BR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"subTitle"</a:t>
            </a:r>
            <a:r>
              <a:rPr lang="pt-BR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: </a:t>
            </a:r>
            <a:r>
              <a:rPr lang="pt-BR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"{{flpSubtitle}}"</a:t>
            </a:r>
            <a:r>
              <a:rPr lang="pt-BR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pt-BR" sz="1100" dirty="0"/>
          </a:p>
          <a:p>
            <a:pPr algn="l" indent="0" marL="0">
              <a:buNone/>
            </a:pPr>
            <a:r>
              <a:rPr lang="pt-BR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8  </a:t>
            </a:r>
            <a:r>
              <a:rPr lang="pt-BR" sz="11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"icon"</a:t>
            </a:r>
            <a:r>
              <a:rPr lang="pt-BR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: </a:t>
            </a:r>
            <a:r>
              <a:rPr lang="pt-BR" sz="11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"sap-icon://sales-order"</a:t>
            </a:r>
            <a:endParaRPr lang="pt-BR" sz="1100" dirty="0"/>
          </a:p>
          <a:p>
            <a:pPr algn="l" indent="0" marL="0">
              <a:buNone/>
            </a:pPr>
            <a:r>
              <a:rPr lang="pt-BR" sz="11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9  </a:t>
            </a:r>
            <a:r>
              <a:rPr lang="pt-BR" sz="11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} } }</a:t>
            </a:r>
            <a:endParaRPr lang="pt-BR" sz="1100" dirty="0"/>
          </a:p>
        </p:txBody>
      </p:sp>
      <p:sp>
        <p:nvSpPr>
          <p:cNvPr id="28" name="Cartão"/>
          <p:cNvSpPr/>
          <p:nvPr/>
        </p:nvSpPr>
        <p:spPr>
          <a:xfrm>
            <a:off x="6035040" y="5120640"/>
            <a:ext cx="5605272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29" name="Ícone validate"/>
          <p:cNvSpPr/>
          <p:nvPr/>
        </p:nvSpPr>
        <p:spPr>
          <a:xfrm>
            <a:off x="6236208" y="5340096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5FAE5"/>
          </a:solidFill>
          <a:ln>
            <a:noFill/>
          </a:ln>
        </p:spPr>
      </p:sp>
      <p:pic>
        <p:nvPicPr>
          <p:cNvPr id="30" name="Imagem" descr="validat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45936" y="5449824"/>
            <a:ext cx="237744" cy="237744"/>
          </a:xfrm>
          <a:prstGeom prst="rect">
            <a:avLst/>
          </a:prstGeom>
        </p:spPr>
      </p:pic>
      <p:sp>
        <p:nvSpPr>
          <p:cNvPr id="31" name="Texto"/>
          <p:cNvSpPr txBox="1"/>
          <p:nvPr/>
        </p:nvSpPr>
        <p:spPr>
          <a:xfrm>
            <a:off x="6858000" y="5120640"/>
            <a:ext cx="4663440" cy="105156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200" b="1" dirty="0">
                <a:solidFill>
                  <a:srgbClr val="1D2D3E"/>
                </a:solidFill>
              </a:rPr>
              <a:t xml:space="preserve">Antes de gravar: </a:t>
            </a:r>
            <a:r>
              <a:rPr lang="pt-BR" sz="1200" dirty="0">
                <a:solidFill>
                  <a:srgbClr val="1D2D3E"/>
                </a:solidFill>
              </a:rPr>
              <a:t>npm run deploy-test simula o deploy; sem erros, npm run deploy grava a BSP e o IAM App.</a:t>
            </a:r>
            <a:endParaRPr lang="pt-BR" sz="12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ótulo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100" b="1" spc="150" kern="0" dirty="0">
                <a:solidFill>
                  <a:schemeClr val="accent1"/>
                </a:solidFill>
              </a:rPr>
              <a:t>SAP BTP · CATÁLOGOS E ROLES</a:t>
            </a:r>
            <a:endParaRPr lang="pt-BR" sz="1100" dirty="0"/>
          </a:p>
        </p:txBody>
      </p:sp>
      <p:sp>
        <p:nvSpPr>
          <p:cNvPr id="4" name="Título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3000" b="1" dirty="0">
                <a:solidFill>
                  <a:schemeClr val="tx1"/>
                </a:solidFill>
              </a:rPr>
              <a:t>Do IAM App ao usuário: catálogo, role e espaço</a:t>
            </a:r>
            <a:endParaRPr lang="pt-BR" sz="3000" dirty="0"/>
          </a:p>
        </p:txBody>
      </p:sp>
      <p:sp>
        <p:nvSpPr>
          <p:cNvPr id="5" name="Cartão"/>
          <p:cNvSpPr/>
          <p:nvPr/>
        </p:nvSpPr>
        <p:spPr>
          <a:xfrm>
            <a:off x="548640" y="1645920"/>
            <a:ext cx="2035454" cy="18745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6" name="Ícone key"/>
          <p:cNvSpPr/>
          <p:nvPr/>
        </p:nvSpPr>
        <p:spPr>
          <a:xfrm>
            <a:off x="731520" y="18288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3ECFB"/>
          </a:solidFill>
          <a:ln>
            <a:noFill/>
          </a:ln>
        </p:spPr>
      </p:sp>
      <p:pic>
        <p:nvPicPr>
          <p:cNvPr id="7" name="Imagem" descr="key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938528"/>
            <a:ext cx="237744" cy="237744"/>
          </a:xfrm>
          <a:prstGeom prst="rect">
            <a:avLst/>
          </a:prstGeom>
        </p:spPr>
      </p:pic>
      <p:sp>
        <p:nvSpPr>
          <p:cNvPr id="8" name="Selo 1"/>
          <p:cNvSpPr/>
          <p:nvPr/>
        </p:nvSpPr>
        <p:spPr>
          <a:xfrm>
            <a:off x="1898294" y="1929384"/>
            <a:ext cx="502920" cy="256032"/>
          </a:xfrm>
          <a:prstGeom prst="roundRect">
            <a:avLst>
              <a:gd name="adj" fmla="val 50000"/>
            </a:avLst>
          </a:prstGeom>
          <a:solidFill>
            <a:srgbClr val="F3ECF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b="1" dirty="0">
                <a:solidFill>
                  <a:srgbClr val="8B47D7"/>
                </a:solidFill>
              </a:rPr>
              <a:t>1</a:t>
            </a:r>
            <a:endParaRPr lang="pt-BR" sz="1000" dirty="0"/>
          </a:p>
        </p:txBody>
      </p:sp>
      <p:sp>
        <p:nvSpPr>
          <p:cNvPr id="9" name="Texto"/>
          <p:cNvSpPr txBox="1"/>
          <p:nvPr/>
        </p:nvSpPr>
        <p:spPr>
          <a:xfrm>
            <a:off x="731520" y="2395728"/>
            <a:ext cx="1669694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250" b="1" dirty="0">
                <a:solidFill>
                  <a:srgbClr val="1D2D3E"/>
                </a:solidFill>
              </a:rPr>
              <a:t>IAM App do serviço</a:t>
            </a:r>
            <a:endParaRPr lang="pt-BR" sz="1250" dirty="0"/>
          </a:p>
        </p:txBody>
      </p:sp>
      <p:sp>
        <p:nvSpPr>
          <p:cNvPr id="10" name="Texto"/>
          <p:cNvSpPr txBox="1"/>
          <p:nvPr/>
        </p:nvSpPr>
        <p:spPr>
          <a:xfrm>
            <a:off x="731520" y="2743200"/>
            <a:ext cx="1715414" cy="73152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t-BR" sz="1050" dirty="0">
                <a:solidFill>
                  <a:srgbClr val="556B82"/>
                </a:solidFill>
              </a:rPr>
              <a:t>ADT: serviço OData + ZPC_ADMIN ou ZPC_PEDIDO; publicar</a:t>
            </a:r>
            <a:endParaRPr lang="pt-BR" sz="1050" dirty="0"/>
          </a:p>
        </p:txBody>
      </p:sp>
      <p:cxnSp>
        <p:nvCxnSpPr>
          <p:cNvPr id="11" name="Conector"/>
          <p:cNvCxnSpPr/>
          <p:nvPr/>
        </p:nvCxnSpPr>
        <p:spPr>
          <a:xfrm>
            <a:off x="2611526" y="2583180"/>
            <a:ext cx="173736" cy="0"/>
          </a:xfrm>
          <a:prstGeom prst="line">
            <a:avLst/>
          </a:prstGeom>
          <a:noFill/>
          <a:ln w="19050">
            <a:solidFill>
              <a:srgbClr val="556B82"/>
            </a:solidFill>
            <a:prstDash val="solid"/>
            <a:round/>
            <a:tailEnd type="triangle"/>
          </a:ln>
        </p:spPr>
      </p:cxnSp>
      <p:sp>
        <p:nvSpPr>
          <p:cNvPr id="12" name="Cartão"/>
          <p:cNvSpPr/>
          <p:nvPr/>
        </p:nvSpPr>
        <p:spPr>
          <a:xfrm>
            <a:off x="2812694" y="1645920"/>
            <a:ext cx="2035454" cy="18745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3" name="Ícone sap-box"/>
          <p:cNvSpPr/>
          <p:nvPr/>
        </p:nvSpPr>
        <p:spPr>
          <a:xfrm>
            <a:off x="2995574" y="18288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3F7F6"/>
          </a:solidFill>
          <a:ln>
            <a:noFill/>
          </a:ln>
        </p:spPr>
      </p:sp>
      <p:pic>
        <p:nvPicPr>
          <p:cNvPr id="14" name="Imagem" descr="sap-box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5302" y="1938528"/>
            <a:ext cx="237744" cy="237744"/>
          </a:xfrm>
          <a:prstGeom prst="rect">
            <a:avLst/>
          </a:prstGeom>
        </p:spPr>
      </p:pic>
      <p:sp>
        <p:nvSpPr>
          <p:cNvPr id="15" name="Selo 2"/>
          <p:cNvSpPr/>
          <p:nvPr/>
        </p:nvSpPr>
        <p:spPr>
          <a:xfrm>
            <a:off x="4162349" y="1929384"/>
            <a:ext cx="502920" cy="256032"/>
          </a:xfrm>
          <a:prstGeom prst="roundRect">
            <a:avLst>
              <a:gd name="adj" fmla="val 50000"/>
            </a:avLst>
          </a:prstGeom>
          <a:solidFill>
            <a:srgbClr val="E3F7F6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b="1" dirty="0">
                <a:solidFill>
                  <a:srgbClr val="049F9A"/>
                </a:solidFill>
              </a:rPr>
              <a:t>2</a:t>
            </a:r>
            <a:endParaRPr lang="pt-BR" sz="1000" dirty="0"/>
          </a:p>
        </p:txBody>
      </p:sp>
      <p:sp>
        <p:nvSpPr>
          <p:cNvPr id="16" name="Texto"/>
          <p:cNvSpPr txBox="1"/>
          <p:nvPr/>
        </p:nvSpPr>
        <p:spPr>
          <a:xfrm>
            <a:off x="2995574" y="2395728"/>
            <a:ext cx="1669694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250" b="1" dirty="0">
                <a:solidFill>
                  <a:srgbClr val="1D2D3E"/>
                </a:solidFill>
              </a:rPr>
              <a:t>IAM App do tile</a:t>
            </a:r>
            <a:endParaRPr lang="pt-BR" sz="1250" dirty="0"/>
          </a:p>
        </p:txBody>
      </p:sp>
      <p:sp>
        <p:nvSpPr>
          <p:cNvPr id="17" name="Texto"/>
          <p:cNvSpPr txBox="1"/>
          <p:nvPr/>
        </p:nvSpPr>
        <p:spPr>
          <a:xfrm>
            <a:off x="2995574" y="2743200"/>
            <a:ext cx="1715414" cy="73152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t-BR" sz="1050" dirty="0">
                <a:solidFill>
                  <a:srgbClr val="556B82"/>
                </a:solidFill>
              </a:rPr>
              <a:t>ZPC_*_UI5R, criado pelo npm run deploy</a:t>
            </a:r>
            <a:endParaRPr lang="pt-BR" sz="1050" dirty="0"/>
          </a:p>
        </p:txBody>
      </p:sp>
      <p:cxnSp>
        <p:nvCxnSpPr>
          <p:cNvPr id="18" name="Conector"/>
          <p:cNvCxnSpPr/>
          <p:nvPr/>
        </p:nvCxnSpPr>
        <p:spPr>
          <a:xfrm>
            <a:off x="4875581" y="2583180"/>
            <a:ext cx="173736" cy="0"/>
          </a:xfrm>
          <a:prstGeom prst="line">
            <a:avLst/>
          </a:prstGeom>
          <a:noFill/>
          <a:ln w="19050">
            <a:solidFill>
              <a:srgbClr val="556B82"/>
            </a:solidFill>
            <a:prstDash val="solid"/>
            <a:round/>
            <a:tailEnd type="triangle"/>
          </a:ln>
        </p:spPr>
      </p:cxnSp>
      <p:sp>
        <p:nvSpPr>
          <p:cNvPr id="19" name="Cartão"/>
          <p:cNvSpPr/>
          <p:nvPr/>
        </p:nvSpPr>
        <p:spPr>
          <a:xfrm>
            <a:off x="5076749" y="1645920"/>
            <a:ext cx="2035454" cy="18745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20" name="Ícone list"/>
          <p:cNvSpPr/>
          <p:nvPr/>
        </p:nvSpPr>
        <p:spPr>
          <a:xfrm>
            <a:off x="5259629" y="18288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>
            <a:noFill/>
          </a:ln>
        </p:spPr>
      </p:sp>
      <p:pic>
        <p:nvPicPr>
          <p:cNvPr id="21" name="Imagem" descr="lis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9357" y="1938528"/>
            <a:ext cx="237744" cy="237744"/>
          </a:xfrm>
          <a:prstGeom prst="rect">
            <a:avLst/>
          </a:prstGeom>
        </p:spPr>
      </p:pic>
      <p:sp>
        <p:nvSpPr>
          <p:cNvPr id="22" name="Selo 3"/>
          <p:cNvSpPr/>
          <p:nvPr/>
        </p:nvSpPr>
        <p:spPr>
          <a:xfrm>
            <a:off x="6426403" y="1929384"/>
            <a:ext cx="502920" cy="256032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b="1" dirty="0">
                <a:solidFill>
                  <a:srgbClr val="0070F2"/>
                </a:solidFill>
              </a:rPr>
              <a:t>3</a:t>
            </a:r>
            <a:endParaRPr lang="pt-BR" sz="1000" dirty="0"/>
          </a:p>
        </p:txBody>
      </p:sp>
      <p:sp>
        <p:nvSpPr>
          <p:cNvPr id="23" name="Texto"/>
          <p:cNvSpPr txBox="1"/>
          <p:nvPr/>
        </p:nvSpPr>
        <p:spPr>
          <a:xfrm>
            <a:off x="5259629" y="2395728"/>
            <a:ext cx="1669694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250" b="1" dirty="0">
                <a:solidFill>
                  <a:srgbClr val="1D2D3E"/>
                </a:solidFill>
              </a:rPr>
              <a:t>Business Catalog</a:t>
            </a:r>
            <a:endParaRPr lang="pt-BR" sz="1250" dirty="0"/>
          </a:p>
        </p:txBody>
      </p:sp>
      <p:sp>
        <p:nvSpPr>
          <p:cNvPr id="24" name="Texto"/>
          <p:cNvSpPr txBox="1"/>
          <p:nvPr/>
        </p:nvSpPr>
        <p:spPr>
          <a:xfrm>
            <a:off x="5259629" y="2743200"/>
            <a:ext cx="1715414" cy="73152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t-BR" sz="1050" dirty="0">
                <a:solidFill>
                  <a:srgbClr val="556B82"/>
                </a:solidFill>
              </a:rPr>
              <a:t>ZPC_BC_* do domínio recebe os dois IAM Apps; publicar</a:t>
            </a:r>
            <a:endParaRPr lang="pt-BR" sz="1050" dirty="0"/>
          </a:p>
        </p:txBody>
      </p:sp>
      <p:cxnSp>
        <p:nvCxnSpPr>
          <p:cNvPr id="25" name="Conector"/>
          <p:cNvCxnSpPr/>
          <p:nvPr/>
        </p:nvCxnSpPr>
        <p:spPr>
          <a:xfrm>
            <a:off x="7139635" y="2583180"/>
            <a:ext cx="173736" cy="0"/>
          </a:xfrm>
          <a:prstGeom prst="line">
            <a:avLst/>
          </a:prstGeom>
          <a:noFill/>
          <a:ln w="19050">
            <a:solidFill>
              <a:srgbClr val="556B82"/>
            </a:solidFill>
            <a:prstDash val="solid"/>
            <a:round/>
            <a:tailEnd type="triangle"/>
          </a:ln>
        </p:spPr>
      </p:cxnSp>
      <p:sp>
        <p:nvSpPr>
          <p:cNvPr id="26" name="Cartão"/>
          <p:cNvSpPr/>
          <p:nvPr/>
        </p:nvSpPr>
        <p:spPr>
          <a:xfrm>
            <a:off x="7340803" y="1645920"/>
            <a:ext cx="2035454" cy="18745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27" name="Ícone role"/>
          <p:cNvSpPr/>
          <p:nvPr/>
        </p:nvSpPr>
        <p:spPr>
          <a:xfrm>
            <a:off x="7523683" y="18288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3E0"/>
          </a:solidFill>
          <a:ln>
            <a:noFill/>
          </a:ln>
        </p:spPr>
      </p:sp>
      <p:pic>
        <p:nvPicPr>
          <p:cNvPr id="28" name="Imagem" descr="ro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3411" y="1938528"/>
            <a:ext cx="237744" cy="237744"/>
          </a:xfrm>
          <a:prstGeom prst="rect">
            <a:avLst/>
          </a:prstGeom>
        </p:spPr>
      </p:pic>
      <p:sp>
        <p:nvSpPr>
          <p:cNvPr id="29" name="Selo 4"/>
          <p:cNvSpPr/>
          <p:nvPr/>
        </p:nvSpPr>
        <p:spPr>
          <a:xfrm>
            <a:off x="8690458" y="1929384"/>
            <a:ext cx="502920" cy="256032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b="1" dirty="0">
                <a:solidFill>
                  <a:srgbClr val="C87B00"/>
                </a:solidFill>
              </a:rPr>
              <a:t>4</a:t>
            </a:r>
            <a:endParaRPr lang="pt-BR" sz="1000" dirty="0"/>
          </a:p>
        </p:txBody>
      </p:sp>
      <p:sp>
        <p:nvSpPr>
          <p:cNvPr id="30" name="Texto"/>
          <p:cNvSpPr txBox="1"/>
          <p:nvPr/>
        </p:nvSpPr>
        <p:spPr>
          <a:xfrm>
            <a:off x="7523683" y="2395728"/>
            <a:ext cx="1669694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250" b="1" dirty="0">
                <a:solidFill>
                  <a:srgbClr val="1D2D3E"/>
                </a:solidFill>
              </a:rPr>
              <a:t>Business Role</a:t>
            </a:r>
            <a:endParaRPr lang="pt-BR" sz="1250" dirty="0"/>
          </a:p>
        </p:txBody>
      </p:sp>
      <p:sp>
        <p:nvSpPr>
          <p:cNvPr id="31" name="Texto"/>
          <p:cNvSpPr txBox="1"/>
          <p:nvPr/>
        </p:nvSpPr>
        <p:spPr>
          <a:xfrm>
            <a:off x="7523683" y="2743200"/>
            <a:ext cx="1715414" cy="73152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t-BR" sz="1050" dirty="0">
                <a:solidFill>
                  <a:srgbClr val="556B82"/>
                </a:solidFill>
              </a:rPr>
              <a:t>ZPC_BR_ADMIN e ZPC_BR_COMUM agrupam os catálogos</a:t>
            </a:r>
            <a:endParaRPr lang="pt-BR" sz="1050" dirty="0"/>
          </a:p>
        </p:txBody>
      </p:sp>
      <p:cxnSp>
        <p:nvCxnSpPr>
          <p:cNvPr id="32" name="Conector"/>
          <p:cNvCxnSpPr/>
          <p:nvPr/>
        </p:nvCxnSpPr>
        <p:spPr>
          <a:xfrm>
            <a:off x="9403690" y="2583180"/>
            <a:ext cx="173736" cy="0"/>
          </a:xfrm>
          <a:prstGeom prst="line">
            <a:avLst/>
          </a:prstGeom>
          <a:noFill/>
          <a:ln w="19050">
            <a:solidFill>
              <a:srgbClr val="556B82"/>
            </a:solidFill>
            <a:prstDash val="solid"/>
            <a:round/>
            <a:tailEnd type="triangle"/>
          </a:ln>
        </p:spPr>
      </p:cxnSp>
      <p:sp>
        <p:nvSpPr>
          <p:cNvPr id="33" name="Cartão"/>
          <p:cNvSpPr/>
          <p:nvPr/>
        </p:nvSpPr>
        <p:spPr>
          <a:xfrm>
            <a:off x="9604858" y="1645920"/>
            <a:ext cx="2035454" cy="18745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34" name="Ícone home"/>
          <p:cNvSpPr/>
          <p:nvPr/>
        </p:nvSpPr>
        <p:spPr>
          <a:xfrm>
            <a:off x="9787738" y="18288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5FAE5"/>
          </a:solidFill>
          <a:ln>
            <a:noFill/>
          </a:ln>
        </p:spPr>
      </p:sp>
      <p:pic>
        <p:nvPicPr>
          <p:cNvPr id="35" name="Imagem" descr="hom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7466" y="1938528"/>
            <a:ext cx="237744" cy="237744"/>
          </a:xfrm>
          <a:prstGeom prst="rect">
            <a:avLst/>
          </a:prstGeom>
        </p:spPr>
      </p:pic>
      <p:sp>
        <p:nvSpPr>
          <p:cNvPr id="36" name="Selo 5"/>
          <p:cNvSpPr/>
          <p:nvPr/>
        </p:nvSpPr>
        <p:spPr>
          <a:xfrm>
            <a:off x="10954512" y="1929384"/>
            <a:ext cx="502920" cy="256032"/>
          </a:xfrm>
          <a:prstGeom prst="roundRect">
            <a:avLst>
              <a:gd name="adj" fmla="val 50000"/>
            </a:avLst>
          </a:prstGeom>
          <a:solidFill>
            <a:srgbClr val="F5FAE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b="1" dirty="0">
                <a:solidFill>
                  <a:srgbClr val="256F3A"/>
                </a:solidFill>
              </a:rPr>
              <a:t>5</a:t>
            </a:r>
            <a:endParaRPr lang="pt-BR" sz="1000" dirty="0"/>
          </a:p>
        </p:txBody>
      </p:sp>
      <p:sp>
        <p:nvSpPr>
          <p:cNvPr id="37" name="Texto"/>
          <p:cNvSpPr txBox="1"/>
          <p:nvPr/>
        </p:nvSpPr>
        <p:spPr>
          <a:xfrm>
            <a:off x="9787738" y="2395728"/>
            <a:ext cx="1669694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250" b="1" dirty="0">
                <a:solidFill>
                  <a:srgbClr val="1D2D3E"/>
                </a:solidFill>
              </a:rPr>
              <a:t>Espaço e usuário</a:t>
            </a:r>
            <a:endParaRPr lang="pt-BR" sz="1250" dirty="0"/>
          </a:p>
        </p:txBody>
      </p:sp>
      <p:sp>
        <p:nvSpPr>
          <p:cNvPr id="38" name="Texto"/>
          <p:cNvSpPr txBox="1"/>
          <p:nvPr/>
        </p:nvSpPr>
        <p:spPr>
          <a:xfrm>
            <a:off x="9787738" y="2743200"/>
            <a:ext cx="1715414" cy="73152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t-BR" sz="1050" dirty="0">
                <a:solidFill>
                  <a:srgbClr val="556B82"/>
                </a:solidFill>
              </a:rPr>
              <a:t>Manage Launchpad Spaces: espaço, página e usuários da role</a:t>
            </a:r>
            <a:endParaRPr lang="pt-BR" sz="1050" dirty="0"/>
          </a:p>
        </p:txBody>
      </p:sp>
      <p:sp>
        <p:nvSpPr>
          <p:cNvPr id="39" name="Cartão"/>
          <p:cNvSpPr/>
          <p:nvPr/>
        </p:nvSpPr>
        <p:spPr>
          <a:xfrm>
            <a:off x="548640" y="3703320"/>
            <a:ext cx="6949440" cy="246888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graphicFrame>
        <p:nvGraphicFramePr>
          <p:cNvPr id="40" name="Tabela"/>
          <p:cNvGraphicFramePr>
            <a:graphicFrameLocks noGrp="1"/>
          </p:cNvGraphicFramePr>
          <p:nvPr/>
        </p:nvGraphicFramePr>
        <p:xfrm>
          <a:off x="685800" y="3794760"/>
          <a:ext cx="6675120" cy="1828800"/>
        </p:xfrm>
        <a:graphic>
          <a:graphicData uri="http://schemas.openxmlformats.org/drawingml/2006/table">
            <a:tbl>
              <a:tblPr/>
              <a:tblGrid>
                <a:gridCol w="1920240"/>
                <a:gridCol w="2331720"/>
                <a:gridCol w="242316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pt-BR" sz="1000" b="1" dirty="0">
                          <a:solidFill>
                            <a:srgbClr val="1D2D3E"/>
                          </a:solidFill>
                        </a:rPr>
                        <a:t>Business Catalog</a:t>
                      </a:r>
                      <a:endParaRPr lang="pt-BR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pt-BR" sz="1000" b="1" dirty="0">
                          <a:solidFill>
                            <a:srgbClr val="1D2D3E"/>
                          </a:solidFill>
                        </a:rPr>
                        <a:t>IAM App do serviço</a:t>
                      </a:r>
                      <a:endParaRPr lang="pt-BR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pt-BR" sz="1000" b="1" dirty="0">
                          <a:solidFill>
                            <a:srgbClr val="1D2D3E"/>
                          </a:solidFill>
                        </a:rPr>
                        <a:t>IAM App do tile</a:t>
                      </a:r>
                      <a:endParaRPr lang="pt-BR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pt-BR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ZPC_BC_CLIENTES</a:t>
                      </a:r>
                      <a:endParaRPr lang="pt-BR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pt-BR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ZPC_IAM_CLIENTES_EXT</a:t>
                      </a:r>
                      <a:endParaRPr lang="pt-BR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pt-BR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ZPC_CLIENTES_UI5R</a:t>
                      </a:r>
                      <a:endParaRPr lang="pt-BR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pt-BR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ZPC_BC_ESTOQUE</a:t>
                      </a:r>
                      <a:endParaRPr lang="pt-BR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pt-BR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ZPC_IAM_ESTOQUE_EXT</a:t>
                      </a:r>
                      <a:endParaRPr lang="pt-BR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pt-BR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ZPC_ESTOQUE_UI5R</a:t>
                      </a:r>
                      <a:endParaRPr lang="pt-BR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pt-BR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ZPC_BC_PEDIDOS</a:t>
                      </a:r>
                      <a:endParaRPr lang="pt-BR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pt-BR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ZPC_IAM_PEDIDOS_EXT</a:t>
                      </a:r>
                      <a:endParaRPr lang="pt-BR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pt-BR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ZPC_PEDIDOS_UI5R</a:t>
                      </a:r>
                      <a:endParaRPr lang="pt-BR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pt-BR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ZPC_BC_REEMBOLSOS</a:t>
                      </a:r>
                      <a:endParaRPr lang="pt-BR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pt-BR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ZPC_IAM_REEMBOLSOS_EXT</a:t>
                      </a:r>
                      <a:endParaRPr lang="pt-BR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pt-BR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ZPC_REEMBOLSOS_UI5R</a:t>
                      </a:r>
                      <a:endParaRPr lang="pt-BR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1" name="Texto"/>
          <p:cNvSpPr txBox="1"/>
          <p:nvPr/>
        </p:nvSpPr>
        <p:spPr>
          <a:xfrm>
            <a:off x="777240" y="5669280"/>
            <a:ext cx="6583680" cy="41148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000" dirty="0">
                <a:solidFill>
                  <a:srgbClr val="556B82"/>
                </a:solidFill>
              </a:rPr>
              <a:t>As análises (ZPC_ANL_*) também geram o próprio _UI5R no pacote do domínio.</a:t>
            </a:r>
            <a:endParaRPr lang="pt-BR" sz="1000" dirty="0"/>
          </a:p>
        </p:txBody>
      </p:sp>
      <p:sp>
        <p:nvSpPr>
          <p:cNvPr id="42" name="Trial"/>
          <p:cNvSpPr/>
          <p:nvPr/>
        </p:nvSpPr>
        <p:spPr>
          <a:xfrm>
            <a:off x="7726680" y="3703320"/>
            <a:ext cx="3913632" cy="2468880"/>
          </a:xfrm>
          <a:prstGeom prst="roundRect">
            <a:avLst>
              <a:gd name="adj" fmla="val 6000"/>
            </a:avLst>
          </a:prstGeom>
          <a:solidFill>
            <a:srgbClr val="FFF3E0"/>
          </a:solidFill>
          <a:ln>
            <a:noFill/>
          </a:ln>
        </p:spPr>
      </p:sp>
      <p:sp>
        <p:nvSpPr>
          <p:cNvPr id="43" name="Ícone alert"/>
          <p:cNvSpPr/>
          <p:nvPr/>
        </p:nvSpPr>
        <p:spPr>
          <a:xfrm>
            <a:off x="7936992" y="390448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</p:sp>
      <p:pic>
        <p:nvPicPr>
          <p:cNvPr id="44" name="Imagem" descr="aler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0" y="4014216"/>
            <a:ext cx="237744" cy="237744"/>
          </a:xfrm>
          <a:prstGeom prst="rect">
            <a:avLst/>
          </a:prstGeom>
        </p:spPr>
      </p:pic>
      <p:sp>
        <p:nvSpPr>
          <p:cNvPr id="45" name="Texto"/>
          <p:cNvSpPr txBox="1"/>
          <p:nvPr/>
        </p:nvSpPr>
        <p:spPr>
          <a:xfrm>
            <a:off x="8531352" y="3904488"/>
            <a:ext cx="2926080" cy="45720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400" b="1" dirty="0">
                <a:solidFill>
                  <a:srgbClr val="1D2D3E"/>
                </a:solidFill>
              </a:rPr>
              <a:t>No trial</a:t>
            </a:r>
            <a:endParaRPr lang="pt-BR" sz="1400" dirty="0"/>
          </a:p>
        </p:txBody>
      </p:sp>
      <p:sp>
        <p:nvSpPr>
          <p:cNvPr id="46" name="Texto"/>
          <p:cNvSpPr txBox="1"/>
          <p:nvPr/>
        </p:nvSpPr>
        <p:spPr>
          <a:xfrm>
            <a:off x="7936992" y="4526280"/>
            <a:ext cx="3520440" cy="155448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t-BR" sz="1150" dirty="0">
                <a:solidFill>
                  <a:srgbClr val="1D2D3E"/>
                </a:solidFill>
              </a:rPr>
              <a:t>Sem Maintain Business Roles e Manage Launchpad Spaces, as etapas 4 e 5 ficam de fora: c_modo_trial = abap_true e o acesso segue pelo SAP Build Work Zone.</a:t>
            </a:r>
            <a:endParaRPr lang="pt-BR" sz="115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ótulo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100" b="1" spc="150" kern="0" dirty="0">
                <a:solidFill>
                  <a:schemeClr val="accent1"/>
                </a:solidFill>
              </a:rPr>
              <a:t>SAP BTP · WORK ZONE</a:t>
            </a:r>
            <a:endParaRPr lang="pt-BR" sz="1100" dirty="0"/>
          </a:p>
        </p:txBody>
      </p:sp>
      <p:sp>
        <p:nvSpPr>
          <p:cNvPr id="4" name="Título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3000" b="1" dirty="0">
                <a:solidFill>
                  <a:schemeClr val="tx1"/>
                </a:solidFill>
              </a:rPr>
              <a:t>Configurar os tiles no SAP Build Work Zone</a:t>
            </a:r>
            <a:endParaRPr lang="pt-BR" sz="3000" dirty="0"/>
          </a:p>
        </p:txBody>
      </p:sp>
      <p:sp>
        <p:nvSpPr>
          <p:cNvPr id="5" name="Cartão"/>
          <p:cNvSpPr/>
          <p:nvPr/>
        </p:nvSpPr>
        <p:spPr>
          <a:xfrm>
            <a:off x="548640" y="1645920"/>
            <a:ext cx="2601468" cy="18745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6" name="Ícone world"/>
          <p:cNvSpPr/>
          <p:nvPr/>
        </p:nvSpPr>
        <p:spPr>
          <a:xfrm>
            <a:off x="731520" y="18288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5FAE5"/>
          </a:solidFill>
          <a:ln>
            <a:noFill/>
          </a:ln>
        </p:spPr>
      </p:sp>
      <p:pic>
        <p:nvPicPr>
          <p:cNvPr id="7" name="Imagem" descr="worl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938528"/>
            <a:ext cx="237744" cy="237744"/>
          </a:xfrm>
          <a:prstGeom prst="rect">
            <a:avLst/>
          </a:prstGeom>
        </p:spPr>
      </p:pic>
      <p:sp>
        <p:nvSpPr>
          <p:cNvPr id="8" name="Selo Passo 1"/>
          <p:cNvSpPr/>
          <p:nvPr/>
        </p:nvSpPr>
        <p:spPr>
          <a:xfrm>
            <a:off x="2235708" y="1929384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F5FAE5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b="1" dirty="0">
                <a:solidFill>
                  <a:srgbClr val="256F3A"/>
                </a:solidFill>
              </a:rPr>
              <a:t>Passo 1</a:t>
            </a:r>
            <a:endParaRPr lang="pt-BR" sz="1000" dirty="0"/>
          </a:p>
        </p:txBody>
      </p:sp>
      <p:sp>
        <p:nvSpPr>
          <p:cNvPr id="9" name="Texto"/>
          <p:cNvSpPr txBox="1"/>
          <p:nvPr/>
        </p:nvSpPr>
        <p:spPr>
          <a:xfrm>
            <a:off x="731520" y="2395728"/>
            <a:ext cx="2235708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300" b="1" dirty="0">
                <a:solidFill>
                  <a:srgbClr val="1D2D3E"/>
                </a:solidFill>
              </a:rPr>
              <a:t>Assinar</a:t>
            </a:r>
            <a:endParaRPr lang="pt-BR" sz="1300" dirty="0"/>
          </a:p>
        </p:txBody>
      </p:sp>
      <p:sp>
        <p:nvSpPr>
          <p:cNvPr id="10" name="Texto"/>
          <p:cNvSpPr txBox="1"/>
          <p:nvPr/>
        </p:nvSpPr>
        <p:spPr>
          <a:xfrm>
            <a:off x="731520" y="2743200"/>
            <a:ext cx="2281428" cy="73152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t-BR" sz="1050" dirty="0">
                <a:solidFill>
                  <a:srgbClr val="556B82"/>
                </a:solidFill>
              </a:rPr>
              <a:t>Subconta: assinar o SAP Build Work Zone, standard edition, e atribuir a role collection Launchpad_Admin</a:t>
            </a:r>
            <a:endParaRPr lang="pt-BR" sz="1050" dirty="0"/>
          </a:p>
        </p:txBody>
      </p:sp>
      <p:sp>
        <p:nvSpPr>
          <p:cNvPr id="11" name="Cartão"/>
          <p:cNvSpPr/>
          <p:nvPr/>
        </p:nvSpPr>
        <p:spPr>
          <a:xfrm>
            <a:off x="3378708" y="1645920"/>
            <a:ext cx="2601468" cy="18745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2" name="Ícone add-document"/>
          <p:cNvSpPr/>
          <p:nvPr/>
        </p:nvSpPr>
        <p:spPr>
          <a:xfrm>
            <a:off x="3561588" y="18288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>
            <a:noFill/>
          </a:ln>
        </p:spPr>
      </p:sp>
      <p:pic>
        <p:nvPicPr>
          <p:cNvPr id="13" name="Imagem" descr="add-documen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1316" y="1938528"/>
            <a:ext cx="237744" cy="237744"/>
          </a:xfrm>
          <a:prstGeom prst="rect">
            <a:avLst/>
          </a:prstGeom>
        </p:spPr>
      </p:pic>
      <p:sp>
        <p:nvSpPr>
          <p:cNvPr id="14" name="Selo Passo 2"/>
          <p:cNvSpPr/>
          <p:nvPr/>
        </p:nvSpPr>
        <p:spPr>
          <a:xfrm>
            <a:off x="5065776" y="1929384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b="1" dirty="0">
                <a:solidFill>
                  <a:srgbClr val="0070F2"/>
                </a:solidFill>
              </a:rPr>
              <a:t>Passo 2</a:t>
            </a:r>
            <a:endParaRPr lang="pt-BR" sz="1000" dirty="0"/>
          </a:p>
        </p:txBody>
      </p:sp>
      <p:sp>
        <p:nvSpPr>
          <p:cNvPr id="15" name="Texto"/>
          <p:cNvSpPr txBox="1"/>
          <p:nvPr/>
        </p:nvSpPr>
        <p:spPr>
          <a:xfrm>
            <a:off x="3561588" y="2395728"/>
            <a:ext cx="2235708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300" b="1" dirty="0">
                <a:solidFill>
                  <a:srgbClr val="1D2D3E"/>
                </a:solidFill>
              </a:rPr>
              <a:t>Nova app</a:t>
            </a:r>
            <a:endParaRPr lang="pt-BR" sz="1300" dirty="0"/>
          </a:p>
        </p:txBody>
      </p:sp>
      <p:sp>
        <p:nvSpPr>
          <p:cNvPr id="16" name="Texto"/>
          <p:cNvSpPr txBox="1"/>
          <p:nvPr/>
        </p:nvSpPr>
        <p:spPr>
          <a:xfrm>
            <a:off x="3561588" y="2743200"/>
            <a:ext cx="2281428" cy="73152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t-BR" sz="1050" dirty="0">
                <a:solidFill>
                  <a:srgbClr val="556B82"/>
                </a:solidFill>
              </a:rPr>
              <a:t>Content Manager → + New → App. Properties: título, URL da BSP e Open App: In a new tab</a:t>
            </a:r>
            <a:endParaRPr lang="pt-BR" sz="1050" dirty="0"/>
          </a:p>
        </p:txBody>
      </p:sp>
      <p:sp>
        <p:nvSpPr>
          <p:cNvPr id="17" name="Cartão"/>
          <p:cNvSpPr/>
          <p:nvPr/>
        </p:nvSpPr>
        <p:spPr>
          <a:xfrm>
            <a:off x="6208776" y="1645920"/>
            <a:ext cx="2601468" cy="18745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8" name="Ícone chain-link"/>
          <p:cNvSpPr/>
          <p:nvPr/>
        </p:nvSpPr>
        <p:spPr>
          <a:xfrm>
            <a:off x="6391656" y="18288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3ECFB"/>
          </a:solidFill>
          <a:ln>
            <a:noFill/>
          </a:ln>
        </p:spPr>
      </p:sp>
      <p:pic>
        <p:nvPicPr>
          <p:cNvPr id="19" name="Imagem" descr="chain-lin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1384" y="1938528"/>
            <a:ext cx="237744" cy="237744"/>
          </a:xfrm>
          <a:prstGeom prst="rect">
            <a:avLst/>
          </a:prstGeom>
        </p:spPr>
      </p:pic>
      <p:sp>
        <p:nvSpPr>
          <p:cNvPr id="20" name="Selo Passo 3"/>
          <p:cNvSpPr/>
          <p:nvPr/>
        </p:nvSpPr>
        <p:spPr>
          <a:xfrm>
            <a:off x="7895844" y="1929384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F3ECF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b="1" dirty="0">
                <a:solidFill>
                  <a:srgbClr val="8B47D7"/>
                </a:solidFill>
              </a:rPr>
              <a:t>Passo 3</a:t>
            </a:r>
            <a:endParaRPr lang="pt-BR" sz="1000" dirty="0"/>
          </a:p>
        </p:txBody>
      </p:sp>
      <p:sp>
        <p:nvSpPr>
          <p:cNvPr id="21" name="Texto"/>
          <p:cNvSpPr txBox="1"/>
          <p:nvPr/>
        </p:nvSpPr>
        <p:spPr>
          <a:xfrm>
            <a:off x="6391656" y="2395728"/>
            <a:ext cx="2235708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300" b="1" dirty="0">
                <a:solidFill>
                  <a:srgbClr val="1D2D3E"/>
                </a:solidFill>
              </a:rPr>
              <a:t>Intent e visual</a:t>
            </a:r>
            <a:endParaRPr lang="pt-BR" sz="1300" dirty="0"/>
          </a:p>
        </p:txBody>
      </p:sp>
      <p:sp>
        <p:nvSpPr>
          <p:cNvPr id="22" name="Texto"/>
          <p:cNvSpPr txBox="1"/>
          <p:nvPr/>
        </p:nvSpPr>
        <p:spPr>
          <a:xfrm>
            <a:off x="6391656" y="2743200"/>
            <a:ext cx="2281428" cy="73152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t-BR" sz="1050" dirty="0">
                <a:solidFill>
                  <a:srgbClr val="556B82"/>
                </a:solidFill>
              </a:rPr>
              <a:t>Navigation: intent próprio, como ZPCClienteWeb-display. Visualization: subtítulo e ícone</a:t>
            </a:r>
            <a:endParaRPr lang="pt-BR" sz="1050" dirty="0"/>
          </a:p>
        </p:txBody>
      </p:sp>
      <p:sp>
        <p:nvSpPr>
          <p:cNvPr id="23" name="Cartão"/>
          <p:cNvSpPr/>
          <p:nvPr/>
        </p:nvSpPr>
        <p:spPr>
          <a:xfrm>
            <a:off x="9038844" y="1645920"/>
            <a:ext cx="2601468" cy="18745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24" name="Ícone home"/>
          <p:cNvSpPr/>
          <p:nvPr/>
        </p:nvSpPr>
        <p:spPr>
          <a:xfrm>
            <a:off x="9221724" y="18288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3E0"/>
          </a:solidFill>
          <a:ln>
            <a:noFill/>
          </a:ln>
        </p:spPr>
      </p:sp>
      <p:pic>
        <p:nvPicPr>
          <p:cNvPr id="25" name="Imagem" descr="hom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1452" y="1938528"/>
            <a:ext cx="237744" cy="237744"/>
          </a:xfrm>
          <a:prstGeom prst="rect">
            <a:avLst/>
          </a:prstGeom>
        </p:spPr>
      </p:pic>
      <p:sp>
        <p:nvSpPr>
          <p:cNvPr id="26" name="Selo Passo 4"/>
          <p:cNvSpPr/>
          <p:nvPr/>
        </p:nvSpPr>
        <p:spPr>
          <a:xfrm>
            <a:off x="10725912" y="1929384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FFF3E0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b="1" dirty="0">
                <a:solidFill>
                  <a:srgbClr val="C87B00"/>
                </a:solidFill>
              </a:rPr>
              <a:t>Passo 4</a:t>
            </a:r>
            <a:endParaRPr lang="pt-BR" sz="1000" dirty="0"/>
          </a:p>
        </p:txBody>
      </p:sp>
      <p:sp>
        <p:nvSpPr>
          <p:cNvPr id="27" name="Texto"/>
          <p:cNvSpPr txBox="1"/>
          <p:nvPr/>
        </p:nvSpPr>
        <p:spPr>
          <a:xfrm>
            <a:off x="9221724" y="2395728"/>
            <a:ext cx="2235708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300" b="1" dirty="0">
                <a:solidFill>
                  <a:srgbClr val="1D2D3E"/>
                </a:solidFill>
              </a:rPr>
              <a:t>Grupo e site</a:t>
            </a:r>
            <a:endParaRPr lang="pt-BR" sz="1300" dirty="0"/>
          </a:p>
        </p:txBody>
      </p:sp>
      <p:sp>
        <p:nvSpPr>
          <p:cNvPr id="28" name="Texto"/>
          <p:cNvSpPr txBox="1"/>
          <p:nvPr/>
        </p:nvSpPr>
        <p:spPr>
          <a:xfrm>
            <a:off x="9221724" y="2743200"/>
            <a:ext cx="2281428" cy="73152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t-BR" sz="1050" dirty="0">
                <a:solidFill>
                  <a:srgbClr val="556B82"/>
                </a:solidFill>
              </a:rPr>
              <a:t>As oito apps num grupo e no role Everyone; criar o site e abrir</a:t>
            </a:r>
            <a:endParaRPr lang="pt-BR" sz="1050" dirty="0"/>
          </a:p>
        </p:txBody>
      </p:sp>
      <p:sp>
        <p:nvSpPr>
          <p:cNvPr id="29" name="Cartão"/>
          <p:cNvSpPr/>
          <p:nvPr/>
        </p:nvSpPr>
        <p:spPr>
          <a:xfrm>
            <a:off x="548640" y="3703320"/>
            <a:ext cx="11091672" cy="246888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30" name="Texto"/>
          <p:cNvSpPr txBox="1"/>
          <p:nvPr/>
        </p:nvSpPr>
        <p:spPr>
          <a:xfrm>
            <a:off x="777240" y="3794760"/>
            <a:ext cx="10607040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150" b="1" dirty="0">
                <a:solidFill>
                  <a:srgbClr val="1D2D3E"/>
                </a:solidFill>
              </a:rPr>
              <a:t xml:space="preserve">URL de cada tile: </a:t>
            </a:r>
            <a:r>
              <a:rPr lang="pt-BR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https://&lt;id&gt;.abap-web.&lt;região&gt;.hana.ondemand.com</a:t>
            </a:r>
            <a:r>
              <a:rPr lang="pt-BR" sz="1150" dirty="0">
                <a:solidFill>
                  <a:srgbClr val="1D2D3E"/>
                </a:solidFill>
              </a:rPr>
              <a:t xml:space="preserve"> + o caminho da BSP</a:t>
            </a:r>
            <a:endParaRPr lang="pt-BR" sz="1150" dirty="0"/>
          </a:p>
        </p:txBody>
      </p:sp>
      <p:graphicFrame>
        <p:nvGraphicFramePr>
          <p:cNvPr id="31" name="Tabela"/>
          <p:cNvGraphicFramePr>
            <a:graphicFrameLocks noGrp="1"/>
          </p:cNvGraphicFramePr>
          <p:nvPr/>
        </p:nvGraphicFramePr>
        <p:xfrm>
          <a:off x="685800" y="4206240"/>
          <a:ext cx="5349240" cy="1828800"/>
        </p:xfrm>
        <a:graphic>
          <a:graphicData uri="http://schemas.openxmlformats.org/drawingml/2006/table">
            <a:tbl>
              <a:tblPr/>
              <a:tblGrid>
                <a:gridCol w="2194560"/>
                <a:gridCol w="315468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pt-BR" sz="1000" b="1" dirty="0">
                          <a:solidFill>
                            <a:srgbClr val="1D2D3E"/>
                          </a:solidFill>
                        </a:rPr>
                        <a:t>Gestão</a:t>
                      </a:r>
                      <a:endParaRPr lang="pt-BR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pt-BR" sz="1000" b="1" dirty="0">
                          <a:solidFill>
                            <a:srgbClr val="1D2D3E"/>
                          </a:solidFill>
                        </a:rPr>
                        <a:t>Caminho</a:t>
                      </a:r>
                      <a:endParaRPr lang="pt-BR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pt-BR" sz="1000" dirty="0">
                          <a:solidFill>
                            <a:srgbClr val="1D2D3E"/>
                          </a:solidFill>
                        </a:rPr>
                        <a:t>Clientes</a:t>
                      </a:r>
                      <a:endParaRPr lang="pt-BR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pt-BR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/sap/bc/ui5_ui5/sap/zpc_clientes/</a:t>
                      </a:r>
                      <a:endParaRPr lang="pt-BR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pt-BR" sz="1000" dirty="0">
                          <a:solidFill>
                            <a:srgbClr val="1D2D3E"/>
                          </a:solidFill>
                        </a:rPr>
                        <a:t>Estoque</a:t>
                      </a:r>
                      <a:endParaRPr lang="pt-BR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pt-BR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/sap/bc/ui5_ui5/sap/zpc_estoque/</a:t>
                      </a:r>
                      <a:endParaRPr lang="pt-BR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pt-BR" sz="1000" dirty="0">
                          <a:solidFill>
                            <a:srgbClr val="1D2D3E"/>
                          </a:solidFill>
                        </a:rPr>
                        <a:t>Pedidos de Compras</a:t>
                      </a:r>
                      <a:endParaRPr lang="pt-BR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pt-BR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/sap/bc/ui5_ui5/sap/zpc_pedidos/</a:t>
                      </a:r>
                      <a:endParaRPr lang="pt-BR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pt-BR" sz="1000" dirty="0">
                          <a:solidFill>
                            <a:srgbClr val="1D2D3E"/>
                          </a:solidFill>
                        </a:rPr>
                        <a:t>Reembolsos</a:t>
                      </a:r>
                      <a:endParaRPr lang="pt-BR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pt-BR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/sap/bc/ui5_ui5/sap/zpc_reembolsos/</a:t>
                      </a:r>
                      <a:endParaRPr lang="pt-BR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ela"/>
          <p:cNvGraphicFramePr>
            <a:graphicFrameLocks noGrp="1"/>
          </p:cNvGraphicFramePr>
          <p:nvPr/>
        </p:nvGraphicFramePr>
        <p:xfrm>
          <a:off x="6172200" y="4206240"/>
          <a:ext cx="5349240" cy="1828800"/>
        </p:xfrm>
        <a:graphic>
          <a:graphicData uri="http://schemas.openxmlformats.org/drawingml/2006/table">
            <a:tbl>
              <a:tblPr/>
              <a:tblGrid>
                <a:gridCol w="2194560"/>
                <a:gridCol w="315468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pt-BR" sz="1000" b="1" dirty="0">
                          <a:solidFill>
                            <a:srgbClr val="1D2D3E"/>
                          </a:solidFill>
                        </a:rPr>
                        <a:t>Análise</a:t>
                      </a:r>
                      <a:endParaRPr lang="pt-BR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pt-BR" sz="1000" b="1" dirty="0">
                          <a:solidFill>
                            <a:srgbClr val="1D2D3E"/>
                          </a:solidFill>
                        </a:rPr>
                        <a:t>Caminho</a:t>
                      </a:r>
                      <a:endParaRPr lang="pt-BR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pt-BR" sz="1000" dirty="0">
                          <a:solidFill>
                            <a:srgbClr val="1D2D3E"/>
                          </a:solidFill>
                        </a:rPr>
                        <a:t>Pedidos de Compras</a:t>
                      </a:r>
                      <a:endParaRPr lang="pt-BR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pt-BR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/sap/bc/ui5_ui5/sap/zpc_anl_pedidos/</a:t>
                      </a:r>
                      <a:endParaRPr lang="pt-BR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pt-BR" sz="1000" dirty="0">
                          <a:solidFill>
                            <a:srgbClr val="1D2D3E"/>
                          </a:solidFill>
                        </a:rPr>
                        <a:t>Clientes</a:t>
                      </a:r>
                      <a:endParaRPr lang="pt-BR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pt-BR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/sap/bc/ui5_ui5/sap/zpc_anl_cliente/</a:t>
                      </a:r>
                      <a:endParaRPr lang="pt-BR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pt-BR" sz="1000" dirty="0">
                          <a:solidFill>
                            <a:srgbClr val="1D2D3E"/>
                          </a:solidFill>
                        </a:rPr>
                        <a:t>Itens do Estoque</a:t>
                      </a:r>
                      <a:endParaRPr lang="pt-BR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pt-BR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/sap/bc/ui5_ui5/sap/zpc_anl_estoque/</a:t>
                      </a:r>
                      <a:endParaRPr lang="pt-BR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pt-BR" sz="1000" dirty="0">
                          <a:solidFill>
                            <a:srgbClr val="1D2D3E"/>
                          </a:solidFill>
                        </a:rPr>
                        <a:t>Pedidos de Reembolsos</a:t>
                      </a:r>
                      <a:endParaRPr lang="pt-BR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pt-BR" sz="100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/sap/bc/ui5_ui5/sap/zpc_anl_reemb/</a:t>
                      </a:r>
                      <a:endParaRPr lang="pt-BR" sz="100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ótulo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100" b="1" spc="150" kern="0" dirty="0">
                <a:solidFill>
                  <a:schemeClr val="accent1"/>
                </a:solidFill>
              </a:rPr>
              <a:t>ON-PREMISE · PRÉ-REQUISITOS</a:t>
            </a:r>
            <a:endParaRPr lang="pt-BR" sz="1100" dirty="0"/>
          </a:p>
        </p:txBody>
      </p:sp>
      <p:sp>
        <p:nvSpPr>
          <p:cNvPr id="4" name="Título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3000" b="1" dirty="0">
                <a:solidFill>
                  <a:schemeClr val="tx1"/>
                </a:solidFill>
              </a:rPr>
              <a:t>Preparar o sistema antes do primeiro deploy</a:t>
            </a:r>
            <a:endParaRPr lang="pt-BR" sz="3000" dirty="0"/>
          </a:p>
        </p:txBody>
      </p:sp>
      <p:sp>
        <p:nvSpPr>
          <p:cNvPr id="5" name="Cartão"/>
          <p:cNvSpPr/>
          <p:nvPr/>
        </p:nvSpPr>
        <p:spPr>
          <a:xfrm>
            <a:off x="548640" y="1645920"/>
            <a:ext cx="3511296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6" name="Ícone e-learning"/>
          <p:cNvSpPr/>
          <p:nvPr/>
        </p:nvSpPr>
        <p:spPr>
          <a:xfrm>
            <a:off x="777240" y="1874520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>
            <a:noFill/>
          </a:ln>
        </p:spPr>
      </p:sp>
      <p:pic>
        <p:nvPicPr>
          <p:cNvPr id="7" name="Imagem" descr="e-learni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357" y="1988637"/>
            <a:ext cx="247254" cy="247254"/>
          </a:xfrm>
          <a:prstGeom prst="rect">
            <a:avLst/>
          </a:prstGeom>
        </p:spPr>
      </p:pic>
      <p:sp>
        <p:nvSpPr>
          <p:cNvPr id="8" name="Texto"/>
          <p:cNvSpPr txBox="1"/>
          <p:nvPr/>
        </p:nvSpPr>
        <p:spPr>
          <a:xfrm>
            <a:off x="1389888" y="1874520"/>
            <a:ext cx="2514600" cy="475488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400" b="1" dirty="0">
                <a:solidFill>
                  <a:srgbClr val="1D2D3E"/>
                </a:solidFill>
              </a:rPr>
              <a:t>Versão do SAPUI5</a:t>
            </a:r>
            <a:endParaRPr lang="pt-BR" sz="1400" dirty="0"/>
          </a:p>
        </p:txBody>
      </p:sp>
      <p:sp>
        <p:nvSpPr>
          <p:cNvPr id="9" name="Texto"/>
          <p:cNvSpPr txBox="1"/>
          <p:nvPr/>
        </p:nvSpPr>
        <p:spPr>
          <a:xfrm>
            <a:off x="777240" y="2514600"/>
            <a:ext cx="3063240" cy="114300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t-BR" sz="1200" dirty="0">
                <a:solidFill>
                  <a:srgbClr val="556B82"/>
                </a:solidFill>
              </a:rPr>
              <a:t>1.136 ou superior: Sobre, no launchpad, ou /sap/public/bc/ui5_ui5/bootstrap_info.json</a:t>
            </a:r>
            <a:endParaRPr lang="pt-BR" sz="1200" dirty="0"/>
          </a:p>
        </p:txBody>
      </p:sp>
      <p:sp>
        <p:nvSpPr>
          <p:cNvPr id="10" name="Cartão"/>
          <p:cNvSpPr/>
          <p:nvPr/>
        </p:nvSpPr>
        <p:spPr>
          <a:xfrm>
            <a:off x="4338828" y="1645920"/>
            <a:ext cx="3511296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1" name="Ícone it-system"/>
          <p:cNvSpPr/>
          <p:nvPr/>
        </p:nvSpPr>
        <p:spPr>
          <a:xfrm>
            <a:off x="4567428" y="1874520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E3F7F6"/>
          </a:solidFill>
          <a:ln>
            <a:noFill/>
          </a:ln>
        </p:spPr>
      </p:sp>
      <p:pic>
        <p:nvPicPr>
          <p:cNvPr id="12" name="Imagem" descr="it-syste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545" y="1988637"/>
            <a:ext cx="247254" cy="247254"/>
          </a:xfrm>
          <a:prstGeom prst="rect">
            <a:avLst/>
          </a:prstGeom>
        </p:spPr>
      </p:pic>
      <p:sp>
        <p:nvSpPr>
          <p:cNvPr id="13" name="Texto"/>
          <p:cNvSpPr txBox="1"/>
          <p:nvPr/>
        </p:nvSpPr>
        <p:spPr>
          <a:xfrm>
            <a:off x="5180076" y="1874520"/>
            <a:ext cx="2514600" cy="475488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400" b="1" dirty="0">
                <a:solidFill>
                  <a:srgbClr val="1D2D3E"/>
                </a:solidFill>
              </a:rPr>
              <a:t>Serviços ICF (SICF)</a:t>
            </a:r>
            <a:endParaRPr lang="pt-BR" sz="1400" dirty="0"/>
          </a:p>
        </p:txBody>
      </p:sp>
      <p:sp>
        <p:nvSpPr>
          <p:cNvPr id="14" name="Texto"/>
          <p:cNvSpPr txBox="1"/>
          <p:nvPr/>
        </p:nvSpPr>
        <p:spPr>
          <a:xfrm>
            <a:off x="4567428" y="2514600"/>
            <a:ext cx="3063240" cy="114300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t-BR" sz="1200" dirty="0">
                <a:solidFill>
                  <a:srgbClr val="556B82"/>
                </a:solidFill>
              </a:rPr>
              <a:t>/sap/bc/ui5_ui5, /sap/bc/ui2/flp, /sap/opu/odata4 e /sap/opu/odata/ui5/abap_repository_srv</a:t>
            </a:r>
            <a:endParaRPr lang="pt-BR" sz="1200" dirty="0"/>
          </a:p>
        </p:txBody>
      </p:sp>
      <p:sp>
        <p:nvSpPr>
          <p:cNvPr id="15" name="Cartão"/>
          <p:cNvSpPr/>
          <p:nvPr/>
        </p:nvSpPr>
        <p:spPr>
          <a:xfrm>
            <a:off x="8129016" y="1645920"/>
            <a:ext cx="3511296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16" name="Ícone sap-box"/>
          <p:cNvSpPr/>
          <p:nvPr/>
        </p:nvSpPr>
        <p:spPr>
          <a:xfrm>
            <a:off x="8357616" y="1874520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F5FAE5"/>
          </a:solidFill>
          <a:ln>
            <a:noFill/>
          </a:ln>
        </p:spPr>
      </p:sp>
      <p:pic>
        <p:nvPicPr>
          <p:cNvPr id="17" name="Imagem" descr="sap-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1733" y="1988637"/>
            <a:ext cx="247254" cy="247254"/>
          </a:xfrm>
          <a:prstGeom prst="rect">
            <a:avLst/>
          </a:prstGeom>
        </p:spPr>
      </p:pic>
      <p:sp>
        <p:nvSpPr>
          <p:cNvPr id="18" name="Texto"/>
          <p:cNvSpPr txBox="1"/>
          <p:nvPr/>
        </p:nvSpPr>
        <p:spPr>
          <a:xfrm>
            <a:off x="8970264" y="1874520"/>
            <a:ext cx="2514600" cy="475488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400" b="1" dirty="0">
                <a:solidFill>
                  <a:srgbClr val="1D2D3E"/>
                </a:solidFill>
              </a:rPr>
              <a:t>Pacote e transporte</a:t>
            </a:r>
            <a:endParaRPr lang="pt-BR" sz="1400" dirty="0"/>
          </a:p>
        </p:txBody>
      </p:sp>
      <p:sp>
        <p:nvSpPr>
          <p:cNvPr id="19" name="Texto"/>
          <p:cNvSpPr txBox="1"/>
          <p:nvPr/>
        </p:nvSpPr>
        <p:spPr>
          <a:xfrm>
            <a:off x="8357616" y="2514600"/>
            <a:ext cx="3063240" cy="114300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t-BR" sz="1200" dirty="0">
                <a:solidFill>
                  <a:srgbClr val="556B82"/>
                </a:solidFill>
              </a:rPr>
              <a:t>Pacotes Standard ABAP numa camada de transporte e uma ordem Workbench para o transport:</a:t>
            </a:r>
            <a:endParaRPr lang="pt-BR" sz="1200" dirty="0"/>
          </a:p>
        </p:txBody>
      </p:sp>
      <p:sp>
        <p:nvSpPr>
          <p:cNvPr id="20" name="Cartão"/>
          <p:cNvSpPr/>
          <p:nvPr/>
        </p:nvSpPr>
        <p:spPr>
          <a:xfrm>
            <a:off x="548640" y="3977640"/>
            <a:ext cx="3511296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21" name="Ícone key"/>
          <p:cNvSpPr/>
          <p:nvPr/>
        </p:nvSpPr>
        <p:spPr>
          <a:xfrm>
            <a:off x="777240" y="4206240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F3ECFB"/>
          </a:solidFill>
          <a:ln>
            <a:noFill/>
          </a:ln>
        </p:spPr>
      </p:sp>
      <p:pic>
        <p:nvPicPr>
          <p:cNvPr id="22" name="Imagem" descr="ke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357" y="4320357"/>
            <a:ext cx="247254" cy="247254"/>
          </a:xfrm>
          <a:prstGeom prst="rect">
            <a:avLst/>
          </a:prstGeom>
        </p:spPr>
      </p:pic>
      <p:sp>
        <p:nvSpPr>
          <p:cNvPr id="23" name="Texto"/>
          <p:cNvSpPr txBox="1"/>
          <p:nvPr/>
        </p:nvSpPr>
        <p:spPr>
          <a:xfrm>
            <a:off x="1389888" y="4206240"/>
            <a:ext cx="2514600" cy="475488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400" b="1" dirty="0">
                <a:solidFill>
                  <a:srgbClr val="1D2D3E"/>
                </a:solidFill>
              </a:rPr>
              <a:t>Usuário de deploy</a:t>
            </a:r>
            <a:endParaRPr lang="pt-BR" sz="1400" dirty="0"/>
          </a:p>
        </p:txBody>
      </p:sp>
      <p:sp>
        <p:nvSpPr>
          <p:cNvPr id="24" name="Texto"/>
          <p:cNvSpPr txBox="1"/>
          <p:nvPr/>
        </p:nvSpPr>
        <p:spPr>
          <a:xfrm>
            <a:off x="777240" y="4846320"/>
            <a:ext cx="3063240" cy="114300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t-BR" sz="1200" dirty="0">
                <a:solidFill>
                  <a:srgbClr val="556B82"/>
                </a:solidFill>
              </a:rPr>
              <a:t>S_DEVELOP no pacote e acesso ao repositório UI5; credenciais em ABAP_USER e ABAP_PASSWORD</a:t>
            </a:r>
            <a:endParaRPr lang="pt-BR" sz="1200" dirty="0"/>
          </a:p>
        </p:txBody>
      </p:sp>
      <p:sp>
        <p:nvSpPr>
          <p:cNvPr id="25" name="Cartão"/>
          <p:cNvSpPr/>
          <p:nvPr/>
        </p:nvSpPr>
        <p:spPr>
          <a:xfrm>
            <a:off x="4338828" y="3977640"/>
            <a:ext cx="3511296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26" name="Ícone locked"/>
          <p:cNvSpPr/>
          <p:nvPr/>
        </p:nvSpPr>
        <p:spPr>
          <a:xfrm>
            <a:off x="4567428" y="4206240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FFF3E0"/>
          </a:solidFill>
          <a:ln>
            <a:noFill/>
          </a:ln>
        </p:spPr>
      </p:sp>
      <p:pic>
        <p:nvPicPr>
          <p:cNvPr id="27" name="Imagem" descr="locke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1545" y="4320357"/>
            <a:ext cx="247254" cy="247254"/>
          </a:xfrm>
          <a:prstGeom prst="rect">
            <a:avLst/>
          </a:prstGeom>
        </p:spPr>
      </p:pic>
      <p:sp>
        <p:nvSpPr>
          <p:cNvPr id="28" name="Texto"/>
          <p:cNvSpPr txBox="1"/>
          <p:nvPr/>
        </p:nvSpPr>
        <p:spPr>
          <a:xfrm>
            <a:off x="5180076" y="4206240"/>
            <a:ext cx="2514600" cy="475488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400" b="1" dirty="0">
                <a:solidFill>
                  <a:srgbClr val="1D2D3E"/>
                </a:solidFill>
              </a:rPr>
              <a:t>Certificado</a:t>
            </a:r>
            <a:endParaRPr lang="pt-BR" sz="1400" dirty="0"/>
          </a:p>
        </p:txBody>
      </p:sp>
      <p:sp>
        <p:nvSpPr>
          <p:cNvPr id="29" name="Texto"/>
          <p:cNvSpPr txBox="1"/>
          <p:nvPr/>
        </p:nvSpPr>
        <p:spPr>
          <a:xfrm>
            <a:off x="4567428" y="4846320"/>
            <a:ext cx="3063240" cy="114300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t-BR" sz="1200" dirty="0">
                <a:solidFill>
                  <a:srgbClr val="556B82"/>
                </a:solidFill>
              </a:rPr>
              <a:t>CA interna instalada na máquina, em vez de ignoreCertErrors: true</a:t>
            </a:r>
            <a:endParaRPr lang="pt-BR" sz="1200" dirty="0"/>
          </a:p>
        </p:txBody>
      </p:sp>
      <p:sp>
        <p:nvSpPr>
          <p:cNvPr id="30" name="Cartão"/>
          <p:cNvSpPr/>
          <p:nvPr/>
        </p:nvSpPr>
        <p:spPr>
          <a:xfrm>
            <a:off x="8129016" y="3977640"/>
            <a:ext cx="3511296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31" name="Ícone chain-link"/>
          <p:cNvSpPr/>
          <p:nvPr/>
        </p:nvSpPr>
        <p:spPr>
          <a:xfrm>
            <a:off x="8357616" y="4206240"/>
            <a:ext cx="475488" cy="475488"/>
          </a:xfrm>
          <a:prstGeom prst="roundRect">
            <a:avLst>
              <a:gd name="adj" fmla="val 22000"/>
            </a:avLst>
          </a:prstGeom>
          <a:solidFill>
            <a:srgbClr val="FDE8F1"/>
          </a:solidFill>
          <a:ln>
            <a:noFill/>
          </a:ln>
        </p:spPr>
      </p:sp>
      <p:pic>
        <p:nvPicPr>
          <p:cNvPr id="32" name="Imagem" descr="chain-link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1733" y="4320357"/>
            <a:ext cx="247254" cy="247254"/>
          </a:xfrm>
          <a:prstGeom prst="rect">
            <a:avLst/>
          </a:prstGeom>
        </p:spPr>
      </p:pic>
      <p:sp>
        <p:nvSpPr>
          <p:cNvPr id="33" name="Texto"/>
          <p:cNvSpPr txBox="1"/>
          <p:nvPr/>
        </p:nvSpPr>
        <p:spPr>
          <a:xfrm>
            <a:off x="8970264" y="4206240"/>
            <a:ext cx="2514600" cy="475488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400" b="1" dirty="0">
                <a:solidFill>
                  <a:srgbClr val="1D2D3E"/>
                </a:solidFill>
              </a:rPr>
              <a:t>Proxy do npm start</a:t>
            </a:r>
            <a:endParaRPr lang="pt-BR" sz="1400" dirty="0"/>
          </a:p>
        </p:txBody>
      </p:sp>
      <p:sp>
        <p:nvSpPr>
          <p:cNvPr id="34" name="Texto"/>
          <p:cNvSpPr txBox="1"/>
          <p:nvPr/>
        </p:nvSpPr>
        <p:spPr>
          <a:xfrm>
            <a:off x="8357616" y="4846320"/>
            <a:ext cx="3063240" cy="114300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t-BR" sz="1200" dirty="0">
                <a:solidFill>
                  <a:srgbClr val="556B82"/>
                </a:solidFill>
              </a:rPr>
              <a:t>ui5.yaml aponta para o Web Dispatcher ou o ICM; sem authenticationType, login básico</a:t>
            </a:r>
            <a:endParaRPr lang="pt-BR" sz="12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ótulo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100" b="1" spc="150" kern="0" dirty="0">
                <a:solidFill>
                  <a:schemeClr val="accent1"/>
                </a:solidFill>
              </a:rPr>
              <a:t>ON-PREMISE · /UI2/FLPAM</a:t>
            </a:r>
            <a:endParaRPr lang="pt-BR" sz="1100" dirty="0"/>
          </a:p>
        </p:txBody>
      </p:sp>
      <p:sp>
        <p:nvSpPr>
          <p:cNvPr id="4" name="Título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3000" b="1" dirty="0">
                <a:solidFill>
                  <a:schemeClr val="tx1"/>
                </a:solidFill>
              </a:rPr>
              <a:t>Um app descriptor por app no catálogo técnico</a:t>
            </a:r>
            <a:endParaRPr lang="pt-BR" sz="3000" dirty="0"/>
          </a:p>
        </p:txBody>
      </p:sp>
      <p:sp>
        <p:nvSpPr>
          <p:cNvPr id="5" name="Cartão"/>
          <p:cNvSpPr/>
          <p:nvPr/>
        </p:nvSpPr>
        <p:spPr>
          <a:xfrm>
            <a:off x="548640" y="1645920"/>
            <a:ext cx="3931920" cy="452628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6" name="Número 1"/>
          <p:cNvSpPr/>
          <p:nvPr/>
        </p:nvSpPr>
        <p:spPr>
          <a:xfrm>
            <a:off x="777240" y="1847088"/>
            <a:ext cx="310896" cy="310896"/>
          </a:xfrm>
          <a:prstGeom prst="ellipse">
            <a:avLst/>
          </a:prstGeom>
          <a:solidFill>
            <a:srgbClr val="0070F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b="1" dirty="0">
                <a:solidFill>
                  <a:srgbClr val="FFFFFF"/>
                </a:solidFill>
              </a:rPr>
              <a:t>1</a:t>
            </a:r>
            <a:endParaRPr lang="pt-BR" sz="1000" dirty="0"/>
          </a:p>
        </p:txBody>
      </p:sp>
      <p:sp>
        <p:nvSpPr>
          <p:cNvPr id="7" name="Texto"/>
          <p:cNvSpPr txBox="1"/>
          <p:nvPr/>
        </p:nvSpPr>
        <p:spPr>
          <a:xfrm>
            <a:off x="1234440" y="1828800"/>
            <a:ext cx="3108960" cy="310896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300" b="1" dirty="0">
                <a:solidFill>
                  <a:srgbClr val="1D2D3E"/>
                </a:solidFill>
              </a:rPr>
              <a:t>Catálogo técnico</a:t>
            </a:r>
            <a:endParaRPr lang="pt-BR" sz="1300" dirty="0"/>
          </a:p>
        </p:txBody>
      </p:sp>
      <p:sp>
        <p:nvSpPr>
          <p:cNvPr id="8" name="Texto"/>
          <p:cNvSpPr txBox="1"/>
          <p:nvPr/>
        </p:nvSpPr>
        <p:spPr>
          <a:xfrm>
            <a:off x="1234440" y="2176272"/>
            <a:ext cx="3108960" cy="658368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t-BR" sz="1100" dirty="0">
                <a:solidFill>
                  <a:srgbClr val="556B82"/>
                </a:solidFill>
              </a:rPr>
              <a:t>/UI2/FLPAM → novo catálogo ZPC_TC_PEDIDOS_COMPRAS</a:t>
            </a:r>
            <a:endParaRPr lang="pt-BR" sz="1100" dirty="0"/>
          </a:p>
        </p:txBody>
      </p:sp>
      <p:sp>
        <p:nvSpPr>
          <p:cNvPr id="9" name="Número 2"/>
          <p:cNvSpPr/>
          <p:nvPr/>
        </p:nvSpPr>
        <p:spPr>
          <a:xfrm>
            <a:off x="777240" y="2916936"/>
            <a:ext cx="310896" cy="310896"/>
          </a:xfrm>
          <a:prstGeom prst="ellipse">
            <a:avLst/>
          </a:prstGeom>
          <a:solidFill>
            <a:srgbClr val="0070F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b="1" dirty="0">
                <a:solidFill>
                  <a:srgbClr val="FFFFFF"/>
                </a:solidFill>
              </a:rPr>
              <a:t>2</a:t>
            </a:r>
            <a:endParaRPr lang="pt-BR" sz="1000" dirty="0"/>
          </a:p>
        </p:txBody>
      </p:sp>
      <p:sp>
        <p:nvSpPr>
          <p:cNvPr id="10" name="Texto"/>
          <p:cNvSpPr txBox="1"/>
          <p:nvPr/>
        </p:nvSpPr>
        <p:spPr>
          <a:xfrm>
            <a:off x="1234440" y="2898648"/>
            <a:ext cx="3108960" cy="310896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300" b="1" dirty="0">
                <a:solidFill>
                  <a:srgbClr val="1D2D3E"/>
                </a:solidFill>
              </a:rPr>
              <a:t>Tile</a:t>
            </a:r>
            <a:endParaRPr lang="pt-BR" sz="1300" dirty="0"/>
          </a:p>
        </p:txBody>
      </p:sp>
      <p:sp>
        <p:nvSpPr>
          <p:cNvPr id="11" name="Texto"/>
          <p:cNvSpPr txBox="1"/>
          <p:nvPr/>
        </p:nvSpPr>
        <p:spPr>
          <a:xfrm>
            <a:off x="1234440" y="3246120"/>
            <a:ext cx="3108960" cy="658368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t-BR" sz="1100" dirty="0">
                <a:solidFill>
                  <a:srgbClr val="556B82"/>
                </a:solidFill>
              </a:rPr>
              <a:t>Título, subtítulo e ícone iguais aos do inbound do manifest</a:t>
            </a:r>
            <a:endParaRPr lang="pt-BR" sz="1100" dirty="0"/>
          </a:p>
        </p:txBody>
      </p:sp>
      <p:sp>
        <p:nvSpPr>
          <p:cNvPr id="12" name="Número 3"/>
          <p:cNvSpPr/>
          <p:nvPr/>
        </p:nvSpPr>
        <p:spPr>
          <a:xfrm>
            <a:off x="777240" y="3986784"/>
            <a:ext cx="310896" cy="310896"/>
          </a:xfrm>
          <a:prstGeom prst="ellipse">
            <a:avLst/>
          </a:prstGeom>
          <a:solidFill>
            <a:srgbClr val="0070F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b="1" dirty="0">
                <a:solidFill>
                  <a:srgbClr val="FFFFFF"/>
                </a:solidFill>
              </a:rPr>
              <a:t>3</a:t>
            </a:r>
            <a:endParaRPr lang="pt-BR" sz="1000" dirty="0"/>
          </a:p>
        </p:txBody>
      </p:sp>
      <p:sp>
        <p:nvSpPr>
          <p:cNvPr id="13" name="Texto"/>
          <p:cNvSpPr txBox="1"/>
          <p:nvPr/>
        </p:nvSpPr>
        <p:spPr>
          <a:xfrm>
            <a:off x="1234440" y="3968496"/>
            <a:ext cx="3108960" cy="310896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300" b="1" dirty="0">
                <a:solidFill>
                  <a:srgbClr val="1D2D3E"/>
                </a:solidFill>
              </a:rPr>
              <a:t>Target mapping</a:t>
            </a:r>
            <a:endParaRPr lang="pt-BR" sz="1300" dirty="0"/>
          </a:p>
        </p:txBody>
      </p:sp>
      <p:sp>
        <p:nvSpPr>
          <p:cNvPr id="14" name="Texto"/>
          <p:cNvSpPr txBox="1"/>
          <p:nvPr/>
        </p:nvSpPr>
        <p:spPr>
          <a:xfrm>
            <a:off x="1234440" y="4315968"/>
            <a:ext cx="3108960" cy="658368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t-BR" sz="1100" dirty="0">
                <a:solidFill>
                  <a:srgbClr val="556B82"/>
                </a:solidFill>
              </a:rPr>
              <a:t>Semantic object e ação do inbound; app SAPUI5 com o ID do componente e a BSP</a:t>
            </a:r>
            <a:endParaRPr lang="pt-BR" sz="1100" dirty="0"/>
          </a:p>
        </p:txBody>
      </p:sp>
      <p:sp>
        <p:nvSpPr>
          <p:cNvPr id="15" name="Número 4"/>
          <p:cNvSpPr/>
          <p:nvPr/>
        </p:nvSpPr>
        <p:spPr>
          <a:xfrm>
            <a:off x="777240" y="5056632"/>
            <a:ext cx="310896" cy="310896"/>
          </a:xfrm>
          <a:prstGeom prst="ellipse">
            <a:avLst/>
          </a:prstGeom>
          <a:solidFill>
            <a:srgbClr val="0070F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pt-BR" sz="1000" b="1" dirty="0">
                <a:solidFill>
                  <a:srgbClr val="FFFFFF"/>
                </a:solidFill>
              </a:rPr>
              <a:t>4</a:t>
            </a:r>
            <a:endParaRPr lang="pt-BR" sz="1000" dirty="0"/>
          </a:p>
        </p:txBody>
      </p:sp>
      <p:sp>
        <p:nvSpPr>
          <p:cNvPr id="16" name="Texto"/>
          <p:cNvSpPr txBox="1"/>
          <p:nvPr/>
        </p:nvSpPr>
        <p:spPr>
          <a:xfrm>
            <a:off x="1234440" y="5038344"/>
            <a:ext cx="3108960" cy="310896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300" b="1" dirty="0">
                <a:solidFill>
                  <a:srgbClr val="1D2D3E"/>
                </a:solidFill>
              </a:rPr>
              <a:t>Testar</a:t>
            </a:r>
            <a:endParaRPr lang="pt-BR" sz="1300" dirty="0"/>
          </a:p>
        </p:txBody>
      </p:sp>
      <p:sp>
        <p:nvSpPr>
          <p:cNvPr id="17" name="Texto"/>
          <p:cNvSpPr txBox="1"/>
          <p:nvPr/>
        </p:nvSpPr>
        <p:spPr>
          <a:xfrm>
            <a:off x="1234440" y="5385816"/>
            <a:ext cx="3108960" cy="658368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t-BR" sz="1100" dirty="0">
                <a:solidFill>
                  <a:srgbClr val="556B82"/>
                </a:solidFill>
              </a:rPr>
              <a:t>Salvar, limpar o cache (/UI2/INVALIDATE_GLOBAL_CACHES) e abrir o intent</a:t>
            </a:r>
            <a:endParaRPr lang="pt-BR" sz="1100" dirty="0"/>
          </a:p>
        </p:txBody>
      </p:sp>
      <p:sp>
        <p:nvSpPr>
          <p:cNvPr id="18" name="Cartão"/>
          <p:cNvSpPr/>
          <p:nvPr/>
        </p:nvSpPr>
        <p:spPr>
          <a:xfrm>
            <a:off x="4709160" y="1645920"/>
            <a:ext cx="6931152" cy="452628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graphicFrame>
        <p:nvGraphicFramePr>
          <p:cNvPr id="19" name="Tabela"/>
          <p:cNvGraphicFramePr>
            <a:graphicFrameLocks noGrp="1"/>
          </p:cNvGraphicFramePr>
          <p:nvPr/>
        </p:nvGraphicFramePr>
        <p:xfrm>
          <a:off x="4846320" y="1755648"/>
          <a:ext cx="6656832" cy="4114800"/>
        </p:xfrm>
        <a:graphic>
          <a:graphicData uri="http://schemas.openxmlformats.org/drawingml/2006/table">
            <a:tbl>
              <a:tblPr/>
              <a:tblGrid>
                <a:gridCol w="2697480"/>
                <a:gridCol w="2057400"/>
                <a:gridCol w="190195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pt-BR" sz="950" b="1" dirty="0">
                          <a:solidFill>
                            <a:srgbClr val="1D2D3E"/>
                          </a:solidFill>
                        </a:rPr>
                        <a:t>Intent (semantic object-ação)</a:t>
                      </a:r>
                      <a:endParaRPr lang="pt-BR" sz="95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pt-BR" sz="950" b="1" dirty="0">
                          <a:solidFill>
                            <a:srgbClr val="1D2D3E"/>
                          </a:solidFill>
                        </a:rPr>
                        <a:t>sap.app.id</a:t>
                      </a:r>
                      <a:endParaRPr lang="pt-BR" sz="95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pt-BR" sz="950" b="1" dirty="0">
                          <a:solidFill>
                            <a:srgbClr val="1D2D3E"/>
                          </a:solidFill>
                        </a:rPr>
                        <a:t>BSP</a:t>
                      </a:r>
                      <a:endParaRPr lang="pt-BR" sz="95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 cap="flat" cmpd="sng" algn="ctr">
                      <a:solidFill>
                        <a:srgbClr val="A8B3B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pt-BR" sz="9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ZPCCliente-manage</a:t>
                      </a:r>
                      <a:endParaRPr lang="pt-BR" sz="95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pt-BR" sz="9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gestaoclientes</a:t>
                      </a:r>
                      <a:endParaRPr lang="pt-BR" sz="95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pt-BR" sz="9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ZPC_CLIENTES</a:t>
                      </a:r>
                      <a:endParaRPr lang="pt-BR" sz="95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pt-BR" sz="9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ZPCItemEstoque-manage</a:t>
                      </a:r>
                      <a:endParaRPr lang="pt-BR" sz="95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pt-BR" sz="9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gestaoestoque</a:t>
                      </a:r>
                      <a:endParaRPr lang="pt-BR" sz="95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pt-BR" sz="9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ZPC_ESTOQUE</a:t>
                      </a:r>
                      <a:endParaRPr lang="pt-BR" sz="95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pt-BR" sz="9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ZPCPedidoCompra-manage</a:t>
                      </a:r>
                      <a:endParaRPr lang="pt-BR" sz="95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pt-BR" sz="9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pedidoscompras</a:t>
                      </a:r>
                      <a:endParaRPr lang="pt-BR" sz="95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pt-BR" sz="9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ZPC_PEDIDOS</a:t>
                      </a:r>
                      <a:endParaRPr lang="pt-BR" sz="95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pt-BR" sz="9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ZPCReembolso-manage</a:t>
                      </a:r>
                      <a:endParaRPr lang="pt-BR" sz="95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pt-BR" sz="9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gestaoreembolsos</a:t>
                      </a:r>
                      <a:endParaRPr lang="pt-BR" sz="95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pt-BR" sz="9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ZPC_REEMBOLSOS</a:t>
                      </a:r>
                      <a:endParaRPr lang="pt-BR" sz="95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pt-BR" sz="9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ZPCAnalisePedido-display</a:t>
                      </a:r>
                      <a:endParaRPr lang="pt-BR" sz="95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pt-BR" sz="9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analisepedidos</a:t>
                      </a:r>
                      <a:endParaRPr lang="pt-BR" sz="95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pt-BR" sz="9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ZPC_ANL_PEDIDOS</a:t>
                      </a:r>
                      <a:endParaRPr lang="pt-BR" sz="95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pt-BR" sz="9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ZPCAnaliseCliente-display</a:t>
                      </a:r>
                      <a:endParaRPr lang="pt-BR" sz="95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pt-BR" sz="9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analiseclientes</a:t>
                      </a:r>
                      <a:endParaRPr lang="pt-BR" sz="95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pt-BR" sz="9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ZPC_ANL_CLIENTE</a:t>
                      </a:r>
                      <a:endParaRPr lang="pt-BR" sz="95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pt-BR" sz="9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ZPCAnaliseItemEstoque-display</a:t>
                      </a:r>
                      <a:endParaRPr lang="pt-BR" sz="95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pt-BR" sz="9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analiseestoque</a:t>
                      </a:r>
                      <a:endParaRPr lang="pt-BR" sz="95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pt-BR" sz="9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ZPC_ANL_ESTOQUE</a:t>
                      </a:r>
                      <a:endParaRPr lang="pt-BR" sz="95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E5E5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pt-BR" sz="9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ZPCAnaliseReembolso-display</a:t>
                      </a:r>
                      <a:endParaRPr lang="pt-BR" sz="95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pt-BR" sz="9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analisereembolsos</a:t>
                      </a:r>
                      <a:endParaRPr lang="pt-BR" sz="95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pt-BR" sz="950" dirty="0">
                          <a:solidFill>
                            <a:srgbClr val="1D2D3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ZPC_ANL_REEMB</a:t>
                      </a:r>
                      <a:endParaRPr lang="pt-BR" sz="950" dirty="0"/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ótulo"/>
          <p:cNvSpPr/>
          <p:nvPr>
            <p:ph idx="100" type="body" hasCustomPrompt="1"/>
          </p:nvPr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100" b="1" spc="150" kern="0" dirty="0">
                <a:solidFill>
                  <a:schemeClr val="accent1"/>
                </a:solidFill>
              </a:rPr>
              <a:t>ON-PREMISE · ESPAÇO E ROLES</a:t>
            </a:r>
            <a:endParaRPr lang="pt-BR" sz="1100" dirty="0"/>
          </a:p>
        </p:txBody>
      </p:sp>
      <p:sp>
        <p:nvSpPr>
          <p:cNvPr id="4" name="Título"/>
          <p:cNvSpPr/>
          <p:nvPr>
            <p:ph idx="101" type="title" hasCustomPrompt="1"/>
          </p:nvPr>
        </p:nvSpPr>
        <p:spPr>
          <a:xfrm>
            <a:off x="548640" y="676656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3000" b="1" dirty="0">
                <a:solidFill>
                  <a:schemeClr val="tx1"/>
                </a:solidFill>
              </a:rPr>
              <a:t>Espaço, página e roles PFCG levam os tiles ao usuário</a:t>
            </a:r>
            <a:endParaRPr lang="pt-BR" sz="3000" dirty="0"/>
          </a:p>
        </p:txBody>
      </p:sp>
      <p:sp>
        <p:nvSpPr>
          <p:cNvPr id="5" name="Cartão"/>
          <p:cNvSpPr/>
          <p:nvPr/>
        </p:nvSpPr>
        <p:spPr>
          <a:xfrm>
            <a:off x="548640" y="1645920"/>
            <a:ext cx="6400800" cy="452628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6" name="Texto"/>
          <p:cNvSpPr txBox="1"/>
          <p:nvPr/>
        </p:nvSpPr>
        <p:spPr>
          <a:xfrm>
            <a:off x="777240" y="1783080"/>
            <a:ext cx="5943600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250" b="1" dirty="0">
                <a:solidFill>
                  <a:srgbClr val="1D2D3E"/>
                </a:solidFill>
              </a:rPr>
              <a:t xml:space="preserve">Espaço </a:t>
            </a:r>
            <a:r>
              <a:rPr lang="pt-BR" sz="1250" b="1" dirty="0">
                <a:solidFill>
                  <a:srgbClr val="0070F2"/>
                </a:solidFill>
              </a:rPr>
              <a:t>Pedidos de Compras</a:t>
            </a:r>
            <a:r>
              <a:rPr lang="pt-BR" sz="1050" dirty="0">
                <a:solidFill>
                  <a:srgbClr val="55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·  /UI2/FLPCM_CUST</a:t>
            </a:r>
            <a:endParaRPr lang="pt-BR" sz="1250" dirty="0"/>
          </a:p>
        </p:txBody>
      </p:sp>
      <p:sp>
        <p:nvSpPr>
          <p:cNvPr id="7" name="Texto"/>
          <p:cNvSpPr txBox="1"/>
          <p:nvPr/>
        </p:nvSpPr>
        <p:spPr>
          <a:xfrm>
            <a:off x="777240" y="2240280"/>
            <a:ext cx="2743200" cy="27432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000" b="1" spc="120" kern="0" dirty="0">
                <a:solidFill>
                  <a:srgbClr val="556B82"/>
                </a:solidFill>
              </a:rPr>
              <a:t>GESTÃO</a:t>
            </a:r>
            <a:endParaRPr lang="pt-BR" sz="1000" dirty="0"/>
          </a:p>
        </p:txBody>
      </p:sp>
      <p:sp>
        <p:nvSpPr>
          <p:cNvPr id="8" name="Tile Clientes"/>
          <p:cNvSpPr/>
          <p:nvPr/>
        </p:nvSpPr>
        <p:spPr>
          <a:xfrm>
            <a:off x="777240" y="2587752"/>
            <a:ext cx="1371600" cy="1371600"/>
          </a:xfrm>
          <a:prstGeom prst="roundRect">
            <a:avLst>
              <a:gd name="adj" fmla="val 8000"/>
            </a:avLst>
          </a:prstGeom>
          <a:solidFill>
            <a:srgbClr val="F5F6F7"/>
          </a:solidFill>
          <a:ln w="12700">
            <a:solidFill>
              <a:srgbClr val="E5E5E5"/>
            </a:solidFill>
          </a:ln>
        </p:spPr>
      </p:sp>
      <p:sp>
        <p:nvSpPr>
          <p:cNvPr id="9" name="Texto"/>
          <p:cNvSpPr txBox="1"/>
          <p:nvPr/>
        </p:nvSpPr>
        <p:spPr>
          <a:xfrm>
            <a:off x="886968" y="2679192"/>
            <a:ext cx="1188720" cy="27432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050" b="1" dirty="0">
                <a:solidFill>
                  <a:srgbClr val="1D2D3E"/>
                </a:solidFill>
              </a:rPr>
              <a:t>Clientes</a:t>
            </a:r>
            <a:endParaRPr lang="pt-BR" sz="1050" dirty="0"/>
          </a:p>
        </p:txBody>
      </p:sp>
      <p:sp>
        <p:nvSpPr>
          <p:cNvPr id="10" name="Ícone customer"/>
          <p:cNvSpPr/>
          <p:nvPr/>
        </p:nvSpPr>
        <p:spPr>
          <a:xfrm>
            <a:off x="886968" y="338328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</p:sp>
      <p:pic>
        <p:nvPicPr>
          <p:cNvPr id="11" name="Imagem" descr="custom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" y="3482035"/>
            <a:ext cx="213970" cy="213970"/>
          </a:xfrm>
          <a:prstGeom prst="rect">
            <a:avLst/>
          </a:prstGeom>
        </p:spPr>
      </p:pic>
      <p:sp>
        <p:nvSpPr>
          <p:cNvPr id="12" name="Tile Estoque"/>
          <p:cNvSpPr/>
          <p:nvPr/>
        </p:nvSpPr>
        <p:spPr>
          <a:xfrm>
            <a:off x="2286000" y="2587752"/>
            <a:ext cx="1371600" cy="1371600"/>
          </a:xfrm>
          <a:prstGeom prst="roundRect">
            <a:avLst>
              <a:gd name="adj" fmla="val 8000"/>
            </a:avLst>
          </a:prstGeom>
          <a:solidFill>
            <a:srgbClr val="F5F6F7"/>
          </a:solidFill>
          <a:ln w="12700">
            <a:solidFill>
              <a:srgbClr val="E5E5E5"/>
            </a:solidFill>
          </a:ln>
        </p:spPr>
      </p:sp>
      <p:sp>
        <p:nvSpPr>
          <p:cNvPr id="13" name="Texto"/>
          <p:cNvSpPr txBox="1"/>
          <p:nvPr/>
        </p:nvSpPr>
        <p:spPr>
          <a:xfrm>
            <a:off x="2395728" y="2679192"/>
            <a:ext cx="1188720" cy="27432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050" b="1" dirty="0">
                <a:solidFill>
                  <a:srgbClr val="1D2D3E"/>
                </a:solidFill>
              </a:rPr>
              <a:t>Estoque</a:t>
            </a:r>
            <a:endParaRPr lang="pt-BR" sz="1050" dirty="0"/>
          </a:p>
        </p:txBody>
      </p:sp>
      <p:sp>
        <p:nvSpPr>
          <p:cNvPr id="14" name="Ícone product"/>
          <p:cNvSpPr/>
          <p:nvPr/>
        </p:nvSpPr>
        <p:spPr>
          <a:xfrm>
            <a:off x="2395728" y="338328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</p:sp>
      <p:pic>
        <p:nvPicPr>
          <p:cNvPr id="15" name="Imagem" descr="produc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4483" y="3482035"/>
            <a:ext cx="213970" cy="213970"/>
          </a:xfrm>
          <a:prstGeom prst="rect">
            <a:avLst/>
          </a:prstGeom>
        </p:spPr>
      </p:pic>
      <p:sp>
        <p:nvSpPr>
          <p:cNvPr id="16" name="Tile Pedidos"/>
          <p:cNvSpPr/>
          <p:nvPr/>
        </p:nvSpPr>
        <p:spPr>
          <a:xfrm>
            <a:off x="3794760" y="2587752"/>
            <a:ext cx="1371600" cy="1371600"/>
          </a:xfrm>
          <a:prstGeom prst="roundRect">
            <a:avLst>
              <a:gd name="adj" fmla="val 8000"/>
            </a:avLst>
          </a:prstGeom>
          <a:solidFill>
            <a:srgbClr val="F5F6F7"/>
          </a:solidFill>
          <a:ln w="12700">
            <a:solidFill>
              <a:srgbClr val="E5E5E5"/>
            </a:solidFill>
          </a:ln>
        </p:spPr>
      </p:sp>
      <p:sp>
        <p:nvSpPr>
          <p:cNvPr id="17" name="Texto"/>
          <p:cNvSpPr txBox="1"/>
          <p:nvPr/>
        </p:nvSpPr>
        <p:spPr>
          <a:xfrm>
            <a:off x="3904488" y="2679192"/>
            <a:ext cx="1188720" cy="27432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050" b="1" dirty="0">
                <a:solidFill>
                  <a:srgbClr val="1D2D3E"/>
                </a:solidFill>
              </a:rPr>
              <a:t>Pedidos</a:t>
            </a:r>
            <a:endParaRPr lang="pt-BR" sz="1050" dirty="0"/>
          </a:p>
        </p:txBody>
      </p:sp>
      <p:sp>
        <p:nvSpPr>
          <p:cNvPr id="18" name="Ícone sales-order"/>
          <p:cNvSpPr/>
          <p:nvPr/>
        </p:nvSpPr>
        <p:spPr>
          <a:xfrm>
            <a:off x="3904488" y="338328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</p:sp>
      <p:pic>
        <p:nvPicPr>
          <p:cNvPr id="19" name="Imagem" descr="sales-ord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3243" y="3482035"/>
            <a:ext cx="213970" cy="213970"/>
          </a:xfrm>
          <a:prstGeom prst="rect">
            <a:avLst/>
          </a:prstGeom>
        </p:spPr>
      </p:pic>
      <p:sp>
        <p:nvSpPr>
          <p:cNvPr id="20" name="Tile Reembolsos"/>
          <p:cNvSpPr/>
          <p:nvPr/>
        </p:nvSpPr>
        <p:spPr>
          <a:xfrm>
            <a:off x="5303520" y="2587752"/>
            <a:ext cx="1371600" cy="1371600"/>
          </a:xfrm>
          <a:prstGeom prst="roundRect">
            <a:avLst>
              <a:gd name="adj" fmla="val 8000"/>
            </a:avLst>
          </a:prstGeom>
          <a:solidFill>
            <a:srgbClr val="F5F6F7"/>
          </a:solidFill>
          <a:ln w="12700">
            <a:solidFill>
              <a:srgbClr val="E5E5E5"/>
            </a:solidFill>
          </a:ln>
        </p:spPr>
      </p:sp>
      <p:sp>
        <p:nvSpPr>
          <p:cNvPr id="21" name="Texto"/>
          <p:cNvSpPr txBox="1"/>
          <p:nvPr/>
        </p:nvSpPr>
        <p:spPr>
          <a:xfrm>
            <a:off x="5413248" y="2679192"/>
            <a:ext cx="1188720" cy="27432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050" b="1" dirty="0">
                <a:solidFill>
                  <a:srgbClr val="1D2D3E"/>
                </a:solidFill>
              </a:rPr>
              <a:t>Reembolsos</a:t>
            </a:r>
            <a:endParaRPr lang="pt-BR" sz="1050" dirty="0"/>
          </a:p>
        </p:txBody>
      </p:sp>
      <p:sp>
        <p:nvSpPr>
          <p:cNvPr id="22" name="Ícone money-bills"/>
          <p:cNvSpPr/>
          <p:nvPr/>
        </p:nvSpPr>
        <p:spPr>
          <a:xfrm>
            <a:off x="5413248" y="338328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</p:sp>
      <p:pic>
        <p:nvPicPr>
          <p:cNvPr id="23" name="Imagem" descr="money-bill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2003" y="3482035"/>
            <a:ext cx="213970" cy="213970"/>
          </a:xfrm>
          <a:prstGeom prst="rect">
            <a:avLst/>
          </a:prstGeom>
        </p:spPr>
      </p:pic>
      <p:sp>
        <p:nvSpPr>
          <p:cNvPr id="24" name="Texto"/>
          <p:cNvSpPr txBox="1"/>
          <p:nvPr/>
        </p:nvSpPr>
        <p:spPr>
          <a:xfrm>
            <a:off x="777240" y="4160520"/>
            <a:ext cx="2743200" cy="27432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000" b="1" spc="120" kern="0" dirty="0">
                <a:solidFill>
                  <a:srgbClr val="556B82"/>
                </a:solidFill>
              </a:rPr>
              <a:t>ANÁLISES</a:t>
            </a:r>
            <a:endParaRPr lang="pt-BR" sz="1000" dirty="0"/>
          </a:p>
        </p:txBody>
      </p:sp>
      <p:sp>
        <p:nvSpPr>
          <p:cNvPr id="25" name="Tile Pedidos"/>
          <p:cNvSpPr/>
          <p:nvPr/>
        </p:nvSpPr>
        <p:spPr>
          <a:xfrm>
            <a:off x="777240" y="4507992"/>
            <a:ext cx="1371600" cy="1371600"/>
          </a:xfrm>
          <a:prstGeom prst="roundRect">
            <a:avLst>
              <a:gd name="adj" fmla="val 8000"/>
            </a:avLst>
          </a:prstGeom>
          <a:solidFill>
            <a:srgbClr val="F5F6F7"/>
          </a:solidFill>
          <a:ln w="12700">
            <a:solidFill>
              <a:srgbClr val="E5E5E5"/>
            </a:solidFill>
          </a:ln>
        </p:spPr>
      </p:sp>
      <p:sp>
        <p:nvSpPr>
          <p:cNvPr id="26" name="Texto"/>
          <p:cNvSpPr txBox="1"/>
          <p:nvPr/>
        </p:nvSpPr>
        <p:spPr>
          <a:xfrm>
            <a:off x="886968" y="4599432"/>
            <a:ext cx="1188720" cy="27432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050" b="1" dirty="0">
                <a:solidFill>
                  <a:srgbClr val="1D2D3E"/>
                </a:solidFill>
              </a:rPr>
              <a:t>Pedidos</a:t>
            </a:r>
            <a:endParaRPr lang="pt-BR" sz="1050" dirty="0"/>
          </a:p>
        </p:txBody>
      </p:sp>
      <p:sp>
        <p:nvSpPr>
          <p:cNvPr id="27" name="Ícone bar-chart"/>
          <p:cNvSpPr/>
          <p:nvPr/>
        </p:nvSpPr>
        <p:spPr>
          <a:xfrm>
            <a:off x="886968" y="530352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</p:sp>
      <p:pic>
        <p:nvPicPr>
          <p:cNvPr id="28" name="Imagem" descr="bar-char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5723" y="5402275"/>
            <a:ext cx="213970" cy="213970"/>
          </a:xfrm>
          <a:prstGeom prst="rect">
            <a:avLst/>
          </a:prstGeom>
        </p:spPr>
      </p:pic>
      <p:sp>
        <p:nvSpPr>
          <p:cNvPr id="29" name="Tile Clientes"/>
          <p:cNvSpPr/>
          <p:nvPr/>
        </p:nvSpPr>
        <p:spPr>
          <a:xfrm>
            <a:off x="2286000" y="4507992"/>
            <a:ext cx="1371600" cy="1371600"/>
          </a:xfrm>
          <a:prstGeom prst="roundRect">
            <a:avLst>
              <a:gd name="adj" fmla="val 8000"/>
            </a:avLst>
          </a:prstGeom>
          <a:solidFill>
            <a:srgbClr val="F5F6F7"/>
          </a:solidFill>
          <a:ln w="12700">
            <a:solidFill>
              <a:srgbClr val="E5E5E5"/>
            </a:solidFill>
          </a:ln>
        </p:spPr>
      </p:sp>
      <p:sp>
        <p:nvSpPr>
          <p:cNvPr id="30" name="Texto"/>
          <p:cNvSpPr txBox="1"/>
          <p:nvPr/>
        </p:nvSpPr>
        <p:spPr>
          <a:xfrm>
            <a:off x="2395728" y="4599432"/>
            <a:ext cx="1188720" cy="27432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050" b="1" dirty="0">
                <a:solidFill>
                  <a:srgbClr val="1D2D3E"/>
                </a:solidFill>
              </a:rPr>
              <a:t>Clientes</a:t>
            </a:r>
            <a:endParaRPr lang="pt-BR" sz="1050" dirty="0"/>
          </a:p>
        </p:txBody>
      </p:sp>
      <p:sp>
        <p:nvSpPr>
          <p:cNvPr id="31" name="Ícone pie-chart"/>
          <p:cNvSpPr/>
          <p:nvPr/>
        </p:nvSpPr>
        <p:spPr>
          <a:xfrm>
            <a:off x="2395728" y="530352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</p:sp>
      <p:pic>
        <p:nvPicPr>
          <p:cNvPr id="32" name="Imagem" descr="pie-char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94483" y="5402275"/>
            <a:ext cx="213970" cy="213970"/>
          </a:xfrm>
          <a:prstGeom prst="rect">
            <a:avLst/>
          </a:prstGeom>
        </p:spPr>
      </p:pic>
      <p:sp>
        <p:nvSpPr>
          <p:cNvPr id="33" name="Tile Estoque"/>
          <p:cNvSpPr/>
          <p:nvPr/>
        </p:nvSpPr>
        <p:spPr>
          <a:xfrm>
            <a:off x="3794760" y="4507992"/>
            <a:ext cx="1371600" cy="1371600"/>
          </a:xfrm>
          <a:prstGeom prst="roundRect">
            <a:avLst>
              <a:gd name="adj" fmla="val 8000"/>
            </a:avLst>
          </a:prstGeom>
          <a:solidFill>
            <a:srgbClr val="F5F6F7"/>
          </a:solidFill>
          <a:ln w="12700">
            <a:solidFill>
              <a:srgbClr val="E5E5E5"/>
            </a:solidFill>
          </a:ln>
        </p:spPr>
      </p:sp>
      <p:sp>
        <p:nvSpPr>
          <p:cNvPr id="34" name="Texto"/>
          <p:cNvSpPr txBox="1"/>
          <p:nvPr/>
        </p:nvSpPr>
        <p:spPr>
          <a:xfrm>
            <a:off x="3904488" y="4599432"/>
            <a:ext cx="1188720" cy="27432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050" b="1" dirty="0">
                <a:solidFill>
                  <a:srgbClr val="1D2D3E"/>
                </a:solidFill>
              </a:rPr>
              <a:t>Estoque</a:t>
            </a:r>
            <a:endParaRPr lang="pt-BR" sz="1050" dirty="0"/>
          </a:p>
        </p:txBody>
      </p:sp>
      <p:sp>
        <p:nvSpPr>
          <p:cNvPr id="35" name="Ícone line-chart"/>
          <p:cNvSpPr/>
          <p:nvPr/>
        </p:nvSpPr>
        <p:spPr>
          <a:xfrm>
            <a:off x="3904488" y="530352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</p:sp>
      <p:pic>
        <p:nvPicPr>
          <p:cNvPr id="36" name="Imagem" descr="line-char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03243" y="5402275"/>
            <a:ext cx="213970" cy="213970"/>
          </a:xfrm>
          <a:prstGeom prst="rect">
            <a:avLst/>
          </a:prstGeom>
        </p:spPr>
      </p:pic>
      <p:sp>
        <p:nvSpPr>
          <p:cNvPr id="37" name="Tile Reembolsos"/>
          <p:cNvSpPr/>
          <p:nvPr/>
        </p:nvSpPr>
        <p:spPr>
          <a:xfrm>
            <a:off x="5303520" y="4507992"/>
            <a:ext cx="1371600" cy="1371600"/>
          </a:xfrm>
          <a:prstGeom prst="roundRect">
            <a:avLst>
              <a:gd name="adj" fmla="val 8000"/>
            </a:avLst>
          </a:prstGeom>
          <a:solidFill>
            <a:srgbClr val="F5F6F7"/>
          </a:solidFill>
          <a:ln w="12700">
            <a:solidFill>
              <a:srgbClr val="E5E5E5"/>
            </a:solidFill>
          </a:ln>
        </p:spPr>
      </p:sp>
      <p:sp>
        <p:nvSpPr>
          <p:cNvPr id="38" name="Texto"/>
          <p:cNvSpPr txBox="1"/>
          <p:nvPr/>
        </p:nvSpPr>
        <p:spPr>
          <a:xfrm>
            <a:off x="5413248" y="4599432"/>
            <a:ext cx="1188720" cy="27432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050" b="1" dirty="0">
                <a:solidFill>
                  <a:srgbClr val="1D2D3E"/>
                </a:solidFill>
              </a:rPr>
              <a:t>Reembolsos</a:t>
            </a:r>
            <a:endParaRPr lang="pt-BR" sz="1050" dirty="0"/>
          </a:p>
        </p:txBody>
      </p:sp>
      <p:sp>
        <p:nvSpPr>
          <p:cNvPr id="39" name="Ícone horizontal-bar-chart"/>
          <p:cNvSpPr/>
          <p:nvPr/>
        </p:nvSpPr>
        <p:spPr>
          <a:xfrm>
            <a:off x="5413248" y="5303520"/>
            <a:ext cx="411480" cy="4114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</p:sp>
      <p:pic>
        <p:nvPicPr>
          <p:cNvPr id="40" name="Imagem" descr="horizontal-bar-chart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12003" y="5402275"/>
            <a:ext cx="213970" cy="213970"/>
          </a:xfrm>
          <a:prstGeom prst="rect">
            <a:avLst/>
          </a:prstGeom>
        </p:spPr>
      </p:pic>
      <p:sp>
        <p:nvSpPr>
          <p:cNvPr id="41" name="Cartão"/>
          <p:cNvSpPr/>
          <p:nvPr/>
        </p:nvSpPr>
        <p:spPr>
          <a:xfrm>
            <a:off x="7178040" y="1645920"/>
            <a:ext cx="4462272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42" name="Ícone role"/>
          <p:cNvSpPr/>
          <p:nvPr/>
        </p:nvSpPr>
        <p:spPr>
          <a:xfrm>
            <a:off x="7388352" y="184708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>
            <a:noFill/>
          </a:ln>
        </p:spPr>
      </p:sp>
      <p:pic>
        <p:nvPicPr>
          <p:cNvPr id="43" name="Imagem" descr="rol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98080" y="1956816"/>
            <a:ext cx="237744" cy="237744"/>
          </a:xfrm>
          <a:prstGeom prst="rect">
            <a:avLst/>
          </a:prstGeom>
        </p:spPr>
      </p:pic>
      <p:sp>
        <p:nvSpPr>
          <p:cNvPr id="44" name="Texto"/>
          <p:cNvSpPr txBox="1"/>
          <p:nvPr/>
        </p:nvSpPr>
        <p:spPr>
          <a:xfrm>
            <a:off x="7982712" y="1847088"/>
            <a:ext cx="3474720" cy="45720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40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Z_PC_ADMIN</a:t>
            </a:r>
            <a:endParaRPr lang="pt-BR" sz="1400" dirty="0"/>
          </a:p>
        </p:txBody>
      </p:sp>
      <p:sp>
        <p:nvSpPr>
          <p:cNvPr id="45" name="Texto"/>
          <p:cNvSpPr txBox="1"/>
          <p:nvPr/>
        </p:nvSpPr>
        <p:spPr>
          <a:xfrm>
            <a:off x="7388352" y="2395728"/>
            <a:ext cx="4069080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100" b="1" dirty="0">
                <a:solidFill>
                  <a:srgbClr val="0070F2"/>
                </a:solidFill>
              </a:rPr>
              <a:t>Oito tiles: as quatro gestões e as quatro análises</a:t>
            </a:r>
            <a:endParaRPr lang="pt-BR" sz="1100" dirty="0"/>
          </a:p>
        </p:txBody>
      </p:sp>
      <p:sp>
        <p:nvSpPr>
          <p:cNvPr id="46" name="Texto"/>
          <p:cNvSpPr txBox="1"/>
          <p:nvPr/>
        </p:nvSpPr>
        <p:spPr>
          <a:xfrm>
            <a:off x="7388352" y="2761488"/>
            <a:ext cx="4069080" cy="91440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t-BR" sz="1100" dirty="0">
                <a:solidFill>
                  <a:srgbClr val="556B82"/>
                </a:solidFill>
              </a:rPr>
              <a:t>• Catálogos de negócio e o espaço</a:t>
            </a:r>
            <a:endParaRPr lang="pt-BR" sz="1100" dirty="0"/>
          </a:p>
          <a:p>
            <a:pPr algn="l" indent="0" marL="0">
              <a:buNone/>
            </a:pPr>
            <a:r>
              <a:rPr lang="pt-BR" sz="1100" dirty="0">
                <a:solidFill>
                  <a:srgbClr val="556B82"/>
                </a:solidFill>
              </a:rPr>
              <a:t>• S_START dos grupos de serviços</a:t>
            </a:r>
            <a:endParaRPr lang="pt-BR" sz="1100" dirty="0"/>
          </a:p>
          <a:p>
            <a:pPr algn="l" indent="0" marL="0">
              <a:buNone/>
            </a:pPr>
            <a:r>
              <a:rPr lang="pt-BR" sz="1100" dirty="0">
                <a:solidFill>
                  <a:srgbClr val="556B82"/>
                </a:solidFill>
              </a:rPr>
              <a:t>• ZPC_ADMIN e ZPC_PEDIDO</a:t>
            </a:r>
            <a:endParaRPr lang="pt-BR" sz="1100" dirty="0"/>
          </a:p>
        </p:txBody>
      </p:sp>
      <p:sp>
        <p:nvSpPr>
          <p:cNvPr id="47" name="Cartão"/>
          <p:cNvSpPr/>
          <p:nvPr/>
        </p:nvSpPr>
        <p:spPr>
          <a:xfrm>
            <a:off x="7178040" y="3977640"/>
            <a:ext cx="4462272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01600" dist="25400" dir="5400000">
              <a:srgbClr val="223548">
                <a:alpha val="16000"/>
              </a:srgbClr>
            </a:outerShdw>
          </a:effectLst>
        </p:spPr>
      </p:sp>
      <p:sp>
        <p:nvSpPr>
          <p:cNvPr id="48" name="Ícone role"/>
          <p:cNvSpPr/>
          <p:nvPr/>
        </p:nvSpPr>
        <p:spPr>
          <a:xfrm>
            <a:off x="7388352" y="417880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5FAE5"/>
          </a:solidFill>
          <a:ln>
            <a:noFill/>
          </a:ln>
        </p:spPr>
      </p:sp>
      <p:pic>
        <p:nvPicPr>
          <p:cNvPr id="49" name="Imagem" descr="rol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98080" y="4288536"/>
            <a:ext cx="237744" cy="237744"/>
          </a:xfrm>
          <a:prstGeom prst="rect">
            <a:avLst/>
          </a:prstGeom>
        </p:spPr>
      </p:pic>
      <p:sp>
        <p:nvSpPr>
          <p:cNvPr id="50" name="Texto"/>
          <p:cNvSpPr txBox="1"/>
          <p:nvPr/>
        </p:nvSpPr>
        <p:spPr>
          <a:xfrm>
            <a:off x="7982712" y="4178808"/>
            <a:ext cx="3474720" cy="45720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40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Z_PC_COMUM</a:t>
            </a:r>
            <a:endParaRPr lang="pt-BR" sz="1400" dirty="0"/>
          </a:p>
        </p:txBody>
      </p:sp>
      <p:sp>
        <p:nvSpPr>
          <p:cNvPr id="51" name="Texto"/>
          <p:cNvSpPr txBox="1"/>
          <p:nvPr/>
        </p:nvSpPr>
        <p:spPr>
          <a:xfrm>
            <a:off x="7388352" y="4727448"/>
            <a:ext cx="4069080" cy="32004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pt-BR" sz="1100" b="1" dirty="0">
                <a:solidFill>
                  <a:srgbClr val="256F3A"/>
                </a:solidFill>
              </a:rPr>
              <a:t>Pedidos, Reembolsos e as análises</a:t>
            </a:r>
            <a:endParaRPr lang="pt-BR" sz="1100" dirty="0"/>
          </a:p>
        </p:txBody>
      </p:sp>
      <p:sp>
        <p:nvSpPr>
          <p:cNvPr id="52" name="Texto"/>
          <p:cNvSpPr txBox="1"/>
          <p:nvPr/>
        </p:nvSpPr>
        <p:spPr>
          <a:xfrm>
            <a:off x="7388352" y="5093208"/>
            <a:ext cx="4069080" cy="91440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pt-BR" sz="1100" dirty="0">
                <a:solidFill>
                  <a:srgbClr val="556B82"/>
                </a:solidFill>
              </a:rPr>
              <a:t>• Catálogos de pedidos e reembolsos</a:t>
            </a:r>
            <a:endParaRPr lang="pt-BR" sz="1100" dirty="0"/>
          </a:p>
          <a:p>
            <a:pPr algn="l" indent="0" marL="0">
              <a:buNone/>
            </a:pPr>
            <a:r>
              <a:rPr lang="pt-BR" sz="1100" dirty="0">
                <a:solidFill>
                  <a:srgbClr val="556B82"/>
                </a:solidFill>
              </a:rPr>
              <a:t>• S_START dos serviços usados</a:t>
            </a:r>
            <a:endParaRPr lang="pt-BR" sz="1100" dirty="0"/>
          </a:p>
          <a:p>
            <a:pPr algn="l" indent="0" marL="0">
              <a:buNone/>
            </a:pPr>
            <a:r>
              <a:rPr lang="pt-BR" sz="1100" dirty="0">
                <a:solidFill>
                  <a:srgbClr val="556B82"/>
                </a:solidFill>
              </a:rPr>
              <a:t>• ZPC_PEDIDO</a:t>
            </a:r>
            <a:endParaRPr lang="pt-BR" sz="1100" dirty="0"/>
          </a:p>
        </p:txBody>
      </p:sp>
      <p:sp>
        <p:nvSpPr>
          <p:cNvPr id="5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P Horizon - Pedidos de Compras">
  <a:themeElements>
    <a:clrScheme name="SAP Horizon - Pedidos de Compras">
      <a:dk1>
        <a:srgbClr val="1D2D3E"/>
      </a:dk1>
      <a:lt1>
        <a:srgbClr val="FFFFFF"/>
      </a:lt1>
      <a:dk2>
        <a:srgbClr val="00144A"/>
      </a:dk2>
      <a:lt2>
        <a:srgbClr val="F5F6F7"/>
      </a:lt2>
      <a:accent1>
        <a:srgbClr val="0070F2"/>
      </a:accent1>
      <a:accent2>
        <a:srgbClr val="049F9A"/>
      </a:accent2>
      <a:accent3>
        <a:srgbClr val="8B47D7"/>
      </a:accent3>
      <a:accent4>
        <a:srgbClr val="C87B00"/>
      </a:accent4>
      <a:accent5>
        <a:srgbClr val="DF1278"/>
      </a:accent5>
      <a:accent6>
        <a:srgbClr val="256F3A"/>
      </a:accent6>
      <a:hlink>
        <a:srgbClr val="0064D9"/>
      </a:hlink>
      <a:folHlink>
        <a:srgbClr val="8B47D7"/>
      </a:folHlink>
    </a:clrScheme>
    <a:fontScheme name="SAP Horizon - Pedidos de Compra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Pedidos de Compras - SAP RAP / ABAP Cloud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Etapa 5 - Apps Fiori</dc:title>
  <dc:subject>Pedidos de Compras no SAP BTP ABAP Environment</dc:subject>
  <dc:creator>Adriano Bispo</dc:creator>
  <cp:lastModifiedBy>Adriano Bispo</cp:lastModifiedBy>
  <cp:revision>1</cp:revision>
  <dcterms:created xsi:type="dcterms:W3CDTF">2026-10-20T11:27:23Z</dcterms:created>
  <dcterms:modified xsi:type="dcterms:W3CDTF">2026-10-20T11:27:23Z</dcterms:modified>
</cp:coreProperties>
</file>