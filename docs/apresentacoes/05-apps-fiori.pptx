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7" r:id="rId38"/>
    <p:sldId id="278" r:id="rId24"/>
    <p:sldId id="288" r:id="rId39"/>
    <p:sldId id="289" r:id="rId40"/>
    <p:sldId id="290" r:id="rId41"/>
    <p:sldId id="291" r:id="rId42"/>
    <p:sldId id="279" r:id="rId25"/>
    <p:sldId id="292" r:id="rId43"/>
    <p:sldId id="280" r:id="rId26"/>
    <p:sldId id="293" r:id="rId44"/>
    <p:sldId id="283" r:id="rId34"/>
    <p:sldId id="284" r:id="rId35"/>
    <p:sldId id="285" r:id="rId36"/>
    <p:sldId id="286" r:id="rId37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fc9494d-ac92-be99-24aa-31f880c459ad}">
          <p14:sldIdLst>
            <p14:sldId id="256"/>
            <p14:sldId id="257"/>
          </p14:sldIdLst>
        </p14:section>
        <p14:section name="Base comum" id="{6582e595-f51c-f089-9d2e-17c87e50de8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ientes" id="{17c731ef-c438-0300-3a95-707373ecb97a}">
          <p14:sldIdLst>
            <p14:sldId id="264"/>
            <p14:sldId id="265"/>
            <p14:sldId id="266"/>
          </p14:sldIdLst>
        </p14:section>
        <p14:section name="Estoque" id="{9fb63332-425c-c4a1-f924-4f54f21916e2}">
          <p14:sldIdLst>
            <p14:sldId id="267"/>
            <p14:sldId id="268"/>
            <p14:sldId id="269"/>
          </p14:sldIdLst>
        </p14:section>
        <p14:section name="Pedidos" id="{0d44c27f-d75d-5d3d-9c8b-f7b275d14dfe}">
          <p14:sldIdLst>
            <p14:sldId id="270"/>
            <p14:sldId id="271"/>
            <p14:sldId id="272"/>
            <p14:sldId id="273"/>
            <p14:sldId id="274"/>
          </p14:sldIdLst>
        </p14:section>
        <p14:section name="Reembolsos" id="{d40608c0-c060-f75b-9f88-ce15193eb7b6}">
          <p14:sldIdLst>
            <p14:sldId id="275"/>
            <p14:sldId id="276"/>
            <p14:sldId id="277"/>
          </p14:sldIdLst>
        </p14:section>
        <p14:section name="Qualidade e deploy" id="{29bec76d-974a-81d3-0624-4194ec096bdd}">
          <p14:sldIdLst>
            <p14:sldId id="278"/>
            <p14:sldId id="279"/>
            <p14:sldId id="280"/>
          </p14:sldIdLst>
        </p14:section>
        <p14:section name="Encerramento" id="{b86ea19e-4982-8773-f6b1-aa4a68c302c3}">
          <p14:sldIdLst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<Relationship Id="rId37" Type="http://schemas.openxmlformats.org/officeDocument/2006/relationships/slide" Target="slides/slide31.xml"/>
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 etapa. Depois da base comum (geração, estrutura, motor das análises, navegação e launchpad), cada seção mostra a app de gestão e a app de análise de um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gestão são Fiori Elements V4 (List Report + Object Page), quase sem código: a UI vem das anotações do backend. As quatro de análise são SAPUI5 freestyle, com gráficos sap.viz sobre o serviço analítico.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Application Generator do SAP Fiori tools (VS Code ou Business Application Studio) lê o metadata do serviço e monta o projeto. A partir daí, o manifest (descriptor v2) define o serviço, as rotas List Report → Object Page e o inbound do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em ui5/apps-list-reports/ e ui5/apps-analiticos/ tem package.json, node_modules e configuração próprios. O ui5.yaml sobe o servidor local com proxy para o sistema ABAP (no BTP, login por reentranceTicket); o ui5-mock.yaml usa o metadata salvo em localService para rodar sem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campos marcados com @Consumption.semanticObject viram smart links. A app de destino abre direto a Object Page ao receber a chave técnica ou a semântica (CPF, SKU, número do pedido). No reembolso, o pedido é um link direto (WITH_INTENT_BASED_NAVIGATION).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análise têm o mesmo motor e mudam só o catálogo. Scenarios.js descreve medidas, dimensões, filtros, KPIs e os cinco cenários; o AnalyticsService transforma cada consulta num ODataListBinding com $$aggregation, que o modelo OData V4 converte em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ui5/launchpad sobe o sandbox sap.ushell com os oito tiles nos grupos Gestão e Análises, abrindo as apps direto do webapp de cada uma, sem build. Os intents são os mesmos dos inbounds dos manifests, então a navegação entre apps funciona como no launchpad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foto, CPF formatado, cidade e UF do endereço principal. A Object Page traz o score no header, os dados do cliente e a tabela de endereços, que abre uma sub-página.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ClienteAnalise. A faixa de score (BAIXO, MEDIO, ALTO) é uma dimensão calculada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SKU, categoria, quantidades e status colorido pela CodeList. A Object Page agrupa dados do item, estoque e dados administrativos.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ItemAnalise, incluindo os dez itens mais reservados e o valor em estoque (preço × quantidade) calculado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Nada nesta tela foi programado no front-end: filtros vêm de selectionField, colunas de lineItem, as cores de criticality, e o menu Ações de FOR_ACTION_GROUP. O botão Importar planilha é a action estática ImportarPlanilha.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com status, pagamento e total (dataPoint). Dados do Cliente e Itens leem as tabelas vivas enquanto o pedido está ativo e os snapshots depois de encerrado. Finalização e Cancelamento só aparecem quando fazem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 app de pedidos tem ajustes além do gerado: a tabela de itens cria linhas na própria tabela (creationMode Inline) e um annotation.xml local repete o mapeamento CpfCliente → Cpf para a navegação até a app de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PedidoAnalise. Clicar no título de um card abre o detalhe, com troca do tipo de gráfico e tabela de valores, percentual 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própria sem criar, editar ou excluir. Aprovar e Rejeitar só ficam ativos com a solicitação PENDENTE; rejeitar exige motivo. O número do pedido abre direto a Object Page na app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ReembolsoAnalise, inclusive o ranking por motivo da solicitação.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apps de gestão passam no ESLint, no ui5 build e no UI5 linter sem achados; as análises têm uma suíte QUnit que cobre o catálogo (Scenarios) e as consultas $apply (AnalyticsQuery) de cada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deploy-to-abap do ui5-deploy.yaml cria ou atualiza a aplicação BSP e o IAM App do tile (sufixo _UI5R) no pacote do domínio. No trial, os pacotes do ZLOCAL não usam transporte. Depois, o IAM App do tile entra no Business Catalog do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Maintain Business Roles e Manage Launchpad Spaces no ABAP trial, os tiles vão para o SAP Build Work Zone, standard edition, como tiles do tipo URL que abrem a BSP de cada app. Publicar no Cloud Foundry foi testado e descartado: o ABAP trial não aceita o usuário que o Work Zone recebe do 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 as cinco etapas como um único fluxo. Cada uma tem seu deck para aprofundar.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série. Do modelo de dados às apps publicadas, com o mesmo código RAP no SAP BTP, ABAP environment ou num SAP S/4HANA On-Premise.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quem estuda num SAP S/4HANA On-Premise: as mesmas oito apps, sem mudar código. Muda o destino do deploy, que exige ordem de transporte, e o caminho até o usuário: catálogo e espaço do SAP Fiori launchpad e roles PFCG, no lugar de IAM Apps, Business Catalogs e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Versão de deploy no On-Premise: os manifests pedem SAPUI5 1.136 ou superior (minUI5Version 1.136.7 nas apps de gestão e 1.136.0 nas análises). No sistema de referência, SAP S/4HANA 2025 FPS01 com ABAP Platform 2025, o front-end server 2025 embarcado (SAP_UI 816) entrega o SAPUI5 1.136; confira em Sobre, no launchpad. O deploy usa o serviço /UI5/ABAP_REPOSITORY_SRV, grava só a BSP (não há IAM App) e exige uma ordem Workbench. Usuário e senha vêm de variáveis de ambiente, nunca do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 o launchpad é o do próprio sistema, então a navegação entre apps funciona como no launchpad local. Em /UI2/FLPAM cria-se o catálogo técnico com um tile e um target mapping por app; em /UI2/FLPCM_CUST, os catálogos de negócio, o espaço e a página. O catálogo e o espaço entram no menu das roles PFCG, junto com os grupos de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camadas decidem o que o usuário vê: o catálogo e o espaço na role (o tile aparece), o S_START do grupo de serviços (o OData responde) e os objetos ZPC_ADMIN e ZPC_PEDIDO (os botões e ações ficam habilitados). As análises usam o serviço ZUI_PC_ANALITICO_O4; a leitura só exige a atividade 03 se a DCL opcional for ativada (abap/README.md, seção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publicar, cada app passa por lint, build e testes na máquina de quem vai fazer o deploy. Esta seção mostra os comandos, o que cada um evita e de quem é a responsabilidade.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comando pega uma classe de erro mais cedo e mais barato do que no sistema. O npm run deploy já roda o build, mas um erro de build no meio do deploy se mistura com erros de conexão, pacote e transporte; rodando antes, cada problema aparece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há pipeline de CI no repositório: a sequência é manual e é responsabilidade de quem publica. Qualquer falha interrompe a sequência; corrija e recomece pelo lint. No BTP trial a versão publicada vale na hora para todos; no On-Premise a ordem de transporte leva o mesmo código para QAS e PRD.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quem estuda no SAP BTP, ABAP environment: o deploy grava a BSP e o IAM App do tile no ABAP Repository; o acesso passa por Business Catalogs e Business Roles e, no trial, pelo SAP Build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configuração de deploy pode vir do Application Generator ou ser acrescentada depois com npx fiori add deploy-config abap. No BTP o login é por reentranceTicket: o navegador abre o login do SAP ID e nenhuma senha fica no arquivo. O inbound do manifest vira o IAM App do tile (sufixo _UI5R).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IAM Apps por domínio chegam ao mesmo Business Catalog: o do serviço (ZPC_IAM_*, criado no ADT, com o serviço OData e os objetos de autorização) e o do tile (ZPC_*_UI5R, criado pelo deploy). As Business Roles agrupam os catálogos. No trial não há Maintain Business Roles nem Manage Launchpad Spaces, por isso c_modo_trial fica abap_true e o acesso segue pelo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Site Manager do SAP Build Work Zone, standard edition, cada app vira um tile do tipo URL que abre a BSP numa nova aba, com um intent próprio. As oito apps vão para um grupo e para o role Everyone. Cada app funciona isolada: a navegação entre apps depende do shell do launchpad.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5 de 5 — Apps Fiori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100" Type="http://schemas.openxmlformats.org/officeDocument/2006/relationships/image" Target="../media/cap-27-rId100.png"/><Relationship Id="rId101" Type="http://schemas.openxmlformats.org/officeDocument/2006/relationships/image" Target="../media/cap-27-rId101.png"/><Relationship Id="rId102" Type="http://schemas.openxmlformats.org/officeDocument/2006/relationships/image" Target="../media/cap-27-rId102.png"/><Relationship Id="rId103" Type="http://schemas.openxmlformats.org/officeDocument/2006/relationships/image" Target="../media/cap-27-rId103.png"/><Relationship Id="rId104" Type="http://schemas.openxmlformats.org/officeDocument/2006/relationships/image" Target="../media/cap-27-rId104.png"/><Relationship Id="rId105" Type="http://schemas.openxmlformats.org/officeDocument/2006/relationships/image" Target="../media/cap-27-rId105.png"/><Relationship Id="rId106" Type="http://schemas.openxmlformats.org/officeDocument/2006/relationships/image" Target="../media/cap-27-rId10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onprem-role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4db1ff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0070f2.png"/><Relationship Id="rId2" Type="http://schemas.openxmlformats.org/officeDocument/2006/relationships/image" Target="../media/icon-sap-box-049f9a.png"/><Relationship Id="rId3" Type="http://schemas.openxmlformats.org/officeDocument/2006/relationships/image" Target="../media/icon-validate-256f3a.png"/><Relationship Id="rId4" Type="http://schemas.openxmlformats.org/officeDocument/2006/relationships/image" Target="../media/icon-e-learning-8b47d7.png"/><Relationship Id="rId5" Type="http://schemas.openxmlformats.org/officeDocument/2006/relationships/image" Target="../media/icon-syntax-c87b00.png"/><Relationship Id="rId6" Type="http://schemas.openxmlformats.org/officeDocument/2006/relationships/image" Target="../media/icon-upload-to-cloud-df1278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0070f2.png"/><Relationship Id="rId2" Type="http://schemas.openxmlformats.org/officeDocument/2006/relationships/image" Target="../media/icon-validate-256f3a.png"/><Relationship Id="rId3" Type="http://schemas.openxmlformats.org/officeDocument/2006/relationships/image" Target="../media/icon-syntax-c87b00.png"/><Relationship Id="rId4" Type="http://schemas.openxmlformats.org/officeDocument/2006/relationships/image" Target="../media/icon-sap-box-049f9a.png"/><Relationship Id="rId5" Type="http://schemas.openxmlformats.org/officeDocument/2006/relationships/image" Target="../media/icon-upload-to-cloud-df1278.png"/><Relationship Id="rId6" Type="http://schemas.openxmlformats.org/officeDocument/2006/relationships/image" Target="../media/icon-upload-to-cloud-0070f2.png"/><Relationship Id="rId7" Type="http://schemas.openxmlformats.org/officeDocument/2006/relationships/image" Target="../media/icon-alert-aa0808.png"/><Relationship Id="rId8" Type="http://schemas.openxmlformats.org/officeDocument/2006/relationships/image" Target="../media/icon-person-placeholder-0070f2.png"/><Relationship Id="rId9" Type="http://schemas.openxmlformats.org/officeDocument/2006/relationships/image" Target="../media/icon-list-049f9a.png"/><Relationship Id="rId10" Type="http://schemas.openxmlformats.org/officeDocument/2006/relationships/image" Target="../media/icon-it-system-8b47d7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image" Target="../media/icon-cloud-4db1ff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image" Target="../media/icon-validate-256f3a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image" Target="../media/icon-key-8b47d7.png"/><Relationship Id="rId2" Type="http://schemas.openxmlformats.org/officeDocument/2006/relationships/image" Target="../media/icon-sap-box-049f9a.png"/><Relationship Id="rId3" Type="http://schemas.openxmlformats.org/officeDocument/2006/relationships/image" Target="../media/icon-list-0070f2.png"/><Relationship Id="rId4" Type="http://schemas.openxmlformats.org/officeDocument/2006/relationships/image" Target="../media/icon-role-c87b00.png"/><Relationship Id="rId5" Type="http://schemas.openxmlformats.org/officeDocument/2006/relationships/image" Target="../media/icon-home-256f3a.png"/><Relationship Id="rId6" Type="http://schemas.openxmlformats.org/officeDocument/2006/relationships/image" Target="../media/icon-alert-c87b00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image" Target="../media/icon-world-256f3a.png"/><Relationship Id="rId2" Type="http://schemas.openxmlformats.org/officeDocument/2006/relationships/image" Target="../media/icon-add-document-0070f2.png"/><Relationship Id="rId3" Type="http://schemas.openxmlformats.org/officeDocument/2006/relationships/image" Target="../media/icon-chain-link-8b47d7.png"/><Relationship Id="rId4" Type="http://schemas.openxmlformats.org/officeDocument/2006/relationships/image" Target="../media/icon-home-c87b00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05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Fiori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Quatro apps Fiori Elements e quatro apps de análise SAPUI5, domínio por domínio, até o launchpad e o deploy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Apps Fiori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5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PORTFÓLIO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Oito apps, dois estilos de construção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Gestão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Fiori Elements V4 · List Report + Object Page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146" y="22585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950" dirty="0"/>
          </a:p>
        </p:txBody>
      </p:sp>
      <p:sp>
        <p:nvSpPr>
          <p:cNvPr id="11" name="Cartão"/>
          <p:cNvSpPr/>
          <p:nvPr/>
        </p:nvSpPr>
        <p:spPr>
          <a:xfrm>
            <a:off x="3379394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607994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pic>
        <p:nvPicPr>
          <p:cNvPr id="13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900" y="225856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07994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607994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950" dirty="0"/>
          </a:p>
        </p:txBody>
      </p:sp>
      <p:sp>
        <p:nvSpPr>
          <p:cNvPr id="16" name="Cartão"/>
          <p:cNvSpPr/>
          <p:nvPr/>
        </p:nvSpPr>
        <p:spPr>
          <a:xfrm>
            <a:off x="6210148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438748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pic>
        <p:nvPicPr>
          <p:cNvPr id="18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9653" y="2258568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38748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6438748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950" dirty="0"/>
          </a:p>
        </p:txBody>
      </p:sp>
      <p:sp>
        <p:nvSpPr>
          <p:cNvPr id="21" name="Cartão"/>
          <p:cNvSpPr/>
          <p:nvPr/>
        </p:nvSpPr>
        <p:spPr>
          <a:xfrm>
            <a:off x="9040901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9269501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pic>
        <p:nvPicPr>
          <p:cNvPr id="23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0407" y="2258568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69501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9269501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95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3931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Análises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SAPUI5 freestyle · sap.viz · OData V4 $apply</a:t>
            </a:r>
            <a:endParaRPr lang="en-US" sz="1600" dirty="0"/>
          </a:p>
        </p:txBody>
      </p:sp>
      <p:sp>
        <p:nvSpPr>
          <p:cNvPr id="27" name="Cartão"/>
          <p:cNvSpPr/>
          <p:nvPr/>
        </p:nvSpPr>
        <p:spPr>
          <a:xfrm>
            <a:off x="548640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777240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Pedidos</a:t>
            </a:r>
            <a:endParaRPr lang="en-US" sz="1400" dirty="0"/>
          </a:p>
        </p:txBody>
      </p:sp>
      <p:pic>
        <p:nvPicPr>
          <p:cNvPr id="29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146" y="4590288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77240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950" dirty="0"/>
          </a:p>
        </p:txBody>
      </p:sp>
      <p:sp>
        <p:nvSpPr>
          <p:cNvPr id="31" name="Text 23"/>
          <p:cNvSpPr txBox="1"/>
          <p:nvPr/>
        </p:nvSpPr>
        <p:spPr>
          <a:xfrm>
            <a:off x="777240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ZPCAnalisePedido-display</a:t>
            </a:r>
            <a:endParaRPr lang="en-US" sz="950" dirty="0"/>
          </a:p>
        </p:txBody>
      </p:sp>
      <p:sp>
        <p:nvSpPr>
          <p:cNvPr id="32" name="Cartão"/>
          <p:cNvSpPr/>
          <p:nvPr/>
        </p:nvSpPr>
        <p:spPr>
          <a:xfrm>
            <a:off x="3379394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3607994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Clientes</a:t>
            </a:r>
            <a:endParaRPr lang="en-US" sz="1400" dirty="0"/>
          </a:p>
        </p:txBody>
      </p:sp>
      <p:pic>
        <p:nvPicPr>
          <p:cNvPr id="34" name="Image 5" descr="pie-cha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900" y="4590288"/>
            <a:ext cx="384048" cy="3840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607994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950" dirty="0"/>
          </a:p>
        </p:txBody>
      </p:sp>
      <p:sp>
        <p:nvSpPr>
          <p:cNvPr id="36" name="Text 27"/>
          <p:cNvSpPr txBox="1"/>
          <p:nvPr/>
        </p:nvSpPr>
        <p:spPr>
          <a:xfrm>
            <a:off x="3607994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ZPCAnaliseCliente-display</a:t>
            </a:r>
            <a:endParaRPr lang="en-US" sz="950" dirty="0"/>
          </a:p>
        </p:txBody>
      </p:sp>
      <p:sp>
        <p:nvSpPr>
          <p:cNvPr id="37" name="Cartão"/>
          <p:cNvSpPr/>
          <p:nvPr/>
        </p:nvSpPr>
        <p:spPr>
          <a:xfrm>
            <a:off x="6210148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6438748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Itens do Estoque</a:t>
            </a:r>
            <a:endParaRPr lang="en-US" sz="1400" dirty="0"/>
          </a:p>
        </p:txBody>
      </p:sp>
      <p:pic>
        <p:nvPicPr>
          <p:cNvPr id="39" name="Image 6" descr="line-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9653" y="4590288"/>
            <a:ext cx="384048" cy="38404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438748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950" dirty="0"/>
          </a:p>
        </p:txBody>
      </p:sp>
      <p:sp>
        <p:nvSpPr>
          <p:cNvPr id="41" name="Text 31"/>
          <p:cNvSpPr txBox="1"/>
          <p:nvPr/>
        </p:nvSpPr>
        <p:spPr>
          <a:xfrm>
            <a:off x="6438748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ZPCAnaliseItemEstoque-display</a:t>
            </a:r>
            <a:endParaRPr lang="en-US" sz="950" dirty="0"/>
          </a:p>
        </p:txBody>
      </p:sp>
      <p:sp>
        <p:nvSpPr>
          <p:cNvPr id="42" name="Cartão"/>
          <p:cNvSpPr/>
          <p:nvPr/>
        </p:nvSpPr>
        <p:spPr>
          <a:xfrm>
            <a:off x="9040901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9269501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Reembolsos</a:t>
            </a:r>
            <a:endParaRPr lang="en-US" sz="1400" dirty="0"/>
          </a:p>
        </p:txBody>
      </p:sp>
      <p:pic>
        <p:nvPicPr>
          <p:cNvPr id="44" name="Image 7" descr="horizontal-bar-char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30407" y="4590288"/>
            <a:ext cx="384048" cy="384048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269501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950" dirty="0"/>
          </a:p>
        </p:txBody>
      </p:sp>
      <p:sp>
        <p:nvSpPr>
          <p:cNvPr id="46" name="Text 35"/>
          <p:cNvSpPr txBox="1"/>
          <p:nvPr/>
        </p:nvSpPr>
        <p:spPr>
          <a:xfrm>
            <a:off x="9269501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ZPCAnaliseReembolso-display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BASE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 que todas as apps compartilham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Geração com SAP Fiori tools, estrutura de projeto, servidor local com proxy, navegação por semantic objects, o motor das análises e o launchpad local.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ui5/apps-*/&lt;app&gt;/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projeto isolado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descriptor v2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proxy /sap → ABAP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 · service/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motor das análises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sandbox sap.ushell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deploy-to-abap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SAP FIORI TOOLS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 a app a partir do serviço publicado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484632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69264" y="2249424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7160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Template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1031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List Report Page (OData V4)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69264" y="3099816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2679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Data source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9535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Conectar ao sistema ABAP e escolher ZUI_PC_PEDIDOS_COMPRAS_O4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69264" y="3950208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71600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Entidades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80390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Main entity Pedido; navegação para Itens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4398264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9264" y="4800600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71600" y="4379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Projeto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542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Nome, namespace, pasta ui5/apps-list-reports/pedidos-compras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77240" y="5248656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5230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Deploy e FLP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371600" y="55046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ui5-deploy.yaml (BSP ZPC_PEDIDOS) e inbound do tile</a:t>
            </a:r>
            <a:endParaRPr lang="en-US" sz="1150" dirty="0"/>
          </a:p>
        </p:txBody>
      </p:sp>
      <p:sp>
        <p:nvSpPr>
          <p:cNvPr id="25" name="Editor"/>
          <p:cNvSpPr/>
          <p:nvPr/>
        </p:nvSpPr>
        <p:spPr>
          <a:xfrm>
            <a:off x="5623560" y="1645920"/>
            <a:ext cx="60194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Área do editor"/>
          <p:cNvSpPr/>
          <p:nvPr/>
        </p:nvSpPr>
        <p:spPr>
          <a:xfrm>
            <a:off x="5623560" y="1993392"/>
            <a:ext cx="60194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27" name="Shape 24"/>
          <p:cNvSpPr/>
          <p:nvPr/>
        </p:nvSpPr>
        <p:spPr>
          <a:xfrm>
            <a:off x="5632704" y="1993392"/>
            <a:ext cx="60012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8" name="Shape 25"/>
          <p:cNvSpPr/>
          <p:nvPr/>
        </p:nvSpPr>
        <p:spPr>
          <a:xfrm>
            <a:off x="5632704" y="1993392"/>
            <a:ext cx="60012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9" name="Aba manifest.json"/>
          <p:cNvSpPr/>
          <p:nvPr/>
        </p:nvSpPr>
        <p:spPr>
          <a:xfrm>
            <a:off x="571500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71500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31" name="Breadcrumb"/>
          <p:cNvSpPr txBox="1"/>
          <p:nvPr/>
        </p:nvSpPr>
        <p:spPr>
          <a:xfrm>
            <a:off x="5852160" y="2103120"/>
            <a:ext cx="5562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32" name="Trecho de código"/>
          <p:cNvSpPr txBox="1"/>
          <p:nvPr/>
        </p:nvSpPr>
        <p:spPr>
          <a:xfrm>
            <a:off x="5806440" y="2414016"/>
            <a:ext cx="56994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"PedidoList"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"Component"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"sap.fe.templates.ListReport"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"variantManagement"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"initialLoad"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ESTRUTURA DO PROJETO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app é um projeto isolado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gestao-clientes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gestao-clientes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&lt;app&gt;/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int-test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deploy-test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ui5-local.yaml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igual,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ui5-mock.yaml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 (+ IAM App no BTP)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webapp/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serviço,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rotas,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inbound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Component.js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sap/fe/core/AppComponent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anotações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locais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i18n/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pt-BR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OPA5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</a:t>
            </a:r>
            <a:endParaRPr lang="en-US" sz="1050" dirty="0"/>
          </a:p>
        </p:txBody>
      </p:sp>
      <p:sp>
        <p:nvSpPr>
          <p:cNvPr id="13" name="Editor"/>
          <p:cNvSpPr/>
          <p:nvPr/>
        </p:nvSpPr>
        <p:spPr>
          <a:xfrm>
            <a:off x="6583680" y="1645920"/>
            <a:ext cx="505937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583680" y="1993392"/>
            <a:ext cx="505937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592824" y="1993392"/>
            <a:ext cx="50410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592824" y="1993392"/>
            <a:ext cx="50410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ui5.yaml"/>
          <p:cNvSpPr/>
          <p:nvPr/>
        </p:nvSpPr>
        <p:spPr>
          <a:xfrm>
            <a:off x="6675120" y="1719072"/>
            <a:ext cx="10515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ui5.yaml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675120" y="1719072"/>
            <a:ext cx="10515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12280" y="2103120"/>
            <a:ext cx="46021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ui5.yaml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766560" y="2414016"/>
            <a:ext cx="473933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customMiddleware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fiori-tools-proxy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/resources, /test-resources 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https://ui5.sap.com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NAVEGAÇÃO ENTRE APPS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Semantic objects ligam as apps entre si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73152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ales-order"/>
          <p:cNvSpPr/>
          <p:nvPr/>
        </p:nvSpPr>
        <p:spPr>
          <a:xfrm>
            <a:off x="91440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644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4617720" y="169164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customer"/>
          <p:cNvSpPr/>
          <p:nvPr/>
        </p:nvSpPr>
        <p:spPr>
          <a:xfrm>
            <a:off x="480060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custo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984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394960" y="22219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49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4617720" y="425196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480060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45445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394960" y="4782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</a:t>
            </a:r>
            <a:endParaRPr lang="en-US" sz="1000" dirty="0"/>
          </a:p>
        </p:txBody>
      </p:sp>
      <p:sp>
        <p:nvSpPr>
          <p:cNvPr id="20" name="Cartão"/>
          <p:cNvSpPr/>
          <p:nvPr/>
        </p:nvSpPr>
        <p:spPr>
          <a:xfrm>
            <a:off x="868680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money-bills"/>
          <p:cNvSpPr/>
          <p:nvPr/>
        </p:nvSpPr>
        <p:spPr>
          <a:xfrm>
            <a:off x="886968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326440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46404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 flipV="1">
            <a:off x="3108960" y="2377440"/>
            <a:ext cx="1508760" cy="82296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26" name="Text 19"/>
          <p:cNvSpPr txBox="1"/>
          <p:nvPr/>
        </p:nvSpPr>
        <p:spPr>
          <a:xfrm>
            <a:off x="3017520" y="2240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3108960" y="3794760"/>
            <a:ext cx="1508760" cy="868680"/>
          </a:xfrm>
          <a:prstGeom prst="line">
            <a:avLst/>
          </a:prstGeom>
          <a:noFill/>
          <a:ln w="25400">
            <a:solidFill>
              <a:srgbClr val="C87B00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3017520" y="4434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Item, SKU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 flipH="1" flipV="1">
            <a:off x="7543800" y="2377440"/>
            <a:ext cx="1143000" cy="91440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30" name="Text 23"/>
          <p:cNvSpPr txBox="1"/>
          <p:nvPr/>
        </p:nvSpPr>
        <p:spPr>
          <a:xfrm>
            <a:off x="800100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 flipH="1">
            <a:off x="3108960" y="3493008"/>
            <a:ext cx="55778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  <a:tailEnd type="triangle"/>
          </a:ln>
        </p:spPr>
      </p:sp>
      <p:sp>
        <p:nvSpPr>
          <p:cNvPr id="32" name="Text 25"/>
          <p:cNvSpPr txBox="1"/>
          <p:nvPr/>
        </p:nvSpPr>
        <p:spPr>
          <a:xfrm>
            <a:off x="53949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Pedido (link direto)</a:t>
            </a:r>
            <a:endParaRPr lang="en-US" sz="1050" dirty="0"/>
          </a:p>
        </p:txBody>
      </p:sp>
      <p:sp>
        <p:nvSpPr>
          <p:cNvPr id="33" name="Cartão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3ECFB"/>
          </a:solidFill>
          <a:ln/>
        </p:spPr>
      </p:sp>
      <p:pic>
        <p:nvPicPr>
          <p:cNvPr id="34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50992"/>
            <a:ext cx="365760" cy="36576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325880" y="54864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Cada app de análise tem o botão Abrir gestão, que navega para ZPC*-manage do seu domínio (ou abre a BSP irmã fora do launchpad).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MOTOR DAS ANÁLISES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motor, quatro catálogos de cenários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webapp"/>
          <p:cNvSpPr/>
          <p:nvPr/>
        </p:nvSpPr>
        <p:spPr>
          <a:xfrm>
            <a:off x="640080" y="1719072"/>
            <a:ext cx="9144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webapp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9144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apps-analiticos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analise-clientes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model/Scenarios.js (Análise de Clientes)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"ClienteAnalise"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"ZPCCliente-manage"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"zpc_clientes"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"ClienteAtivo"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"boolean"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"search"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"ScoreMedio"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"donut"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"column"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... ];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service/AnalyticsService.js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_model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requestContexts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MAX_ROWS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list"/>
          <p:cNvSpPr/>
          <p:nvPr/>
        </p:nvSpPr>
        <p:spPr>
          <a:xfrm>
            <a:off x="7406640" y="1865376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5" name="Image 0" descr="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3924" y="1992660"/>
            <a:ext cx="275783" cy="27578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092440" y="1801368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model/Scenarios.js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092440" y="2121408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catálogo do domínio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7671816" y="2633472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7223760" y="2807208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source-code"/>
          <p:cNvSpPr/>
          <p:nvPr/>
        </p:nvSpPr>
        <p:spPr>
          <a:xfrm>
            <a:off x="7406640" y="302666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1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924" y="3153948"/>
            <a:ext cx="275783" cy="27578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92440" y="2962656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model/AnalyticsQuery.js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092440" y="3282696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descritor e moldagem das linhas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7671816" y="3794760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7223760" y="3968496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hain-link"/>
          <p:cNvSpPr/>
          <p:nvPr/>
        </p:nvSpPr>
        <p:spPr>
          <a:xfrm>
            <a:off x="7406640" y="4187952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7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924" y="4315236"/>
            <a:ext cx="275783" cy="275783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092440" y="4123944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service/AnalyticsService.js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8092440" y="4443984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bindList + $$aggregation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7671816" y="4956048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31" name="Cartão"/>
          <p:cNvSpPr/>
          <p:nvPr/>
        </p:nvSpPr>
        <p:spPr>
          <a:xfrm>
            <a:off x="7223760" y="5129784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bar-chart"/>
          <p:cNvSpPr/>
          <p:nvPr/>
        </p:nvSpPr>
        <p:spPr>
          <a:xfrm>
            <a:off x="7406640" y="534924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33" name="Image 3" descr="bar-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924" y="5476524"/>
            <a:ext cx="275783" cy="27578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092440" y="5285232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control/AnalysisChart.js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8092440" y="5605272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VizFrame (sap.viz)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LAUNCHPAD LOCAL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sandbox do launchpad para testar tudo junto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266944" cy="3204464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aunchpad local com oito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120640" cy="3058160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5051552"/>
            <a:ext cx="5266944" cy="1120648"/>
          </a:xfrm>
          <a:prstGeom prst="roundRect">
            <a:avLst>
              <a:gd name="adj" fmla="val 816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5197856"/>
            <a:ext cx="4946904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dados reais do sistema ABAP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sem backend</a:t>
            </a:r>
            <a:endParaRPr lang="en-US" sz="1050" dirty="0"/>
          </a:p>
        </p:txBody>
      </p:sp>
      <p:sp>
        <p:nvSpPr>
          <p:cNvPr id="9" name="Editor"/>
          <p:cNvSpPr/>
          <p:nvPr/>
        </p:nvSpPr>
        <p:spPr>
          <a:xfrm>
            <a:off x="6080760" y="1645920"/>
            <a:ext cx="55622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Área do editor"/>
          <p:cNvSpPr/>
          <p:nvPr/>
        </p:nvSpPr>
        <p:spPr>
          <a:xfrm>
            <a:off x="6080760" y="1993392"/>
            <a:ext cx="55622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1" name="Shape 7"/>
          <p:cNvSpPr/>
          <p:nvPr/>
        </p:nvSpPr>
        <p:spPr>
          <a:xfrm>
            <a:off x="6089904" y="1993392"/>
            <a:ext cx="55440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2" name="Shape 8"/>
          <p:cNvSpPr/>
          <p:nvPr/>
        </p:nvSpPr>
        <p:spPr>
          <a:xfrm>
            <a:off x="6089904" y="1993392"/>
            <a:ext cx="55440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3" name="Aba fioriSandboxConfig.json"/>
          <p:cNvSpPr/>
          <p:nvPr/>
        </p:nvSpPr>
        <p:spPr>
          <a:xfrm>
            <a:off x="617220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fioriSandboxConfig.json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7220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5" name="Breadcrumb"/>
          <p:cNvSpPr txBox="1"/>
          <p:nvPr/>
        </p:nvSpPr>
        <p:spPr>
          <a:xfrm>
            <a:off x="6309360" y="2103120"/>
            <a:ext cx="5105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launchpad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appconfig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fioriSandboxConfig.json</a:t>
            </a:r>
            <a:endParaRPr lang="en-US" sz="900" dirty="0"/>
          </a:p>
        </p:txBody>
      </p:sp>
      <p:sp>
        <p:nvSpPr>
          <p:cNvPr id="16" name="Trecho de código"/>
          <p:cNvSpPr txBox="1"/>
          <p:nvPr/>
        </p:nvSpPr>
        <p:spPr>
          <a:xfrm>
            <a:off x="6263640" y="2414016"/>
            <a:ext cx="52422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"groups"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"gestao"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"tile-gestaoclientes"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"sap.ushell.ui.tile.StaticTile"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"properties"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 de 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"subtitle"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"Clientes e endereços"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"icon"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"sap-icon://customer"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"targetURL"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"#ZPCCliente-manage"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"analises"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"Análises"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com foto, score e endereços, e a análise de clientes por gênero, UF, faixa de score e mês de cadastro.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ui5/apps-list-reports/gestao-clientes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Clientes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Cl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gestao-clientes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 → Endereço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no header (imageUrl) e upload JPEG/PNG/WEBP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Score como barra de progresso colorida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Endereços com CEP pelo ViaCEP e side effects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Ação Definir endereço principal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 (.xlsx ou .csv)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Exclusão bloqueada para cliente com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Clientes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CliCadastrosPorMes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MesCadastro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CliScorePorUf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68762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510589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684678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FaixaScore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73936" y="5440680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QtdeClientes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de itens com status colorido e a análise do estoque por categoria e situação.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ui5/apps-list-reports/gestao-estoque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Estoque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gestao-estoque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SKU gerado no salvar, com prefixo da categoria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Status do estoque colorido (sem, acabando, em estoque)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Reservada e disponível somente leitura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do item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Item inativo some da value help do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Itens do Estoque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EstDisponivelPorCategoria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Reservada, Disponível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EstItensPorSituacao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EstValorPorCategoria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EstMaisReservados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(top 10)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Categoria"/>
          <p:cNvSpPr/>
          <p:nvPr/>
        </p:nvSpPr>
        <p:spPr>
          <a:xfrm>
            <a:off x="731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000" dirty="0"/>
          </a:p>
        </p:txBody>
      </p:sp>
      <p:sp>
        <p:nvSpPr>
          <p:cNvPr id="10" name="Status StatusEstoque"/>
          <p:cNvSpPr/>
          <p:nvPr/>
        </p:nvSpPr>
        <p:spPr>
          <a:xfrm>
            <a:off x="1708099" y="5111496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endParaRPr lang="en-US" sz="1000" dirty="0"/>
          </a:p>
        </p:txBody>
      </p:sp>
      <p:sp>
        <p:nvSpPr>
          <p:cNvPr id="11" name="Status Nome"/>
          <p:cNvSpPr/>
          <p:nvPr/>
        </p:nvSpPr>
        <p:spPr>
          <a:xfrm>
            <a:off x="2948026" y="5111496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2" name="Status Sku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QtdeItens"/>
          <p:cNvSpPr/>
          <p:nvPr/>
        </p:nvSpPr>
        <p:spPr>
          <a:xfrm>
            <a:off x="4160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QtdeItens</a:t>
            </a:r>
            <a:endParaRPr lang="en-US" sz="1000" dirty="0"/>
          </a:p>
        </p:txBody>
      </p:sp>
      <p:sp>
        <p:nvSpPr>
          <p:cNvPr id="16" name="Status QtdeEstoque"/>
          <p:cNvSpPr/>
          <p:nvPr/>
        </p:nvSpPr>
        <p:spPr>
          <a:xfrm>
            <a:off x="5137099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endParaRPr lang="en-US" sz="1000" dirty="0"/>
          </a:p>
        </p:txBody>
      </p:sp>
      <p:sp>
        <p:nvSpPr>
          <p:cNvPr id="17" name="Status QtdeReservada"/>
          <p:cNvSpPr/>
          <p:nvPr/>
        </p:nvSpPr>
        <p:spPr>
          <a:xfrm>
            <a:off x="4160520" y="5440680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endParaRPr lang="en-US" sz="1000" dirty="0"/>
          </a:p>
        </p:txBody>
      </p:sp>
      <p:sp>
        <p:nvSpPr>
          <p:cNvPr id="18" name="Status QtdeDisponivel"/>
          <p:cNvSpPr/>
          <p:nvPr/>
        </p:nvSpPr>
        <p:spPr>
          <a:xfrm>
            <a:off x="5400446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endParaRPr lang="en-US" sz="1000" dirty="0"/>
          </a:p>
        </p:txBody>
      </p:sp>
      <p:sp>
        <p:nvSpPr>
          <p:cNvPr id="19" name="Status ValorEstoque"/>
          <p:cNvSpPr/>
          <p:nvPr/>
        </p:nvSpPr>
        <p:spPr>
          <a:xfrm>
            <a:off x="4160520" y="5769864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ValorEstoque</a:t>
            </a:r>
            <a:endParaRPr lang="en-US" sz="1000" dirty="0"/>
          </a:p>
        </p:txBody>
      </p:sp>
      <p:sp>
        <p:nvSpPr>
          <p:cNvPr id="20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21" name="Image 0" descr="Análise de Itens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22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mais completa: List Report com menu de ações, Object Page dinâmica, itens criados na própria tabela e a análise de pedidos.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ui5/apps-list-reports/pedidos-compras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annotation.xml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anotação local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LIST REPORT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lista é desenhada pelas anotações do backend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filter"/>
          <p:cNvSpPr/>
          <p:nvPr/>
        </p:nvSpPr>
        <p:spPr>
          <a:xfrm>
            <a:off x="8622792" y="18013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6909" y="1915485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235440" y="1737360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Filtros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9235440" y="2048256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8458200" y="2551176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table-view"/>
          <p:cNvSpPr/>
          <p:nvPr/>
        </p:nvSpPr>
        <p:spPr>
          <a:xfrm>
            <a:off x="8622792" y="270662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table-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909" y="2820741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35440" y="2642616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Colunas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9235440" y="2953512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458200" y="3456432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positive"/>
          <p:cNvSpPr/>
          <p:nvPr/>
        </p:nvSpPr>
        <p:spPr>
          <a:xfrm>
            <a:off x="8622792" y="36118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status-positi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6909" y="3725997"/>
            <a:ext cx="247254" cy="24725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235440" y="3547872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coloridos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235440" y="3858768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 da CodeList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8458200" y="4361688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action-settings"/>
          <p:cNvSpPr/>
          <p:nvPr/>
        </p:nvSpPr>
        <p:spPr>
          <a:xfrm>
            <a:off x="8622792" y="45171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4" name="Image 4" descr="action-sett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909" y="4631253"/>
            <a:ext cx="247254" cy="24725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235440" y="4453128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Menu Ações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9235440" y="4764024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8458200" y="5266944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Ícone excel-attachment"/>
          <p:cNvSpPr/>
          <p:nvPr/>
        </p:nvSpPr>
        <p:spPr>
          <a:xfrm>
            <a:off x="8622792" y="542239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9" name="Image 5" descr="excel-attachmen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6909" y="5536509"/>
            <a:ext cx="247254" cy="24725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9235440" y="5358384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Importar planilha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9235440" y="5669280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action deep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Seções que mudam conforme o status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4526280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86800" y="18288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Seções do pedido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686800" y="228600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Cliente</a:t>
            </a:r>
            <a:endParaRPr lang="en-US" sz="1250" dirty="0"/>
          </a:p>
        </p:txBody>
      </p:sp>
      <p:sp>
        <p:nvSpPr>
          <p:cNvPr id="10" name="Status vivo ou snapshot"/>
          <p:cNvSpPr/>
          <p:nvPr/>
        </p:nvSpPr>
        <p:spPr>
          <a:xfrm>
            <a:off x="8686800" y="2560320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0" y="2907792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Pedido</a:t>
            </a:r>
            <a:endParaRPr lang="en-US" sz="1250" dirty="0"/>
          </a:p>
        </p:txBody>
      </p:sp>
      <p:sp>
        <p:nvSpPr>
          <p:cNvPr id="12" name="Status sempre"/>
          <p:cNvSpPr/>
          <p:nvPr/>
        </p:nvSpPr>
        <p:spPr>
          <a:xfrm>
            <a:off x="8686800" y="3182112"/>
            <a:ext cx="687629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sempre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3529584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Itens</a:t>
            </a:r>
            <a:endParaRPr lang="en-US" sz="1250" dirty="0"/>
          </a:p>
        </p:txBody>
      </p:sp>
      <p:sp>
        <p:nvSpPr>
          <p:cNvPr id="14" name="Status vivo ou snapshot"/>
          <p:cNvSpPr/>
          <p:nvPr/>
        </p:nvSpPr>
        <p:spPr>
          <a:xfrm>
            <a:off x="8686800" y="3803904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4151376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16" name="Status última tentativa"/>
          <p:cNvSpPr/>
          <p:nvPr/>
        </p:nvSpPr>
        <p:spPr>
          <a:xfrm>
            <a:off x="8686800" y="4425696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última tentativa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686800" y="47731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Finalização</a:t>
            </a:r>
            <a:endParaRPr lang="en-US" sz="1250" dirty="0"/>
          </a:p>
        </p:txBody>
      </p:sp>
      <p:sp>
        <p:nvSpPr>
          <p:cNvPr id="18" name="Status só FINALIZADO"/>
          <p:cNvSpPr/>
          <p:nvPr/>
        </p:nvSpPr>
        <p:spPr>
          <a:xfrm>
            <a:off x="8686800" y="5047488"/>
            <a:ext cx="1148486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só FINALIZADO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686800" y="539496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Cancelamento</a:t>
            </a:r>
            <a:endParaRPr lang="en-US" sz="1250" dirty="0"/>
          </a:p>
        </p:txBody>
      </p:sp>
      <p:sp>
        <p:nvSpPr>
          <p:cNvPr id="20" name="Status só CANCELADO"/>
          <p:cNvSpPr/>
          <p:nvPr/>
        </p:nvSpPr>
        <p:spPr>
          <a:xfrm>
            <a:off x="8686800" y="5669280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só CANCELADO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CONFIGURAÇÃO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Itens inline e uma anotação local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manifest.json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"_ItensSnapshot"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"Pedido__ItensSnapshotObjectPage"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"controlConfiguration"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"_Itens/@com.sap.vocabularies.UI.v1.LineItem"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"tableSettings"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"creationMode"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"Inline"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"createAtEnd"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Editor"/>
          <p:cNvSpPr/>
          <p:nvPr/>
        </p:nvSpPr>
        <p:spPr>
          <a:xfrm>
            <a:off x="6629400" y="1645920"/>
            <a:ext cx="501365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629400" y="1993392"/>
            <a:ext cx="501365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638544" y="1993392"/>
            <a:ext cx="49953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638544" y="1993392"/>
            <a:ext cx="49953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annotation.xml"/>
          <p:cNvSpPr/>
          <p:nvPr/>
        </p:nvSpPr>
        <p:spPr>
          <a:xfrm>
            <a:off x="672084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annotation.xml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2084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58000" y="2103120"/>
            <a:ext cx="4556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annotation.xml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812280" y="2414016"/>
            <a:ext cx="469361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"SAP__self.PedidoType/NomeCliente"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"LocalProperty"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"SemanticObjectProperty"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Compras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MesCriacao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PedTicketMedio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Pedido"/>
          <p:cNvSpPr/>
          <p:nvPr/>
        </p:nvSpPr>
        <p:spPr>
          <a:xfrm>
            <a:off x="731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00" dirty="0"/>
          </a:p>
        </p:txBody>
      </p:sp>
      <p:sp>
        <p:nvSpPr>
          <p:cNvPr id="10" name="Status StatusPagamento"/>
          <p:cNvSpPr/>
          <p:nvPr/>
        </p:nvSpPr>
        <p:spPr>
          <a:xfrm>
            <a:off x="190561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MesCriacao"/>
          <p:cNvSpPr/>
          <p:nvPr/>
        </p:nvSpPr>
        <p:spPr>
          <a:xfrm>
            <a:off x="137160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ValorTotal"/>
          <p:cNvSpPr/>
          <p:nvPr/>
        </p:nvSpPr>
        <p:spPr>
          <a:xfrm>
            <a:off x="416052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endParaRPr lang="en-US" sz="1000" dirty="0"/>
          </a:p>
        </p:txBody>
      </p:sp>
      <p:sp>
        <p:nvSpPr>
          <p:cNvPr id="16" name="Status QtdePedidos"/>
          <p:cNvSpPr/>
          <p:nvPr/>
        </p:nvSpPr>
        <p:spPr>
          <a:xfrm>
            <a:off x="5202936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00" dirty="0"/>
          </a:p>
        </p:txBody>
      </p:sp>
      <p:sp>
        <p:nvSpPr>
          <p:cNvPr id="17" name="Status ValorMedio"/>
          <p:cNvSpPr/>
          <p:nvPr/>
        </p:nvSpPr>
        <p:spPr>
          <a:xfrm>
            <a:off x="4160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decisão, sem criar nem editar, e a análise das solicitações por status, mês, UF e motivo.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</a:t>
            </a:r>
            <a:b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analise-reembolsos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Reembolsos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a da Gestão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gestao-reembolsos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Aprovar reembolso: cancela o pedido e devolve o pagamento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Rejeitar reembolso: motivo obrigatório, pedido retomado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Botões só com status PENDENTE (feature control)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Pedido como link direto (WITH_INTENT_BASED_NAVIGATION)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Cliente e CPF como links para Gestão de Clientes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Reembolsos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ReeQtdePorStatus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ReePorMotivo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Reembolso"/>
          <p:cNvSpPr/>
          <p:nvPr/>
        </p:nvSpPr>
        <p:spPr>
          <a:xfrm>
            <a:off x="73152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1000" dirty="0"/>
          </a:p>
        </p:txBody>
      </p:sp>
      <p:sp>
        <p:nvSpPr>
          <p:cNvPr id="10" name="Status Uf"/>
          <p:cNvSpPr/>
          <p:nvPr/>
        </p:nvSpPr>
        <p:spPr>
          <a:xfrm>
            <a:off x="2103120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1" name="Status MesSolicitacao"/>
          <p:cNvSpPr/>
          <p:nvPr/>
        </p:nvSpPr>
        <p:spPr>
          <a:xfrm>
            <a:off x="731520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MesSolicitacao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4" name="Status QtdeReembolsos"/>
          <p:cNvSpPr/>
          <p:nvPr/>
        </p:nvSpPr>
        <p:spPr>
          <a:xfrm>
            <a:off x="4160520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QtdeReembolsos</a:t>
            </a:r>
            <a:endParaRPr lang="en-US" sz="1000" dirty="0"/>
          </a:p>
        </p:txBody>
      </p:sp>
      <p:sp>
        <p:nvSpPr>
          <p:cNvPr id="15" name="Status ValorReembolso"/>
          <p:cNvSpPr/>
          <p:nvPr/>
        </p:nvSpPr>
        <p:spPr>
          <a:xfrm>
            <a:off x="5466283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endParaRPr lang="en-US" sz="1000" dirty="0"/>
          </a:p>
        </p:txBody>
      </p:sp>
      <p:sp>
        <p:nvSpPr>
          <p:cNvPr id="16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7" name="Image 0" descr="Análise de Pedidos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18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ANTES DO DEPLOY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Rode os comandos de lint, build e testes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insp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ESLint com @sap-ux/eslint-plugin-fiori-tools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p-box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1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ui5 build gera dist/ com cachebuster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validate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7" name="Image 2" descr="valid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OPA5 gerados pelo Fiori tools, com mock server</a:t>
            </a:r>
            <a:endParaRPr lang="en-US" sz="130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e-learning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2" name="Image 3" descr="e-le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QUnit das análises: Scenarios e AnalyticsQuery</a:t>
            </a:r>
            <a:endParaRPr lang="en-US" sz="130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yntax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7" name="Image 4" descr="synta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 linter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APIs depreciadas e boas práticas do SAPUI5</a:t>
            </a:r>
            <a:endParaRPr lang="en-US" sz="130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display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displa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start-mock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Interface sem backend, com dados gerados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SAP BTP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npm run deploy grava a app no ABAP Repository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 de Compras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ou ZPK_PC_PEDIDOS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80160"/>
                <a:gridCol w="185897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 (prefixo opcional)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 análises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ZPC_ANL_*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pacote do domínio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+ IAM App _UI5R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Business Catalog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TRIAL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trial, a entrada é o SAP Build Work Zone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Adotado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Work Zone com tiles URL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Content Manager → New App: URL da BSP, abrir em nova aba, intent próprio e role Everyone.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Cada app funciona isolada; a navegação entre apps depende do shell.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Fora do trial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Launchpad do ABAP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ZPC_*_UI5R nos catálogos ZPC_BC_* → Business Roles → Manage Launchpad Spaces.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Caminho padrão em sistemas com os apps de administração.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A0808"/>
                </a:solidFill>
              </a:rPr>
              <a:t>Descartado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HTML5 repo no Cloud Foundry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Work Zone só aceita login pelo IAS; o ABAP trial reconhece só o usuário do SAP ID.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Resultado: OData responde 401, mesmo com token exchange.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A SÉRIE COMPLETA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Do banco de dados ao launchpad</a:t>
            </a:r>
            <a:endParaRPr lang="en-US" sz="3000" dirty="0"/>
          </a:p>
        </p:txBody>
      </p:sp>
      <p:sp>
        <p:nvSpPr>
          <p:cNvPr id="7" name="Cartão"/>
          <p:cNvSpPr/>
          <p:nvPr/>
        </p:nvSpPr>
        <p:spPr>
          <a:xfrm>
            <a:off x="548640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4563" y="201168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Modelagem de dados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10 tabelas ativas, 8 drafts, CodeLists, numeração e mensagens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2813243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13" name="Text 9"/>
          <p:cNvSpPr/>
          <p:nvPr/>
        </p:nvSpPr>
        <p:spPr>
          <a:xfrm>
            <a:off x="3041843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pic>
        <p:nvPicPr>
          <p:cNvPr id="14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166" y="2011680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041843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Core Data Services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041843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Views ZR_, 9 projeções, 11 value helps, 13 ddlx e 4 cubos</a:t>
            </a:r>
            <a:endParaRPr lang="en-US" sz="1250" dirty="0"/>
          </a:p>
        </p:txBody>
      </p:sp>
      <p:sp>
        <p:nvSpPr>
          <p:cNvPr id="17" name="Cartão"/>
          <p:cNvSpPr/>
          <p:nvPr/>
        </p:nvSpPr>
        <p:spPr>
          <a:xfrm>
            <a:off x="5077846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18" name="Text 13"/>
          <p:cNvSpPr/>
          <p:nvPr/>
        </p:nvSpPr>
        <p:spPr>
          <a:xfrm>
            <a:off x="5306446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pic>
        <p:nvPicPr>
          <p:cNvPr id="19" name="Image 2" descr="workflow-tas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769" y="2011680"/>
            <a:ext cx="384048" cy="3840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306446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Comportamento RAP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5306446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4 BOs managed com draft, regras, ações e EML</a:t>
            </a:r>
            <a:endParaRPr lang="en-US" sz="1250" dirty="0"/>
          </a:p>
        </p:txBody>
      </p:sp>
      <p:sp>
        <p:nvSpPr>
          <p:cNvPr id="22" name="Cartão"/>
          <p:cNvSpPr/>
          <p:nvPr/>
        </p:nvSpPr>
        <p:spPr>
          <a:xfrm>
            <a:off x="7342449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23" name="Text 17"/>
          <p:cNvSpPr/>
          <p:nvPr/>
        </p:nvSpPr>
        <p:spPr>
          <a:xfrm>
            <a:off x="7571049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pic>
        <p:nvPicPr>
          <p:cNvPr id="24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8372" y="2011680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571049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Serviços OData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7571049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5 serviços OData V4, IAM ou PFCG</a:t>
            </a:r>
            <a:endParaRPr lang="en-US" sz="1250" dirty="0"/>
          </a:p>
        </p:txBody>
      </p:sp>
      <p:sp>
        <p:nvSpPr>
          <p:cNvPr id="27" name="Cartão"/>
          <p:cNvSpPr/>
          <p:nvPr/>
        </p:nvSpPr>
        <p:spPr>
          <a:xfrm>
            <a:off x="9607052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28" name="Text 21"/>
          <p:cNvSpPr/>
          <p:nvPr/>
        </p:nvSpPr>
        <p:spPr>
          <a:xfrm>
            <a:off x="9835652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pic>
        <p:nvPicPr>
          <p:cNvPr id="29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011680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835652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Apps Fiori</a:t>
            </a:r>
            <a:endParaRPr lang="en-US" sz="1600" dirty="0"/>
          </a:p>
        </p:txBody>
      </p:sp>
      <p:sp>
        <p:nvSpPr>
          <p:cNvPr id="31" name="Text 23"/>
          <p:cNvSpPr txBox="1"/>
          <p:nvPr/>
        </p:nvSpPr>
        <p:spPr>
          <a:xfrm>
            <a:off x="9835652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8 apps, launchpad local e deploy no ABAP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029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Arquivos: docs/apresentacoes/01 a 05 · fontes em abap/ e ui5/ · diagrama em docs/pedidos-de-compras.drawio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D1E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5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apps Fiori Elements geradas com SAP Fiori tools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análises SAPUI5 freestyle sobre ZUI_PC_ANALITICO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Navegação entre apps por semantic objects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Launchpad local para testar tudo junto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SAP BTP: BSP, IAM App e acesso pelo SAP Build Work Zone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On-Premise: SAPUI5 1.136+, roles PFCG e SAP Fiori launchpad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Série concluída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CDS, RAP, OData e Fiori no SAP BTP ou On-Premise.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5 de 5 — Apps Fiori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ON-PREMISE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no SAP Fiori launchpad do S/4HANA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Versão de deploy, BSPs publicadas com transporte, conteúdo do launchpad e as autorizações que liberam os tiles e os serviços.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SAPUI5 1.136+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versão mínima das apps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S/4HANA 2025 FPS01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FES 2025 · SAP_UI 816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/UI5/ABAP_REPOSITORY_SRV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 das BSPs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/UI2/FLPAM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catálogo técnico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/UI2/FLPCM_CUST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espaço e página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 · Z_PC_COMUM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roles PFCG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Deploy no On-Premise: SAPUI5 1.136 e ordem de transporte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-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https://s4h2025.empresa.local:44300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credentials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env:ABAP_USER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env:ABAP_PASSWORD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ZAVBS_PC_PEDIDOS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S4DK900123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150000"/>
                <a:gridCol w="2250000"/>
                <a:gridCol w="1339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Item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Versão / valor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Onde conferir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SAPUI5 mínimo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1.136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minUI5Version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Sistema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S/4HANA 2025 FPS01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CVERS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Front-end server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FES 2025 · SAP_UI 816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Sobre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Serviço de deploy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/UI5/ABAP_REPOSITORY_SRV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SICF ativo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Transporte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ordem Workbench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transport: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(sem IAM App)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Catálogo /UI2/FLPAM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On-Premise, a entrada é o SAP Fiori launchpad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Passo 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 técnico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/UI2/FLPAM: um app descriptor por app, com tile e target mapping (ZPCPedidoCompra-manage → ZPC_PEDIDOS).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Os intents são os mesmos dos manifests e do launchpad local.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2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Catálogo, espaço e página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/UI2/FLPCM_CUST: catálogos de negócio e o espaço Pedidos de Compras, com as seções Gestão e Análises.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Depois, limpe o cache com /UI2/INVALIDATE_GLOBAL_CACHES.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3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Role PFCG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Menu da role com catálogo, espaço e grupos de serviços (S_START); gerar perfil e atribuir na SU01.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Z_PC_ADMIN: oito tiles. Z_PC_COMUM: Pedidos, Reembolsos e análises.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ON-PREMISE ·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Quem vê cada app: tile, S_START e objeto ZPC_*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1100000"/>
                <a:gridCol w="1850000"/>
                <a:gridCol w="2300000"/>
                <a:gridCol w="11965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Intent do tile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Grupo de serviços (S_START)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Objeto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ZPCCliente-manage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ZPCItemEstoque-manage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ZPCPedidoCompra-manage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ZPCReembolso-manage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análises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ZPCAnalise*-display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ZUI_PC_ANALITICO_O4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ZPC_* 03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Role Z_PC_ADMIN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8672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690160" y="5111496"/>
            <a:ext cx="8138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595400" y="5111496"/>
            <a:ext cx="8138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740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96960" y="5440680"/>
            <a:ext cx="8672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Análises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Role Z_PC_COMUM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Menu da role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catálogo + espaço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 V4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G4BA → S_START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Objetos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 · ZPC_PEDIDO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Valores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SU24 por grupo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Usuários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SU01 + comparação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Diagnóstico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SU53 · STAUTHTRACE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Leitura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DCL (atividade 03)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o catálogo na role o tile nem aparece; com o tile e sem S_START, o serviço responde 403. Os botões seguem ZCL_PC_AUTH (etapa 4).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o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spc="200" kern="0" dirty="0">
                <a:solidFill>
                  <a:srgbClr val="89D1FF"/>
                </a:solidFill>
              </a:rPr>
              <a:t>ETAPA 5 · ANTES DO DEPLOY</a:t>
            </a:r>
            <a:endParaRPr lang="pt-BR" sz="1400" dirty="0"/>
          </a:p>
        </p:txBody>
      </p:sp>
      <p:sp>
        <p:nvSpPr>
          <p:cNvPr id="4" name="Texto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Qualidade e testes antes de publicar</a:t>
            </a:r>
            <a:endParaRPr lang="pt-BR" sz="4400" dirty="0"/>
          </a:p>
        </p:txBody>
      </p:sp>
      <p:sp>
        <p:nvSpPr>
          <p:cNvPr id="5" name="Texto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800" dirty="0">
                <a:solidFill>
                  <a:schemeClr val="bg2"/>
                </a:solidFill>
              </a:rPr>
              <a:t>Os comandos que quem publica roda na própria máquina, em cada app alterada, antes do npm run deploy.</a:t>
            </a:r>
            <a:endParaRPr lang="pt-BR" sz="1800" dirty="0"/>
          </a:p>
        </p:txBody>
      </p:sp>
      <p:sp>
        <p:nvSpPr>
          <p:cNvPr id="6" name="Ícone inspection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>
            <a:noFill/>
          </a:ln>
        </p:spPr>
      </p:sp>
      <p:pic>
        <p:nvPicPr>
          <p:cNvPr id="7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585216"/>
            <a:ext cx="384048" cy="384048"/>
          </a:xfrm>
          <a:prstGeom prst="rect">
            <a:avLst/>
          </a:prstGeom>
        </p:spPr>
      </p:pic>
      <p:sp>
        <p:nvSpPr>
          <p:cNvPr id="8" name="Objetos da seção"/>
          <p:cNvSpPr/>
          <p:nvPr/>
        </p:nvSpPr>
        <p:spPr>
          <a:xfrm>
            <a:off x="8001000" y="1325880"/>
            <a:ext cx="3639312" cy="2980944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>
            <a:noFill/>
          </a:ln>
        </p:spPr>
      </p:sp>
      <p:sp>
        <p:nvSpPr>
          <p:cNvPr id="9" name="Texto"/>
          <p:cNvSpPr txBox="1"/>
          <p:nvPr/>
        </p:nvSpPr>
        <p:spPr>
          <a:xfrm>
            <a:off x="8275320" y="1481328"/>
            <a:ext cx="30906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rgbClr val="89D1FF"/>
                </a:solidFill>
              </a:rPr>
              <a:t>OBJETOS NESTA SEÇÃO</a:t>
            </a:r>
            <a:endParaRPr lang="pt-BR" sz="1100" dirty="0"/>
          </a:p>
        </p:txBody>
      </p:sp>
      <p:sp>
        <p:nvSpPr>
          <p:cNvPr id="10" name="Texto"/>
          <p:cNvSpPr txBox="1"/>
          <p:nvPr/>
        </p:nvSpPr>
        <p:spPr>
          <a:xfrm>
            <a:off x="8275320" y="187452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r>
              <a:rPr lang="pt-BR" sz="1100" dirty="0">
                <a:solidFill>
                  <a:srgbClr val="D1EFFF"/>
                </a:solidFill>
              </a:rPr>
              <a:t xml:space="preserve">  ESLint do Fiori tools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8275320" y="2258568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r>
              <a:rPr lang="pt-BR" sz="1100" dirty="0">
                <a:solidFill>
                  <a:srgbClr val="D1EFFF"/>
                </a:solidFill>
              </a:rPr>
              <a:t xml:space="preserve">  dist/ do ui5 build</a:t>
            </a:r>
            <a:endParaRPr lang="pt-BR" sz="1100" dirty="0"/>
          </a:p>
        </p:txBody>
      </p:sp>
      <p:sp>
        <p:nvSpPr>
          <p:cNvPr id="12" name="Texto"/>
          <p:cNvSpPr txBox="1"/>
          <p:nvPr/>
        </p:nvSpPr>
        <p:spPr>
          <a:xfrm>
            <a:off x="8275320" y="2642616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r>
              <a:rPr lang="pt-BR" sz="1100" dirty="0">
                <a:solidFill>
                  <a:srgbClr val="D1EFFF"/>
                </a:solidFill>
              </a:rPr>
              <a:t xml:space="preserve">  OPA5, apps de gestão</a:t>
            </a:r>
            <a:endParaRPr lang="pt-BR" sz="1100" dirty="0"/>
          </a:p>
        </p:txBody>
      </p:sp>
      <p:sp>
        <p:nvSpPr>
          <p:cNvPr id="13" name="Texto"/>
          <p:cNvSpPr txBox="1"/>
          <p:nvPr/>
        </p:nvSpPr>
        <p:spPr>
          <a:xfrm>
            <a:off x="8275320" y="3026664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r>
              <a:rPr lang="pt-BR" sz="1100" dirty="0">
                <a:solidFill>
                  <a:srgbClr val="D1EFFF"/>
                </a:solidFill>
              </a:rPr>
              <a:t xml:space="preserve">  QUnit, análises</a:t>
            </a:r>
            <a:endParaRPr lang="pt-BR" sz="1100" dirty="0"/>
          </a:p>
        </p:txBody>
      </p:sp>
      <p:sp>
        <p:nvSpPr>
          <p:cNvPr id="14" name="Texto"/>
          <p:cNvSpPr txBox="1"/>
          <p:nvPr/>
        </p:nvSpPr>
        <p:spPr>
          <a:xfrm>
            <a:off x="8275320" y="3410712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@ui5/linter</a:t>
            </a:r>
            <a:r>
              <a:rPr lang="pt-BR" sz="1100" dirty="0">
                <a:solidFill>
                  <a:srgbClr val="D1EFFF"/>
                </a:solidFill>
              </a:rPr>
              <a:t xml:space="preserve">  UI5 linter</a:t>
            </a:r>
            <a:endParaRPr lang="pt-BR" sz="1100" dirty="0"/>
          </a:p>
        </p:txBody>
      </p:sp>
      <p:sp>
        <p:nvSpPr>
          <p:cNvPr id="15" name="Texto"/>
          <p:cNvSpPr txBox="1"/>
          <p:nvPr/>
        </p:nvSpPr>
        <p:spPr>
          <a:xfrm>
            <a:off x="8275320" y="379476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deploy-test</a:t>
            </a:r>
            <a:r>
              <a:rPr lang="pt-BR" sz="1100" dirty="0">
                <a:solidFill>
                  <a:srgbClr val="D1EFFF"/>
                </a:solidFill>
              </a:rPr>
              <a:t xml:space="preserve">  deploy simulado</a:t>
            </a:r>
            <a:endParaRPr lang="pt-BR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ANTES DO DEPLOY · IMPORTÂNCIA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O que cada comando impede de chegar ao sistema</a:t>
            </a:r>
            <a:endParaRPr lang="pt-BR" sz="3000" dirty="0"/>
          </a:p>
        </p:txBody>
      </p:sp>
      <p:sp>
        <p:nvSpPr>
          <p:cNvPr id="5" name="Texto"/>
          <p:cNvSpPr txBox="1"/>
          <p:nvPr/>
        </p:nvSpPr>
        <p:spPr>
          <a:xfrm>
            <a:off x="3108960" y="1463040"/>
            <a:ext cx="384048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O QUE VERIFICA</a:t>
            </a:r>
            <a:endParaRPr lang="pt-BR" sz="1000" dirty="0"/>
          </a:p>
        </p:txBody>
      </p:sp>
      <p:sp>
        <p:nvSpPr>
          <p:cNvPr id="6" name="Texto"/>
          <p:cNvSpPr txBox="1"/>
          <p:nvPr/>
        </p:nvSpPr>
        <p:spPr>
          <a:xfrm>
            <a:off x="7315200" y="1463040"/>
            <a:ext cx="420624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AA0808"/>
                </a:solidFill>
              </a:rPr>
              <a:t>SE PULAR, APARECE…</a:t>
            </a:r>
            <a:endParaRPr lang="pt-BR" sz="1000" dirty="0"/>
          </a:p>
        </p:txBody>
      </p:sp>
      <p:sp>
        <p:nvSpPr>
          <p:cNvPr id="7" name="Cartão"/>
          <p:cNvSpPr/>
          <p:nvPr/>
        </p:nvSpPr>
        <p:spPr>
          <a:xfrm>
            <a:off x="548640" y="1783080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inspection"/>
          <p:cNvSpPr/>
          <p:nvPr/>
        </p:nvSpPr>
        <p:spPr>
          <a:xfrm>
            <a:off x="713232" y="1892808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9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" y="1991563"/>
            <a:ext cx="213970" cy="213970"/>
          </a:xfrm>
          <a:prstGeom prst="rect">
            <a:avLst/>
          </a:prstGeom>
        </p:spPr>
      </p:pic>
      <p:sp>
        <p:nvSpPr>
          <p:cNvPr id="10" name="Texto"/>
          <p:cNvSpPr txBox="1"/>
          <p:nvPr/>
        </p:nvSpPr>
        <p:spPr>
          <a:xfrm>
            <a:off x="1261872" y="1783080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3108960" y="1783080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Erros de JavaScript e as regras do plugin Fiori tools do ESLint</a:t>
            </a:r>
            <a:endParaRPr lang="pt-BR" sz="1150" dirty="0"/>
          </a:p>
        </p:txBody>
      </p:sp>
      <p:cxnSp>
        <p:nvCxnSpPr>
          <p:cNvPr id="12" name="Conector"/>
          <p:cNvCxnSpPr/>
          <p:nvPr/>
        </p:nvCxnSpPr>
        <p:spPr>
          <a:xfrm>
            <a:off x="7178040" y="1920240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3" name="Texto"/>
          <p:cNvSpPr txBox="1"/>
          <p:nvPr/>
        </p:nvSpPr>
        <p:spPr>
          <a:xfrm>
            <a:off x="7315200" y="1783080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navegador de quem abre a app publicada</a:t>
            </a:r>
            <a:endParaRPr lang="pt-BR" sz="1150" dirty="0"/>
          </a:p>
        </p:txBody>
      </p:sp>
      <p:sp>
        <p:nvSpPr>
          <p:cNvPr id="14" name="Cartão"/>
          <p:cNvSpPr/>
          <p:nvPr/>
        </p:nvSpPr>
        <p:spPr>
          <a:xfrm>
            <a:off x="548640" y="2505456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Ícone sap-box"/>
          <p:cNvSpPr/>
          <p:nvPr/>
        </p:nvSpPr>
        <p:spPr>
          <a:xfrm>
            <a:off x="713232" y="2615184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6" name="Imagem" descr="sap-bo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" y="2713939"/>
            <a:ext cx="213970" cy="213970"/>
          </a:xfrm>
          <a:prstGeom prst="rect">
            <a:avLst/>
          </a:prstGeom>
        </p:spPr>
      </p:pic>
      <p:sp>
        <p:nvSpPr>
          <p:cNvPr id="17" name="Texto"/>
          <p:cNvSpPr txBox="1"/>
          <p:nvPr/>
        </p:nvSpPr>
        <p:spPr>
          <a:xfrm>
            <a:off x="1261872" y="2505456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pt-BR" sz="1100" dirty="0"/>
          </a:p>
        </p:txBody>
      </p:sp>
      <p:sp>
        <p:nvSpPr>
          <p:cNvPr id="18" name="Texto"/>
          <p:cNvSpPr txBox="1"/>
          <p:nvPr/>
        </p:nvSpPr>
        <p:spPr>
          <a:xfrm>
            <a:off x="3108960" y="2505456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Que o projeto gera o dist/ com preload e cachebuster</a:t>
            </a:r>
            <a:endParaRPr lang="pt-BR" sz="1150" dirty="0"/>
          </a:p>
        </p:txBody>
      </p:sp>
      <p:cxnSp>
        <p:nvCxnSpPr>
          <p:cNvPr id="19" name="Conector"/>
          <p:cNvCxnSpPr/>
          <p:nvPr/>
        </p:nvCxnSpPr>
        <p:spPr>
          <a:xfrm>
            <a:off x="7178040" y="2642616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20" name="Texto"/>
          <p:cNvSpPr txBox="1"/>
          <p:nvPr/>
        </p:nvSpPr>
        <p:spPr>
          <a:xfrm>
            <a:off x="7315200" y="2505456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meio do deploy, junto com erros de conexão e pacote</a:t>
            </a:r>
            <a:endParaRPr lang="pt-BR" sz="1150" dirty="0"/>
          </a:p>
        </p:txBody>
      </p:sp>
      <p:sp>
        <p:nvSpPr>
          <p:cNvPr id="21" name="Cartão"/>
          <p:cNvSpPr/>
          <p:nvPr/>
        </p:nvSpPr>
        <p:spPr>
          <a:xfrm>
            <a:off x="548640" y="3227832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validate"/>
          <p:cNvSpPr/>
          <p:nvPr/>
        </p:nvSpPr>
        <p:spPr>
          <a:xfrm>
            <a:off x="713232" y="333756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23" name="Imagem" descr="valid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" y="3436315"/>
            <a:ext cx="213970" cy="213970"/>
          </a:xfrm>
          <a:prstGeom prst="rect">
            <a:avLst/>
          </a:prstGeom>
        </p:spPr>
      </p:pic>
      <p:sp>
        <p:nvSpPr>
          <p:cNvPr id="24" name="Texto"/>
          <p:cNvSpPr txBox="1"/>
          <p:nvPr/>
        </p:nvSpPr>
        <p:spPr>
          <a:xfrm>
            <a:off x="1261872" y="3227832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pt-BR" sz="1100" dirty="0"/>
          </a:p>
        </p:txBody>
      </p:sp>
      <p:sp>
        <p:nvSpPr>
          <p:cNvPr id="25" name="Texto"/>
          <p:cNvSpPr txBox="1"/>
          <p:nvPr/>
        </p:nvSpPr>
        <p:spPr>
          <a:xfrm>
            <a:off x="3108960" y="3227832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List Report e Object Page abrem e navegam com o mock</a:t>
            </a:r>
            <a:endParaRPr lang="pt-BR" sz="1150" dirty="0"/>
          </a:p>
        </p:txBody>
      </p:sp>
      <p:cxnSp>
        <p:nvCxnSpPr>
          <p:cNvPr id="26" name="Conector"/>
          <p:cNvCxnSpPr/>
          <p:nvPr/>
        </p:nvCxnSpPr>
        <p:spPr>
          <a:xfrm>
            <a:off x="7178040" y="3364992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27" name="Texto"/>
          <p:cNvSpPr txBox="1"/>
          <p:nvPr/>
        </p:nvSpPr>
        <p:spPr>
          <a:xfrm>
            <a:off x="7315200" y="3227832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…como tela quebrada após mudar manifest ou anotações</a:t>
            </a:r>
            <a:endParaRPr lang="pt-BR" sz="1150" dirty="0"/>
          </a:p>
        </p:txBody>
      </p:sp>
      <p:sp>
        <p:nvSpPr>
          <p:cNvPr id="28" name="Cartão"/>
          <p:cNvSpPr/>
          <p:nvPr/>
        </p:nvSpPr>
        <p:spPr>
          <a:xfrm>
            <a:off x="548640" y="3950208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e-learning"/>
          <p:cNvSpPr/>
          <p:nvPr/>
        </p:nvSpPr>
        <p:spPr>
          <a:xfrm>
            <a:off x="713232" y="4059936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30" name="Imagem" descr="e-learn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" y="4158691"/>
            <a:ext cx="213970" cy="213970"/>
          </a:xfrm>
          <a:prstGeom prst="rect">
            <a:avLst/>
          </a:prstGeom>
        </p:spPr>
      </p:pic>
      <p:sp>
        <p:nvSpPr>
          <p:cNvPr id="31" name="Texto"/>
          <p:cNvSpPr txBox="1"/>
          <p:nvPr/>
        </p:nvSpPr>
        <p:spPr>
          <a:xfrm>
            <a:off x="1261872" y="3950208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pt-BR" sz="1100" dirty="0"/>
          </a:p>
        </p:txBody>
      </p:sp>
      <p:sp>
        <p:nvSpPr>
          <p:cNvPr id="32" name="Texto"/>
          <p:cNvSpPr txBox="1"/>
          <p:nvPr/>
        </p:nvSpPr>
        <p:spPr>
          <a:xfrm>
            <a:off x="3108960" y="3950208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Catálogo de cenários, textos i18n e o $apply das consultas</a:t>
            </a:r>
            <a:endParaRPr lang="pt-BR" sz="1150" dirty="0"/>
          </a:p>
        </p:txBody>
      </p:sp>
      <p:cxnSp>
        <p:nvCxnSpPr>
          <p:cNvPr id="33" name="Conector"/>
          <p:cNvCxnSpPr/>
          <p:nvPr/>
        </p:nvCxnSpPr>
        <p:spPr>
          <a:xfrm>
            <a:off x="7178040" y="4087368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34" name="Texto"/>
          <p:cNvSpPr txBox="1"/>
          <p:nvPr/>
        </p:nvSpPr>
        <p:spPr>
          <a:xfrm>
            <a:off x="7315200" y="3950208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…como gráfico vazio ou erro de groupby na análise</a:t>
            </a:r>
            <a:endParaRPr lang="pt-BR" sz="1150" dirty="0"/>
          </a:p>
        </p:txBody>
      </p:sp>
      <p:sp>
        <p:nvSpPr>
          <p:cNvPr id="35" name="Cartão"/>
          <p:cNvSpPr/>
          <p:nvPr/>
        </p:nvSpPr>
        <p:spPr>
          <a:xfrm>
            <a:off x="548640" y="4672584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6" name="Ícone syntax"/>
          <p:cNvSpPr/>
          <p:nvPr/>
        </p:nvSpPr>
        <p:spPr>
          <a:xfrm>
            <a:off x="713232" y="4782312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37" name="Imagem" descr="syntax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87" y="4881067"/>
            <a:ext cx="213970" cy="213970"/>
          </a:xfrm>
          <a:prstGeom prst="rect">
            <a:avLst/>
          </a:prstGeom>
        </p:spPr>
      </p:pic>
      <p:sp>
        <p:nvSpPr>
          <p:cNvPr id="38" name="Texto"/>
          <p:cNvSpPr txBox="1"/>
          <p:nvPr/>
        </p:nvSpPr>
        <p:spPr>
          <a:xfrm>
            <a:off x="1261872" y="4672584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@ui5/linter</a:t>
            </a:r>
            <a:endParaRPr lang="pt-BR" sz="1100" dirty="0"/>
          </a:p>
        </p:txBody>
      </p:sp>
      <p:sp>
        <p:nvSpPr>
          <p:cNvPr id="39" name="Texto"/>
          <p:cNvSpPr txBox="1"/>
          <p:nvPr/>
        </p:nvSpPr>
        <p:spPr>
          <a:xfrm>
            <a:off x="3108960" y="4672584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APIs depreciadas e práticas fora do padrão SAPUI5</a:t>
            </a:r>
            <a:endParaRPr lang="pt-BR" sz="1150" dirty="0"/>
          </a:p>
        </p:txBody>
      </p:sp>
      <p:cxnSp>
        <p:nvCxnSpPr>
          <p:cNvPr id="40" name="Conector"/>
          <p:cNvCxnSpPr/>
          <p:nvPr/>
        </p:nvCxnSpPr>
        <p:spPr>
          <a:xfrm>
            <a:off x="7178040" y="4809744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1" name="Texto"/>
          <p:cNvSpPr txBox="1"/>
          <p:nvPr/>
        </p:nvSpPr>
        <p:spPr>
          <a:xfrm>
            <a:off x="7315200" y="4672584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próximo upgrade do SAPUI5 do BTP ou do FES</a:t>
            </a:r>
            <a:endParaRPr lang="pt-BR" sz="1150" dirty="0"/>
          </a:p>
        </p:txBody>
      </p:sp>
      <p:sp>
        <p:nvSpPr>
          <p:cNvPr id="42" name="Cartão"/>
          <p:cNvSpPr/>
          <p:nvPr/>
        </p:nvSpPr>
        <p:spPr>
          <a:xfrm>
            <a:off x="548640" y="5394960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Ícone upload-to-cloud"/>
          <p:cNvSpPr/>
          <p:nvPr/>
        </p:nvSpPr>
        <p:spPr>
          <a:xfrm>
            <a:off x="713232" y="5504688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44" name="Imagem" descr="upload-to-clo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987" y="5603443"/>
            <a:ext cx="213970" cy="213970"/>
          </a:xfrm>
          <a:prstGeom prst="rect">
            <a:avLst/>
          </a:prstGeom>
        </p:spPr>
      </p:pic>
      <p:sp>
        <p:nvSpPr>
          <p:cNvPr id="45" name="Texto"/>
          <p:cNvSpPr txBox="1"/>
          <p:nvPr/>
        </p:nvSpPr>
        <p:spPr>
          <a:xfrm>
            <a:off x="1261872" y="5394960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deploy-test</a:t>
            </a:r>
            <a:endParaRPr lang="pt-BR" sz="1100" dirty="0"/>
          </a:p>
        </p:txBody>
      </p:sp>
      <p:sp>
        <p:nvSpPr>
          <p:cNvPr id="46" name="Texto"/>
          <p:cNvSpPr txBox="1"/>
          <p:nvPr/>
        </p:nvSpPr>
        <p:spPr>
          <a:xfrm>
            <a:off x="3108960" y="5394960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URL, cliente, login, pacote e transporte, sem gravar</a:t>
            </a:r>
            <a:endParaRPr lang="pt-BR" sz="1150" dirty="0"/>
          </a:p>
        </p:txBody>
      </p:sp>
      <p:cxnSp>
        <p:nvCxnSpPr>
          <p:cNvPr id="47" name="Conector"/>
          <p:cNvCxnSpPr/>
          <p:nvPr/>
        </p:nvCxnSpPr>
        <p:spPr>
          <a:xfrm>
            <a:off x="7178040" y="5532120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8" name="Texto"/>
          <p:cNvSpPr txBox="1"/>
          <p:nvPr/>
        </p:nvSpPr>
        <p:spPr>
          <a:xfrm>
            <a:off x="7315200" y="5394960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…já gravando no ABAP Repository do sistema</a:t>
            </a:r>
            <a:endParaRPr lang="pt-BR" sz="115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ANTES DO DEPLOY · RESPONSABILIDADE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Quem roda o deploy responde pelo que publica</a:t>
            </a:r>
            <a:endParaRPr lang="pt-BR" sz="3000" dirty="0"/>
          </a:p>
        </p:txBody>
      </p:sp>
      <p:sp>
        <p:nvSpPr>
          <p:cNvPr id="5" name="Etapa lint"/>
          <p:cNvSpPr/>
          <p:nvPr/>
        </p:nvSpPr>
        <p:spPr>
          <a:xfrm>
            <a:off x="548640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685800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7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139" y="1970715"/>
            <a:ext cx="228234" cy="22823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1234440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1. lint</a:t>
            </a:r>
            <a:endParaRPr lang="pt-BR" sz="1250" dirty="0"/>
          </a:p>
        </p:txBody>
      </p:sp>
      <p:cxnSp>
        <p:nvCxnSpPr>
          <p:cNvPr id="9" name="Conector"/>
          <p:cNvCxnSpPr/>
          <p:nvPr/>
        </p:nvCxnSpPr>
        <p:spPr>
          <a:xfrm>
            <a:off x="2234184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0" name="Etapa testes"/>
          <p:cNvSpPr/>
          <p:nvPr/>
        </p:nvSpPr>
        <p:spPr>
          <a:xfrm>
            <a:off x="2435352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validate"/>
          <p:cNvSpPr/>
          <p:nvPr/>
        </p:nvSpPr>
        <p:spPr>
          <a:xfrm>
            <a:off x="2572512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12" name="Imagem" descr="valida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851" y="1970715"/>
            <a:ext cx="228234" cy="228234"/>
          </a:xfrm>
          <a:prstGeom prst="rect">
            <a:avLst/>
          </a:prstGeom>
        </p:spPr>
      </p:pic>
      <p:sp>
        <p:nvSpPr>
          <p:cNvPr id="13" name="Texto"/>
          <p:cNvSpPr txBox="1"/>
          <p:nvPr/>
        </p:nvSpPr>
        <p:spPr>
          <a:xfrm>
            <a:off x="3121152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2. testes</a:t>
            </a:r>
            <a:endParaRPr lang="pt-BR" sz="1250" dirty="0"/>
          </a:p>
        </p:txBody>
      </p:sp>
      <p:cxnSp>
        <p:nvCxnSpPr>
          <p:cNvPr id="14" name="Conector"/>
          <p:cNvCxnSpPr/>
          <p:nvPr/>
        </p:nvCxnSpPr>
        <p:spPr>
          <a:xfrm>
            <a:off x="4120896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Etapa UI5 linter"/>
          <p:cNvSpPr/>
          <p:nvPr/>
        </p:nvSpPr>
        <p:spPr>
          <a:xfrm>
            <a:off x="4322064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yntax"/>
          <p:cNvSpPr/>
          <p:nvPr/>
        </p:nvSpPr>
        <p:spPr>
          <a:xfrm>
            <a:off x="4459224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17" name="Imagem" descr="synta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4563" y="1970715"/>
            <a:ext cx="228234" cy="228234"/>
          </a:xfrm>
          <a:prstGeom prst="rect">
            <a:avLst/>
          </a:prstGeom>
        </p:spPr>
      </p:pic>
      <p:sp>
        <p:nvSpPr>
          <p:cNvPr id="18" name="Texto"/>
          <p:cNvSpPr txBox="1"/>
          <p:nvPr/>
        </p:nvSpPr>
        <p:spPr>
          <a:xfrm>
            <a:off x="5007864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3. UI5 linter</a:t>
            </a:r>
            <a:endParaRPr lang="pt-BR" sz="1250" dirty="0"/>
          </a:p>
        </p:txBody>
      </p:sp>
      <p:cxnSp>
        <p:nvCxnSpPr>
          <p:cNvPr id="19" name="Conector"/>
          <p:cNvCxnSpPr/>
          <p:nvPr/>
        </p:nvCxnSpPr>
        <p:spPr>
          <a:xfrm>
            <a:off x="6007608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Etapa build"/>
          <p:cNvSpPr/>
          <p:nvPr/>
        </p:nvSpPr>
        <p:spPr>
          <a:xfrm>
            <a:off x="6208776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6345936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22" name="Imagem" descr="sap-box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275" y="1970715"/>
            <a:ext cx="228234" cy="228234"/>
          </a:xfrm>
          <a:prstGeom prst="rect">
            <a:avLst/>
          </a:prstGeom>
        </p:spPr>
      </p:pic>
      <p:sp>
        <p:nvSpPr>
          <p:cNvPr id="23" name="Texto"/>
          <p:cNvSpPr txBox="1"/>
          <p:nvPr/>
        </p:nvSpPr>
        <p:spPr>
          <a:xfrm>
            <a:off x="6894576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4. build</a:t>
            </a:r>
            <a:endParaRPr lang="pt-BR" sz="1250" dirty="0"/>
          </a:p>
        </p:txBody>
      </p:sp>
      <p:cxnSp>
        <p:nvCxnSpPr>
          <p:cNvPr id="24" name="Conector"/>
          <p:cNvCxnSpPr/>
          <p:nvPr/>
        </p:nvCxnSpPr>
        <p:spPr>
          <a:xfrm>
            <a:off x="7894320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Etapa deploy-test"/>
          <p:cNvSpPr/>
          <p:nvPr/>
        </p:nvSpPr>
        <p:spPr>
          <a:xfrm>
            <a:off x="8095488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upload-to-cloud"/>
          <p:cNvSpPr/>
          <p:nvPr/>
        </p:nvSpPr>
        <p:spPr>
          <a:xfrm>
            <a:off x="8232648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27" name="Imagem" descr="upload-to-clou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7987" y="1970715"/>
            <a:ext cx="228234" cy="228234"/>
          </a:xfrm>
          <a:prstGeom prst="rect">
            <a:avLst/>
          </a:prstGeom>
        </p:spPr>
      </p:pic>
      <p:sp>
        <p:nvSpPr>
          <p:cNvPr id="28" name="Texto"/>
          <p:cNvSpPr txBox="1"/>
          <p:nvPr/>
        </p:nvSpPr>
        <p:spPr>
          <a:xfrm>
            <a:off x="8781288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5. deploy-test</a:t>
            </a:r>
            <a:endParaRPr lang="pt-BR" sz="1250" dirty="0"/>
          </a:p>
        </p:txBody>
      </p:sp>
      <p:cxnSp>
        <p:nvCxnSpPr>
          <p:cNvPr id="29" name="Conector"/>
          <p:cNvCxnSpPr/>
          <p:nvPr/>
        </p:nvCxnSpPr>
        <p:spPr>
          <a:xfrm>
            <a:off x="9781032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Etapa deploy"/>
          <p:cNvSpPr/>
          <p:nvPr/>
        </p:nvSpPr>
        <p:spPr>
          <a:xfrm>
            <a:off x="9982200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0070F2"/>
          </a:solidFill>
          <a:ln>
            <a:noFill/>
          </a:ln>
        </p:spPr>
      </p:sp>
      <p:sp>
        <p:nvSpPr>
          <p:cNvPr id="31" name="Ícone upload-to-cloud"/>
          <p:cNvSpPr/>
          <p:nvPr/>
        </p:nvSpPr>
        <p:spPr>
          <a:xfrm>
            <a:off x="10119360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2" name="Imagem" descr="upload-to-clo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4699" y="1970715"/>
            <a:ext cx="228234" cy="228234"/>
          </a:xfrm>
          <a:prstGeom prst="rect">
            <a:avLst/>
          </a:prstGeom>
        </p:spPr>
      </p:pic>
      <p:sp>
        <p:nvSpPr>
          <p:cNvPr id="33" name="Texto"/>
          <p:cNvSpPr txBox="1"/>
          <p:nvPr/>
        </p:nvSpPr>
        <p:spPr>
          <a:xfrm>
            <a:off x="10668000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FFFFFF"/>
                </a:solidFill>
              </a:rPr>
              <a:t>6. deploy</a:t>
            </a:r>
            <a:endParaRPr lang="pt-BR" sz="1250" dirty="0"/>
          </a:p>
        </p:txBody>
      </p:sp>
      <p:sp>
        <p:nvSpPr>
          <p:cNvPr id="34" name="Regra"/>
          <p:cNvSpPr/>
          <p:nvPr/>
        </p:nvSpPr>
        <p:spPr>
          <a:xfrm>
            <a:off x="548640" y="2697480"/>
            <a:ext cx="11091672" cy="640080"/>
          </a:xfrm>
          <a:prstGeom prst="roundRect">
            <a:avLst>
              <a:gd name="adj" fmla="val 9000"/>
            </a:avLst>
          </a:prstGeom>
          <a:solidFill>
            <a:srgbClr val="FFEAF4"/>
          </a:solidFill>
          <a:ln>
            <a:noFill/>
          </a:ln>
        </p:spPr>
      </p:sp>
      <p:sp>
        <p:nvSpPr>
          <p:cNvPr id="35" name="Ícone alert"/>
          <p:cNvSpPr/>
          <p:nvPr/>
        </p:nvSpPr>
        <p:spPr>
          <a:xfrm>
            <a:off x="713232" y="2798064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aler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571" y="2903403"/>
            <a:ext cx="228234" cy="22823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1325880" y="2697480"/>
            <a:ext cx="10149840" cy="6400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AA0808"/>
                </a:solidFill>
              </a:rPr>
              <a:t xml:space="preserve">Regra: </a:t>
            </a:r>
            <a:r>
              <a:rPr lang="pt-BR" sz="1250" dirty="0">
                <a:solidFill>
                  <a:srgbClr val="1D2D3E"/>
                </a:solidFill>
              </a:rPr>
              <a:t>qualquer falha interrompe a sequência. Corrija, rode de novo desde o lint e só então siga para o deploy.</a:t>
            </a:r>
            <a:endParaRPr lang="pt-BR" sz="1250" dirty="0"/>
          </a:p>
        </p:txBody>
      </p:sp>
      <p:sp>
        <p:nvSpPr>
          <p:cNvPr id="38" name="Cartão"/>
          <p:cNvSpPr/>
          <p:nvPr/>
        </p:nvSpPr>
        <p:spPr>
          <a:xfrm>
            <a:off x="548640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9" name="Ícone person-placeholder"/>
          <p:cNvSpPr/>
          <p:nvPr/>
        </p:nvSpPr>
        <p:spPr>
          <a:xfrm>
            <a:off x="777240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40" name="Imagem" descr="person-placehold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357" y="3835725"/>
            <a:ext cx="247254" cy="247254"/>
          </a:xfrm>
          <a:prstGeom prst="rect">
            <a:avLst/>
          </a:prstGeom>
        </p:spPr>
      </p:pic>
      <p:sp>
        <p:nvSpPr>
          <p:cNvPr id="41" name="Texto"/>
          <p:cNvSpPr txBox="1"/>
          <p:nvPr/>
        </p:nvSpPr>
        <p:spPr>
          <a:xfrm>
            <a:off x="1371600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Sem CI no repositório</a:t>
            </a:r>
            <a:endParaRPr lang="pt-BR" sz="1400" dirty="0"/>
          </a:p>
        </p:txBody>
      </p:sp>
      <p:sp>
        <p:nvSpPr>
          <p:cNvPr id="42" name="Texto"/>
          <p:cNvSpPr txBox="1"/>
          <p:nvPr/>
        </p:nvSpPr>
        <p:spPr>
          <a:xfrm>
            <a:off x="777240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Nenhum pipeline roda os testes por você: a única barreira entre o código e o sistema é quem executa o npm run deploy.</a:t>
            </a:r>
            <a:endParaRPr lang="pt-BR" sz="1200" dirty="0"/>
          </a:p>
        </p:txBody>
      </p:sp>
      <p:cxnSp>
        <p:nvCxnSpPr>
          <p:cNvPr id="43" name="Conector"/>
          <p:cNvCxnSpPr/>
          <p:nvPr/>
        </p:nvCxnSpPr>
        <p:spPr>
          <a:xfrm>
            <a:off x="777240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4" name="Texto"/>
          <p:cNvSpPr txBox="1"/>
          <p:nvPr/>
        </p:nvSpPr>
        <p:spPr>
          <a:xfrm>
            <a:off x="777240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070F2"/>
                </a:solidFill>
              </a:rPr>
              <a:t>Responsável: quem publica</a:t>
            </a:r>
            <a:endParaRPr lang="pt-BR" sz="1100" dirty="0"/>
          </a:p>
        </p:txBody>
      </p:sp>
      <p:sp>
        <p:nvSpPr>
          <p:cNvPr id="45" name="Cartão"/>
          <p:cNvSpPr/>
          <p:nvPr/>
        </p:nvSpPr>
        <p:spPr>
          <a:xfrm>
            <a:off x="4338828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6" name="Ícone list"/>
          <p:cNvSpPr/>
          <p:nvPr/>
        </p:nvSpPr>
        <p:spPr>
          <a:xfrm>
            <a:off x="4567428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47" name="Imagem" descr="lis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81545" y="3835725"/>
            <a:ext cx="247254" cy="247254"/>
          </a:xfrm>
          <a:prstGeom prst="rect">
            <a:avLst/>
          </a:prstGeom>
        </p:spPr>
      </p:pic>
      <p:sp>
        <p:nvSpPr>
          <p:cNvPr id="48" name="Texto"/>
          <p:cNvSpPr txBox="1"/>
          <p:nvPr/>
        </p:nvSpPr>
        <p:spPr>
          <a:xfrm>
            <a:off x="5161788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Cada app é um projeto</a:t>
            </a:r>
            <a:endParaRPr lang="pt-BR" sz="1400" dirty="0"/>
          </a:p>
        </p:txBody>
      </p:sp>
      <p:sp>
        <p:nvSpPr>
          <p:cNvPr id="49" name="Texto"/>
          <p:cNvSpPr txBox="1"/>
          <p:nvPr/>
        </p:nvSpPr>
        <p:spPr>
          <a:xfrm>
            <a:off x="4567428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Os comandos rodam na pasta de cada app alterada. Uma correção no motor das análises vale para as quatro e exige rodar as quatro.</a:t>
            </a:r>
            <a:endParaRPr lang="pt-BR" sz="1200" dirty="0"/>
          </a:p>
        </p:txBody>
      </p:sp>
      <p:cxnSp>
        <p:nvCxnSpPr>
          <p:cNvPr id="50" name="Conector"/>
          <p:cNvCxnSpPr/>
          <p:nvPr/>
        </p:nvCxnSpPr>
        <p:spPr>
          <a:xfrm>
            <a:off x="4567428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51" name="Texto"/>
          <p:cNvSpPr txBox="1"/>
          <p:nvPr/>
        </p:nvSpPr>
        <p:spPr>
          <a:xfrm>
            <a:off x="4567428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49F9A"/>
                </a:solidFill>
              </a:rPr>
              <a:t>Escopo: todas as apps tocadas</a:t>
            </a:r>
            <a:endParaRPr lang="pt-BR" sz="1100" dirty="0"/>
          </a:p>
        </p:txBody>
      </p:sp>
      <p:sp>
        <p:nvSpPr>
          <p:cNvPr id="52" name="Cartão"/>
          <p:cNvSpPr/>
          <p:nvPr/>
        </p:nvSpPr>
        <p:spPr>
          <a:xfrm>
            <a:off x="8129016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3" name="Ícone it-system"/>
          <p:cNvSpPr/>
          <p:nvPr/>
        </p:nvSpPr>
        <p:spPr>
          <a:xfrm>
            <a:off x="8357616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54" name="Imagem" descr="it-system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71733" y="3835725"/>
            <a:ext cx="247254" cy="247254"/>
          </a:xfrm>
          <a:prstGeom prst="rect">
            <a:avLst/>
          </a:prstGeom>
        </p:spPr>
      </p:pic>
      <p:sp>
        <p:nvSpPr>
          <p:cNvPr id="55" name="Texto"/>
          <p:cNvSpPr txBox="1"/>
          <p:nvPr/>
        </p:nvSpPr>
        <p:spPr>
          <a:xfrm>
            <a:off x="8951976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O sistema é compartilhado</a:t>
            </a:r>
            <a:endParaRPr lang="pt-BR" sz="1400" dirty="0"/>
          </a:p>
        </p:txBody>
      </p:sp>
      <p:sp>
        <p:nvSpPr>
          <p:cNvPr id="56" name="Texto"/>
          <p:cNvSpPr txBox="1"/>
          <p:nvPr/>
        </p:nvSpPr>
        <p:spPr>
          <a:xfrm>
            <a:off x="8357616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No BTP trial o pacote ZLOCAL não tem transporte: a versão vale na hora. No On-Premise a ordem leva o mesmo código a QAS e PRD.</a:t>
            </a:r>
            <a:endParaRPr lang="pt-BR" sz="1200" dirty="0"/>
          </a:p>
        </p:txBody>
      </p:sp>
      <p:cxnSp>
        <p:nvCxnSpPr>
          <p:cNvPr id="57" name="Conector"/>
          <p:cNvCxnSpPr/>
          <p:nvPr/>
        </p:nvCxnSpPr>
        <p:spPr>
          <a:xfrm>
            <a:off x="8357616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58" name="Texto"/>
          <p:cNvSpPr txBox="1"/>
          <p:nvPr/>
        </p:nvSpPr>
        <p:spPr>
          <a:xfrm>
            <a:off x="8357616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8B47D7"/>
                </a:solidFill>
              </a:rPr>
              <a:t>Impacto: todos os usuários</a:t>
            </a:r>
            <a:endParaRPr lang="pt-BR" sz="1100" dirty="0"/>
          </a:p>
        </p:txBody>
      </p:sp>
      <p:sp>
        <p:nvSpPr>
          <p:cNvPr id="5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o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spc="200" kern="0" dirty="0">
                <a:solidFill>
                  <a:srgbClr val="89D1FF"/>
                </a:solidFill>
              </a:rPr>
              <a:t>ETAPA 5 · SAP BTP</a:t>
            </a:r>
            <a:endParaRPr lang="pt-BR" sz="1400" dirty="0"/>
          </a:p>
        </p:txBody>
      </p:sp>
      <p:sp>
        <p:nvSpPr>
          <p:cNvPr id="4" name="Texto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Apps no SAP BTP, ABAP environment</a:t>
            </a:r>
            <a:endParaRPr lang="pt-BR" sz="4400" dirty="0"/>
          </a:p>
        </p:txBody>
      </p:sp>
      <p:sp>
        <p:nvSpPr>
          <p:cNvPr id="5" name="Texto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800" dirty="0">
                <a:solidFill>
                  <a:schemeClr val="bg2"/>
                </a:solidFill>
              </a:rPr>
              <a:t>Deploy com login pelo SAP ID, IAM Apps dos tiles nos Business Catalogs e, no trial, o acesso pelo SAP Build Work Zone.</a:t>
            </a:r>
            <a:endParaRPr lang="pt-BR" sz="1800" dirty="0"/>
          </a:p>
        </p:txBody>
      </p:sp>
      <p:sp>
        <p:nvSpPr>
          <p:cNvPr id="6" name="Ícone cloud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>
            <a:noFill/>
          </a:ln>
        </p:spPr>
      </p:sp>
      <p:pic>
        <p:nvPicPr>
          <p:cNvPr id="7" name="Imagem" descr="clou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585216"/>
            <a:ext cx="384048" cy="384048"/>
          </a:xfrm>
          <a:prstGeom prst="rect">
            <a:avLst/>
          </a:prstGeom>
        </p:spPr>
      </p:pic>
      <p:sp>
        <p:nvSpPr>
          <p:cNvPr id="8" name="Objetos da seção"/>
          <p:cNvSpPr/>
          <p:nvPr/>
        </p:nvSpPr>
        <p:spPr>
          <a:xfrm>
            <a:off x="8001000" y="1325880"/>
            <a:ext cx="3639312" cy="2980944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>
            <a:noFill/>
          </a:ln>
        </p:spPr>
      </p:sp>
      <p:sp>
        <p:nvSpPr>
          <p:cNvPr id="9" name="Texto"/>
          <p:cNvSpPr txBox="1"/>
          <p:nvPr/>
        </p:nvSpPr>
        <p:spPr>
          <a:xfrm>
            <a:off x="8275320" y="1481328"/>
            <a:ext cx="30906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rgbClr val="89D1FF"/>
                </a:solidFill>
              </a:rPr>
              <a:t>OBJETOS NESTA SEÇÃO</a:t>
            </a:r>
            <a:endParaRPr lang="pt-BR" sz="1100" dirty="0"/>
          </a:p>
        </p:txBody>
      </p:sp>
      <p:sp>
        <p:nvSpPr>
          <p:cNvPr id="10" name="Texto"/>
          <p:cNvSpPr txBox="1"/>
          <p:nvPr/>
        </p:nvSpPr>
        <p:spPr>
          <a:xfrm>
            <a:off x="8275320" y="187452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r>
              <a:rPr lang="pt-BR" sz="1100" dirty="0">
                <a:solidFill>
                  <a:srgbClr val="D1EFFF"/>
                </a:solidFill>
              </a:rPr>
              <a:t xml:space="preserve">  deploy-to-abap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8275320" y="2258568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r>
              <a:rPr lang="pt-BR" sz="1100" dirty="0">
                <a:solidFill>
                  <a:srgbClr val="D1EFFF"/>
                </a:solidFill>
              </a:rPr>
              <a:t xml:space="preserve">  login no navegador</a:t>
            </a:r>
            <a:endParaRPr lang="pt-BR" sz="1100" dirty="0"/>
          </a:p>
        </p:txBody>
      </p:sp>
      <p:sp>
        <p:nvSpPr>
          <p:cNvPr id="12" name="Texto"/>
          <p:cNvSpPr txBox="1"/>
          <p:nvPr/>
        </p:nvSpPr>
        <p:spPr>
          <a:xfrm>
            <a:off x="8275320" y="2642616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ZPC_* · ZPC_ANL_*</a:t>
            </a:r>
            <a:r>
              <a:rPr lang="pt-BR" sz="1100" dirty="0">
                <a:solidFill>
                  <a:srgbClr val="D1EFFF"/>
                </a:solidFill>
              </a:rPr>
              <a:t xml:space="preserve">  BSPs</a:t>
            </a:r>
            <a:endParaRPr lang="pt-BR" sz="1100" dirty="0"/>
          </a:p>
        </p:txBody>
      </p:sp>
      <p:sp>
        <p:nvSpPr>
          <p:cNvPr id="13" name="Texto"/>
          <p:cNvSpPr txBox="1"/>
          <p:nvPr/>
        </p:nvSpPr>
        <p:spPr>
          <a:xfrm>
            <a:off x="8275320" y="3026664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ZPC_*_UI5R</a:t>
            </a:r>
            <a:r>
              <a:rPr lang="pt-BR" sz="1100" dirty="0">
                <a:solidFill>
                  <a:srgbClr val="D1EFFF"/>
                </a:solidFill>
              </a:rPr>
              <a:t xml:space="preserve">  IAM App do tile</a:t>
            </a:r>
            <a:endParaRPr lang="pt-BR" sz="1100" dirty="0"/>
          </a:p>
        </p:txBody>
      </p:sp>
      <p:sp>
        <p:nvSpPr>
          <p:cNvPr id="14" name="Texto"/>
          <p:cNvSpPr txBox="1"/>
          <p:nvPr/>
        </p:nvSpPr>
        <p:spPr>
          <a:xfrm>
            <a:off x="8275320" y="3410712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ZPC_BC_* · ZPC_BR_*</a:t>
            </a:r>
            <a:r>
              <a:rPr lang="pt-BR" sz="1100" dirty="0">
                <a:solidFill>
                  <a:srgbClr val="D1EFFF"/>
                </a:solidFill>
              </a:rPr>
              <a:t xml:space="preserve">  catálogos e roles</a:t>
            </a:r>
            <a:endParaRPr lang="pt-BR" sz="1100" dirty="0"/>
          </a:p>
        </p:txBody>
      </p:sp>
      <p:sp>
        <p:nvSpPr>
          <p:cNvPr id="15" name="Texto"/>
          <p:cNvSpPr txBox="1"/>
          <p:nvPr/>
        </p:nvSpPr>
        <p:spPr>
          <a:xfrm>
            <a:off x="8275320" y="379476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 Zone</a:t>
            </a:r>
            <a:r>
              <a:rPr lang="pt-BR" sz="1100" dirty="0">
                <a:solidFill>
                  <a:srgbClr val="D1EFFF"/>
                </a:solidFill>
              </a:rPr>
              <a:t xml:space="preserve">  tiles URL no trial</a:t>
            </a:r>
            <a:endParaRPr lang="pt-BR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CONFIGURAÇÃO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Preparar a app para o deploy no ABAP environment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257800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Número 1"/>
          <p:cNvSpPr/>
          <p:nvPr/>
        </p:nvSpPr>
        <p:spPr>
          <a:xfrm>
            <a:off x="777240" y="1847088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7" name="Texto"/>
          <p:cNvSpPr txBox="1"/>
          <p:nvPr/>
        </p:nvSpPr>
        <p:spPr>
          <a:xfrm>
            <a:off x="1234440" y="1828800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Gerar a configuração</a:t>
            </a:r>
            <a:endParaRPr lang="pt-BR" sz="1300" dirty="0"/>
          </a:p>
        </p:txBody>
      </p:sp>
      <p:sp>
        <p:nvSpPr>
          <p:cNvPr id="8" name="Texto"/>
          <p:cNvSpPr txBox="1"/>
          <p:nvPr/>
        </p:nvSpPr>
        <p:spPr>
          <a:xfrm>
            <a:off x="1234440" y="2157984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Passo Deploy do Application Generator ou npx fiori add deploy-config abap</a:t>
            </a:r>
            <a:endParaRPr lang="pt-BR" sz="1100" dirty="0"/>
          </a:p>
        </p:txBody>
      </p:sp>
      <p:sp>
        <p:nvSpPr>
          <p:cNvPr id="9" name="Número 2"/>
          <p:cNvSpPr/>
          <p:nvPr/>
        </p:nvSpPr>
        <p:spPr>
          <a:xfrm>
            <a:off x="777240" y="2706624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0" name="Texto"/>
          <p:cNvSpPr txBox="1"/>
          <p:nvPr/>
        </p:nvSpPr>
        <p:spPr>
          <a:xfrm>
            <a:off x="1234440" y="2688336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Destino</a:t>
            </a:r>
            <a:endParaRPr lang="pt-BR" sz="1300" dirty="0"/>
          </a:p>
        </p:txBody>
      </p:sp>
      <p:sp>
        <p:nvSpPr>
          <p:cNvPr id="11" name="Texto"/>
          <p:cNvSpPr txBox="1"/>
          <p:nvPr/>
        </p:nvSpPr>
        <p:spPr>
          <a:xfrm>
            <a:off x="1234440" y="3017520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URL do sistema, cliente 100 e reentranceTicket: login no navegador, sem senha no arquivo</a:t>
            </a:r>
            <a:endParaRPr lang="pt-BR" sz="1100" dirty="0"/>
          </a:p>
        </p:txBody>
      </p:sp>
      <p:sp>
        <p:nvSpPr>
          <p:cNvPr id="12" name="Número 3"/>
          <p:cNvSpPr/>
          <p:nvPr/>
        </p:nvSpPr>
        <p:spPr>
          <a:xfrm>
            <a:off x="777240" y="3566160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1234440" y="3547872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Aplicação BSP</a:t>
            </a:r>
            <a:endParaRPr lang="pt-BR" sz="1300" dirty="0"/>
          </a:p>
        </p:txBody>
      </p:sp>
      <p:sp>
        <p:nvSpPr>
          <p:cNvPr id="14" name="Texto"/>
          <p:cNvSpPr txBox="1"/>
          <p:nvPr/>
        </p:nvSpPr>
        <p:spPr>
          <a:xfrm>
            <a:off x="1234440" y="3877056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name ZPC_* (até 15 caracteres), description e o package ZAVBS_PC_* do domínio</a:t>
            </a:r>
            <a:endParaRPr lang="pt-BR" sz="1100" dirty="0"/>
          </a:p>
        </p:txBody>
      </p:sp>
      <p:sp>
        <p:nvSpPr>
          <p:cNvPr id="15" name="Número 4"/>
          <p:cNvSpPr/>
          <p:nvPr/>
        </p:nvSpPr>
        <p:spPr>
          <a:xfrm>
            <a:off x="777240" y="4425696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1234440" y="4407408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Transporte</a:t>
            </a:r>
            <a:endParaRPr lang="pt-BR" sz="1300" dirty="0"/>
          </a:p>
        </p:txBody>
      </p:sp>
      <p:sp>
        <p:nvSpPr>
          <p:cNvPr id="17" name="Texto"/>
          <p:cNvSpPr txBox="1"/>
          <p:nvPr/>
        </p:nvSpPr>
        <p:spPr>
          <a:xfrm>
            <a:off x="1234440" y="4736592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transport vazio no trial (ZLOCAL); em sistemas com transporte, a ordem</a:t>
            </a:r>
            <a:endParaRPr lang="pt-BR" sz="1100" dirty="0"/>
          </a:p>
        </p:txBody>
      </p:sp>
      <p:sp>
        <p:nvSpPr>
          <p:cNvPr id="18" name="Número 5"/>
          <p:cNvSpPr/>
          <p:nvPr/>
        </p:nvSpPr>
        <p:spPr>
          <a:xfrm>
            <a:off x="777240" y="5285232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19" name="Texto"/>
          <p:cNvSpPr txBox="1"/>
          <p:nvPr/>
        </p:nvSpPr>
        <p:spPr>
          <a:xfrm>
            <a:off x="1234440" y="5266944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Tile</a:t>
            </a:r>
            <a:endParaRPr lang="pt-BR" sz="1300" dirty="0"/>
          </a:p>
        </p:txBody>
      </p:sp>
      <p:sp>
        <p:nvSpPr>
          <p:cNvPr id="20" name="Texto"/>
          <p:cNvSpPr txBox="1"/>
          <p:nvPr/>
        </p:nvSpPr>
        <p:spPr>
          <a:xfrm>
            <a:off x="1234440" y="5596128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O inbound do manifest vira o IAM App ZPC_*_UI5R no mesmo pacote</a:t>
            </a:r>
            <a:endParaRPr lang="pt-BR" sz="1100" dirty="0"/>
          </a:p>
        </p:txBody>
      </p:sp>
      <p:sp>
        <p:nvSpPr>
          <p:cNvPr id="21" name="Editor"/>
          <p:cNvSpPr/>
          <p:nvPr/>
        </p:nvSpPr>
        <p:spPr>
          <a:xfrm>
            <a:off x="6035040" y="1645920"/>
            <a:ext cx="5605272" cy="3291840"/>
          </a:xfrm>
          <a:prstGeom prst="roundRect">
            <a:avLst>
              <a:gd name="adj" fmla="val 2400"/>
            </a:avLst>
          </a:prstGeom>
          <a:solidFill>
            <a:srgbClr val="181818"/>
          </a:solidFill>
          <a:ln w="12700">
            <a:solidFill>
              <a:srgbClr val="2B2B2B"/>
            </a:solidFill>
          </a:ln>
        </p:spPr>
      </p:sp>
      <p:sp>
        <p:nvSpPr>
          <p:cNvPr id="22" name="Área do editor"/>
          <p:cNvSpPr/>
          <p:nvPr/>
        </p:nvSpPr>
        <p:spPr>
          <a:xfrm>
            <a:off x="6035040" y="1993392"/>
            <a:ext cx="5605272" cy="2944368"/>
          </a:xfrm>
          <a:prstGeom prst="roundRect">
            <a:avLst>
              <a:gd name="adj" fmla="val 2400"/>
            </a:avLst>
          </a:prstGeom>
          <a:solidFill>
            <a:srgbClr val="1F1F1F"/>
          </a:solidFill>
          <a:ln>
            <a:noFill/>
          </a:ln>
        </p:spPr>
      </p:sp>
      <p:sp>
        <p:nvSpPr>
          <p:cNvPr id="23" name="Forma"/>
          <p:cNvSpPr/>
          <p:nvPr/>
        </p:nvSpPr>
        <p:spPr>
          <a:xfrm>
            <a:off x="6044184" y="1993392"/>
            <a:ext cx="5586984" cy="137160"/>
          </a:xfrm>
          <a:prstGeom prst="rect">
            <a:avLst/>
          </a:prstGeom>
          <a:solidFill>
            <a:srgbClr val="1F1F1F"/>
          </a:solidFill>
          <a:ln>
            <a:noFill/>
          </a:ln>
        </p:spPr>
      </p:sp>
      <p:sp>
        <p:nvSpPr>
          <p:cNvPr id="24" name="Aba manifest.json"/>
          <p:cNvSpPr/>
          <p:nvPr/>
        </p:nvSpPr>
        <p:spPr>
          <a:xfrm>
            <a:off x="6126480" y="1719072"/>
            <a:ext cx="1156716" cy="27432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rgbClr val="FFFFFF"/>
                </a:solidFill>
              </a:rPr>
              <a:t>manifest.json</a:t>
            </a:r>
            <a:endParaRPr lang="pt-BR" sz="1000" dirty="0"/>
          </a:p>
        </p:txBody>
      </p:sp>
      <p:cxnSp>
        <p:nvCxnSpPr>
          <p:cNvPr id="25" name="Conector"/>
          <p:cNvCxnSpPr/>
          <p:nvPr/>
        </p:nvCxnSpPr>
        <p:spPr>
          <a:xfrm>
            <a:off x="6126480" y="1719072"/>
            <a:ext cx="1156716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  <a:round/>
          </a:ln>
        </p:spPr>
      </p:cxnSp>
      <p:sp>
        <p:nvSpPr>
          <p:cNvPr id="26" name="Breadcrumb"/>
          <p:cNvSpPr txBox="1"/>
          <p:nvPr/>
        </p:nvSpPr>
        <p:spPr>
          <a:xfrm>
            <a:off x="6263640" y="2103120"/>
            <a:ext cx="5148072" cy="21945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dirty="0">
                <a:solidFill>
                  <a:srgbClr val="A9A9A9"/>
                </a:solidFill>
              </a:rPr>
              <a:t>pedidos-compras</a:t>
            </a:r>
            <a:r>
              <a:rPr lang="pt-BR" sz="900" dirty="0">
                <a:solidFill>
                  <a:srgbClr val="6E7681"/>
                </a:solidFill>
              </a:rPr>
              <a:t xml:space="preserve">  ›  </a:t>
            </a:r>
            <a:r>
              <a:rPr lang="pt-BR" sz="900" dirty="0">
                <a:solidFill>
                  <a:srgbClr val="A9A9A9"/>
                </a:solidFill>
              </a:rPr>
              <a:t>webapp</a:t>
            </a:r>
            <a:r>
              <a:rPr lang="pt-BR" sz="900" dirty="0">
                <a:solidFill>
                  <a:srgbClr val="6E7681"/>
                </a:solidFill>
              </a:rPr>
              <a:t xml:space="preserve">  ›  </a:t>
            </a:r>
            <a:r>
              <a:rPr lang="pt-BR" sz="900" dirty="0">
                <a:solidFill>
                  <a:srgbClr val="A9A9A9"/>
                </a:solidFill>
              </a:rPr>
              <a:t>manifest.json</a:t>
            </a:r>
            <a:endParaRPr lang="pt-BR" sz="900" dirty="0"/>
          </a:p>
        </p:txBody>
      </p:sp>
      <p:sp>
        <p:nvSpPr>
          <p:cNvPr id="27" name="Trecho de código"/>
          <p:cNvSpPr txBox="1"/>
          <p:nvPr/>
        </p:nvSpPr>
        <p:spPr>
          <a:xfrm>
            <a:off x="6217920" y="2414016"/>
            <a:ext cx="5285232" cy="24231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"crossNavigation"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"inbounds"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"ZPCPedidoCompra-manage"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"semanticObject"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"ZPCPedidoCompra"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"action"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"manage"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"title"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"{{flpTitle}}"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"subTitle"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"{{flpSubtitle}}"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"icon"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"sap-icon://sales-order"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} } }</a:t>
            </a:r>
            <a:endParaRPr lang="pt-BR" sz="1100" dirty="0"/>
          </a:p>
        </p:txBody>
      </p:sp>
      <p:sp>
        <p:nvSpPr>
          <p:cNvPr id="28" name="Cartão"/>
          <p:cNvSpPr/>
          <p:nvPr/>
        </p:nvSpPr>
        <p:spPr>
          <a:xfrm>
            <a:off x="6035040" y="5120640"/>
            <a:ext cx="5605272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validate"/>
          <p:cNvSpPr/>
          <p:nvPr/>
        </p:nvSpPr>
        <p:spPr>
          <a:xfrm>
            <a:off x="6236208" y="534009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30" name="Imagem" descr="validat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45936" y="5449824"/>
            <a:ext cx="237744" cy="237744"/>
          </a:xfrm>
          <a:prstGeom prst="rect">
            <a:avLst/>
          </a:prstGeom>
        </p:spPr>
      </p:pic>
      <p:sp>
        <p:nvSpPr>
          <p:cNvPr id="31" name="Texto"/>
          <p:cNvSpPr txBox="1"/>
          <p:nvPr/>
        </p:nvSpPr>
        <p:spPr>
          <a:xfrm>
            <a:off x="6858000" y="5120640"/>
            <a:ext cx="4663440" cy="10515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 xml:space="preserve">Antes de gravar: </a:t>
            </a:r>
            <a:r>
              <a:rPr lang="pt-BR" sz="1200" dirty="0">
                <a:solidFill>
                  <a:srgbClr val="1D2D3E"/>
                </a:solidFill>
              </a:rPr>
              <a:t>npm run deploy-test simula o deploy; sem erros, npm run deploy grava a BSP e o IAM App.</a:t>
            </a:r>
            <a:endParaRPr lang="pt-BR" sz="12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CATÁLOGOS E ROLES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Do IAM App ao usuário: catálogo, role e espaço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key"/>
          <p:cNvSpPr/>
          <p:nvPr/>
        </p:nvSpPr>
        <p:spPr>
          <a:xfrm>
            <a:off x="731520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7" name="Imagem" descr="ke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38528"/>
            <a:ext cx="237744" cy="237744"/>
          </a:xfrm>
          <a:prstGeom prst="rect">
            <a:avLst/>
          </a:prstGeom>
        </p:spPr>
      </p:pic>
      <p:sp>
        <p:nvSpPr>
          <p:cNvPr id="8" name="Selo 1"/>
          <p:cNvSpPr/>
          <p:nvPr/>
        </p:nvSpPr>
        <p:spPr>
          <a:xfrm>
            <a:off x="1898294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3EC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8B47D7"/>
                </a:solidFill>
              </a:rPr>
              <a:t>1</a:t>
            </a:r>
            <a:endParaRPr lang="pt-BR" sz="1000" dirty="0"/>
          </a:p>
        </p:txBody>
      </p:sp>
      <p:sp>
        <p:nvSpPr>
          <p:cNvPr id="9" name="Texto"/>
          <p:cNvSpPr txBox="1"/>
          <p:nvPr/>
        </p:nvSpPr>
        <p:spPr>
          <a:xfrm>
            <a:off x="731520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IAM App do serviço</a:t>
            </a:r>
            <a:endParaRPr lang="pt-BR" sz="1250" dirty="0"/>
          </a:p>
        </p:txBody>
      </p:sp>
      <p:sp>
        <p:nvSpPr>
          <p:cNvPr id="10" name="Texto"/>
          <p:cNvSpPr txBox="1"/>
          <p:nvPr/>
        </p:nvSpPr>
        <p:spPr>
          <a:xfrm>
            <a:off x="731520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ADT: serviço OData + ZPC_ADMIN ou ZPC_PEDIDO; publicar</a:t>
            </a:r>
            <a:endParaRPr lang="pt-BR" sz="1050" dirty="0"/>
          </a:p>
        </p:txBody>
      </p:sp>
      <p:cxnSp>
        <p:nvCxnSpPr>
          <p:cNvPr id="11" name="Conector"/>
          <p:cNvCxnSpPr/>
          <p:nvPr/>
        </p:nvCxnSpPr>
        <p:spPr>
          <a:xfrm>
            <a:off x="2611526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2" name="Cartão"/>
          <p:cNvSpPr/>
          <p:nvPr/>
        </p:nvSpPr>
        <p:spPr>
          <a:xfrm>
            <a:off x="2812694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sap-box"/>
          <p:cNvSpPr/>
          <p:nvPr/>
        </p:nvSpPr>
        <p:spPr>
          <a:xfrm>
            <a:off x="2995574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4" name="Imagem" descr="sap-bo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02" y="1938528"/>
            <a:ext cx="237744" cy="237744"/>
          </a:xfrm>
          <a:prstGeom prst="rect">
            <a:avLst/>
          </a:prstGeom>
        </p:spPr>
      </p:pic>
      <p:sp>
        <p:nvSpPr>
          <p:cNvPr id="15" name="Selo 2"/>
          <p:cNvSpPr/>
          <p:nvPr/>
        </p:nvSpPr>
        <p:spPr>
          <a:xfrm>
            <a:off x="4162349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E3F7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49F9A"/>
                </a:solidFill>
              </a:rPr>
              <a:t>2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2995574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IAM App do tile</a:t>
            </a:r>
            <a:endParaRPr lang="pt-BR" sz="1250" dirty="0"/>
          </a:p>
        </p:txBody>
      </p:sp>
      <p:sp>
        <p:nvSpPr>
          <p:cNvPr id="17" name="Texto"/>
          <p:cNvSpPr txBox="1"/>
          <p:nvPr/>
        </p:nvSpPr>
        <p:spPr>
          <a:xfrm>
            <a:off x="2995574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ZPC_*_UI5R, criado pelo npm run deploy</a:t>
            </a:r>
            <a:endParaRPr lang="pt-BR" sz="1050" dirty="0"/>
          </a:p>
        </p:txBody>
      </p:sp>
      <p:cxnSp>
        <p:nvCxnSpPr>
          <p:cNvPr id="18" name="Conector"/>
          <p:cNvCxnSpPr/>
          <p:nvPr/>
        </p:nvCxnSpPr>
        <p:spPr>
          <a:xfrm>
            <a:off x="4875581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9" name="Cartão"/>
          <p:cNvSpPr/>
          <p:nvPr/>
        </p:nvSpPr>
        <p:spPr>
          <a:xfrm>
            <a:off x="5076749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list"/>
          <p:cNvSpPr/>
          <p:nvPr/>
        </p:nvSpPr>
        <p:spPr>
          <a:xfrm>
            <a:off x="5259629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21" name="Imagem" descr="li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9357" y="1938528"/>
            <a:ext cx="237744" cy="237744"/>
          </a:xfrm>
          <a:prstGeom prst="rect">
            <a:avLst/>
          </a:prstGeom>
        </p:spPr>
      </p:pic>
      <p:sp>
        <p:nvSpPr>
          <p:cNvPr id="22" name="Selo 3"/>
          <p:cNvSpPr/>
          <p:nvPr/>
        </p:nvSpPr>
        <p:spPr>
          <a:xfrm>
            <a:off x="6426403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070F2"/>
                </a:solidFill>
              </a:rPr>
              <a:t>3</a:t>
            </a:r>
            <a:endParaRPr lang="pt-BR" sz="1000" dirty="0"/>
          </a:p>
        </p:txBody>
      </p:sp>
      <p:sp>
        <p:nvSpPr>
          <p:cNvPr id="23" name="Texto"/>
          <p:cNvSpPr txBox="1"/>
          <p:nvPr/>
        </p:nvSpPr>
        <p:spPr>
          <a:xfrm>
            <a:off x="5259629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Business Catalog</a:t>
            </a:r>
            <a:endParaRPr lang="pt-BR" sz="1250" dirty="0"/>
          </a:p>
        </p:txBody>
      </p:sp>
      <p:sp>
        <p:nvSpPr>
          <p:cNvPr id="24" name="Texto"/>
          <p:cNvSpPr txBox="1"/>
          <p:nvPr/>
        </p:nvSpPr>
        <p:spPr>
          <a:xfrm>
            <a:off x="5259629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ZPC_BC_* do domínio recebe os dois IAM Apps; publicar</a:t>
            </a:r>
            <a:endParaRPr lang="pt-BR" sz="1050" dirty="0"/>
          </a:p>
        </p:txBody>
      </p:sp>
      <p:cxnSp>
        <p:nvCxnSpPr>
          <p:cNvPr id="25" name="Conector"/>
          <p:cNvCxnSpPr/>
          <p:nvPr/>
        </p:nvCxnSpPr>
        <p:spPr>
          <a:xfrm>
            <a:off x="7139635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6" name="Cartão"/>
          <p:cNvSpPr/>
          <p:nvPr/>
        </p:nvSpPr>
        <p:spPr>
          <a:xfrm>
            <a:off x="7340803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role"/>
          <p:cNvSpPr/>
          <p:nvPr/>
        </p:nvSpPr>
        <p:spPr>
          <a:xfrm>
            <a:off x="7523683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28" name="Imagem" descr="ro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3411" y="1938528"/>
            <a:ext cx="237744" cy="237744"/>
          </a:xfrm>
          <a:prstGeom prst="rect">
            <a:avLst/>
          </a:prstGeom>
        </p:spPr>
      </p:pic>
      <p:sp>
        <p:nvSpPr>
          <p:cNvPr id="29" name="Selo 4"/>
          <p:cNvSpPr/>
          <p:nvPr/>
        </p:nvSpPr>
        <p:spPr>
          <a:xfrm>
            <a:off x="8690458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C87B00"/>
                </a:solidFill>
              </a:rPr>
              <a:t>4</a:t>
            </a:r>
            <a:endParaRPr lang="pt-BR" sz="1000" dirty="0"/>
          </a:p>
        </p:txBody>
      </p:sp>
      <p:sp>
        <p:nvSpPr>
          <p:cNvPr id="30" name="Texto"/>
          <p:cNvSpPr txBox="1"/>
          <p:nvPr/>
        </p:nvSpPr>
        <p:spPr>
          <a:xfrm>
            <a:off x="7523683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Business Role</a:t>
            </a:r>
            <a:endParaRPr lang="pt-BR" sz="1250" dirty="0"/>
          </a:p>
        </p:txBody>
      </p:sp>
      <p:sp>
        <p:nvSpPr>
          <p:cNvPr id="31" name="Texto"/>
          <p:cNvSpPr txBox="1"/>
          <p:nvPr/>
        </p:nvSpPr>
        <p:spPr>
          <a:xfrm>
            <a:off x="7523683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ZPC_BR_ADMIN e ZPC_BR_COMUM agrupam os catálogos</a:t>
            </a:r>
            <a:endParaRPr lang="pt-BR" sz="1050" dirty="0"/>
          </a:p>
        </p:txBody>
      </p:sp>
      <p:cxnSp>
        <p:nvCxnSpPr>
          <p:cNvPr id="32" name="Conector"/>
          <p:cNvCxnSpPr/>
          <p:nvPr/>
        </p:nvCxnSpPr>
        <p:spPr>
          <a:xfrm>
            <a:off x="9403690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3" name="Cartão"/>
          <p:cNvSpPr/>
          <p:nvPr/>
        </p:nvSpPr>
        <p:spPr>
          <a:xfrm>
            <a:off x="9604858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home"/>
          <p:cNvSpPr/>
          <p:nvPr/>
        </p:nvSpPr>
        <p:spPr>
          <a:xfrm>
            <a:off x="978773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35" name="Imagem" descr="hom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7466" y="1938528"/>
            <a:ext cx="237744" cy="237744"/>
          </a:xfrm>
          <a:prstGeom prst="rect">
            <a:avLst/>
          </a:prstGeom>
        </p:spPr>
      </p:pic>
      <p:sp>
        <p:nvSpPr>
          <p:cNvPr id="36" name="Selo 5"/>
          <p:cNvSpPr/>
          <p:nvPr/>
        </p:nvSpPr>
        <p:spPr>
          <a:xfrm>
            <a:off x="10954512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256F3A"/>
                </a:solidFill>
              </a:rPr>
              <a:t>5</a:t>
            </a:r>
            <a:endParaRPr lang="pt-BR" sz="1000" dirty="0"/>
          </a:p>
        </p:txBody>
      </p:sp>
      <p:sp>
        <p:nvSpPr>
          <p:cNvPr id="37" name="Texto"/>
          <p:cNvSpPr txBox="1"/>
          <p:nvPr/>
        </p:nvSpPr>
        <p:spPr>
          <a:xfrm>
            <a:off x="9787738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Espaço e usuário</a:t>
            </a:r>
            <a:endParaRPr lang="pt-BR" sz="1250" dirty="0"/>
          </a:p>
        </p:txBody>
      </p:sp>
      <p:sp>
        <p:nvSpPr>
          <p:cNvPr id="38" name="Texto"/>
          <p:cNvSpPr txBox="1"/>
          <p:nvPr/>
        </p:nvSpPr>
        <p:spPr>
          <a:xfrm>
            <a:off x="9787738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Manage Launchpad Spaces: espaço, página e usuários da role</a:t>
            </a:r>
            <a:endParaRPr lang="pt-BR" sz="1050" dirty="0"/>
          </a:p>
        </p:txBody>
      </p:sp>
      <p:sp>
        <p:nvSpPr>
          <p:cNvPr id="39" name="Cartão"/>
          <p:cNvSpPr/>
          <p:nvPr/>
        </p:nvSpPr>
        <p:spPr>
          <a:xfrm>
            <a:off x="548640" y="3703320"/>
            <a:ext cx="6949440" cy="2468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0" name="Tabela"/>
          <p:cNvGraphicFramePr>
            <a:graphicFrameLocks noGrp="1"/>
          </p:cNvGraphicFramePr>
          <p:nvPr/>
        </p:nvGraphicFramePr>
        <p:xfrm>
          <a:off x="685800" y="3794760"/>
          <a:ext cx="6675120" cy="1828800"/>
        </p:xfrm>
        <a:graphic>
          <a:graphicData uri="http://schemas.openxmlformats.org/drawingml/2006/table">
            <a:tbl>
              <a:tblPr/>
              <a:tblGrid>
                <a:gridCol w="1920240"/>
                <a:gridCol w="2331720"/>
                <a:gridCol w="2423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Business Catalog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IAM App do serviço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IAM App do tile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ZPC_IAM_CLIENTES_EXT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ZPC_IAM_ESTOQUE_EXT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ZPC_BC_PEDIDOS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ZPC_IAM_PEDIDOS_EXT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ZPC_IAM_REEMBOLSOS_EXT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Texto"/>
          <p:cNvSpPr txBox="1"/>
          <p:nvPr/>
        </p:nvSpPr>
        <p:spPr>
          <a:xfrm>
            <a:off x="777240" y="5669280"/>
            <a:ext cx="658368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As análises (ZPC_ANL_*) também geram o próprio _UI5R no pacote do domínio.</a:t>
            </a:r>
            <a:endParaRPr lang="pt-BR" sz="1000" dirty="0"/>
          </a:p>
        </p:txBody>
      </p:sp>
      <p:sp>
        <p:nvSpPr>
          <p:cNvPr id="42" name="Trial"/>
          <p:cNvSpPr/>
          <p:nvPr/>
        </p:nvSpPr>
        <p:spPr>
          <a:xfrm>
            <a:off x="7726680" y="3703320"/>
            <a:ext cx="3913632" cy="2468880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43" name="Ícone alert"/>
          <p:cNvSpPr/>
          <p:nvPr/>
        </p:nvSpPr>
        <p:spPr>
          <a:xfrm>
            <a:off x="7936992" y="39044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44" name="Imagem" descr="aler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4014216"/>
            <a:ext cx="237744" cy="237744"/>
          </a:xfrm>
          <a:prstGeom prst="rect">
            <a:avLst/>
          </a:prstGeom>
        </p:spPr>
      </p:pic>
      <p:sp>
        <p:nvSpPr>
          <p:cNvPr id="45" name="Texto"/>
          <p:cNvSpPr txBox="1"/>
          <p:nvPr/>
        </p:nvSpPr>
        <p:spPr>
          <a:xfrm>
            <a:off x="8531352" y="3904488"/>
            <a:ext cx="292608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No trial</a:t>
            </a:r>
            <a:endParaRPr lang="pt-BR" sz="1400" dirty="0"/>
          </a:p>
        </p:txBody>
      </p:sp>
      <p:sp>
        <p:nvSpPr>
          <p:cNvPr id="46" name="Texto"/>
          <p:cNvSpPr txBox="1"/>
          <p:nvPr/>
        </p:nvSpPr>
        <p:spPr>
          <a:xfrm>
            <a:off x="7936992" y="4526280"/>
            <a:ext cx="3520440" cy="1554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Sem Maintain Business Roles e Manage Launchpad Spaces, as etapas 4 e 5 ficam de fora: c_modo_trial = abap_true e o acesso segue pelo SAP Build Work Zone.</a:t>
            </a:r>
            <a:endParaRPr lang="pt-BR" sz="115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WORK ZONE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Configurar os tiles no SAP Build Work Zone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731520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7" name="Imagem" descr="worl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38528"/>
            <a:ext cx="237744" cy="237744"/>
          </a:xfrm>
          <a:prstGeom prst="rect">
            <a:avLst/>
          </a:prstGeom>
        </p:spPr>
      </p:pic>
      <p:sp>
        <p:nvSpPr>
          <p:cNvPr id="8" name="Selo Passo 1"/>
          <p:cNvSpPr/>
          <p:nvPr/>
        </p:nvSpPr>
        <p:spPr>
          <a:xfrm>
            <a:off x="2235708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256F3A"/>
                </a:solidFill>
              </a:rPr>
              <a:t>Passo 1</a:t>
            </a:r>
            <a:endParaRPr lang="pt-BR" sz="1000" dirty="0"/>
          </a:p>
        </p:txBody>
      </p:sp>
      <p:sp>
        <p:nvSpPr>
          <p:cNvPr id="9" name="Texto"/>
          <p:cNvSpPr txBox="1"/>
          <p:nvPr/>
        </p:nvSpPr>
        <p:spPr>
          <a:xfrm>
            <a:off x="731520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Assinar</a:t>
            </a:r>
            <a:endParaRPr lang="pt-BR" sz="1300" dirty="0"/>
          </a:p>
        </p:txBody>
      </p:sp>
      <p:sp>
        <p:nvSpPr>
          <p:cNvPr id="10" name="Texto"/>
          <p:cNvSpPr txBox="1"/>
          <p:nvPr/>
        </p:nvSpPr>
        <p:spPr>
          <a:xfrm>
            <a:off x="731520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Subconta: assinar o SAP Build Work Zone, standard edition, e atribuir a role collection Launchpad_Admin</a:t>
            </a:r>
            <a:endParaRPr lang="pt-BR" sz="1050" dirty="0"/>
          </a:p>
        </p:txBody>
      </p:sp>
      <p:sp>
        <p:nvSpPr>
          <p:cNvPr id="11" name="Cartão"/>
          <p:cNvSpPr/>
          <p:nvPr/>
        </p:nvSpPr>
        <p:spPr>
          <a:xfrm>
            <a:off x="3378708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Ícone add-document"/>
          <p:cNvSpPr/>
          <p:nvPr/>
        </p:nvSpPr>
        <p:spPr>
          <a:xfrm>
            <a:off x="356158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13" name="Imagem" descr="add-documen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6" y="1938528"/>
            <a:ext cx="237744" cy="237744"/>
          </a:xfrm>
          <a:prstGeom prst="rect">
            <a:avLst/>
          </a:prstGeom>
        </p:spPr>
      </p:pic>
      <p:sp>
        <p:nvSpPr>
          <p:cNvPr id="14" name="Selo Passo 2"/>
          <p:cNvSpPr/>
          <p:nvPr/>
        </p:nvSpPr>
        <p:spPr>
          <a:xfrm>
            <a:off x="5065776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070F2"/>
                </a:solidFill>
              </a:rPr>
              <a:t>Passo 2</a:t>
            </a:r>
            <a:endParaRPr lang="pt-BR" sz="1000" dirty="0"/>
          </a:p>
        </p:txBody>
      </p:sp>
      <p:sp>
        <p:nvSpPr>
          <p:cNvPr id="15" name="Texto"/>
          <p:cNvSpPr txBox="1"/>
          <p:nvPr/>
        </p:nvSpPr>
        <p:spPr>
          <a:xfrm>
            <a:off x="3561588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Nova app</a:t>
            </a:r>
            <a:endParaRPr lang="pt-BR" sz="1300" dirty="0"/>
          </a:p>
        </p:txBody>
      </p:sp>
      <p:sp>
        <p:nvSpPr>
          <p:cNvPr id="16" name="Texto"/>
          <p:cNvSpPr txBox="1"/>
          <p:nvPr/>
        </p:nvSpPr>
        <p:spPr>
          <a:xfrm>
            <a:off x="3561588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Content Manager → + New → App. Properties: título, URL da BSP e Open App: In a new tab</a:t>
            </a:r>
            <a:endParaRPr lang="pt-BR" sz="1050" dirty="0"/>
          </a:p>
        </p:txBody>
      </p:sp>
      <p:sp>
        <p:nvSpPr>
          <p:cNvPr id="17" name="Cartão"/>
          <p:cNvSpPr/>
          <p:nvPr/>
        </p:nvSpPr>
        <p:spPr>
          <a:xfrm>
            <a:off x="6208776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chain-link"/>
          <p:cNvSpPr/>
          <p:nvPr/>
        </p:nvSpPr>
        <p:spPr>
          <a:xfrm>
            <a:off x="6391656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19" name="Imagem" descr="chain-lin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938528"/>
            <a:ext cx="237744" cy="237744"/>
          </a:xfrm>
          <a:prstGeom prst="rect">
            <a:avLst/>
          </a:prstGeom>
        </p:spPr>
      </p:pic>
      <p:sp>
        <p:nvSpPr>
          <p:cNvPr id="20" name="Selo Passo 3"/>
          <p:cNvSpPr/>
          <p:nvPr/>
        </p:nvSpPr>
        <p:spPr>
          <a:xfrm>
            <a:off x="7895844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3EC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8B47D7"/>
                </a:solidFill>
              </a:rPr>
              <a:t>Passo 3</a:t>
            </a:r>
            <a:endParaRPr lang="pt-BR" sz="1000" dirty="0"/>
          </a:p>
        </p:txBody>
      </p:sp>
      <p:sp>
        <p:nvSpPr>
          <p:cNvPr id="21" name="Texto"/>
          <p:cNvSpPr txBox="1"/>
          <p:nvPr/>
        </p:nvSpPr>
        <p:spPr>
          <a:xfrm>
            <a:off x="6391656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Intent e visual</a:t>
            </a:r>
            <a:endParaRPr lang="pt-BR" sz="1300" dirty="0"/>
          </a:p>
        </p:txBody>
      </p:sp>
      <p:sp>
        <p:nvSpPr>
          <p:cNvPr id="22" name="Texto"/>
          <p:cNvSpPr txBox="1"/>
          <p:nvPr/>
        </p:nvSpPr>
        <p:spPr>
          <a:xfrm>
            <a:off x="6391656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Navigation: intent próprio, como ZPCClienteWeb-display. Visualization: subtítulo e ícone</a:t>
            </a:r>
            <a:endParaRPr lang="pt-BR" sz="1050" dirty="0"/>
          </a:p>
        </p:txBody>
      </p:sp>
      <p:sp>
        <p:nvSpPr>
          <p:cNvPr id="23" name="Cartão"/>
          <p:cNvSpPr/>
          <p:nvPr/>
        </p:nvSpPr>
        <p:spPr>
          <a:xfrm>
            <a:off x="9038844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Ícone home"/>
          <p:cNvSpPr/>
          <p:nvPr/>
        </p:nvSpPr>
        <p:spPr>
          <a:xfrm>
            <a:off x="9221724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25" name="Imagem" descr="hom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1938528"/>
            <a:ext cx="237744" cy="237744"/>
          </a:xfrm>
          <a:prstGeom prst="rect">
            <a:avLst/>
          </a:prstGeom>
        </p:spPr>
      </p:pic>
      <p:sp>
        <p:nvSpPr>
          <p:cNvPr id="26" name="Selo Passo 4"/>
          <p:cNvSpPr/>
          <p:nvPr/>
        </p:nvSpPr>
        <p:spPr>
          <a:xfrm>
            <a:off x="10725912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C87B00"/>
                </a:solidFill>
              </a:rPr>
              <a:t>Passo 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9221724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Grupo e site</a:t>
            </a:r>
            <a:endParaRPr lang="pt-BR" sz="1300" dirty="0"/>
          </a:p>
        </p:txBody>
      </p:sp>
      <p:sp>
        <p:nvSpPr>
          <p:cNvPr id="28" name="Texto"/>
          <p:cNvSpPr txBox="1"/>
          <p:nvPr/>
        </p:nvSpPr>
        <p:spPr>
          <a:xfrm>
            <a:off x="9221724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As oito apps num grupo e no role Everyone; criar o site e abrir</a:t>
            </a:r>
            <a:endParaRPr lang="pt-BR" sz="1050" dirty="0"/>
          </a:p>
        </p:txBody>
      </p:sp>
      <p:sp>
        <p:nvSpPr>
          <p:cNvPr id="29" name="Cartão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0" name="Texto"/>
          <p:cNvSpPr txBox="1"/>
          <p:nvPr/>
        </p:nvSpPr>
        <p:spPr>
          <a:xfrm>
            <a:off x="777240" y="3794760"/>
            <a:ext cx="1060704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b="1" dirty="0">
                <a:solidFill>
                  <a:srgbClr val="1D2D3E"/>
                </a:solidFill>
              </a:rPr>
              <a:t xml:space="preserve">URL de cada tile: </a:t>
            </a:r>
            <a:r>
              <a:rPr lang="pt-BR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https://&lt;id&gt;.abap-web.&lt;região&gt;.hana.ondemand.com</a:t>
            </a:r>
            <a:r>
              <a:rPr lang="pt-BR" sz="1150" dirty="0">
                <a:solidFill>
                  <a:srgbClr val="1D2D3E"/>
                </a:solidFill>
              </a:rPr>
              <a:t xml:space="preserve"> + o caminho da BSP</a:t>
            </a:r>
            <a:endParaRPr lang="pt-BR" sz="1150" dirty="0"/>
          </a:p>
        </p:txBody>
      </p:sp>
      <p:graphicFrame>
        <p:nvGraphicFramePr>
          <p:cNvPr id="31" name="Tabela"/>
          <p:cNvGraphicFramePr>
            <a:graphicFrameLocks noGrp="1"/>
          </p:cNvGraphicFramePr>
          <p:nvPr/>
        </p:nvGraphicFramePr>
        <p:xfrm>
          <a:off x="685800" y="4206240"/>
          <a:ext cx="5349240" cy="1828800"/>
        </p:xfrm>
        <a:graphic>
          <a:graphicData uri="http://schemas.openxmlformats.org/drawingml/2006/table">
            <a:tbl>
              <a:tblPr/>
              <a:tblGrid>
                <a:gridCol w="2194560"/>
                <a:gridCol w="3154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Gestão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Caminho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/sap/bc/ui5_ui5/sap/zpc_clientes/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/sap/bc/ui5_ui5/sap/zpc_estoque/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/sap/bc/ui5_ui5/sap/zpc_pedidos/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/sap/bc/ui5_ui5/sap/zpc_reembolsos/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ela"/>
          <p:cNvGraphicFramePr>
            <a:graphicFrameLocks noGrp="1"/>
          </p:cNvGraphicFramePr>
          <p:nvPr/>
        </p:nvGraphicFramePr>
        <p:xfrm>
          <a:off x="6172200" y="4206240"/>
          <a:ext cx="5349240" cy="1828800"/>
        </p:xfrm>
        <a:graphic>
          <a:graphicData uri="http://schemas.openxmlformats.org/drawingml/2006/table">
            <a:tbl>
              <a:tblPr/>
              <a:tblGrid>
                <a:gridCol w="2194560"/>
                <a:gridCol w="3154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Análise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Caminho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/sap/bc/ui5_ui5/sap/zpc_anl_pedidos/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/sap/bc/ui5_ui5/sap/zpc_anl_cliente/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Itens do 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/sap/bc/ui5_ui5/sap/zpc_anl_estoque/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/sap/bc/ui5_ui5/sap/zpc_anl_reemb/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Apps Fiori</dc:title>
  <dc:subject>Pedidos de Compras no SAP BTP ABAP Environment</dc:subject>
  <dc:creator>Adriano Bispo</dc:creator>
  <cp:lastModifiedBy>Adriano Bispo</cp:lastModifiedBy>
  <cp:revision>1</cp:revision>
  <dcterms:created xsi:type="dcterms:W3CDTF">2026-10-20T11:27:23Z</dcterms:created>
  <dcterms:modified xsi:type="dcterms:W3CDTF">2026-10-20T11:27:23Z</dcterms:modified>
</cp:coreProperties>
</file>