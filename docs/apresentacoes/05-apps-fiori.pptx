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7" r:id="rId38"/>
    <p:sldId id="278" r:id="rId24"/>
    <p:sldId id="288" r:id="rId39"/>
    <p:sldId id="289" r:id="rId40"/>
    <p:sldId id="290" r:id="rId41"/>
    <p:sldId id="291" r:id="rId42"/>
    <p:sldId id="279" r:id="rId25"/>
    <p:sldId id="292" r:id="rId43"/>
    <p:sldId id="280" r:id="rId26"/>
    <p:sldId id="293" r:id="rId44"/>
    <p:sldId id="283" r:id="rId34"/>
    <p:sldId id="294" r:id="rId45"/>
    <p:sldId id="284" r:id="rId35"/>
    <p:sldId id="295" r:id="rId46"/>
    <p:sldId id="285" r:id="rId36"/>
    <p:sldId id="296" r:id="rId47"/>
    <p:sldId id="286" r:id="rId37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em ui5/apps-list-reports/ e ui5/apps-analiticos/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camadas decidem o que o usuário vê: o catálogo e o espaço na role (o tile aparece), o S_START do grupo de serviços (o OData responde) e os objetos ZPC_ADMIN e ZPC_PEDIDO (os botões e ações ficam habilitados). As análises usam o serviço ZUI_PC_ANALITICO_O4; a leitura só exige a atividade 03 se a DCL opcional for ativada (abap/README.md, seção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publicar, cada app passa por lint, build e testes na máquina de quem vai fazer o deploy. Esta seção mostra os comandos, o que cada um evita e de quem é a responsabilidade.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pega uma classe de erro mais cedo e mais barato do que no sistema. O npm run deploy já roda o build, mas um erro de build no meio do deploy se mistura com erros de conexão, pacote e transporte; rodando antes, cada problema aparece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pipeline de CI no repositório: a sequência é manual e é responsabilidade de quem publica. Qualquer falha interrompe a sequência; corrija e recomece pelo lint. No BTP trial a versão publicada vale na hora para todos; no On-Premise a ordem de transporte leva o mesmo código para QAS e PRD.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no SAP BTP, ABAP environment: o deploy grava a BSP e o IAM App do tile no ABAP Repository; o acesso passa por Business Catalogs e Business Roles e, no trial, pelo SAP Build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configuração de deploy pode vir do Application Generator ou ser acrescentada depois com npx fiori add deploy-config abap. No BTP o login é por reentranceTicket: o navegador abre o login do SAP ID e nenhuma senha fica no arquivo. O inbound do manifest vira o IAM App do tile (sufixo _UI5R).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IAM Apps por domínio chegam ao mesmo Business Catalog: o do serviço (ZPC_IAM_*, criado no ADT, com o serviço OData e os objetos de autorização) e o do tile (ZPC_*_UI5R, criado pelo deploy). As Business Roles agrupam os catálogos. No trial não há Maintain Business Roles nem Manage Launchpad Spaces, por isso c_modo_trial fica abap_true e o acesso segue pelo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Site Manager do SAP Build Work Zone, standard edition, cada app vira um tile do tipo URL que abre a BSP numa nova aba, com um intent próprio. As oito apps vão para um grupo e para o role Everyone. Cada app funciona isolada: a navegação entre apps depende do shell do launchpad.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primeiro npm run deploy no On-Premise: conferir a versão do SAPUI5, ativar os serviços ICF, ter pacotes Standard ABAP numa camada de transporte e uma ordem Workbench, um usuário com S_DEVELOP e o certificado do sistema confiável na máquina de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Launchpad App Manager (/UI2/FLPAM), o catálogo técnico ZPC_TC_PEDIDOS_COMPRAS recebe um app descriptor por aplicação: o tile e o target mapping com o mesmo semantic object e a mesma ação do inbound do manifest. Um intent diferente quebra a navegação entre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/UI2/FLPCM_CUST, os catálogos de negócio referenciam o catálogo técnico e o espaço Pedidos de Compras tem uma página com as seções Gestão e Análises. As roles PFCG trazem catálogos, espaço e os grupos de serviços (S_START); Z_PC_ADMIN vê os oito tiles e Z_PC_COMUM, pedidos, reembolsos e análises.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validate-256f3a.png"/><Relationship Id="rId4" Type="http://schemas.openxmlformats.org/officeDocument/2006/relationships/image" Target="../media/icon-e-learning-8b47d7.png"/><Relationship Id="rId5" Type="http://schemas.openxmlformats.org/officeDocument/2006/relationships/image" Target="../media/icon-syntax-c87b00.png"/><Relationship Id="rId6" Type="http://schemas.openxmlformats.org/officeDocument/2006/relationships/image" Target="../media/icon-upload-to-cloud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validate-256f3a.png"/><Relationship Id="rId3" Type="http://schemas.openxmlformats.org/officeDocument/2006/relationships/image" Target="../media/icon-syntax-c87b00.png"/><Relationship Id="rId4" Type="http://schemas.openxmlformats.org/officeDocument/2006/relationships/image" Target="../media/icon-sap-box-049f9a.png"/><Relationship Id="rId5" Type="http://schemas.openxmlformats.org/officeDocument/2006/relationships/image" Target="../media/icon-upload-to-cloud-df1278.png"/><Relationship Id="rId6" Type="http://schemas.openxmlformats.org/officeDocument/2006/relationships/image" Target="../media/icon-upload-to-cloud-0070f2.png"/><Relationship Id="rId7" Type="http://schemas.openxmlformats.org/officeDocument/2006/relationships/image" Target="../media/icon-alert-aa0808.png"/><Relationship Id="rId8" Type="http://schemas.openxmlformats.org/officeDocument/2006/relationships/image" Target="../media/icon-person-placeholder-0070f2.png"/><Relationship Id="rId9" Type="http://schemas.openxmlformats.org/officeDocument/2006/relationships/image" Target="../media/icon-list-049f9a.png"/><Relationship Id="rId10" Type="http://schemas.openxmlformats.org/officeDocument/2006/relationships/image" Target="../media/icon-it-system-8b47d7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image" Target="../media/icon-cloud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image" Target="../media/icon-validate-256f3a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image" Target="../media/icon-key-8b47d7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list-0070f2.png"/><Relationship Id="rId4" Type="http://schemas.openxmlformats.org/officeDocument/2006/relationships/image" Target="../media/icon-role-c87b00.png"/><Relationship Id="rId5" Type="http://schemas.openxmlformats.org/officeDocument/2006/relationships/image" Target="../media/icon-home-256f3a.png"/><Relationship Id="rId6" Type="http://schemas.openxmlformats.org/officeDocument/2006/relationships/image" Target="../media/icon-alert-c87b0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image" Target="../media/icon-world-256f3a.png"/><Relationship Id="rId2" Type="http://schemas.openxmlformats.org/officeDocument/2006/relationships/image" Target="../media/icon-add-document-0070f2.png"/><Relationship Id="rId3" Type="http://schemas.openxmlformats.org/officeDocument/2006/relationships/image" Target="../media/icon-chain-link-8b47d7.png"/><Relationship Id="rId4" Type="http://schemas.openxmlformats.org/officeDocument/2006/relationships/image" Target="../media/icon-home-c87b00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image" Target="../media/icon-e-learning-0070f2.png"/><Relationship Id="rId2" Type="http://schemas.openxmlformats.org/officeDocument/2006/relationships/image" Target="../media/icon-it-system-049f9a.png"/><Relationship Id="rId3" Type="http://schemas.openxmlformats.org/officeDocument/2006/relationships/image" Target="../media/icon-sap-box-256f3a.png"/><Relationship Id="rId4" Type="http://schemas.openxmlformats.org/officeDocument/2006/relationships/image" Target="../media/icon-key-8b47d7.png"/><Relationship Id="rId5" Type="http://schemas.openxmlformats.org/officeDocument/2006/relationships/image" Target="../media/icon-locked-c87b00.png"/><Relationship Id="rId6" Type="http://schemas.openxmlformats.org/officeDocument/2006/relationships/image" Target="../media/icon-chain-link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product-c87b00.png"/><Relationship Id="rId3" Type="http://schemas.openxmlformats.org/officeDocument/2006/relationships/image" Target="../media/icon-sales-order-0070f2.png"/><Relationship Id="rId4" Type="http://schemas.openxmlformats.org/officeDocument/2006/relationships/image" Target="../media/icon-money-bills-df1278.png"/><Relationship Id="rId5" Type="http://schemas.openxmlformats.org/officeDocument/2006/relationships/image" Target="../media/icon-bar-chart-0070f2.png"/><Relationship Id="rId6" Type="http://schemas.openxmlformats.org/officeDocument/2006/relationships/image" Target="../media/icon-pie-chart-049f9a.png"/><Relationship Id="rId7" Type="http://schemas.openxmlformats.org/officeDocument/2006/relationships/image" Target="../media/icon-line-chart-c87b00.png"/><Relationship Id="rId8" Type="http://schemas.openxmlformats.org/officeDocument/2006/relationships/image" Target="../media/icon-horizontal-bar-chart-df1278.png"/><Relationship Id="rId9" Type="http://schemas.openxmlformats.org/officeDocument/2006/relationships/image" Target="../media/icon-role-0070f2.png"/><Relationship Id="rId10" Type="http://schemas.openxmlformats.org/officeDocument/2006/relationships/image" Target="../media/icon-role-256f3a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ui5/apps-*/&lt;app&gt;/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ui5/apps-list-reports/pedidos-compras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apps-analiticos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ANTES DO 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Rode os comandos de lint, build e testes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ou ZPK_PC_PEDIDOS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10 tabelas ativas, 8 drafts, CodeLists, numeração e mensagens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Views ZR_, 9 projeções, 11 value helps, 13 ddlx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5 serviços OData V4, IAM ou PFCG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Arquivos: docs/apresentacoes/01 a 05 · fontes em abap/ e ui5/ · diagrama em docs/pedidos-de-compras.drawio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D1E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Quem vê cada app: tile, S_START e objeto ZPC_*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1100000"/>
                <a:gridCol w="1850000"/>
                <a:gridCol w="2300000"/>
                <a:gridCol w="1196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Intent do tile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Grupo de serviços (S_START)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análises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ZPCAnalise*-display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ZPC_* 03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Z_PC_ADMIN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69016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59540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740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96960" y="5440680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Análises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Z_PC_COMUM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Menu da role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 + espaço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 V4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G4BA → S_START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Objetos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 · ZPC_PEDIDO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Valores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SU24 por grupo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Usuários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SU01 + comparação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Diagnóstico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SU53 · STAUTHTRACE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Leitura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DCL (atividade 03)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o catálogo na role o tile nem aparece; com o tile e sem S_START, o serviço responde 403. Os botões seguem ZCL_PC_AUTH (etapa 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ANTES DO DEPLOY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Qualidade e testes antes de publicar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Os comandos que quem publica roda na própria máquina, em cada app alterada, antes do npm run deploy.</a:t>
            </a:r>
            <a:endParaRPr lang="pt-BR" sz="1800" dirty="0"/>
          </a:p>
        </p:txBody>
      </p:sp>
      <p:sp>
        <p:nvSpPr>
          <p:cNvPr id="6" name="Ícone inspection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r>
              <a:rPr lang="pt-BR" sz="1100" dirty="0">
                <a:solidFill>
                  <a:srgbClr val="D1EFFF"/>
                </a:solidFill>
              </a:rPr>
              <a:t xml:space="preserve">  ESLint do Fiori tools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r>
              <a:rPr lang="pt-BR" sz="1100" dirty="0">
                <a:solidFill>
                  <a:srgbClr val="D1EFFF"/>
                </a:solidFill>
              </a:rPr>
              <a:t xml:space="preserve">  dist/ do ui5 build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r>
              <a:rPr lang="pt-BR" sz="1100" dirty="0">
                <a:solidFill>
                  <a:srgbClr val="D1EFFF"/>
                </a:solidFill>
              </a:rPr>
              <a:t xml:space="preserve">  OPA5, apps de gestão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r>
              <a:rPr lang="pt-BR" sz="1100" dirty="0">
                <a:solidFill>
                  <a:srgbClr val="D1EFFF"/>
                </a:solidFill>
              </a:rPr>
              <a:t xml:space="preserve">  QUnit, análises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r>
              <a:rPr lang="pt-BR" sz="1100" dirty="0">
                <a:solidFill>
                  <a:srgbClr val="D1EFFF"/>
                </a:solidFill>
              </a:rPr>
              <a:t xml:space="preserve">  UI5 linter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r>
              <a:rPr lang="pt-BR" sz="1100" dirty="0">
                <a:solidFill>
                  <a:srgbClr val="D1EFFF"/>
                </a:solidFill>
              </a:rPr>
              <a:t xml:space="preserve">  deploy simulado</a:t>
            </a:r>
            <a:endParaRPr lang="pt-BR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IMPORTÂNCIA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que cada comando impede de chegar ao sistema</a:t>
            </a:r>
            <a:endParaRPr lang="pt-BR" sz="3000" dirty="0"/>
          </a:p>
        </p:txBody>
      </p:sp>
      <p:sp>
        <p:nvSpPr>
          <p:cNvPr id="5" name="Texto"/>
          <p:cNvSpPr txBox="1"/>
          <p:nvPr/>
        </p:nvSpPr>
        <p:spPr>
          <a:xfrm>
            <a:off x="3108960" y="1463040"/>
            <a:ext cx="384048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O QUE VERIFICA</a:t>
            </a:r>
            <a:endParaRPr lang="pt-BR" sz="1000" dirty="0"/>
          </a:p>
        </p:txBody>
      </p:sp>
      <p:sp>
        <p:nvSpPr>
          <p:cNvPr id="6" name="Texto"/>
          <p:cNvSpPr txBox="1"/>
          <p:nvPr/>
        </p:nvSpPr>
        <p:spPr>
          <a:xfrm>
            <a:off x="7315200" y="1463040"/>
            <a:ext cx="420624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AA0808"/>
                </a:solidFill>
              </a:rPr>
              <a:t>SE PULAR, APARECE…</a:t>
            </a:r>
            <a:endParaRPr lang="pt-BR" sz="1000" dirty="0"/>
          </a:p>
        </p:txBody>
      </p:sp>
      <p:sp>
        <p:nvSpPr>
          <p:cNvPr id="7" name="Cartão"/>
          <p:cNvSpPr/>
          <p:nvPr/>
        </p:nvSpPr>
        <p:spPr>
          <a:xfrm>
            <a:off x="548640" y="178308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inspection"/>
          <p:cNvSpPr/>
          <p:nvPr/>
        </p:nvSpPr>
        <p:spPr>
          <a:xfrm>
            <a:off x="713232" y="189280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9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" y="1991563"/>
            <a:ext cx="213970" cy="213970"/>
          </a:xfrm>
          <a:prstGeom prst="rect">
            <a:avLst/>
          </a:prstGeom>
        </p:spPr>
      </p:pic>
      <p:sp>
        <p:nvSpPr>
          <p:cNvPr id="10" name="Texto"/>
          <p:cNvSpPr txBox="1"/>
          <p:nvPr/>
        </p:nvSpPr>
        <p:spPr>
          <a:xfrm>
            <a:off x="1261872" y="178308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3108960" y="178308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Erros de JavaScript e as regras do plugin Fiori tools do ESLint</a:t>
            </a:r>
            <a:endParaRPr lang="pt-BR" sz="1150" dirty="0"/>
          </a:p>
        </p:txBody>
      </p:sp>
      <p:cxnSp>
        <p:nvCxnSpPr>
          <p:cNvPr id="12" name="Conector"/>
          <p:cNvCxnSpPr/>
          <p:nvPr/>
        </p:nvCxnSpPr>
        <p:spPr>
          <a:xfrm>
            <a:off x="7178040" y="192024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3" name="Texto"/>
          <p:cNvSpPr txBox="1"/>
          <p:nvPr/>
        </p:nvSpPr>
        <p:spPr>
          <a:xfrm>
            <a:off x="7315200" y="178308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navegador de quem abre a app publicada</a:t>
            </a:r>
            <a:endParaRPr lang="pt-BR" sz="1150" dirty="0"/>
          </a:p>
        </p:txBody>
      </p:sp>
      <p:sp>
        <p:nvSpPr>
          <p:cNvPr id="14" name="Cartão"/>
          <p:cNvSpPr/>
          <p:nvPr/>
        </p:nvSpPr>
        <p:spPr>
          <a:xfrm>
            <a:off x="548640" y="2505456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sap-box"/>
          <p:cNvSpPr/>
          <p:nvPr/>
        </p:nvSpPr>
        <p:spPr>
          <a:xfrm>
            <a:off x="713232" y="2615184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6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" y="2713939"/>
            <a:ext cx="213970" cy="213970"/>
          </a:xfrm>
          <a:prstGeom prst="rect">
            <a:avLst/>
          </a:prstGeom>
        </p:spPr>
      </p:pic>
      <p:sp>
        <p:nvSpPr>
          <p:cNvPr id="17" name="Texto"/>
          <p:cNvSpPr txBox="1"/>
          <p:nvPr/>
        </p:nvSpPr>
        <p:spPr>
          <a:xfrm>
            <a:off x="1261872" y="2505456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pt-BR" sz="1100" dirty="0"/>
          </a:p>
        </p:txBody>
      </p:sp>
      <p:sp>
        <p:nvSpPr>
          <p:cNvPr id="18" name="Texto"/>
          <p:cNvSpPr txBox="1"/>
          <p:nvPr/>
        </p:nvSpPr>
        <p:spPr>
          <a:xfrm>
            <a:off x="3108960" y="2505456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Que o projeto gera o dist/ com preload e cachebuster</a:t>
            </a:r>
            <a:endParaRPr lang="pt-BR" sz="1150" dirty="0"/>
          </a:p>
        </p:txBody>
      </p:sp>
      <p:cxnSp>
        <p:nvCxnSpPr>
          <p:cNvPr id="19" name="Conector"/>
          <p:cNvCxnSpPr/>
          <p:nvPr/>
        </p:nvCxnSpPr>
        <p:spPr>
          <a:xfrm>
            <a:off x="7178040" y="2642616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0" name="Texto"/>
          <p:cNvSpPr txBox="1"/>
          <p:nvPr/>
        </p:nvSpPr>
        <p:spPr>
          <a:xfrm>
            <a:off x="7315200" y="2505456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meio do deploy, junto com erros de conexão e pacote</a:t>
            </a:r>
            <a:endParaRPr lang="pt-BR" sz="1150" dirty="0"/>
          </a:p>
        </p:txBody>
      </p:sp>
      <p:sp>
        <p:nvSpPr>
          <p:cNvPr id="21" name="Cartão"/>
          <p:cNvSpPr/>
          <p:nvPr/>
        </p:nvSpPr>
        <p:spPr>
          <a:xfrm>
            <a:off x="548640" y="3227832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validate"/>
          <p:cNvSpPr/>
          <p:nvPr/>
        </p:nvSpPr>
        <p:spPr>
          <a:xfrm>
            <a:off x="713232" y="333756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23" name="Imagem" descr="valid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" y="343631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1261872" y="3227832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pt-BR" sz="1100" dirty="0"/>
          </a:p>
        </p:txBody>
      </p:sp>
      <p:sp>
        <p:nvSpPr>
          <p:cNvPr id="25" name="Texto"/>
          <p:cNvSpPr txBox="1"/>
          <p:nvPr/>
        </p:nvSpPr>
        <p:spPr>
          <a:xfrm>
            <a:off x="3108960" y="3227832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List Report e Object Page abrem e navegam com o mock</a:t>
            </a:r>
            <a:endParaRPr lang="pt-BR" sz="1150" dirty="0"/>
          </a:p>
        </p:txBody>
      </p:sp>
      <p:cxnSp>
        <p:nvCxnSpPr>
          <p:cNvPr id="26" name="Conector"/>
          <p:cNvCxnSpPr/>
          <p:nvPr/>
        </p:nvCxnSpPr>
        <p:spPr>
          <a:xfrm>
            <a:off x="7178040" y="3364992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7" name="Texto"/>
          <p:cNvSpPr txBox="1"/>
          <p:nvPr/>
        </p:nvSpPr>
        <p:spPr>
          <a:xfrm>
            <a:off x="7315200" y="3227832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tela quebrada após mudar manifest ou anotações</a:t>
            </a:r>
            <a:endParaRPr lang="pt-BR" sz="1150" dirty="0"/>
          </a:p>
        </p:txBody>
      </p:sp>
      <p:sp>
        <p:nvSpPr>
          <p:cNvPr id="28" name="Cartão"/>
          <p:cNvSpPr/>
          <p:nvPr/>
        </p:nvSpPr>
        <p:spPr>
          <a:xfrm>
            <a:off x="548640" y="3950208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e-learning"/>
          <p:cNvSpPr/>
          <p:nvPr/>
        </p:nvSpPr>
        <p:spPr>
          <a:xfrm>
            <a:off x="713232" y="4059936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30" name="Imagem" descr="e-learn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" y="4158691"/>
            <a:ext cx="213970" cy="213970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1261872" y="3950208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pt-BR" sz="1100" dirty="0"/>
          </a:p>
        </p:txBody>
      </p:sp>
      <p:sp>
        <p:nvSpPr>
          <p:cNvPr id="32" name="Texto"/>
          <p:cNvSpPr txBox="1"/>
          <p:nvPr/>
        </p:nvSpPr>
        <p:spPr>
          <a:xfrm>
            <a:off x="3108960" y="3950208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Catálogo de cenários, textos i18n e o $apply das consultas</a:t>
            </a:r>
            <a:endParaRPr lang="pt-BR" sz="1150" dirty="0"/>
          </a:p>
        </p:txBody>
      </p:sp>
      <p:cxnSp>
        <p:nvCxnSpPr>
          <p:cNvPr id="33" name="Conector"/>
          <p:cNvCxnSpPr/>
          <p:nvPr/>
        </p:nvCxnSpPr>
        <p:spPr>
          <a:xfrm>
            <a:off x="7178040" y="4087368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34" name="Texto"/>
          <p:cNvSpPr txBox="1"/>
          <p:nvPr/>
        </p:nvSpPr>
        <p:spPr>
          <a:xfrm>
            <a:off x="7315200" y="3950208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gráfico vazio ou erro de groupby na análise</a:t>
            </a:r>
            <a:endParaRPr lang="pt-BR" sz="1150" dirty="0"/>
          </a:p>
        </p:txBody>
      </p:sp>
      <p:sp>
        <p:nvSpPr>
          <p:cNvPr id="35" name="Cartão"/>
          <p:cNvSpPr/>
          <p:nvPr/>
        </p:nvSpPr>
        <p:spPr>
          <a:xfrm>
            <a:off x="548640" y="4672584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syntax"/>
          <p:cNvSpPr/>
          <p:nvPr/>
        </p:nvSpPr>
        <p:spPr>
          <a:xfrm>
            <a:off x="713232" y="478231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37" name="Imagem" descr="synta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" y="4881067"/>
            <a:ext cx="213970" cy="213970"/>
          </a:xfrm>
          <a:prstGeom prst="rect">
            <a:avLst/>
          </a:prstGeom>
        </p:spPr>
      </p:pic>
      <p:sp>
        <p:nvSpPr>
          <p:cNvPr id="38" name="Texto"/>
          <p:cNvSpPr txBox="1"/>
          <p:nvPr/>
        </p:nvSpPr>
        <p:spPr>
          <a:xfrm>
            <a:off x="1261872" y="4672584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endParaRPr lang="pt-BR" sz="1100" dirty="0"/>
          </a:p>
        </p:txBody>
      </p:sp>
      <p:sp>
        <p:nvSpPr>
          <p:cNvPr id="39" name="Texto"/>
          <p:cNvSpPr txBox="1"/>
          <p:nvPr/>
        </p:nvSpPr>
        <p:spPr>
          <a:xfrm>
            <a:off x="3108960" y="4672584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APIs depreciadas e práticas fora do padrão SAPUI5</a:t>
            </a:r>
            <a:endParaRPr lang="pt-BR" sz="1150" dirty="0"/>
          </a:p>
        </p:txBody>
      </p:sp>
      <p:cxnSp>
        <p:nvCxnSpPr>
          <p:cNvPr id="40" name="Conector"/>
          <p:cNvCxnSpPr/>
          <p:nvPr/>
        </p:nvCxnSpPr>
        <p:spPr>
          <a:xfrm>
            <a:off x="7178040" y="4809744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1" name="Texto"/>
          <p:cNvSpPr txBox="1"/>
          <p:nvPr/>
        </p:nvSpPr>
        <p:spPr>
          <a:xfrm>
            <a:off x="7315200" y="4672584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próximo upgrade do SAPUI5 do BTP ou do FES</a:t>
            </a:r>
            <a:endParaRPr lang="pt-BR" sz="1150" dirty="0"/>
          </a:p>
        </p:txBody>
      </p:sp>
      <p:sp>
        <p:nvSpPr>
          <p:cNvPr id="42" name="Cartão"/>
          <p:cNvSpPr/>
          <p:nvPr/>
        </p:nvSpPr>
        <p:spPr>
          <a:xfrm>
            <a:off x="548640" y="539496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Ícone upload-to-cloud"/>
          <p:cNvSpPr/>
          <p:nvPr/>
        </p:nvSpPr>
        <p:spPr>
          <a:xfrm>
            <a:off x="713232" y="550468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44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" y="5603443"/>
            <a:ext cx="213970" cy="213970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1261872" y="539496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3108960" y="539496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URL, cliente, login, pacote e transporte, sem gravar</a:t>
            </a:r>
            <a:endParaRPr lang="pt-BR" sz="1150" dirty="0"/>
          </a:p>
        </p:txBody>
      </p:sp>
      <p:cxnSp>
        <p:nvCxnSpPr>
          <p:cNvPr id="47" name="Conector"/>
          <p:cNvCxnSpPr/>
          <p:nvPr/>
        </p:nvCxnSpPr>
        <p:spPr>
          <a:xfrm>
            <a:off x="7178040" y="553212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8" name="Texto"/>
          <p:cNvSpPr txBox="1"/>
          <p:nvPr/>
        </p:nvSpPr>
        <p:spPr>
          <a:xfrm>
            <a:off x="7315200" y="539496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…já gravando no ABAP Repository do sistema</a:t>
            </a:r>
            <a:endParaRPr lang="pt-BR" sz="11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RESPONSABILIDADE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Quem roda o deploy responde pelo que publica</a:t>
            </a:r>
            <a:endParaRPr lang="pt-BR" sz="3000" dirty="0"/>
          </a:p>
        </p:txBody>
      </p:sp>
      <p:sp>
        <p:nvSpPr>
          <p:cNvPr id="5" name="Etapa lint"/>
          <p:cNvSpPr/>
          <p:nvPr/>
        </p:nvSpPr>
        <p:spPr>
          <a:xfrm>
            <a:off x="54864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68580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139" y="1970715"/>
            <a:ext cx="228234" cy="22823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23444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1. lint</a:t>
            </a:r>
            <a:endParaRPr lang="pt-BR" sz="1250" dirty="0"/>
          </a:p>
        </p:txBody>
      </p:sp>
      <p:cxnSp>
        <p:nvCxnSpPr>
          <p:cNvPr id="9" name="Conector"/>
          <p:cNvCxnSpPr/>
          <p:nvPr/>
        </p:nvCxnSpPr>
        <p:spPr>
          <a:xfrm>
            <a:off x="2234184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0" name="Etapa testes"/>
          <p:cNvSpPr/>
          <p:nvPr/>
        </p:nvSpPr>
        <p:spPr>
          <a:xfrm>
            <a:off x="2435352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validate"/>
          <p:cNvSpPr/>
          <p:nvPr/>
        </p:nvSpPr>
        <p:spPr>
          <a:xfrm>
            <a:off x="2572512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2" name="Imagem" descr="valid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851" y="1970715"/>
            <a:ext cx="228234" cy="22823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3121152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2. testes</a:t>
            </a:r>
            <a:endParaRPr lang="pt-BR" sz="1250" dirty="0"/>
          </a:p>
        </p:txBody>
      </p:sp>
      <p:cxnSp>
        <p:nvCxnSpPr>
          <p:cNvPr id="14" name="Conector"/>
          <p:cNvCxnSpPr/>
          <p:nvPr/>
        </p:nvCxnSpPr>
        <p:spPr>
          <a:xfrm>
            <a:off x="4120896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Etapa UI5 linter"/>
          <p:cNvSpPr/>
          <p:nvPr/>
        </p:nvSpPr>
        <p:spPr>
          <a:xfrm>
            <a:off x="4322064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yntax"/>
          <p:cNvSpPr/>
          <p:nvPr/>
        </p:nvSpPr>
        <p:spPr>
          <a:xfrm>
            <a:off x="4459224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17" name="Imagem" descr="synta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563" y="1970715"/>
            <a:ext cx="228234" cy="22823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5007864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3. UI5 linter</a:t>
            </a:r>
            <a:endParaRPr lang="pt-BR" sz="1250" dirty="0"/>
          </a:p>
        </p:txBody>
      </p:sp>
      <p:cxnSp>
        <p:nvCxnSpPr>
          <p:cNvPr id="19" name="Conector"/>
          <p:cNvCxnSpPr/>
          <p:nvPr/>
        </p:nvCxnSpPr>
        <p:spPr>
          <a:xfrm>
            <a:off x="6007608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Etapa build"/>
          <p:cNvSpPr/>
          <p:nvPr/>
        </p:nvSpPr>
        <p:spPr>
          <a:xfrm>
            <a:off x="6208776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6345936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22" name="Imagem" descr="sap-bo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275" y="1970715"/>
            <a:ext cx="228234" cy="22823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6894576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4. build</a:t>
            </a:r>
            <a:endParaRPr lang="pt-BR" sz="1250" dirty="0"/>
          </a:p>
        </p:txBody>
      </p:sp>
      <p:cxnSp>
        <p:nvCxnSpPr>
          <p:cNvPr id="24" name="Conector"/>
          <p:cNvCxnSpPr/>
          <p:nvPr/>
        </p:nvCxnSpPr>
        <p:spPr>
          <a:xfrm>
            <a:off x="7894320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Etapa deploy-test"/>
          <p:cNvSpPr/>
          <p:nvPr/>
        </p:nvSpPr>
        <p:spPr>
          <a:xfrm>
            <a:off x="8095488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upload-to-cloud"/>
          <p:cNvSpPr/>
          <p:nvPr/>
        </p:nvSpPr>
        <p:spPr>
          <a:xfrm>
            <a:off x="8232648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27" name="Imagem" descr="upload-to-clo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7987" y="1970715"/>
            <a:ext cx="228234" cy="22823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8781288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5. deploy-test</a:t>
            </a:r>
            <a:endParaRPr lang="pt-BR" sz="1250" dirty="0"/>
          </a:p>
        </p:txBody>
      </p:sp>
      <p:cxnSp>
        <p:nvCxnSpPr>
          <p:cNvPr id="29" name="Conector"/>
          <p:cNvCxnSpPr/>
          <p:nvPr/>
        </p:nvCxnSpPr>
        <p:spPr>
          <a:xfrm>
            <a:off x="9781032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Etapa deploy"/>
          <p:cNvSpPr/>
          <p:nvPr/>
        </p:nvSpPr>
        <p:spPr>
          <a:xfrm>
            <a:off x="998220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0070F2"/>
          </a:solidFill>
          <a:ln>
            <a:noFill/>
          </a:ln>
        </p:spPr>
      </p:sp>
      <p:sp>
        <p:nvSpPr>
          <p:cNvPr id="31" name="Ícone upload-to-cloud"/>
          <p:cNvSpPr/>
          <p:nvPr/>
        </p:nvSpPr>
        <p:spPr>
          <a:xfrm>
            <a:off x="1011936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4699" y="1970715"/>
            <a:ext cx="228234" cy="22823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1066800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FFFFFF"/>
                </a:solidFill>
              </a:rPr>
              <a:t>6. deploy</a:t>
            </a:r>
            <a:endParaRPr lang="pt-BR" sz="1250" dirty="0"/>
          </a:p>
        </p:txBody>
      </p:sp>
      <p:sp>
        <p:nvSpPr>
          <p:cNvPr id="34" name="Regra"/>
          <p:cNvSpPr/>
          <p:nvPr/>
        </p:nvSpPr>
        <p:spPr>
          <a:xfrm>
            <a:off x="548640" y="2697480"/>
            <a:ext cx="11091672" cy="64008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35" name="Ícone alert"/>
          <p:cNvSpPr/>
          <p:nvPr/>
        </p:nvSpPr>
        <p:spPr>
          <a:xfrm>
            <a:off x="713232" y="2798064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le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571" y="2903403"/>
            <a:ext cx="228234" cy="22823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1325880" y="2697480"/>
            <a:ext cx="101498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AA0808"/>
                </a:solidFill>
              </a:rPr>
              <a:t xml:space="preserve">Regra: </a:t>
            </a:r>
            <a:r>
              <a:rPr lang="pt-BR" sz="1250" dirty="0">
                <a:solidFill>
                  <a:srgbClr val="1D2D3E"/>
                </a:solidFill>
              </a:rPr>
              <a:t>qualquer falha interrompe a sequência. Corrija, rode de novo desde o lint e só então siga para o deploy.</a:t>
            </a:r>
            <a:endParaRPr lang="pt-BR" sz="1250" dirty="0"/>
          </a:p>
        </p:txBody>
      </p:sp>
      <p:sp>
        <p:nvSpPr>
          <p:cNvPr id="38" name="Cartão"/>
          <p:cNvSpPr/>
          <p:nvPr/>
        </p:nvSpPr>
        <p:spPr>
          <a:xfrm>
            <a:off x="548640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9" name="Ícone person-placeholder"/>
          <p:cNvSpPr/>
          <p:nvPr/>
        </p:nvSpPr>
        <p:spPr>
          <a:xfrm>
            <a:off x="777240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0" name="Imagem" descr="person-placehold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357" y="3835725"/>
            <a:ext cx="247254" cy="247254"/>
          </a:xfrm>
          <a:prstGeom prst="rect">
            <a:avLst/>
          </a:prstGeom>
        </p:spPr>
      </p:pic>
      <p:sp>
        <p:nvSpPr>
          <p:cNvPr id="41" name="Texto"/>
          <p:cNvSpPr txBox="1"/>
          <p:nvPr/>
        </p:nvSpPr>
        <p:spPr>
          <a:xfrm>
            <a:off x="1371600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Sem CI no repositório</a:t>
            </a:r>
            <a:endParaRPr lang="pt-BR" sz="1400" dirty="0"/>
          </a:p>
        </p:txBody>
      </p:sp>
      <p:sp>
        <p:nvSpPr>
          <p:cNvPr id="42" name="Texto"/>
          <p:cNvSpPr txBox="1"/>
          <p:nvPr/>
        </p:nvSpPr>
        <p:spPr>
          <a:xfrm>
            <a:off x="777240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Nenhum pipeline roda os testes por você: a única barreira entre o código e o sistema é quem executa o npm run deploy.</a:t>
            </a:r>
            <a:endParaRPr lang="pt-BR" sz="1200" dirty="0"/>
          </a:p>
        </p:txBody>
      </p:sp>
      <p:cxnSp>
        <p:nvCxnSpPr>
          <p:cNvPr id="43" name="Conector"/>
          <p:cNvCxnSpPr/>
          <p:nvPr/>
        </p:nvCxnSpPr>
        <p:spPr>
          <a:xfrm>
            <a:off x="777240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4" name="Texto"/>
          <p:cNvSpPr txBox="1"/>
          <p:nvPr/>
        </p:nvSpPr>
        <p:spPr>
          <a:xfrm>
            <a:off x="777240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Responsável: quem publica</a:t>
            </a:r>
            <a:endParaRPr lang="pt-BR" sz="1100" dirty="0"/>
          </a:p>
        </p:txBody>
      </p:sp>
      <p:sp>
        <p:nvSpPr>
          <p:cNvPr id="45" name="Cartão"/>
          <p:cNvSpPr/>
          <p:nvPr/>
        </p:nvSpPr>
        <p:spPr>
          <a:xfrm>
            <a:off x="4338828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list"/>
          <p:cNvSpPr/>
          <p:nvPr/>
        </p:nvSpPr>
        <p:spPr>
          <a:xfrm>
            <a:off x="4567428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47" name="Imagem" descr="lis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1545" y="3835725"/>
            <a:ext cx="247254" cy="247254"/>
          </a:xfrm>
          <a:prstGeom prst="rect">
            <a:avLst/>
          </a:prstGeom>
        </p:spPr>
      </p:pic>
      <p:sp>
        <p:nvSpPr>
          <p:cNvPr id="48" name="Texto"/>
          <p:cNvSpPr txBox="1"/>
          <p:nvPr/>
        </p:nvSpPr>
        <p:spPr>
          <a:xfrm>
            <a:off x="5161788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Cada app é um projeto</a:t>
            </a:r>
            <a:endParaRPr lang="pt-BR" sz="1400" dirty="0"/>
          </a:p>
        </p:txBody>
      </p:sp>
      <p:sp>
        <p:nvSpPr>
          <p:cNvPr id="49" name="Texto"/>
          <p:cNvSpPr txBox="1"/>
          <p:nvPr/>
        </p:nvSpPr>
        <p:spPr>
          <a:xfrm>
            <a:off x="4567428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Os comandos rodam na pasta de cada app alterada. Uma correção no motor das análises vale para as quatro e exige rodar as quatro.</a:t>
            </a:r>
            <a:endParaRPr lang="pt-BR" sz="1200" dirty="0"/>
          </a:p>
        </p:txBody>
      </p:sp>
      <p:cxnSp>
        <p:nvCxnSpPr>
          <p:cNvPr id="50" name="Conector"/>
          <p:cNvCxnSpPr/>
          <p:nvPr/>
        </p:nvCxnSpPr>
        <p:spPr>
          <a:xfrm>
            <a:off x="4567428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1" name="Texto"/>
          <p:cNvSpPr txBox="1"/>
          <p:nvPr/>
        </p:nvSpPr>
        <p:spPr>
          <a:xfrm>
            <a:off x="4567428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49F9A"/>
                </a:solidFill>
              </a:rPr>
              <a:t>Escopo: todas as apps tocadas</a:t>
            </a:r>
            <a:endParaRPr lang="pt-BR" sz="1100" dirty="0"/>
          </a:p>
        </p:txBody>
      </p:sp>
      <p:sp>
        <p:nvSpPr>
          <p:cNvPr id="52" name="Cartão"/>
          <p:cNvSpPr/>
          <p:nvPr/>
        </p:nvSpPr>
        <p:spPr>
          <a:xfrm>
            <a:off x="8129016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it-system"/>
          <p:cNvSpPr/>
          <p:nvPr/>
        </p:nvSpPr>
        <p:spPr>
          <a:xfrm>
            <a:off x="8357616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54" name="Imagem" descr="it-syst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1733" y="3835725"/>
            <a:ext cx="247254" cy="247254"/>
          </a:xfrm>
          <a:prstGeom prst="rect">
            <a:avLst/>
          </a:prstGeom>
        </p:spPr>
      </p:pic>
      <p:sp>
        <p:nvSpPr>
          <p:cNvPr id="55" name="Texto"/>
          <p:cNvSpPr txBox="1"/>
          <p:nvPr/>
        </p:nvSpPr>
        <p:spPr>
          <a:xfrm>
            <a:off x="8951976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O sistema é compartilhado</a:t>
            </a:r>
            <a:endParaRPr lang="pt-BR" sz="1400" dirty="0"/>
          </a:p>
        </p:txBody>
      </p:sp>
      <p:sp>
        <p:nvSpPr>
          <p:cNvPr id="56" name="Texto"/>
          <p:cNvSpPr txBox="1"/>
          <p:nvPr/>
        </p:nvSpPr>
        <p:spPr>
          <a:xfrm>
            <a:off x="8357616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No BTP trial o pacote ZLOCAL não tem transporte: a versão vale na hora. No On-Premise a ordem leva o mesmo código a QAS e PRD.</a:t>
            </a:r>
            <a:endParaRPr lang="pt-BR" sz="1200" dirty="0"/>
          </a:p>
        </p:txBody>
      </p:sp>
      <p:cxnSp>
        <p:nvCxnSpPr>
          <p:cNvPr id="57" name="Conector"/>
          <p:cNvCxnSpPr/>
          <p:nvPr/>
        </p:nvCxnSpPr>
        <p:spPr>
          <a:xfrm>
            <a:off x="8357616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8" name="Texto"/>
          <p:cNvSpPr txBox="1"/>
          <p:nvPr/>
        </p:nvSpPr>
        <p:spPr>
          <a:xfrm>
            <a:off x="8357616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8B47D7"/>
                </a:solidFill>
              </a:rPr>
              <a:t>Impacto: todos os usuários</a:t>
            </a:r>
            <a:endParaRPr lang="pt-BR" sz="110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SAP BTP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Apps no SAP BTP, ABAP environment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Deploy com login pelo SAP ID, IAM Apps dos tiles nos Business Catalogs e, no trial, o acesso pelo SAP Build Work Zone.</a:t>
            </a:r>
            <a:endParaRPr lang="pt-BR" sz="1800" dirty="0"/>
          </a:p>
        </p:txBody>
      </p:sp>
      <p:sp>
        <p:nvSpPr>
          <p:cNvPr id="6" name="Ícone cloud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clou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r>
              <a:rPr lang="pt-BR" sz="1100" dirty="0">
                <a:solidFill>
                  <a:srgbClr val="D1EFFF"/>
                </a:solidFill>
              </a:rPr>
              <a:t xml:space="preserve">  deploy-to-abap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r>
              <a:rPr lang="pt-BR" sz="1100" dirty="0">
                <a:solidFill>
                  <a:srgbClr val="D1EFFF"/>
                </a:solidFill>
              </a:rPr>
              <a:t xml:space="preserve">  login no navegador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 · ZPC_ANL_*</a:t>
            </a:r>
            <a:r>
              <a:rPr lang="pt-BR" sz="1100" dirty="0">
                <a:solidFill>
                  <a:srgbClr val="D1EFFF"/>
                </a:solidFill>
              </a:rPr>
              <a:t xml:space="preserve">  BSPs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ZPC_*_UI5R</a:t>
            </a:r>
            <a:r>
              <a:rPr lang="pt-BR" sz="1100" dirty="0">
                <a:solidFill>
                  <a:srgbClr val="D1EFFF"/>
                </a:solidFill>
              </a:rPr>
              <a:t xml:space="preserve">  IAM App do tile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· ZPC_BR_*</a:t>
            </a:r>
            <a:r>
              <a:rPr lang="pt-BR" sz="1100" dirty="0">
                <a:solidFill>
                  <a:srgbClr val="D1EFFF"/>
                </a:solidFill>
              </a:rPr>
              <a:t xml:space="preserve">  catálogos e roles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r>
              <a:rPr lang="pt-BR" sz="1100" dirty="0">
                <a:solidFill>
                  <a:srgbClr val="D1EFFF"/>
                </a:solidFill>
              </a:rPr>
              <a:t xml:space="preserve">  tiles URL no trial</a:t>
            </a:r>
            <a:endParaRPr lang="pt-BR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CONFIGURAÇÃO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a app para o deploy no ABAP environment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257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Gerar a configuração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57984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Passo Deploy do Application Generator ou npx fiori add deploy-config abap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70662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688336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Destino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017520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URL do sistema, cliente 100 e reentranceTicket: login no navegador, sem senha no arquivo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566160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547872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Aplicação BSP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3877056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name ZPC_* (até 15 caracteres), description e o package ZAVBS_PC_* do domínio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442569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4407408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Transporte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4736592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transport vazio no trial (ZLOCAL); em sistemas com transporte, a ordem</a:t>
            </a:r>
            <a:endParaRPr lang="pt-BR" sz="1100" dirty="0"/>
          </a:p>
        </p:txBody>
      </p:sp>
      <p:sp>
        <p:nvSpPr>
          <p:cNvPr id="18" name="Número 5"/>
          <p:cNvSpPr/>
          <p:nvPr/>
        </p:nvSpPr>
        <p:spPr>
          <a:xfrm>
            <a:off x="777240" y="52852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19" name="Texto"/>
          <p:cNvSpPr txBox="1"/>
          <p:nvPr/>
        </p:nvSpPr>
        <p:spPr>
          <a:xfrm>
            <a:off x="1234440" y="5266944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20" name="Texto"/>
          <p:cNvSpPr txBox="1"/>
          <p:nvPr/>
        </p:nvSpPr>
        <p:spPr>
          <a:xfrm>
            <a:off x="1234440" y="5596128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O inbound do manifest vira o IAM App ZPC_*_UI5R no mesmo pacote</a:t>
            </a:r>
            <a:endParaRPr lang="pt-BR" sz="1100" dirty="0"/>
          </a:p>
        </p:txBody>
      </p:sp>
      <p:sp>
        <p:nvSpPr>
          <p:cNvPr id="21" name="Editor"/>
          <p:cNvSpPr/>
          <p:nvPr/>
        </p:nvSpPr>
        <p:spPr>
          <a:xfrm>
            <a:off x="6035040" y="1645920"/>
            <a:ext cx="5605272" cy="3291840"/>
          </a:xfrm>
          <a:prstGeom prst="roundRect">
            <a:avLst>
              <a:gd name="adj" fmla="val 2400"/>
            </a:avLst>
          </a:prstGeom>
          <a:solidFill>
            <a:srgbClr val="181818"/>
          </a:solidFill>
          <a:ln w="12700">
            <a:solidFill>
              <a:srgbClr val="2B2B2B"/>
            </a:solidFill>
          </a:ln>
        </p:spPr>
      </p:sp>
      <p:sp>
        <p:nvSpPr>
          <p:cNvPr id="22" name="Área do editor"/>
          <p:cNvSpPr/>
          <p:nvPr/>
        </p:nvSpPr>
        <p:spPr>
          <a:xfrm>
            <a:off x="6035040" y="1993392"/>
            <a:ext cx="5605272" cy="2944368"/>
          </a:xfrm>
          <a:prstGeom prst="roundRect">
            <a:avLst>
              <a:gd name="adj" fmla="val 2400"/>
            </a:avLst>
          </a:prstGeom>
          <a:solidFill>
            <a:srgbClr val="1F1F1F"/>
          </a:solidFill>
          <a:ln>
            <a:noFill/>
          </a:ln>
        </p:spPr>
      </p:sp>
      <p:sp>
        <p:nvSpPr>
          <p:cNvPr id="23" name="Forma"/>
          <p:cNvSpPr/>
          <p:nvPr/>
        </p:nvSpPr>
        <p:spPr>
          <a:xfrm>
            <a:off x="6044184" y="1993392"/>
            <a:ext cx="5586984" cy="137160"/>
          </a:xfrm>
          <a:prstGeom prst="rect">
            <a:avLst/>
          </a:prstGeom>
          <a:solidFill>
            <a:srgbClr val="1F1F1F"/>
          </a:solidFill>
          <a:ln>
            <a:noFill/>
          </a:ln>
        </p:spPr>
      </p:sp>
      <p:sp>
        <p:nvSpPr>
          <p:cNvPr id="24" name="Aba manifest.json"/>
          <p:cNvSpPr/>
          <p:nvPr/>
        </p:nvSpPr>
        <p:spPr>
          <a:xfrm>
            <a:off x="6126480" y="1719072"/>
            <a:ext cx="1156716" cy="27432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FFFFFF"/>
                </a:solidFill>
              </a:rPr>
              <a:t>manifest.json</a:t>
            </a:r>
            <a:endParaRPr lang="pt-BR" sz="1000" dirty="0"/>
          </a:p>
        </p:txBody>
      </p:sp>
      <p:cxnSp>
        <p:nvCxnSpPr>
          <p:cNvPr id="25" name="Conector"/>
          <p:cNvCxnSpPr/>
          <p:nvPr/>
        </p:nvCxnSpPr>
        <p:spPr>
          <a:xfrm>
            <a:off x="6126480" y="1719072"/>
            <a:ext cx="1156716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round/>
          </a:ln>
        </p:spPr>
      </p:cxnSp>
      <p:sp>
        <p:nvSpPr>
          <p:cNvPr id="26" name="Breadcrumb"/>
          <p:cNvSpPr txBox="1"/>
          <p:nvPr/>
        </p:nvSpPr>
        <p:spPr>
          <a:xfrm>
            <a:off x="6263640" y="2103120"/>
            <a:ext cx="5148072" cy="21945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A9A9A9"/>
                </a:solidFill>
              </a:rPr>
              <a:t>pedidos-compras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webapp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manifest.json</a:t>
            </a:r>
            <a:endParaRPr lang="pt-BR" sz="900" dirty="0"/>
          </a:p>
        </p:txBody>
      </p:sp>
      <p:sp>
        <p:nvSpPr>
          <p:cNvPr id="27" name="Trecho de código"/>
          <p:cNvSpPr txBox="1"/>
          <p:nvPr/>
        </p:nvSpPr>
        <p:spPr>
          <a:xfrm>
            <a:off x="6217920" y="2414016"/>
            <a:ext cx="5285232" cy="24231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"crossNavigation"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"inbounds"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"ZPCPedidoCompra-manage"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"semanticObject"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"ZPCPedidoCompra"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"action"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"subTitle"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"{{flpSubtitle}}"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"icon"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"sap-icon://sales-order"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} } }</a:t>
            </a:r>
            <a:endParaRPr lang="pt-BR" sz="1100" dirty="0"/>
          </a:p>
        </p:txBody>
      </p:sp>
      <p:sp>
        <p:nvSpPr>
          <p:cNvPr id="28" name="Cartão"/>
          <p:cNvSpPr/>
          <p:nvPr/>
        </p:nvSpPr>
        <p:spPr>
          <a:xfrm>
            <a:off x="6035040" y="5120640"/>
            <a:ext cx="560527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validate"/>
          <p:cNvSpPr/>
          <p:nvPr/>
        </p:nvSpPr>
        <p:spPr>
          <a:xfrm>
            <a:off x="6236208" y="534009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0" name="Imagem" descr="valida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5936" y="5449824"/>
            <a:ext cx="237744" cy="237744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6858000" y="5120640"/>
            <a:ext cx="4663440" cy="10515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Antes de gravar: </a:t>
            </a:r>
            <a:r>
              <a:rPr lang="pt-BR" sz="1200" dirty="0">
                <a:solidFill>
                  <a:srgbClr val="1D2D3E"/>
                </a:solidFill>
              </a:rPr>
              <a:t>npm run deploy-test simula o deploy; sem erros, npm run deploy grava a BSP e o IAM App.</a:t>
            </a:r>
            <a:endParaRPr lang="pt-BR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CATÁLOGOS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IAM App ao usuário: catálogo, role e espaço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key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7" name="Imagem" descr="ke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1"/>
          <p:cNvSpPr/>
          <p:nvPr/>
        </p:nvSpPr>
        <p:spPr>
          <a:xfrm>
            <a:off x="1898294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serviço</a:t>
            </a:r>
            <a:endParaRPr lang="pt-BR" sz="125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ADT: serviço OData + ZPC_ADMIN ou ZPC_PEDIDO; publicar</a:t>
            </a:r>
            <a:endParaRPr lang="pt-BR" sz="1050" dirty="0"/>
          </a:p>
        </p:txBody>
      </p:sp>
      <p:cxnSp>
        <p:nvCxnSpPr>
          <p:cNvPr id="11" name="Conector"/>
          <p:cNvCxnSpPr/>
          <p:nvPr/>
        </p:nvCxnSpPr>
        <p:spPr>
          <a:xfrm>
            <a:off x="2611526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2" name="Cartão"/>
          <p:cNvSpPr/>
          <p:nvPr/>
        </p:nvSpPr>
        <p:spPr>
          <a:xfrm>
            <a:off x="2812694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sap-box"/>
          <p:cNvSpPr/>
          <p:nvPr/>
        </p:nvSpPr>
        <p:spPr>
          <a:xfrm>
            <a:off x="299557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4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02" y="1938528"/>
            <a:ext cx="237744" cy="237744"/>
          </a:xfrm>
          <a:prstGeom prst="rect">
            <a:avLst/>
          </a:prstGeom>
        </p:spPr>
      </p:pic>
      <p:sp>
        <p:nvSpPr>
          <p:cNvPr id="15" name="Selo 2"/>
          <p:cNvSpPr/>
          <p:nvPr/>
        </p:nvSpPr>
        <p:spPr>
          <a:xfrm>
            <a:off x="4162349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3F7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49F9A"/>
                </a:solidFill>
              </a:rPr>
              <a:t>2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2995574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tile</a:t>
            </a:r>
            <a:endParaRPr lang="pt-BR" sz="1250" dirty="0"/>
          </a:p>
        </p:txBody>
      </p:sp>
      <p:sp>
        <p:nvSpPr>
          <p:cNvPr id="17" name="Texto"/>
          <p:cNvSpPr txBox="1"/>
          <p:nvPr/>
        </p:nvSpPr>
        <p:spPr>
          <a:xfrm>
            <a:off x="2995574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ZPC_*_UI5R, criado pelo npm run deploy</a:t>
            </a:r>
            <a:endParaRPr lang="pt-BR" sz="1050" dirty="0"/>
          </a:p>
        </p:txBody>
      </p:sp>
      <p:cxnSp>
        <p:nvCxnSpPr>
          <p:cNvPr id="18" name="Conector"/>
          <p:cNvCxnSpPr/>
          <p:nvPr/>
        </p:nvCxnSpPr>
        <p:spPr>
          <a:xfrm>
            <a:off x="4875581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9" name="Cartão"/>
          <p:cNvSpPr/>
          <p:nvPr/>
        </p:nvSpPr>
        <p:spPr>
          <a:xfrm>
            <a:off x="5076749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259629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21" name="Imagem" descr="l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357" y="1938528"/>
            <a:ext cx="237744" cy="237744"/>
          </a:xfrm>
          <a:prstGeom prst="rect">
            <a:avLst/>
          </a:prstGeom>
        </p:spPr>
      </p:pic>
      <p:sp>
        <p:nvSpPr>
          <p:cNvPr id="22" name="Selo 3"/>
          <p:cNvSpPr/>
          <p:nvPr/>
        </p:nvSpPr>
        <p:spPr>
          <a:xfrm>
            <a:off x="6426403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3</a:t>
            </a:r>
            <a:endParaRPr lang="pt-BR" sz="1000" dirty="0"/>
          </a:p>
        </p:txBody>
      </p:sp>
      <p:sp>
        <p:nvSpPr>
          <p:cNvPr id="23" name="Texto"/>
          <p:cNvSpPr txBox="1"/>
          <p:nvPr/>
        </p:nvSpPr>
        <p:spPr>
          <a:xfrm>
            <a:off x="5259629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Catalog</a:t>
            </a:r>
            <a:endParaRPr lang="pt-BR" sz="1250" dirty="0"/>
          </a:p>
        </p:txBody>
      </p:sp>
      <p:sp>
        <p:nvSpPr>
          <p:cNvPr id="24" name="Texto"/>
          <p:cNvSpPr txBox="1"/>
          <p:nvPr/>
        </p:nvSpPr>
        <p:spPr>
          <a:xfrm>
            <a:off x="5259629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ZPC_BC_* do domínio recebe os dois IAM Apps; publicar</a:t>
            </a:r>
            <a:endParaRPr lang="pt-BR" sz="1050" dirty="0"/>
          </a:p>
        </p:txBody>
      </p:sp>
      <p:cxnSp>
        <p:nvCxnSpPr>
          <p:cNvPr id="25" name="Conector"/>
          <p:cNvCxnSpPr/>
          <p:nvPr/>
        </p:nvCxnSpPr>
        <p:spPr>
          <a:xfrm>
            <a:off x="7139635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6" name="Cartão"/>
          <p:cNvSpPr/>
          <p:nvPr/>
        </p:nvSpPr>
        <p:spPr>
          <a:xfrm>
            <a:off x="7340803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7523683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8" name="Imagem" descr="ro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3411" y="1938528"/>
            <a:ext cx="237744" cy="237744"/>
          </a:xfrm>
          <a:prstGeom prst="rect">
            <a:avLst/>
          </a:prstGeom>
        </p:spPr>
      </p:pic>
      <p:sp>
        <p:nvSpPr>
          <p:cNvPr id="29" name="Selo 4"/>
          <p:cNvSpPr/>
          <p:nvPr/>
        </p:nvSpPr>
        <p:spPr>
          <a:xfrm>
            <a:off x="8690458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4</a:t>
            </a:r>
            <a:endParaRPr lang="pt-BR" sz="1000" dirty="0"/>
          </a:p>
        </p:txBody>
      </p:sp>
      <p:sp>
        <p:nvSpPr>
          <p:cNvPr id="30" name="Texto"/>
          <p:cNvSpPr txBox="1"/>
          <p:nvPr/>
        </p:nvSpPr>
        <p:spPr>
          <a:xfrm>
            <a:off x="7523683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Role</a:t>
            </a:r>
            <a:endParaRPr lang="pt-BR" sz="1250" dirty="0"/>
          </a:p>
        </p:txBody>
      </p:sp>
      <p:sp>
        <p:nvSpPr>
          <p:cNvPr id="31" name="Texto"/>
          <p:cNvSpPr txBox="1"/>
          <p:nvPr/>
        </p:nvSpPr>
        <p:spPr>
          <a:xfrm>
            <a:off x="7523683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ZPC_BR_ADMIN e ZPC_BR_COMUM agrupam os catálogos</a:t>
            </a:r>
            <a:endParaRPr lang="pt-BR" sz="1050" dirty="0"/>
          </a:p>
        </p:txBody>
      </p:sp>
      <p:cxnSp>
        <p:nvCxnSpPr>
          <p:cNvPr id="32" name="Conector"/>
          <p:cNvCxnSpPr/>
          <p:nvPr/>
        </p:nvCxnSpPr>
        <p:spPr>
          <a:xfrm>
            <a:off x="9403690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3" name="Cartão"/>
          <p:cNvSpPr/>
          <p:nvPr/>
        </p:nvSpPr>
        <p:spPr>
          <a:xfrm>
            <a:off x="9604858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home"/>
          <p:cNvSpPr/>
          <p:nvPr/>
        </p:nvSpPr>
        <p:spPr>
          <a:xfrm>
            <a:off x="978773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5" name="Imagem" descr="hom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7466" y="1938528"/>
            <a:ext cx="237744" cy="237744"/>
          </a:xfrm>
          <a:prstGeom prst="rect">
            <a:avLst/>
          </a:prstGeom>
        </p:spPr>
      </p:pic>
      <p:sp>
        <p:nvSpPr>
          <p:cNvPr id="36" name="Selo 5"/>
          <p:cNvSpPr/>
          <p:nvPr/>
        </p:nvSpPr>
        <p:spPr>
          <a:xfrm>
            <a:off x="10954512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5</a:t>
            </a:r>
            <a:endParaRPr lang="pt-BR" sz="1000" dirty="0"/>
          </a:p>
        </p:txBody>
      </p:sp>
      <p:sp>
        <p:nvSpPr>
          <p:cNvPr id="37" name="Texto"/>
          <p:cNvSpPr txBox="1"/>
          <p:nvPr/>
        </p:nvSpPr>
        <p:spPr>
          <a:xfrm>
            <a:off x="9787738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Espaço e usuário</a:t>
            </a:r>
            <a:endParaRPr lang="pt-BR" sz="1250" dirty="0"/>
          </a:p>
        </p:txBody>
      </p:sp>
      <p:sp>
        <p:nvSpPr>
          <p:cNvPr id="38" name="Texto"/>
          <p:cNvSpPr txBox="1"/>
          <p:nvPr/>
        </p:nvSpPr>
        <p:spPr>
          <a:xfrm>
            <a:off x="9787738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Manage Launchpad Spaces: espaço, página e usuários da role</a:t>
            </a:r>
            <a:endParaRPr lang="pt-BR" sz="1050" dirty="0"/>
          </a:p>
        </p:txBody>
      </p:sp>
      <p:sp>
        <p:nvSpPr>
          <p:cNvPr id="39" name="Cartão"/>
          <p:cNvSpPr/>
          <p:nvPr/>
        </p:nvSpPr>
        <p:spPr>
          <a:xfrm>
            <a:off x="548640" y="3703320"/>
            <a:ext cx="6949440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ela"/>
          <p:cNvGraphicFramePr>
            <a:graphicFrameLocks noGrp="1"/>
          </p:cNvGraphicFramePr>
          <p:nvPr/>
        </p:nvGraphicFramePr>
        <p:xfrm>
          <a:off x="685800" y="3794760"/>
          <a:ext cx="6675120" cy="18288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serviço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tile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o"/>
          <p:cNvSpPr txBox="1"/>
          <p:nvPr/>
        </p:nvSpPr>
        <p:spPr>
          <a:xfrm>
            <a:off x="777240" y="5669280"/>
            <a:ext cx="658368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 análises (ZPC_ANL_*) também geram o próprio _UI5R no pacote do domínio.</a:t>
            </a:r>
            <a:endParaRPr lang="pt-BR" sz="1000" dirty="0"/>
          </a:p>
        </p:txBody>
      </p:sp>
      <p:sp>
        <p:nvSpPr>
          <p:cNvPr id="42" name="Trial"/>
          <p:cNvSpPr/>
          <p:nvPr/>
        </p:nvSpPr>
        <p:spPr>
          <a:xfrm>
            <a:off x="7726680" y="3703320"/>
            <a:ext cx="3913632" cy="246888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43" name="Ícone alert"/>
          <p:cNvSpPr/>
          <p:nvPr/>
        </p:nvSpPr>
        <p:spPr>
          <a:xfrm>
            <a:off x="7936992" y="39044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4" name="Imagem" descr="ale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014216"/>
            <a:ext cx="237744" cy="237744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8531352" y="3904488"/>
            <a:ext cx="292608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No trial</a:t>
            </a:r>
            <a:endParaRPr lang="pt-BR" sz="1400" dirty="0"/>
          </a:p>
        </p:txBody>
      </p:sp>
      <p:sp>
        <p:nvSpPr>
          <p:cNvPr id="46" name="Texto"/>
          <p:cNvSpPr txBox="1"/>
          <p:nvPr/>
        </p:nvSpPr>
        <p:spPr>
          <a:xfrm>
            <a:off x="7936992" y="4526280"/>
            <a:ext cx="352044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Sem Maintain Business Roles e Manage Launchpad Spaces, as etapas 4 e 5 ficam de fora: c_modo_trial = abap_true e o acesso segue pelo SAP Build Work Zone.</a:t>
            </a:r>
            <a:endParaRPr lang="pt-BR" sz="11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WORK ZONE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Configurar os tiles no SAP Build Work Zone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7" name="Imagem" descr="worl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Passo 1"/>
          <p:cNvSpPr/>
          <p:nvPr/>
        </p:nvSpPr>
        <p:spPr>
          <a:xfrm>
            <a:off x="2235708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Passo 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Assinar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Subconta: assinar o SAP Build Work Zone, standard edition, e atribuir a role collection Launchpad_Admin</a:t>
            </a:r>
            <a:endParaRPr lang="pt-BR" sz="1050" dirty="0"/>
          </a:p>
        </p:txBody>
      </p:sp>
      <p:sp>
        <p:nvSpPr>
          <p:cNvPr id="11" name="Cartão"/>
          <p:cNvSpPr/>
          <p:nvPr/>
        </p:nvSpPr>
        <p:spPr>
          <a:xfrm>
            <a:off x="3378708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add-document"/>
          <p:cNvSpPr/>
          <p:nvPr/>
        </p:nvSpPr>
        <p:spPr>
          <a:xfrm>
            <a:off x="356158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13" name="Imagem" descr="add-docum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6" y="1938528"/>
            <a:ext cx="237744" cy="237744"/>
          </a:xfrm>
          <a:prstGeom prst="rect">
            <a:avLst/>
          </a:prstGeom>
        </p:spPr>
      </p:pic>
      <p:sp>
        <p:nvSpPr>
          <p:cNvPr id="14" name="Selo Passo 2"/>
          <p:cNvSpPr/>
          <p:nvPr/>
        </p:nvSpPr>
        <p:spPr>
          <a:xfrm>
            <a:off x="5065776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Passo 2</a:t>
            </a:r>
            <a:endParaRPr lang="pt-BR" sz="1000" dirty="0"/>
          </a:p>
        </p:txBody>
      </p:sp>
      <p:sp>
        <p:nvSpPr>
          <p:cNvPr id="15" name="Texto"/>
          <p:cNvSpPr txBox="1"/>
          <p:nvPr/>
        </p:nvSpPr>
        <p:spPr>
          <a:xfrm>
            <a:off x="3561588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Nova app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3561588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Content Manager → + New → App. Properties: título, URL da BSP e Open App: In a new tab</a:t>
            </a:r>
            <a:endParaRPr lang="pt-BR" sz="1050" dirty="0"/>
          </a:p>
        </p:txBody>
      </p:sp>
      <p:sp>
        <p:nvSpPr>
          <p:cNvPr id="17" name="Cartão"/>
          <p:cNvSpPr/>
          <p:nvPr/>
        </p:nvSpPr>
        <p:spPr>
          <a:xfrm>
            <a:off x="6208776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hain-link"/>
          <p:cNvSpPr/>
          <p:nvPr/>
        </p:nvSpPr>
        <p:spPr>
          <a:xfrm>
            <a:off x="6391656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19" name="Imagem" descr="chain-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938528"/>
            <a:ext cx="237744" cy="237744"/>
          </a:xfrm>
          <a:prstGeom prst="rect">
            <a:avLst/>
          </a:prstGeom>
        </p:spPr>
      </p:pic>
      <p:sp>
        <p:nvSpPr>
          <p:cNvPr id="20" name="Selo Passo 3"/>
          <p:cNvSpPr/>
          <p:nvPr/>
        </p:nvSpPr>
        <p:spPr>
          <a:xfrm>
            <a:off x="7895844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Passo 3</a:t>
            </a:r>
            <a:endParaRPr lang="pt-BR" sz="1000" dirty="0"/>
          </a:p>
        </p:txBody>
      </p:sp>
      <p:sp>
        <p:nvSpPr>
          <p:cNvPr id="21" name="Texto"/>
          <p:cNvSpPr txBox="1"/>
          <p:nvPr/>
        </p:nvSpPr>
        <p:spPr>
          <a:xfrm>
            <a:off x="6391656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Intent e visual</a:t>
            </a:r>
            <a:endParaRPr lang="pt-BR" sz="1300" dirty="0"/>
          </a:p>
        </p:txBody>
      </p:sp>
      <p:sp>
        <p:nvSpPr>
          <p:cNvPr id="22" name="Texto"/>
          <p:cNvSpPr txBox="1"/>
          <p:nvPr/>
        </p:nvSpPr>
        <p:spPr>
          <a:xfrm>
            <a:off x="6391656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Navigation: intent próprio, como ZPCClienteWeb-display. Visualization: subtítulo e ícone</a:t>
            </a:r>
            <a:endParaRPr lang="pt-BR" sz="1050" dirty="0"/>
          </a:p>
        </p:txBody>
      </p:sp>
      <p:sp>
        <p:nvSpPr>
          <p:cNvPr id="23" name="Cartão"/>
          <p:cNvSpPr/>
          <p:nvPr/>
        </p:nvSpPr>
        <p:spPr>
          <a:xfrm>
            <a:off x="9038844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Ícone home"/>
          <p:cNvSpPr/>
          <p:nvPr/>
        </p:nvSpPr>
        <p:spPr>
          <a:xfrm>
            <a:off x="922172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5" name="Imagem" descr="hom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1938528"/>
            <a:ext cx="237744" cy="237744"/>
          </a:xfrm>
          <a:prstGeom prst="rect">
            <a:avLst/>
          </a:prstGeom>
        </p:spPr>
      </p:pic>
      <p:sp>
        <p:nvSpPr>
          <p:cNvPr id="26" name="Selo Passo 4"/>
          <p:cNvSpPr/>
          <p:nvPr/>
        </p:nvSpPr>
        <p:spPr>
          <a:xfrm>
            <a:off x="10725912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Passo 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221724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Grupo e site</a:t>
            </a:r>
            <a:endParaRPr lang="pt-BR" sz="1300" dirty="0"/>
          </a:p>
        </p:txBody>
      </p:sp>
      <p:sp>
        <p:nvSpPr>
          <p:cNvPr id="28" name="Texto"/>
          <p:cNvSpPr txBox="1"/>
          <p:nvPr/>
        </p:nvSpPr>
        <p:spPr>
          <a:xfrm>
            <a:off x="9221724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As oito apps num grupo e no role Everyone; criar o site e abrir</a:t>
            </a:r>
            <a:endParaRPr lang="pt-BR" sz="1050" dirty="0"/>
          </a:p>
        </p:txBody>
      </p:sp>
      <p:sp>
        <p:nvSpPr>
          <p:cNvPr id="29" name="Cartão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0" name="Texto"/>
          <p:cNvSpPr txBox="1"/>
          <p:nvPr/>
        </p:nvSpPr>
        <p:spPr>
          <a:xfrm>
            <a:off x="777240" y="3794760"/>
            <a:ext cx="1060704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 xml:space="preserve">URL de cada tile: </a:t>
            </a:r>
            <a:r>
              <a:rPr lang="pt-BR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https://&lt;id&gt;.abap-web.&lt;região&gt;.hana.ondemand.com</a:t>
            </a:r>
            <a:r>
              <a:rPr lang="pt-BR" sz="1150" dirty="0">
                <a:solidFill>
                  <a:srgbClr val="1D2D3E"/>
                </a:solidFill>
              </a:rPr>
              <a:t xml:space="preserve"> + o caminho da BSP</a:t>
            </a:r>
            <a:endParaRPr lang="pt-BR" sz="1150" dirty="0"/>
          </a:p>
        </p:txBody>
      </p:sp>
      <p:graphicFrame>
        <p:nvGraphicFramePr>
          <p:cNvPr id="31" name="Tabela"/>
          <p:cNvGraphicFramePr>
            <a:graphicFrameLocks noGrp="1"/>
          </p:cNvGraphicFramePr>
          <p:nvPr/>
        </p:nvGraphicFramePr>
        <p:xfrm>
          <a:off x="6858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Gestão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/sap/bc/ui5_ui5/sap/zpc_clientes/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/sap/bc/ui5_ui5/sap/zpc_reembolsos/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ela"/>
          <p:cNvGraphicFramePr>
            <a:graphicFrameLocks noGrp="1"/>
          </p:cNvGraphicFramePr>
          <p:nvPr/>
        </p:nvGraphicFramePr>
        <p:xfrm>
          <a:off x="61722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Análise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/sap/bc/ui5_ui5/sap/zpc_anl_cliente/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Itens do 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/sap/bc/ui5_ui5/sap/zpc_anl_reemb/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PRÉ-REQUISITOS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o sistema antes do primeiro deploy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-learning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e-learni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389888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Versão do SAPUI5</a:t>
            </a:r>
            <a:endParaRPr lang="pt-BR" sz="1400" dirty="0"/>
          </a:p>
        </p:txBody>
      </p:sp>
      <p:sp>
        <p:nvSpPr>
          <p:cNvPr id="9" name="Texto"/>
          <p:cNvSpPr txBox="1"/>
          <p:nvPr/>
        </p:nvSpPr>
        <p:spPr>
          <a:xfrm>
            <a:off x="777240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1.136 ou superior: Sobre, no launchpad, ou /sap/public/bc/ui5_ui5/bootstrap_info.json</a:t>
            </a:r>
            <a:endParaRPr lang="pt-BR" sz="1200" dirty="0"/>
          </a:p>
        </p:txBody>
      </p:sp>
      <p:sp>
        <p:nvSpPr>
          <p:cNvPr id="10" name="Cartão"/>
          <p:cNvSpPr/>
          <p:nvPr/>
        </p:nvSpPr>
        <p:spPr>
          <a:xfrm>
            <a:off x="4338828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it-system"/>
          <p:cNvSpPr/>
          <p:nvPr/>
        </p:nvSpPr>
        <p:spPr>
          <a:xfrm>
            <a:off x="456742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2" name="Imagem" descr="it-syst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545" y="1988637"/>
            <a:ext cx="247254" cy="24725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5180076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Serviços ICF (SICF)</a:t>
            </a:r>
            <a:endParaRPr lang="pt-BR" sz="1400" dirty="0"/>
          </a:p>
        </p:txBody>
      </p:sp>
      <p:sp>
        <p:nvSpPr>
          <p:cNvPr id="14" name="Texto"/>
          <p:cNvSpPr txBox="1"/>
          <p:nvPr/>
        </p:nvSpPr>
        <p:spPr>
          <a:xfrm>
            <a:off x="4567428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/sap/bc/ui5_ui5, /sap/bc/ui2/flp, /sap/opu/odata4 e /sap/opu/odata/ui5/abap_repository_srv</a:t>
            </a:r>
            <a:endParaRPr lang="pt-BR" sz="1200" dirty="0"/>
          </a:p>
        </p:txBody>
      </p:sp>
      <p:sp>
        <p:nvSpPr>
          <p:cNvPr id="15" name="Cartão"/>
          <p:cNvSpPr/>
          <p:nvPr/>
        </p:nvSpPr>
        <p:spPr>
          <a:xfrm>
            <a:off x="8129016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ap-box"/>
          <p:cNvSpPr/>
          <p:nvPr/>
        </p:nvSpPr>
        <p:spPr>
          <a:xfrm>
            <a:off x="8357616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7" name="Imagem" descr="sap-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733" y="1988637"/>
            <a:ext cx="247254" cy="24725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8970264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Pacote e transporte</a:t>
            </a:r>
            <a:endParaRPr lang="pt-BR" sz="1400" dirty="0"/>
          </a:p>
        </p:txBody>
      </p:sp>
      <p:sp>
        <p:nvSpPr>
          <p:cNvPr id="19" name="Texto"/>
          <p:cNvSpPr txBox="1"/>
          <p:nvPr/>
        </p:nvSpPr>
        <p:spPr>
          <a:xfrm>
            <a:off x="8357616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Pacotes Standard ABAP numa camada de transporte e uma ordem Workbench para o transport:</a:t>
            </a:r>
            <a:endParaRPr lang="pt-BR" sz="1200" dirty="0"/>
          </a:p>
        </p:txBody>
      </p:sp>
      <p:sp>
        <p:nvSpPr>
          <p:cNvPr id="20" name="Cartão"/>
          <p:cNvSpPr/>
          <p:nvPr/>
        </p:nvSpPr>
        <p:spPr>
          <a:xfrm>
            <a:off x="548640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key"/>
          <p:cNvSpPr/>
          <p:nvPr/>
        </p:nvSpPr>
        <p:spPr>
          <a:xfrm>
            <a:off x="777240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22" name="Imagem" descr="ke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20357"/>
            <a:ext cx="247254" cy="24725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1389888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Usuário de deploy</a:t>
            </a:r>
            <a:endParaRPr lang="pt-BR" sz="1400" dirty="0"/>
          </a:p>
        </p:txBody>
      </p:sp>
      <p:sp>
        <p:nvSpPr>
          <p:cNvPr id="24" name="Texto"/>
          <p:cNvSpPr txBox="1"/>
          <p:nvPr/>
        </p:nvSpPr>
        <p:spPr>
          <a:xfrm>
            <a:off x="777240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S_DEVELOP no pacote e acesso ao repositório UI5; credenciais em ABAP_USER e ABAP_PASSWORD</a:t>
            </a:r>
            <a:endParaRPr lang="pt-BR" sz="1200" dirty="0"/>
          </a:p>
        </p:txBody>
      </p:sp>
      <p:sp>
        <p:nvSpPr>
          <p:cNvPr id="25" name="Cartão"/>
          <p:cNvSpPr/>
          <p:nvPr/>
        </p:nvSpPr>
        <p:spPr>
          <a:xfrm>
            <a:off x="4338828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ocked"/>
          <p:cNvSpPr/>
          <p:nvPr/>
        </p:nvSpPr>
        <p:spPr>
          <a:xfrm>
            <a:off x="4567428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7" name="Imagem" descr="lock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545" y="4320357"/>
            <a:ext cx="247254" cy="24725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5180076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Certificado</a:t>
            </a:r>
            <a:endParaRPr lang="pt-BR" sz="1400" dirty="0"/>
          </a:p>
        </p:txBody>
      </p:sp>
      <p:sp>
        <p:nvSpPr>
          <p:cNvPr id="29" name="Texto"/>
          <p:cNvSpPr txBox="1"/>
          <p:nvPr/>
        </p:nvSpPr>
        <p:spPr>
          <a:xfrm>
            <a:off x="4567428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CA interna instalada na máquina, em vez de ignoreCertErrors: true</a:t>
            </a:r>
            <a:endParaRPr lang="pt-BR" sz="1200" dirty="0"/>
          </a:p>
        </p:txBody>
      </p:sp>
      <p:sp>
        <p:nvSpPr>
          <p:cNvPr id="30" name="Cartão"/>
          <p:cNvSpPr/>
          <p:nvPr/>
        </p:nvSpPr>
        <p:spPr>
          <a:xfrm>
            <a:off x="8129016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835761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2" name="Imagem" descr="chain-lin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1733" y="4320357"/>
            <a:ext cx="247254" cy="24725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8970264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Proxy do npm start</a:t>
            </a:r>
            <a:endParaRPr lang="pt-BR" sz="1400" dirty="0"/>
          </a:p>
        </p:txBody>
      </p:sp>
      <p:sp>
        <p:nvSpPr>
          <p:cNvPr id="34" name="Texto"/>
          <p:cNvSpPr txBox="1"/>
          <p:nvPr/>
        </p:nvSpPr>
        <p:spPr>
          <a:xfrm>
            <a:off x="8357616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ui5.yaml aponta para o Web Dispatcher ou o ICM; sem authenticationType, login básico</a:t>
            </a:r>
            <a:endParaRPr lang="pt-BR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/UI2/FLPAM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Um app descriptor por app no catálogo técnico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93192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Catálogo técnico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76272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/UI2/FLPAM → novo catálogo ZPC_TC_PEDIDOS_COMPRAS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91693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898648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246120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Título, subtítulo e ícone iguais aos do inbound do manifest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98678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968496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Target mapping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4315968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Semantic object e ação do inbound; app SAPUI5 com o ID do componente e a BSP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50566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5038344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Testar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5385816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Salvar, limpar o cache (/UI2/INVALIDATE_GLOBAL_CACHES) e abrir o intent</a:t>
            </a:r>
            <a:endParaRPr lang="pt-BR" sz="1100" dirty="0"/>
          </a:p>
        </p:txBody>
      </p:sp>
      <p:sp>
        <p:nvSpPr>
          <p:cNvPr id="18" name="Cartão"/>
          <p:cNvSpPr/>
          <p:nvPr/>
        </p:nvSpPr>
        <p:spPr>
          <a:xfrm>
            <a:off x="4709160" y="1645920"/>
            <a:ext cx="693115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9" name="Tabela"/>
          <p:cNvGraphicFramePr>
            <a:graphicFrameLocks noGrp="1"/>
          </p:cNvGraphicFramePr>
          <p:nvPr/>
        </p:nvGraphicFramePr>
        <p:xfrm>
          <a:off x="4846320" y="1755648"/>
          <a:ext cx="6656832" cy="4114800"/>
        </p:xfrm>
        <a:graphic>
          <a:graphicData uri="http://schemas.openxmlformats.org/drawingml/2006/table">
            <a:tbl>
              <a:tblPr/>
              <a:tblGrid>
                <a:gridCol w="2697480"/>
                <a:gridCol w="2057400"/>
                <a:gridCol w="1901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Intent (semantic object-ação)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sap.app.id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pedidoscompras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ZPCAnalisePedido-display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ZPCAnaliseCliente-display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ZPC_ANL_CLIENTE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ZPCAnaliseItemEstoque-display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ZPCAnaliseReembolso-display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ZPC_ANL_REEMB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ESPAÇO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Espaço, página e roles PFCG levam os tiles ao usuário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o"/>
          <p:cNvSpPr txBox="1"/>
          <p:nvPr/>
        </p:nvSpPr>
        <p:spPr>
          <a:xfrm>
            <a:off x="777240" y="1783080"/>
            <a:ext cx="594360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 xml:space="preserve">Espaço </a:t>
            </a:r>
            <a:r>
              <a:rPr lang="pt-BR" sz="1250" b="1" dirty="0">
                <a:solidFill>
                  <a:srgbClr val="0070F2"/>
                </a:solidFill>
              </a:rPr>
              <a:t>Pedidos de Compras</a:t>
            </a:r>
            <a:r>
              <a:rPr lang="pt-BR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·  /UI2/FLPCM_CUST</a:t>
            </a:r>
            <a:endParaRPr lang="pt-BR" sz="1250" dirty="0"/>
          </a:p>
        </p:txBody>
      </p:sp>
      <p:sp>
        <p:nvSpPr>
          <p:cNvPr id="7" name="Texto"/>
          <p:cNvSpPr txBox="1"/>
          <p:nvPr/>
        </p:nvSpPr>
        <p:spPr>
          <a:xfrm>
            <a:off x="777240" y="224028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GESTÃO</a:t>
            </a:r>
            <a:endParaRPr lang="pt-BR" sz="1000" dirty="0"/>
          </a:p>
        </p:txBody>
      </p:sp>
      <p:sp>
        <p:nvSpPr>
          <p:cNvPr id="8" name="Tile Clientes"/>
          <p:cNvSpPr/>
          <p:nvPr/>
        </p:nvSpPr>
        <p:spPr>
          <a:xfrm>
            <a:off x="77724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9" name="Texto"/>
          <p:cNvSpPr txBox="1"/>
          <p:nvPr/>
        </p:nvSpPr>
        <p:spPr>
          <a:xfrm>
            <a:off x="88696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10" name="Ícone customer"/>
          <p:cNvSpPr/>
          <p:nvPr/>
        </p:nvSpPr>
        <p:spPr>
          <a:xfrm>
            <a:off x="88696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1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3482035"/>
            <a:ext cx="213970" cy="213970"/>
          </a:xfrm>
          <a:prstGeom prst="rect">
            <a:avLst/>
          </a:prstGeom>
        </p:spPr>
      </p:pic>
      <p:sp>
        <p:nvSpPr>
          <p:cNvPr id="12" name="Tile Estoque"/>
          <p:cNvSpPr/>
          <p:nvPr/>
        </p:nvSpPr>
        <p:spPr>
          <a:xfrm>
            <a:off x="228600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3" name="Texto"/>
          <p:cNvSpPr txBox="1"/>
          <p:nvPr/>
        </p:nvSpPr>
        <p:spPr>
          <a:xfrm>
            <a:off x="239572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14" name="Ícone product"/>
          <p:cNvSpPr/>
          <p:nvPr/>
        </p:nvSpPr>
        <p:spPr>
          <a:xfrm>
            <a:off x="239572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5" name="Imagem" descr="produ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483" y="3482035"/>
            <a:ext cx="213970" cy="213970"/>
          </a:xfrm>
          <a:prstGeom prst="rect">
            <a:avLst/>
          </a:prstGeom>
        </p:spPr>
      </p:pic>
      <p:sp>
        <p:nvSpPr>
          <p:cNvPr id="16" name="Tile Pedidos"/>
          <p:cNvSpPr/>
          <p:nvPr/>
        </p:nvSpPr>
        <p:spPr>
          <a:xfrm>
            <a:off x="379476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7" name="Texto"/>
          <p:cNvSpPr txBox="1"/>
          <p:nvPr/>
        </p:nvSpPr>
        <p:spPr>
          <a:xfrm>
            <a:off x="390448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18" name="Ícone sales-order"/>
          <p:cNvSpPr/>
          <p:nvPr/>
        </p:nvSpPr>
        <p:spPr>
          <a:xfrm>
            <a:off x="390448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9" name="Imagem" descr="sales-or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3243" y="3482035"/>
            <a:ext cx="213970" cy="213970"/>
          </a:xfrm>
          <a:prstGeom prst="rect">
            <a:avLst/>
          </a:prstGeom>
        </p:spPr>
      </p:pic>
      <p:sp>
        <p:nvSpPr>
          <p:cNvPr id="20" name="Tile Reembolsos"/>
          <p:cNvSpPr/>
          <p:nvPr/>
        </p:nvSpPr>
        <p:spPr>
          <a:xfrm>
            <a:off x="530352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1" name="Texto"/>
          <p:cNvSpPr txBox="1"/>
          <p:nvPr/>
        </p:nvSpPr>
        <p:spPr>
          <a:xfrm>
            <a:off x="541324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22" name="Ícone money-bills"/>
          <p:cNvSpPr/>
          <p:nvPr/>
        </p:nvSpPr>
        <p:spPr>
          <a:xfrm>
            <a:off x="541324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3" name="Imagem" descr="money-bil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2003" y="348203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777240" y="416052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ANÁLISES</a:t>
            </a:r>
            <a:endParaRPr lang="pt-BR" sz="1000" dirty="0"/>
          </a:p>
        </p:txBody>
      </p:sp>
      <p:sp>
        <p:nvSpPr>
          <p:cNvPr id="25" name="Tile Pedidos"/>
          <p:cNvSpPr/>
          <p:nvPr/>
        </p:nvSpPr>
        <p:spPr>
          <a:xfrm>
            <a:off x="77724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6" name="Texto"/>
          <p:cNvSpPr txBox="1"/>
          <p:nvPr/>
        </p:nvSpPr>
        <p:spPr>
          <a:xfrm>
            <a:off x="88696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27" name="Ícone bar-chart"/>
          <p:cNvSpPr/>
          <p:nvPr/>
        </p:nvSpPr>
        <p:spPr>
          <a:xfrm>
            <a:off x="88696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m" descr="bar-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723" y="5402275"/>
            <a:ext cx="213970" cy="213970"/>
          </a:xfrm>
          <a:prstGeom prst="rect">
            <a:avLst/>
          </a:prstGeom>
        </p:spPr>
      </p:pic>
      <p:sp>
        <p:nvSpPr>
          <p:cNvPr id="29" name="Tile Clientes"/>
          <p:cNvSpPr/>
          <p:nvPr/>
        </p:nvSpPr>
        <p:spPr>
          <a:xfrm>
            <a:off x="228600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0" name="Texto"/>
          <p:cNvSpPr txBox="1"/>
          <p:nvPr/>
        </p:nvSpPr>
        <p:spPr>
          <a:xfrm>
            <a:off x="239572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31" name="Ícone pie-chart"/>
          <p:cNvSpPr/>
          <p:nvPr/>
        </p:nvSpPr>
        <p:spPr>
          <a:xfrm>
            <a:off x="239572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pie-cha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4483" y="5402275"/>
            <a:ext cx="213970" cy="213970"/>
          </a:xfrm>
          <a:prstGeom prst="rect">
            <a:avLst/>
          </a:prstGeom>
        </p:spPr>
      </p:pic>
      <p:sp>
        <p:nvSpPr>
          <p:cNvPr id="33" name="Tile Estoque"/>
          <p:cNvSpPr/>
          <p:nvPr/>
        </p:nvSpPr>
        <p:spPr>
          <a:xfrm>
            <a:off x="379476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4" name="Texto"/>
          <p:cNvSpPr txBox="1"/>
          <p:nvPr/>
        </p:nvSpPr>
        <p:spPr>
          <a:xfrm>
            <a:off x="390448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35" name="Ícone line-chart"/>
          <p:cNvSpPr/>
          <p:nvPr/>
        </p:nvSpPr>
        <p:spPr>
          <a:xfrm>
            <a:off x="390448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line-cha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3243" y="5402275"/>
            <a:ext cx="213970" cy="213970"/>
          </a:xfrm>
          <a:prstGeom prst="rect">
            <a:avLst/>
          </a:prstGeom>
        </p:spPr>
      </p:pic>
      <p:sp>
        <p:nvSpPr>
          <p:cNvPr id="37" name="Tile Reembolsos"/>
          <p:cNvSpPr/>
          <p:nvPr/>
        </p:nvSpPr>
        <p:spPr>
          <a:xfrm>
            <a:off x="530352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8" name="Texto"/>
          <p:cNvSpPr txBox="1"/>
          <p:nvPr/>
        </p:nvSpPr>
        <p:spPr>
          <a:xfrm>
            <a:off x="541324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39" name="Ícone horizontal-bar-chart"/>
          <p:cNvSpPr/>
          <p:nvPr/>
        </p:nvSpPr>
        <p:spPr>
          <a:xfrm>
            <a:off x="541324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0" name="Imagem" descr="horizontal-bar-char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2003" y="5402275"/>
            <a:ext cx="213970" cy="213970"/>
          </a:xfrm>
          <a:prstGeom prst="rect">
            <a:avLst/>
          </a:prstGeom>
        </p:spPr>
      </p:pic>
      <p:sp>
        <p:nvSpPr>
          <p:cNvPr id="41" name="Cartão"/>
          <p:cNvSpPr/>
          <p:nvPr/>
        </p:nvSpPr>
        <p:spPr>
          <a:xfrm>
            <a:off x="7178040" y="164592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role"/>
          <p:cNvSpPr/>
          <p:nvPr/>
        </p:nvSpPr>
        <p:spPr>
          <a:xfrm>
            <a:off x="7388352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3" name="Imagem" descr="ro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956816"/>
            <a:ext cx="237744" cy="237744"/>
          </a:xfrm>
          <a:prstGeom prst="rect">
            <a:avLst/>
          </a:prstGeom>
        </p:spPr>
      </p:pic>
      <p:sp>
        <p:nvSpPr>
          <p:cNvPr id="44" name="Texto"/>
          <p:cNvSpPr txBox="1"/>
          <p:nvPr/>
        </p:nvSpPr>
        <p:spPr>
          <a:xfrm>
            <a:off x="7982712" y="184708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</a:t>
            </a:r>
            <a:endParaRPr lang="pt-BR" sz="1400" dirty="0"/>
          </a:p>
        </p:txBody>
      </p:sp>
      <p:sp>
        <p:nvSpPr>
          <p:cNvPr id="45" name="Texto"/>
          <p:cNvSpPr txBox="1"/>
          <p:nvPr/>
        </p:nvSpPr>
        <p:spPr>
          <a:xfrm>
            <a:off x="7388352" y="239572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Oito tiles: as quatro gestões e as quatro análises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7388352" y="276148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negócio e o espaço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grupos de serviços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ZPC_ADMIN e ZPC_PEDIDO</a:t>
            </a:r>
            <a:endParaRPr lang="pt-BR" sz="1100" dirty="0"/>
          </a:p>
        </p:txBody>
      </p:sp>
      <p:sp>
        <p:nvSpPr>
          <p:cNvPr id="47" name="Cartão"/>
          <p:cNvSpPr/>
          <p:nvPr/>
        </p:nvSpPr>
        <p:spPr>
          <a:xfrm>
            <a:off x="7178040" y="397764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Ícone role"/>
          <p:cNvSpPr/>
          <p:nvPr/>
        </p:nvSpPr>
        <p:spPr>
          <a:xfrm>
            <a:off x="7388352" y="4178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49" name="Imagem" descr="rol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0" y="4288536"/>
            <a:ext cx="237744" cy="237744"/>
          </a:xfrm>
          <a:prstGeom prst="rect">
            <a:avLst/>
          </a:prstGeom>
        </p:spPr>
      </p:pic>
      <p:sp>
        <p:nvSpPr>
          <p:cNvPr id="50" name="Texto"/>
          <p:cNvSpPr txBox="1"/>
          <p:nvPr/>
        </p:nvSpPr>
        <p:spPr>
          <a:xfrm>
            <a:off x="7982712" y="417880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Z_PC_COMUM</a:t>
            </a:r>
            <a:endParaRPr lang="pt-BR" sz="1400" dirty="0"/>
          </a:p>
        </p:txBody>
      </p:sp>
      <p:sp>
        <p:nvSpPr>
          <p:cNvPr id="51" name="Texto"/>
          <p:cNvSpPr txBox="1"/>
          <p:nvPr/>
        </p:nvSpPr>
        <p:spPr>
          <a:xfrm>
            <a:off x="7388352" y="472744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56F3A"/>
                </a:solidFill>
              </a:rPr>
              <a:t>Pedidos, Reembolsos e as análises</a:t>
            </a:r>
            <a:endParaRPr lang="pt-BR" sz="1100" dirty="0"/>
          </a:p>
        </p:txBody>
      </p:sp>
      <p:sp>
        <p:nvSpPr>
          <p:cNvPr id="52" name="Texto"/>
          <p:cNvSpPr txBox="1"/>
          <p:nvPr/>
        </p:nvSpPr>
        <p:spPr>
          <a:xfrm>
            <a:off x="7388352" y="509320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pedidos e reembolsos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serviços usados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ZPC_PEDIDO</a:t>
            </a:r>
            <a:endParaRPr lang="pt-BR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