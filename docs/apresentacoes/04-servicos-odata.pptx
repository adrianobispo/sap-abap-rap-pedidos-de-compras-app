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8" r:id="rId29"/>
    <p:sldId id="279" r:id="rId30"/>
    <p:sldId id="280" r:id="rId31"/>
    <p:sldId id="281" r:id="rId32"/>
    <p:sldId id="282" r:id="rId33"/>
    <p:sldId id="283" r:id="rId34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5894d5d-5fba-4b26-aa2f-fcf131ce36cd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Common" id="{4fe1eb9e-66a6-6993-a846-05ef0b361e8f}">
          <p14:sldIdLst>
            <p14:sldId id="262"/>
            <p14:sldId id="263"/>
            <p14:sldId id="264"/>
            <p14:sldId id="265"/>
            <p14:sldId id="266"/>
          </p14:sldIdLst>
        </p14:section>
        <p14:section name="Clientes" id="{c814bd0e-fa12-7620-bcf1-3e991d8cfdf2}">
          <p14:sldIdLst>
            <p14:sldId id="267"/>
            <p14:sldId id="268"/>
          </p14:sldIdLst>
        </p14:section>
        <p14:section name="Estoque" id="{f9ea1334-fa0f-3ea2-f2dd-7c6e9d4d43d8}">
          <p14:sldIdLst>
            <p14:sldId id="269"/>
            <p14:sldId id="270"/>
          </p14:sldIdLst>
        </p14:section>
        <p14:section name="Pedidos" id="{3c3f6819-205d-d52d-26fd-5461aaec4d3b}">
          <p14:sldIdLst>
            <p14:sldId id="271"/>
            <p14:sldId id="272"/>
          </p14:sldIdLst>
        </p14:section>
        <p14:section name="Reembolsos" id="{371fcf37-8eac-5b0c-8ff8-48bb4333da80}">
          <p14:sldIdLst>
            <p14:sldId id="273"/>
            <p14:sldId id="274"/>
          </p14:sldIdLst>
        </p14:section>
        <p14:section name="Dados e testes" id="{f82794e7-c9b1-2bb5-2c99-7b05cffd60f1}">
          <p14:sldIdLst>
            <p14:sldId id="275"/>
            <p14:sldId id="276"/>
          </p14:sldIdLst>
        </p14:section>
        <p14:section name="Encerramento" id="{5552973f-3bd1-27e1-3ec2-9f004c991329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  <Relationship Id="rId29" Type="http://schemas.openxmlformats.org/officeDocument/2006/relationships/slide" Target="slides/slide23.xml"/>
  <Relationship Id="rId30" Type="http://schemas.openxmlformats.org/officeDocument/2006/relationships/slide" Target="slides/slide24.xml"/>
  <Relationship Id="rId31" Type="http://schemas.openxmlformats.org/officeDocument/2006/relationships/slide" Target="slides/slide25.xml"/>
  <Relationship Id="rId32" Type="http://schemas.openxmlformats.org/officeDocument/2006/relationships/slide" Target="slides/slide26.xml"/>
  <Relationship Id="rId33" Type="http://schemas.openxmlformats.org/officeDocument/2006/relationships/slide" Target="slides/slide27.xml"/>
  <Relationship Id="rId34" Type="http://schemas.openxmlformats.org/officeDocument/2006/relationships/slide" Target="slides/slide28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Quarta etapa. Primeiro o caminho comum a todos os serviços; depois um slide por serviço, BO a BO, e a cadeia de segurança que dá acesso aos usuários.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app de gestão tem seu próprio serviço. A projeção e a BDEF de projeção definem o contrato; a service definition escolhe o que expor; o binding escolhe o protocolo (OData V4) e o cenário (UI); a publicação gera a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service definition expõe as projeções do BO e as value helps que os campos e filtros usam. Os aliases (Pedido, ItemPedido…) viram os entity sets do metadata e aparecem nas URLs e no manifest das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BDEF de projeção decide que parte do comportamento é exposta. Actions internas do Pedido (CancelarPorReembolso, RetomarPedido, RecalcularTotal) e as do Item (ReservarEstoque…) não aparecem aqui: só podem ser chamadas por EML de dentro do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binding liga a service definition a um protocolo e a um cenário. Todos usam OData V4 com cenário UI, o que habilita draft, side effects e as anotações de UI no metadata. Depois de ativar, o botão Publish registra o serviço e libera a URL e o preview.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Publicar um binding no ABAP Cloud não cria só a URL: o sistema gera um serviço de entrada para comunicação, valores padrão de autorização e uma entrada de IAM. No repositório eles aparecem no pacote de reembolsos, gerados pelo binding ZUI_PC_REEMBOLSOS_O4.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ZPC_ADMIN e ZPC_PEDIDO são objetos de autorização para ABAP Cloud (classe CPAE), criados no ADT, com um único campo: ACTVT. Os behavior pools verificam a atividade de cada operação por meio de ZCL_PC_AUTH.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ABAP Cloud o acesso não é dado por transação: o serviço e os valores de autorização entram em um IAM App; o IAM App vai para um Business Catalog; catálogos compõem Business Roles; a role é atribuída ao usuário.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aba de autorizações do IAM App, ZPC_ADMIN recebe as atividades de Clientes e Estoque e ZPC_PEDIDO as de Pedidos e Reembolsos, incluindo a 16 (executar) exigida pelas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serviço analítico fica no pacote comum e expõe só as consultas ZC_PC_*_ANALISE. Cada app de análise usa um entity set e pede ao servidor os totais com $apply.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serviço de clientes expõe o root e o filho, mais as value helps de gênero e de CEP. A BDEF de projeção expõe CRUD com draft, a importação e a ação de endereço principal.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serviço de estoque expõe o item, as value helps de categoria e status e a value help padrão de moeda. A projeção não expõe ReservarEstoque, LiberarReserva nem BaixarEstoque: só o Pedido movimenta o estoque.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serviço de pedidos expõe o root, os quatro filhos e seis value helps. As value helps de cliente, endereço e item vêm dos outros domínios: é assim que um serviço consome dados de outro BO sem expor a projeção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serviço de reembolsos expõe a solicitação e a value help de status. A projeção não expõe create, update nem delete: a app só lista, abre e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Passos 8 a 11 da ordem de criação. A classe ZCL_PC_SETUP é executada com F9 no ADT (if_oo_adt_classrun): cria os intervalos de numeração, carrega as CodeLists e gera clientes, itens e pedidos de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Pelo preview do service binding (ou já pelas apps) dá para percorrer as regras de negócio principais. Os dados de cartão são de teste; nada além de bandeira, últimos 4 dígitos e máscara é gravado.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Recapitule: projeção, BDEF de projeção, service definition, binding OData V4 – UI e Publish, BO a BO. Na última etapa as apps Fiori consomem estes serviços.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seção é para quem estuda num SAP S/4HANA On-Premise. O código de autorização não muda: ZCL_PC_AUTH e os métodos get_global_authorizations são os mesmos. Muda onde os objetos são criados e como chegam ao usuário: SU21, SU24, PFCG e SU01 no SAP GUI, no lugar de IAM Apps, Business Catalogs e Business Roles. Lembre de manter c_modo_trial = abap_false.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SU21 cria a classe ZPC e os objetos ZPC_ADMIN e ZPC_PEDIDO, com o campo ACTVT restrito às atividades permitidas (a 16 é obrigatória em ZPC_PEDIDO). SU24 liga cada grupo de serviços OData V4 aos objetos. A PFCG monta as roles Z_PC_ADMIN e Z_PC_COMUM, e a SU01 atribui as roles aos usuários de teste. SU53 e STAUTHTRACE mostram o que foi negado. SU21, SU24 e as roles vão por ordem Workbench; a atribuição de usuários é feita em cada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On-Premise não há serviço de entrada nem IAM App. O Publish do ADT, ou a transação /IWFND/V4_ADMIN com o alias de sistema LOCAL, registra cada binding como grupo de serviços OData V4. O acesso ao grupo é verificado pelo objeto S_START, que entra na role quando o serviço é inserido no menu da PFCG. Os valores propostos da SU24 fazem a PFCG trazer também ZPC_ADMIN ou ZPC_PEDIDO.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cadeia equivalente à do BTP: os objetos da SU21 entram na SU24 como valores propostos do grupo de serviços; na PFCG, o serviço é inserido no menu da role (gera S_START), as autorizações são ajustadas e o perfil é gerado; por fim a role é atribuída na SU01 e a comparação de usuários grava o perfil. Depois de alterar uma role, faça logoff e logon ou limpe o cache do launchpad.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linha mostra o grupo de serviços que vai ao menu da role e os valores de ACTVT de cada perfil. Z_PC_ADMIN tem os quatro serviços de gestão e o analítico (ZUI_PC_ANALITICO_O4). Z_PC_COMUM opera pedidos sem a atividade 16 e recebe ZPC_ADMIN 03 para ler clientes e itens nos value helps. Ajuste a matriz ao processo da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Crie PC_ADMIN com Z_PC_ADMIN e PC_COMUM com Z_PC_COMUM. Com PC_COMUM, Criar e Editar ficam indisponíveis em Clientes, e Efetuar Pagamento, Aprovar e Cancelar são negados em Pedidos; com PC_ADMIN tudo funciona. Sem a role, o serviço responde 403. O roteiro completo está em abap/README.md, seção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2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7772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76809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71323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12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Pedidos de Compras · SAP RAP no BTP e On-Premise  ·  Etapa 4 de 5 — Serviços OData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2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A9B4B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4 DE 5 · SAP RAP NO BTP OU ON-PREMISE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7680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Serviços OData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Expor cada BO como serviço OData V4, publicar os bindings e liberar o acesso: IAM Apps no BTP, SU24 e PFCG no On-Premise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23544" y="5266944"/>
            <a:ext cx="10131552" cy="0"/>
          </a:xfrm>
          <a:prstGeom prst="line">
            <a:avLst/>
          </a:prstGeom>
          <a:noFill/>
          <a:ln w="25400">
            <a:solidFill>
              <a:srgbClr val="3A4654"/>
            </a:solidFill>
            <a:prstDash val="solid"/>
          </a:ln>
        </p:spPr>
      </p:sp>
      <p:sp>
        <p:nvSpPr>
          <p:cNvPr id="8" name="Etapa 1"/>
          <p:cNvSpPr/>
          <p:nvPr/>
        </p:nvSpPr>
        <p:spPr>
          <a:xfrm>
            <a:off x="731520" y="5074920"/>
            <a:ext cx="384048" cy="384048"/>
          </a:xfrm>
          <a:prstGeom prst="ellipse">
            <a:avLst/>
          </a:prstGeom>
          <a:solidFill>
            <a:srgbClr val="1F4F86"/>
          </a:solidFill>
          <a:ln w="19050">
            <a:solidFill>
              <a:srgbClr val="1F4F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92024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Modelagem de dados</a:t>
            </a:r>
            <a:endParaRPr lang="en-US" sz="1100" dirty="0"/>
          </a:p>
        </p:txBody>
      </p:sp>
      <p:sp>
        <p:nvSpPr>
          <p:cNvPr id="10" name="Etapa 2"/>
          <p:cNvSpPr/>
          <p:nvPr/>
        </p:nvSpPr>
        <p:spPr>
          <a:xfrm>
            <a:off x="3264408" y="5074920"/>
            <a:ext cx="384048" cy="384048"/>
          </a:xfrm>
          <a:prstGeom prst="ellipse">
            <a:avLst/>
          </a:prstGeom>
          <a:solidFill>
            <a:srgbClr val="1F4F86"/>
          </a:solidFill>
          <a:ln w="19050">
            <a:solidFill>
              <a:srgbClr val="1F4F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Core Data Services</a:t>
            </a:r>
            <a:endParaRPr lang="en-US" sz="1100" dirty="0"/>
          </a:p>
        </p:txBody>
      </p:sp>
      <p:sp>
        <p:nvSpPr>
          <p:cNvPr id="12" name="Etapa 3"/>
          <p:cNvSpPr/>
          <p:nvPr/>
        </p:nvSpPr>
        <p:spPr>
          <a:xfrm>
            <a:off x="5797296" y="5074920"/>
            <a:ext cx="384048" cy="384048"/>
          </a:xfrm>
          <a:prstGeom prst="ellipse">
            <a:avLst/>
          </a:prstGeom>
          <a:solidFill>
            <a:srgbClr val="1F4F86"/>
          </a:solidFill>
          <a:ln w="19050">
            <a:solidFill>
              <a:srgbClr val="1F4F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Comportamento RAP</a:t>
            </a:r>
            <a:endParaRPr lang="en-US" sz="1100" dirty="0"/>
          </a:p>
        </p:txBody>
      </p:sp>
      <p:sp>
        <p:nvSpPr>
          <p:cNvPr id="14" name="Etapa 4"/>
          <p:cNvSpPr/>
          <p:nvPr/>
        </p:nvSpPr>
        <p:spPr>
          <a:xfrm>
            <a:off x="8330184" y="5074920"/>
            <a:ext cx="384048" cy="384048"/>
          </a:xfrm>
          <a:prstGeom prst="ellipse">
            <a:avLst/>
          </a:prstGeom>
          <a:solidFill>
            <a:srgbClr val="0070F2"/>
          </a:solidFill>
          <a:ln w="19050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Serviços OData</a:t>
            </a:r>
            <a:endParaRPr lang="en-US" sz="1100" dirty="0"/>
          </a:p>
        </p:txBody>
      </p:sp>
      <p:sp>
        <p:nvSpPr>
          <p:cNvPr id="16" name="Etapa 5"/>
          <p:cNvSpPr/>
          <p:nvPr/>
        </p:nvSpPr>
        <p:spPr>
          <a:xfrm>
            <a:off x="10863072" y="5074920"/>
            <a:ext cx="384048" cy="384048"/>
          </a:xfrm>
          <a:prstGeom prst="ellipse">
            <a:avLst/>
          </a:prstGeom>
          <a:solidFill>
            <a:srgbClr val="1D232A"/>
          </a:solidFill>
          <a:ln w="19050">
            <a:solidFill>
              <a:srgbClr val="3A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323576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Apps Fiori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Cinco passos da projeção até a URL do serviço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828800"/>
            <a:ext cx="1999427" cy="265176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Ícone source-code"/>
          <p:cNvSpPr/>
          <p:nvPr/>
        </p:nvSpPr>
        <p:spPr>
          <a:xfrm>
            <a:off x="777240" y="20574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7" name="Image 0" descr="source-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18907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788920"/>
            <a:ext cx="15422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1. Projeção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383280"/>
            <a:ext cx="1542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ZC_PC_PEDIDO_APP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931920"/>
            <a:ext cx="15422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Etapa 2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575499" y="3154680"/>
            <a:ext cx="219456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12" name="Cartão"/>
          <p:cNvSpPr/>
          <p:nvPr/>
        </p:nvSpPr>
        <p:spPr>
          <a:xfrm>
            <a:off x="2822387" y="1828800"/>
            <a:ext cx="1999427" cy="265176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3" name="Ícone workflow-tasks"/>
          <p:cNvSpPr/>
          <p:nvPr/>
        </p:nvSpPr>
        <p:spPr>
          <a:xfrm>
            <a:off x="3050987" y="20574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14" name="Image 1" descr="workflow-tas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661" y="218907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050987" y="2788920"/>
            <a:ext cx="15422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2. BDEF de projeção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050987" y="3383280"/>
            <a:ext cx="1542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create, use action…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3050987" y="3931920"/>
            <a:ext cx="15422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Comportamento exposto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849246" y="3154680"/>
            <a:ext cx="219456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19" name="Cartão"/>
          <p:cNvSpPr/>
          <p:nvPr/>
        </p:nvSpPr>
        <p:spPr>
          <a:xfrm>
            <a:off x="5096134" y="1828800"/>
            <a:ext cx="1999427" cy="265176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0" name="Ícone document-text"/>
          <p:cNvSpPr/>
          <p:nvPr/>
        </p:nvSpPr>
        <p:spPr>
          <a:xfrm>
            <a:off x="5324734" y="20574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21" name="Image 2" descr="document-tex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408" y="218907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24734" y="2788920"/>
            <a:ext cx="15422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3. Service definition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324734" y="3383280"/>
            <a:ext cx="1542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ZUI_PC_*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5324734" y="3931920"/>
            <a:ext cx="15422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que expor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122993" y="3154680"/>
            <a:ext cx="219456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26" name="Cartão"/>
          <p:cNvSpPr/>
          <p:nvPr/>
        </p:nvSpPr>
        <p:spPr>
          <a:xfrm>
            <a:off x="7369881" y="1828800"/>
            <a:ext cx="1999427" cy="265176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7" name="Ícone chain-link"/>
          <p:cNvSpPr/>
          <p:nvPr/>
        </p:nvSpPr>
        <p:spPr>
          <a:xfrm>
            <a:off x="7598481" y="20574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28" name="Image 3" descr="chain-lin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155" y="2189074"/>
            <a:ext cx="285293" cy="285293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598481" y="2788920"/>
            <a:ext cx="15422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4. Service binding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7598481" y="3383280"/>
            <a:ext cx="1542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ZUI_PC_*_O4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7598481" y="3931920"/>
            <a:ext cx="15422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OData V4 – UI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9396740" y="3154680"/>
            <a:ext cx="219456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33" name="Cartão"/>
          <p:cNvSpPr/>
          <p:nvPr/>
        </p:nvSpPr>
        <p:spPr>
          <a:xfrm>
            <a:off x="9643628" y="1828800"/>
            <a:ext cx="1999427" cy="2651760"/>
          </a:xfrm>
          <a:prstGeom prst="roundRect">
            <a:avLst>
              <a:gd name="adj" fmla="val 5488"/>
            </a:avLst>
          </a:prstGeom>
          <a:solidFill>
            <a:srgbClr val="0070F2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4" name="Ícone upload-to-cloud"/>
          <p:cNvSpPr/>
          <p:nvPr/>
        </p:nvSpPr>
        <p:spPr>
          <a:xfrm>
            <a:off x="9872228" y="20574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35" name="Image 4" descr="upload-to-clou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902" y="2189074"/>
            <a:ext cx="285293" cy="285293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872228" y="2788920"/>
            <a:ext cx="15422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5. Publish</a:t>
            </a:r>
            <a:endParaRPr lang="en-US" sz="1500" dirty="0"/>
          </a:p>
        </p:txBody>
      </p:sp>
      <p:sp>
        <p:nvSpPr>
          <p:cNvPr id="37" name="Text 29"/>
          <p:cNvSpPr txBox="1"/>
          <p:nvPr/>
        </p:nvSpPr>
        <p:spPr>
          <a:xfrm>
            <a:off x="9872228" y="3383280"/>
            <a:ext cx="15422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6E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/sap/opu/odata4/…</a:t>
            </a:r>
            <a:endParaRPr lang="en-US" sz="1050" dirty="0"/>
          </a:p>
        </p:txBody>
      </p:sp>
      <p:sp>
        <p:nvSpPr>
          <p:cNvPr id="38" name="Text 30"/>
          <p:cNvSpPr txBox="1"/>
          <p:nvPr/>
        </p:nvSpPr>
        <p:spPr>
          <a:xfrm>
            <a:off x="9872228" y="3931920"/>
            <a:ext cx="15422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9FF"/>
                </a:solidFill>
              </a:rPr>
              <a:t>Serviço ativo</a:t>
            </a:r>
            <a:endParaRPr lang="en-US" sz="1200" dirty="0"/>
          </a:p>
        </p:txBody>
      </p:sp>
      <p:sp>
        <p:nvSpPr>
          <p:cNvPr id="39" name="Cartão"/>
          <p:cNvSpPr/>
          <p:nvPr/>
        </p:nvSpPr>
        <p:spPr>
          <a:xfrm>
            <a:off x="548640" y="4800600"/>
            <a:ext cx="3515258" cy="1325880"/>
          </a:xfrm>
          <a:prstGeom prst="roundRect">
            <a:avLst>
              <a:gd name="adj" fmla="val 8276"/>
            </a:avLst>
          </a:prstGeom>
          <a:solidFill>
            <a:srgbClr val="E1F4FF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822960" y="4919472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70F2"/>
                </a:solidFill>
              </a:rPr>
              <a:t>4</a:t>
            </a:r>
            <a:endParaRPr lang="en-US" sz="3000" dirty="0"/>
          </a:p>
        </p:txBody>
      </p:sp>
      <p:sp>
        <p:nvSpPr>
          <p:cNvPr id="41" name="Text 33"/>
          <p:cNvSpPr txBox="1"/>
          <p:nvPr/>
        </p:nvSpPr>
        <p:spPr>
          <a:xfrm>
            <a:off x="822960" y="553212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serviços de gestão, um por app</a:t>
            </a:r>
            <a:endParaRPr lang="en-US" sz="1300" dirty="0"/>
          </a:p>
        </p:txBody>
      </p:sp>
      <p:sp>
        <p:nvSpPr>
          <p:cNvPr id="42" name="Cartão"/>
          <p:cNvSpPr/>
          <p:nvPr/>
        </p:nvSpPr>
        <p:spPr>
          <a:xfrm>
            <a:off x="4338218" y="4800600"/>
            <a:ext cx="3515258" cy="1325880"/>
          </a:xfrm>
          <a:prstGeom prst="roundRect">
            <a:avLst>
              <a:gd name="adj" fmla="val 8276"/>
            </a:avLst>
          </a:prstGeom>
          <a:solidFill>
            <a:srgbClr val="E1F4FF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4612538" y="4919472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70F2"/>
                </a:solidFill>
              </a:rPr>
              <a:t>1</a:t>
            </a:r>
            <a:endParaRPr lang="en-US" sz="3000" dirty="0"/>
          </a:p>
        </p:txBody>
      </p:sp>
      <p:sp>
        <p:nvSpPr>
          <p:cNvPr id="44" name="Text 36"/>
          <p:cNvSpPr txBox="1"/>
          <p:nvPr/>
        </p:nvSpPr>
        <p:spPr>
          <a:xfrm>
            <a:off x="4612538" y="553212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serviço analítico para as 4 análises</a:t>
            </a:r>
            <a:endParaRPr lang="en-US" sz="1300" dirty="0"/>
          </a:p>
        </p:txBody>
      </p:sp>
      <p:sp>
        <p:nvSpPr>
          <p:cNvPr id="45" name="Cartão"/>
          <p:cNvSpPr/>
          <p:nvPr/>
        </p:nvSpPr>
        <p:spPr>
          <a:xfrm>
            <a:off x="8127797" y="4800600"/>
            <a:ext cx="3515258" cy="1325880"/>
          </a:xfrm>
          <a:prstGeom prst="roundRect">
            <a:avLst>
              <a:gd name="adj" fmla="val 8276"/>
            </a:avLst>
          </a:prstGeom>
          <a:solidFill>
            <a:srgbClr val="E1F4FF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8402117" y="4919472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70F2"/>
                </a:solidFill>
              </a:rPr>
              <a:t>OData V4</a:t>
            </a:r>
            <a:endParaRPr lang="en-US" sz="3000" dirty="0"/>
          </a:p>
        </p:txBody>
      </p:sp>
      <p:sp>
        <p:nvSpPr>
          <p:cNvPr id="47" name="Text 39"/>
          <p:cNvSpPr txBox="1"/>
          <p:nvPr/>
        </p:nvSpPr>
        <p:spPr>
          <a:xfrm>
            <a:off x="8402117" y="553212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protocolo de todos os bindings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SERVICE DEFINITIONS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Os cinco serviços do projeto</a:t>
            </a:r>
            <a:endParaRPr lang="en-US" sz="3000" dirty="0"/>
          </a:p>
        </p:txBody>
      </p:sp>
      <p:sp>
        <p:nvSpPr>
          <p:cNvPr id="5" name="Fundo da tabela"/>
          <p:cNvSpPr/>
          <p:nvPr/>
        </p:nvSpPr>
        <p:spPr>
          <a:xfrm>
            <a:off x="548640" y="1645920"/>
            <a:ext cx="11094415" cy="3621024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55648"/>
          <a:ext cx="1082009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685800"/>
                <a:gridCol w="5120640"/>
                <a:gridCol w="236189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D3E"/>
                          </a:solidFill>
                        </a:rPr>
                        <a:t>Service definition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D3E"/>
                          </a:solidFill>
                        </a:rPr>
                        <a:t>Entid.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D3E"/>
                          </a:solidFill>
                        </a:rPr>
                        <a:t>Entity sets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D3E"/>
                          </a:solidFill>
                        </a:rPr>
                        <a:t>Pacote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ZUI_PC_CLIENTES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</a:rPr>
                        <a:t>Cliente, Endereco, GeneroVH, CepVH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ZAVBS_PC_CLIENTES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ZUI_PC_ESTOQUE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</a:rPr>
                        <a:t>Item, CategoriaVH, StatusEstoqueVH, CurrencyVH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ZAVBS_PC_ESTOQUE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ZUI_PC_PEDIDOS_COMPRAS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</a:rPr>
                        <a:t>11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</a:rPr>
                        <a:t>Pedido, ItemPedido, Pagamento, 2 snapshots, 6 VHs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ZAVBS_PC_PEDIDOS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ZUI_PC_REEMBOLSOS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</a:rPr>
                        <a:t>Reembolso, StatusReembolsoVH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ZAVBS_PC_REEMBOLSOS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ZUI_PC_ANALITICO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</a:rPr>
                        <a:t>PedidoAnalise, ClienteAnalise, ItemAnalise, ReembolsoAnalise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ZAVBS_PC_COMMON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15000"/>
            </a:avLst>
          </a:prstGeom>
          <a:solidFill>
            <a:srgbClr val="E1F4FF"/>
          </a:solidFill>
          <a:ln/>
        </p:spPr>
      </p:sp>
      <p:pic>
        <p:nvPicPr>
          <p:cNvPr id="8" name="Image 0" descr="hi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23560"/>
            <a:ext cx="365760" cy="3657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325880" y="544068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E"/>
                </a:solidFill>
              </a:rPr>
              <a:t>Value helps também precisam ser expostas: sem isso, o Fiori Elements não monta a lista de seleção do campo. A de moeda reutiliza a view liberada I_CurrencyStdVH.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BDEF DE PROJEÇÃO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Só o que tem use chega à app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12064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12064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10235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10235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C_PC_PEDIDO_APP.bdef.asbdef"/>
          <p:cNvSpPr/>
          <p:nvPr/>
        </p:nvSpPr>
        <p:spPr>
          <a:xfrm>
            <a:off x="640080" y="1719072"/>
            <a:ext cx="242316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ZC_PC_PEDIDO_APP.bdef.asbdef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242316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Trecho de código"/>
          <p:cNvSpPr txBox="1"/>
          <p:nvPr/>
        </p:nvSpPr>
        <p:spPr>
          <a:xfrm>
            <a:off x="731520" y="2103120"/>
            <a:ext cx="48006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ZC_PC_PEDIDO_APP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etag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Discard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SimularPagamento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AprovarPedido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CancelarPedido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ImportarPlanilha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_Itens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Cartão"/>
          <p:cNvSpPr/>
          <p:nvPr/>
        </p:nvSpPr>
        <p:spPr>
          <a:xfrm>
            <a:off x="5989320" y="1645920"/>
            <a:ext cx="5653735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263640" y="1828800"/>
            <a:ext cx="5105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Exposto na app</a:t>
            </a:r>
            <a:endParaRPr lang="en-US" sz="1400" dirty="0"/>
          </a:p>
        </p:txBody>
      </p:sp>
      <p:sp>
        <p:nvSpPr>
          <p:cNvPr id="14" name="Status SimularPagamento"/>
          <p:cNvSpPr/>
          <p:nvPr/>
        </p:nvSpPr>
        <p:spPr>
          <a:xfrm>
            <a:off x="6263640" y="2240280"/>
            <a:ext cx="1451336" cy="310896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F3A"/>
                </a:solidFill>
              </a:rPr>
              <a:t>SimularPagamento</a:t>
            </a:r>
            <a:endParaRPr lang="en-US" sz="1100" dirty="0"/>
          </a:p>
        </p:txBody>
      </p:sp>
      <p:sp>
        <p:nvSpPr>
          <p:cNvPr id="15" name="Status AprovarPedido"/>
          <p:cNvSpPr/>
          <p:nvPr/>
        </p:nvSpPr>
        <p:spPr>
          <a:xfrm>
            <a:off x="7824704" y="2240280"/>
            <a:ext cx="1234074" cy="310896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F3A"/>
                </a:solidFill>
              </a:rPr>
              <a:t>AprovarPedido</a:t>
            </a:r>
            <a:endParaRPr lang="en-US" sz="1100" dirty="0"/>
          </a:p>
        </p:txBody>
      </p:sp>
      <p:sp>
        <p:nvSpPr>
          <p:cNvPr id="16" name="Status CancelarPedido"/>
          <p:cNvSpPr/>
          <p:nvPr/>
        </p:nvSpPr>
        <p:spPr>
          <a:xfrm>
            <a:off x="9168506" y="2240280"/>
            <a:ext cx="1306495" cy="310896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F3A"/>
                </a:solidFill>
              </a:rPr>
              <a:t>CancelarPedido</a:t>
            </a:r>
            <a:endParaRPr lang="en-US" sz="1100" dirty="0"/>
          </a:p>
        </p:txBody>
      </p:sp>
      <p:sp>
        <p:nvSpPr>
          <p:cNvPr id="17" name="Status ImportarPlanilha"/>
          <p:cNvSpPr/>
          <p:nvPr/>
        </p:nvSpPr>
        <p:spPr>
          <a:xfrm>
            <a:off x="6263640" y="2651760"/>
            <a:ext cx="1451336" cy="310896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F3A"/>
                </a:solidFill>
              </a:rPr>
              <a:t>ImportarPlanilha</a:t>
            </a:r>
            <a:endParaRPr lang="en-US" sz="1100" dirty="0"/>
          </a:p>
        </p:txBody>
      </p:sp>
      <p:sp>
        <p:nvSpPr>
          <p:cNvPr id="18" name="Status draft (Edit, Activate…)"/>
          <p:cNvSpPr/>
          <p:nvPr/>
        </p:nvSpPr>
        <p:spPr>
          <a:xfrm>
            <a:off x="7824704" y="2651760"/>
            <a:ext cx="1958279" cy="310896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F3A"/>
                </a:solidFill>
              </a:rPr>
              <a:t>draft (Edit, Activate…)</a:t>
            </a:r>
            <a:endParaRPr lang="en-US" sz="1100" dirty="0"/>
          </a:p>
        </p:txBody>
      </p:sp>
      <p:sp>
        <p:nvSpPr>
          <p:cNvPr id="19" name="Status use side effects"/>
          <p:cNvSpPr/>
          <p:nvPr/>
        </p:nvSpPr>
        <p:spPr>
          <a:xfrm>
            <a:off x="9892711" y="2651760"/>
            <a:ext cx="1451336" cy="310896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F3A"/>
                </a:solidFill>
              </a:rPr>
              <a:t>use side effects</a:t>
            </a:r>
            <a:endParaRPr lang="en-US" sz="1100" dirty="0"/>
          </a:p>
        </p:txBody>
      </p:sp>
      <p:sp>
        <p:nvSpPr>
          <p:cNvPr id="20" name="Cartão"/>
          <p:cNvSpPr/>
          <p:nvPr/>
        </p:nvSpPr>
        <p:spPr>
          <a:xfrm>
            <a:off x="5989320" y="3886200"/>
            <a:ext cx="5653735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263640" y="4069080"/>
            <a:ext cx="5105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Interno (sem use)</a:t>
            </a:r>
            <a:endParaRPr lang="en-US" sz="1400" dirty="0"/>
          </a:p>
        </p:txBody>
      </p:sp>
      <p:sp>
        <p:nvSpPr>
          <p:cNvPr id="22" name="Status CancelarPorReembolso"/>
          <p:cNvSpPr/>
          <p:nvPr/>
        </p:nvSpPr>
        <p:spPr>
          <a:xfrm>
            <a:off x="6263640" y="4480560"/>
            <a:ext cx="1741018" cy="310896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CancelarPorReembolso</a:t>
            </a:r>
            <a:endParaRPr lang="en-US" sz="1100" dirty="0"/>
          </a:p>
        </p:txBody>
      </p:sp>
      <p:sp>
        <p:nvSpPr>
          <p:cNvPr id="23" name="Status RetomarPedido"/>
          <p:cNvSpPr/>
          <p:nvPr/>
        </p:nvSpPr>
        <p:spPr>
          <a:xfrm>
            <a:off x="8114386" y="4480560"/>
            <a:ext cx="1234074" cy="310896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RetomarPedido</a:t>
            </a:r>
            <a:endParaRPr lang="en-US" sz="1100" dirty="0"/>
          </a:p>
        </p:txBody>
      </p:sp>
      <p:sp>
        <p:nvSpPr>
          <p:cNvPr id="24" name="Status RecalcularTotal"/>
          <p:cNvSpPr/>
          <p:nvPr/>
        </p:nvSpPr>
        <p:spPr>
          <a:xfrm>
            <a:off x="9458188" y="4480560"/>
            <a:ext cx="1378915" cy="310896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RecalcularTotal</a:t>
            </a:r>
            <a:endParaRPr lang="en-US" sz="1100" dirty="0"/>
          </a:p>
        </p:txBody>
      </p:sp>
      <p:sp>
        <p:nvSpPr>
          <p:cNvPr id="25" name="Status ReservarEstoque"/>
          <p:cNvSpPr/>
          <p:nvPr/>
        </p:nvSpPr>
        <p:spPr>
          <a:xfrm>
            <a:off x="6263640" y="4892040"/>
            <a:ext cx="1378915" cy="310896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ReservarEstoque</a:t>
            </a:r>
            <a:endParaRPr lang="en-US" sz="1100" dirty="0"/>
          </a:p>
        </p:txBody>
      </p:sp>
      <p:sp>
        <p:nvSpPr>
          <p:cNvPr id="26" name="Status LiberarReserva"/>
          <p:cNvSpPr/>
          <p:nvPr/>
        </p:nvSpPr>
        <p:spPr>
          <a:xfrm>
            <a:off x="7752283" y="4892040"/>
            <a:ext cx="1306495" cy="310896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LiberarReserva</a:t>
            </a:r>
            <a:endParaRPr lang="en-US" sz="1100" dirty="0"/>
          </a:p>
        </p:txBody>
      </p:sp>
      <p:sp>
        <p:nvSpPr>
          <p:cNvPr id="27" name="Status BaixarEstoque"/>
          <p:cNvSpPr/>
          <p:nvPr/>
        </p:nvSpPr>
        <p:spPr>
          <a:xfrm>
            <a:off x="9168506" y="4892040"/>
            <a:ext cx="1234074" cy="310896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BaixarEstoque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263640" y="5349240"/>
            <a:ext cx="5105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Reembolso: só use action AprovarReembolso e RejeitarReembolso; o create vem do Pedido.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SERVICE BINDING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Bindings OData V4 – UI, publicados no ADT</a:t>
            </a:r>
            <a:endParaRPr lang="en-US" sz="3000" dirty="0"/>
          </a:p>
        </p:txBody>
      </p:sp>
      <p:sp>
        <p:nvSpPr>
          <p:cNvPr id="5" name="Fundo da tabela"/>
          <p:cNvSpPr/>
          <p:nvPr/>
        </p:nvSpPr>
        <p:spPr>
          <a:xfrm>
            <a:off x="548640" y="1645920"/>
            <a:ext cx="6858000" cy="2962656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55648"/>
          <a:ext cx="6583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Service binding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Consumido por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ZUI_PC_CLIENTES_O4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Gestão de Clientes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OData V4 – UI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ZUI_PC_ESTOQUE_O4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Gestão de Estoque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OData V4 – UI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ZUI_PC_PEDIDOS_COMPRAS_O4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Pedidos de Compras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OData V4 – UI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ZUI_PC_REEMBOLSOS_O4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Gestão de Reembolsos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OData V4 – UI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ZUI_PC_ANALITICO_O4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As 4 apps de análise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OData V4 – UI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Anatomia da URL do serviço</a:t>
            </a:r>
            <a:endParaRPr lang="en-US" sz="1400" dirty="0"/>
          </a:p>
        </p:txBody>
      </p:sp>
      <p:sp>
        <p:nvSpPr>
          <p:cNvPr id="8" name="Cartão"/>
          <p:cNvSpPr/>
          <p:nvPr/>
        </p:nvSpPr>
        <p:spPr>
          <a:xfrm>
            <a:off x="548640" y="5074920"/>
            <a:ext cx="68580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519379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/sap/opu/odata4/sap/</a:t>
            </a:r>
            <a:pPr indent="0" marL="0">
              <a:buNone/>
            </a:pPr>
            <a:r>
              <a:rPr lang="en-US" sz="1300" b="1" dirty="0">
                <a:solidFill>
                  <a:srgbClr val="007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zui_pc_analitico_o4</a:t>
            </a:r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/srvd/sap/</a:t>
            </a:r>
            <a:pPr indent="0" marL="0">
              <a:buNone/>
            </a:pPr>
            <a:r>
              <a:rPr lang="en-US" sz="1300" b="1" dirty="0">
                <a:solidFill>
                  <a:srgbClr val="8B47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zui_pc_analitico</a:t>
            </a:r>
            <a:pPr indent="0" marL="0">
              <a:buNone/>
            </a:pPr>
            <a:r>
              <a:rPr lang="en-US" sz="1300" b="1" dirty="0">
                <a:solidFill>
                  <a:srgbClr val="C87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/0001/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565099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■ prefixo OData V4</a:t>
            </a:r>
            <a:pPr indent="0" marL="0">
              <a:buNone/>
            </a:pPr>
            <a:r>
              <a:rPr lang="en-US" sz="1100" dirty="0">
                <a:solidFill>
                  <a:srgbClr val="0070F2"/>
                </a:solidFill>
              </a:rPr>
              <a:t>   ■ binding</a:t>
            </a:r>
            <a:pPr indent="0" marL="0">
              <a:buNone/>
            </a:pPr>
            <a:r>
              <a:rPr lang="en-US" sz="1100" dirty="0">
                <a:solidFill>
                  <a:srgbClr val="8B47D7"/>
                </a:solidFill>
              </a:rPr>
              <a:t>   ■ service definition</a:t>
            </a:r>
            <a:pPr indent="0" marL="0">
              <a:buNone/>
            </a:pPr>
            <a:r>
              <a:rPr lang="en-US" sz="1100" dirty="0">
                <a:solidFill>
                  <a:srgbClr val="C87B00"/>
                </a:solidFill>
              </a:rPr>
              <a:t>   ■ versão</a:t>
            </a:r>
            <a:endParaRPr lang="en-US" sz="1100" dirty="0"/>
          </a:p>
        </p:txBody>
      </p:sp>
      <p:sp>
        <p:nvSpPr>
          <p:cNvPr id="11" name="Cartão"/>
          <p:cNvSpPr/>
          <p:nvPr/>
        </p:nvSpPr>
        <p:spPr>
          <a:xfrm>
            <a:off x="7635240" y="1645920"/>
            <a:ext cx="4007815" cy="4526280"/>
          </a:xfrm>
          <a:prstGeom prst="roundRect">
            <a:avLst>
              <a:gd name="adj" fmla="val 27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2" name="Ícone upload-to-cloud"/>
          <p:cNvSpPr/>
          <p:nvPr/>
        </p:nvSpPr>
        <p:spPr>
          <a:xfrm>
            <a:off x="7909560" y="1874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13" name="Image 0" descr="upload-to-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1234" y="200619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641080" y="1874520"/>
            <a:ext cx="2819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Publicar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7909560" y="2651760"/>
            <a:ext cx="34591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D2D3E"/>
                </a:solidFill>
              </a:rPr>
              <a:t>Criar o binding sobre a service definition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D2D3E"/>
                </a:solidFill>
              </a:rPr>
              <a:t>Binding Type: OData V4 – UI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D2D3E"/>
                </a:solidFill>
              </a:rPr>
              <a:t>Ativar (Ctrl+F3)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D2D3E"/>
                </a:solidFill>
              </a:rPr>
              <a:t>Publish no editor do binding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D2D3E"/>
                </a:solidFill>
              </a:rPr>
              <a:t>Selecionar a entidade e abrir o Preview</a:t>
            </a:r>
            <a:endParaRPr lang="en-US" sz="1300" dirty="0"/>
          </a:p>
        </p:txBody>
      </p:sp>
      <p:sp>
        <p:nvSpPr>
          <p:cNvPr id="16" name="Cartão"/>
          <p:cNvSpPr/>
          <p:nvPr/>
        </p:nvSpPr>
        <p:spPr>
          <a:xfrm>
            <a:off x="7909560" y="4846320"/>
            <a:ext cx="3459175" cy="1097280"/>
          </a:xfrm>
          <a:prstGeom prst="roundRect">
            <a:avLst>
              <a:gd name="adj" fmla="val 10000"/>
            </a:avLst>
          </a:prstGeom>
          <a:solidFill>
            <a:srgbClr val="FFF3B8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092440" y="4892040"/>
            <a:ext cx="3093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D3E"/>
                </a:solidFill>
              </a:rPr>
              <a:t>O preview testa o backend isolado, mas não tem launchpad nem navegação entre apps.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PUBLICAÇÃO · SAP BTP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que o Publish cria por trás no SAP BTP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543290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1783080"/>
            <a:ext cx="5067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ZUI_PC_REEMBOLSOS_O4_0001_G4BA</a:t>
            </a:r>
            <a:endParaRPr lang="en-US" sz="1100" dirty="0"/>
          </a:p>
        </p:txBody>
      </p:sp>
      <p:sp>
        <p:nvSpPr>
          <p:cNvPr id="7" name="Status SCO2 · serviço de entrada"/>
          <p:cNvSpPr/>
          <p:nvPr/>
        </p:nvSpPr>
        <p:spPr>
          <a:xfrm>
            <a:off x="731520" y="2103120"/>
            <a:ext cx="1856232" cy="23774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4D9"/>
                </a:solidFill>
              </a:rPr>
              <a:t>SCO2 · serviço de entrada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23160"/>
            <a:ext cx="50671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Cloud Communication Management: o serviço OData V4 como inbound service, que pode ser usado em communication scenarios.</a:t>
            </a:r>
            <a:endParaRPr lang="en-US" sz="1200" dirty="0"/>
          </a:p>
        </p:txBody>
      </p:sp>
      <p:sp>
        <p:nvSpPr>
          <p:cNvPr id="9" name="Cartão"/>
          <p:cNvSpPr/>
          <p:nvPr/>
        </p:nvSpPr>
        <p:spPr>
          <a:xfrm>
            <a:off x="6210148" y="1645920"/>
            <a:ext cx="543290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393028" y="1783080"/>
            <a:ext cx="5067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DE50EF42D566…6HT</a:t>
            </a:r>
            <a:endParaRPr lang="en-US" sz="1100" dirty="0"/>
          </a:p>
        </p:txBody>
      </p:sp>
      <p:sp>
        <p:nvSpPr>
          <p:cNvPr id="11" name="Status SUSH · valores padrão"/>
          <p:cNvSpPr/>
          <p:nvPr/>
        </p:nvSpPr>
        <p:spPr>
          <a:xfrm>
            <a:off x="6393028" y="2103120"/>
            <a:ext cx="1606052" cy="237744"/>
          </a:xfrm>
          <a:prstGeom prst="roundRect">
            <a:avLst>
              <a:gd name="adj" fmla="val 50000"/>
            </a:avLst>
          </a:prstGeom>
          <a:solidFill>
            <a:srgbClr val="FFF3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3E00"/>
                </a:solidFill>
              </a:rPr>
              <a:t>SUSH · valores padrão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393028" y="2423160"/>
            <a:ext cx="50671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Authorization default values do objeto R3TR G4BA do binding: quais autorizações o serviço pede.</a:t>
            </a:r>
            <a:endParaRPr lang="en-US" sz="1200" dirty="0"/>
          </a:p>
        </p:txBody>
      </p:sp>
      <p:sp>
        <p:nvSpPr>
          <p:cNvPr id="13" name="Cartão"/>
          <p:cNvSpPr/>
          <p:nvPr/>
        </p:nvSpPr>
        <p:spPr>
          <a:xfrm>
            <a:off x="548640" y="4023360"/>
            <a:ext cx="543290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31520" y="4160520"/>
            <a:ext cx="5067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ZUI_PC_REEMBOLSOS_O4_0001_G4BA_IBS</a:t>
            </a:r>
            <a:endParaRPr lang="en-US" sz="1100" dirty="0"/>
          </a:p>
        </p:txBody>
      </p:sp>
      <p:sp>
        <p:nvSpPr>
          <p:cNvPr id="15" name="Status SIA6 · IAM"/>
          <p:cNvSpPr/>
          <p:nvPr/>
        </p:nvSpPr>
        <p:spPr>
          <a:xfrm>
            <a:off x="731520" y="4480560"/>
            <a:ext cx="918058" cy="23774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6B82"/>
                </a:solidFill>
              </a:rPr>
              <a:t>SIA6 · IAM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4800600"/>
            <a:ext cx="50671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Entrada de Identity and Access Management do inbound service, referenciada pelos IAM Apps.</a:t>
            </a:r>
            <a:endParaRPr lang="en-US" sz="1200" dirty="0"/>
          </a:p>
        </p:txBody>
      </p:sp>
      <p:sp>
        <p:nvSpPr>
          <p:cNvPr id="17" name="Cartão"/>
          <p:cNvSpPr/>
          <p:nvPr/>
        </p:nvSpPr>
        <p:spPr>
          <a:xfrm>
            <a:off x="6210148" y="4023360"/>
            <a:ext cx="543290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393028" y="4160520"/>
            <a:ext cx="5067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ZPC_IAM_*_EXT</a:t>
            </a:r>
            <a:endParaRPr lang="en-US" sz="1100" dirty="0"/>
          </a:p>
        </p:txBody>
      </p:sp>
      <p:sp>
        <p:nvSpPr>
          <p:cNvPr id="19" name="Status SIA6 · IAM App"/>
          <p:cNvSpPr/>
          <p:nvPr/>
        </p:nvSpPr>
        <p:spPr>
          <a:xfrm>
            <a:off x="6393028" y="4480560"/>
            <a:ext cx="1168237" cy="237744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F3A"/>
                </a:solidFill>
              </a:rPr>
              <a:t>SIA6 · IAM App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393028" y="4800600"/>
            <a:ext cx="50671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Criado manualmente: junta o serviço e os valores de ZPC_ADMIN/ZPC_PEDIDO; o ADT acrescenta _EXT.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4 · COMMON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Segurança e serviço analítico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Os dois objetos de autorização, a cadeia de IAM que libera os serviços no SAP BTP e o serviço analítico compartilhado pelas quatro apps de análise.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Ícone settings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D232A"/>
          </a:solidFill>
          <a:ln/>
        </p:spPr>
      </p:sp>
      <p:pic>
        <p:nvPicPr>
          <p:cNvPr id="8" name="Image 0" descr="sett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3374136"/>
          </a:xfrm>
          <a:prstGeom prst="roundRect">
            <a:avLst>
              <a:gd name="adj" fmla="val 3252"/>
            </a:avLst>
          </a:prstGeom>
          <a:solidFill>
            <a:srgbClr val="1D23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B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ZPC_ADMIN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authorization object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ZPC_PEDIDO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authorization object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426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ZPC_IAM_*_EXT (4)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IAM Apps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0266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ZPC_BC_* (4)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Business Catalogs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341071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ZPC_BR_ADMIN · ZPC_BR_COMUM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Business Roles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379476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ZUI_PC_ANALITICO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service definition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417880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ZUI_PC_ANALITICO_O4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service binding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COMMON · AUTORIZAÇÃO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Dois objetos de autorização, um campo</a:t>
            </a:r>
            <a:endParaRPr lang="en-US" sz="3000" dirty="0"/>
          </a:p>
        </p:txBody>
      </p:sp>
      <p:sp>
        <p:nvSpPr>
          <p:cNvPr id="5" name="Fundo da tabela"/>
          <p:cNvSpPr/>
          <p:nvPr/>
        </p:nvSpPr>
        <p:spPr>
          <a:xfrm>
            <a:off x="548640" y="1645920"/>
            <a:ext cx="7040880" cy="3236976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55648"/>
          <a:ext cx="67665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1234440"/>
                <a:gridCol w="1234440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ACTVT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Atividade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ZPC_ADMIN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ZPC_PEDIDO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Usada em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01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Criar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F3A"/>
                          </a:solidFill>
                        </a:rPr>
                        <a:t>sim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F3A"/>
                          </a:solidFill>
                        </a:rPr>
                        <a:t>sim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create, ImportarPlanilha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02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Alterar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F3A"/>
                          </a:solidFill>
                        </a:rPr>
                        <a:t>sim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F3A"/>
                          </a:solidFill>
                        </a:rPr>
                        <a:t>sim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update, Edit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03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Exibir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F3A"/>
                          </a:solidFill>
                        </a:rPr>
                        <a:t>sim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F3A"/>
                          </a:solidFill>
                        </a:rPr>
                        <a:t>sim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leitura (com DCL opcional)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06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Excluir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F3A"/>
                          </a:solidFill>
                        </a:rPr>
                        <a:t>sim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F3A"/>
                          </a:solidFill>
                        </a:rPr>
                        <a:t>sim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delete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Executar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F3A"/>
                          </a:solidFill>
                        </a:rPr>
                        <a:t>sim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actions do pedido e do reembolso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7635240" y="1645920"/>
            <a:ext cx="4007815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8" name="Ícone locked"/>
          <p:cNvSpPr/>
          <p:nvPr/>
        </p:nvSpPr>
        <p:spPr>
          <a:xfrm>
            <a:off x="7863840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3ECFB"/>
          </a:solidFill>
          <a:ln/>
        </p:spPr>
      </p:sp>
      <p:pic>
        <p:nvPicPr>
          <p:cNvPr id="9" name="Image 0" descr="lock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7957" y="1988637"/>
            <a:ext cx="247254" cy="24725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476488" y="1874520"/>
            <a:ext cx="29836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ZPC_ADMIN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7863840" y="2487168"/>
            <a:ext cx="35506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Administração de clientes e itens de estoque: só administradores mantêm cadastros.</a:t>
            </a:r>
            <a:endParaRPr lang="en-US" sz="1200" dirty="0"/>
          </a:p>
        </p:txBody>
      </p:sp>
      <p:sp>
        <p:nvSpPr>
          <p:cNvPr id="12" name="Cartão"/>
          <p:cNvSpPr/>
          <p:nvPr/>
        </p:nvSpPr>
        <p:spPr>
          <a:xfrm>
            <a:off x="7635240" y="4023360"/>
            <a:ext cx="4007815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3" name="Ícone locked"/>
          <p:cNvSpPr/>
          <p:nvPr/>
        </p:nvSpPr>
        <p:spPr>
          <a:xfrm>
            <a:off x="7863840" y="425196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14" name="Image 1" descr="lock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957" y="4366077"/>
            <a:ext cx="247254" cy="24725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476488" y="4251960"/>
            <a:ext cx="29836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ZPC_PEDIDO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7863840" y="4864608"/>
            <a:ext cx="35506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Operação de pedidos e reembolsos, inclusive a atividade 16 exigida pelas actions.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COMMON · IAM (SAP BTP)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Do objeto de autorização ao usuário no SAP BTP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783080"/>
            <a:ext cx="1962851" cy="2514600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Ícone locked"/>
          <p:cNvSpPr/>
          <p:nvPr/>
        </p:nvSpPr>
        <p:spPr>
          <a:xfrm>
            <a:off x="1210026" y="201168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3ECFB"/>
          </a:solidFill>
          <a:ln/>
        </p:spPr>
      </p:sp>
      <p:pic>
        <p:nvPicPr>
          <p:cNvPr id="7" name="Image 0" descr="lock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645" y="2165299"/>
            <a:ext cx="332842" cy="33284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2788920"/>
            <a:ext cx="1688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Objetos de autorização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310128"/>
            <a:ext cx="1688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ZPC_ADMIN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ZPC_PEDIDO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3822192"/>
            <a:ext cx="16885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campo ACTVT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548067" y="3035808"/>
            <a:ext cx="246888" cy="0"/>
          </a:xfrm>
          <a:prstGeom prst="line">
            <a:avLst/>
          </a:prstGeom>
          <a:noFill/>
          <a:ln w="2540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12" name="Cartão"/>
          <p:cNvSpPr/>
          <p:nvPr/>
        </p:nvSpPr>
        <p:spPr>
          <a:xfrm>
            <a:off x="2831531" y="1783080"/>
            <a:ext cx="1962851" cy="2514600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3" name="Ícone action-settings"/>
          <p:cNvSpPr/>
          <p:nvPr/>
        </p:nvSpPr>
        <p:spPr>
          <a:xfrm>
            <a:off x="3492917" y="201168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14" name="Image 1" descr="action-settin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536" y="21652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968691" y="2788920"/>
            <a:ext cx="1688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IAM App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2968691" y="3310128"/>
            <a:ext cx="1688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ZPC_IAM_PEDIDOS_EXT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968691" y="3822192"/>
            <a:ext cx="16885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serviço + valores ACTVT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830958" y="3035808"/>
            <a:ext cx="246888" cy="0"/>
          </a:xfrm>
          <a:prstGeom prst="line">
            <a:avLst/>
          </a:prstGeom>
          <a:noFill/>
          <a:ln w="2540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19" name="Cartão"/>
          <p:cNvSpPr/>
          <p:nvPr/>
        </p:nvSpPr>
        <p:spPr>
          <a:xfrm>
            <a:off x="5114422" y="1783080"/>
            <a:ext cx="1962851" cy="2514600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0" name="Ícone list"/>
          <p:cNvSpPr/>
          <p:nvPr/>
        </p:nvSpPr>
        <p:spPr>
          <a:xfrm>
            <a:off x="5775808" y="201168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3F7F6"/>
          </a:solidFill>
          <a:ln/>
        </p:spPr>
      </p:sp>
      <p:pic>
        <p:nvPicPr>
          <p:cNvPr id="21" name="Image 2" descr="l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427" y="216529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251582" y="2788920"/>
            <a:ext cx="1688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Business Catalog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251582" y="3310128"/>
            <a:ext cx="1688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ZPC_BC_PEDIDOS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251582" y="3822192"/>
            <a:ext cx="16885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um por IAM App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113849" y="3035808"/>
            <a:ext cx="246888" cy="0"/>
          </a:xfrm>
          <a:prstGeom prst="line">
            <a:avLst/>
          </a:prstGeom>
          <a:noFill/>
          <a:ln w="2540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26" name="Cartão"/>
          <p:cNvSpPr/>
          <p:nvPr/>
        </p:nvSpPr>
        <p:spPr>
          <a:xfrm>
            <a:off x="7397313" y="1783080"/>
            <a:ext cx="1962851" cy="2514600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7" name="Ícone role"/>
          <p:cNvSpPr/>
          <p:nvPr/>
        </p:nvSpPr>
        <p:spPr>
          <a:xfrm>
            <a:off x="8058699" y="201168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F3E0"/>
          </a:solidFill>
          <a:ln/>
        </p:spPr>
      </p:sp>
      <p:pic>
        <p:nvPicPr>
          <p:cNvPr id="28" name="Image 3" descr="ro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2318" y="2165299"/>
            <a:ext cx="332842" cy="33284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534473" y="2788920"/>
            <a:ext cx="1688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Business Role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7534473" y="3310128"/>
            <a:ext cx="1688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ZPC_BR_ADMIN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ZPC_BR_COMUM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7534473" y="3822192"/>
            <a:ext cx="16885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agrupa catálogos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9396740" y="3035808"/>
            <a:ext cx="246888" cy="0"/>
          </a:xfrm>
          <a:prstGeom prst="line">
            <a:avLst/>
          </a:prstGeom>
          <a:noFill/>
          <a:ln w="2540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33" name="Cartão"/>
          <p:cNvSpPr/>
          <p:nvPr/>
        </p:nvSpPr>
        <p:spPr>
          <a:xfrm>
            <a:off x="9680204" y="1783080"/>
            <a:ext cx="1962851" cy="2514600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4" name="Ícone employee"/>
          <p:cNvSpPr/>
          <p:nvPr/>
        </p:nvSpPr>
        <p:spPr>
          <a:xfrm>
            <a:off x="10341590" y="201168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DE8F1"/>
          </a:solidFill>
          <a:ln/>
        </p:spPr>
      </p:sp>
      <p:pic>
        <p:nvPicPr>
          <p:cNvPr id="35" name="Image 4" descr="employe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5209" y="2165299"/>
            <a:ext cx="332842" cy="33284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817364" y="2788920"/>
            <a:ext cx="1688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Usuário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9817364" y="3310128"/>
            <a:ext cx="1688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atribuição da role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9817364" y="3822192"/>
            <a:ext cx="16885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Maintain Business Users</a:t>
            </a:r>
            <a:endParaRPr lang="en-US" sz="1100" dirty="0"/>
          </a:p>
        </p:txBody>
      </p:sp>
      <p:sp>
        <p:nvSpPr>
          <p:cNvPr id="39" name="Cartão"/>
          <p:cNvSpPr/>
          <p:nvPr/>
        </p:nvSpPr>
        <p:spPr>
          <a:xfrm>
            <a:off x="548640" y="4526280"/>
            <a:ext cx="35152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40" name="Text 32"/>
          <p:cNvSpPr txBox="1"/>
          <p:nvPr/>
        </p:nvSpPr>
        <p:spPr>
          <a:xfrm>
            <a:off x="777240" y="4681728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Depois do deploy das apps</a:t>
            </a:r>
            <a:endParaRPr lang="en-US" sz="1350" dirty="0"/>
          </a:p>
        </p:txBody>
      </p:sp>
      <p:sp>
        <p:nvSpPr>
          <p:cNvPr id="41" name="Text 33"/>
          <p:cNvSpPr txBox="1"/>
          <p:nvPr/>
        </p:nvSpPr>
        <p:spPr>
          <a:xfrm>
            <a:off x="777240" y="5010912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Cada catálogo recebe também o IAM App do tile (ZPC_*_UI5R), criado pelo deploy da etapa 5.</a:t>
            </a:r>
            <a:endParaRPr lang="en-US" sz="1200" dirty="0"/>
          </a:p>
        </p:txBody>
      </p:sp>
      <p:sp>
        <p:nvSpPr>
          <p:cNvPr id="42" name="Cartão"/>
          <p:cNvSpPr/>
          <p:nvPr/>
        </p:nvSpPr>
        <p:spPr>
          <a:xfrm>
            <a:off x="4338218" y="4526280"/>
            <a:ext cx="35152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43" name="Text 35"/>
          <p:cNvSpPr txBox="1"/>
          <p:nvPr/>
        </p:nvSpPr>
        <p:spPr>
          <a:xfrm>
            <a:off x="4566818" y="4681728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Roles do projeto</a:t>
            </a:r>
            <a:endParaRPr lang="en-US" sz="1350" dirty="0"/>
          </a:p>
        </p:txBody>
      </p:sp>
      <p:sp>
        <p:nvSpPr>
          <p:cNvPr id="44" name="Text 36"/>
          <p:cNvSpPr txBox="1"/>
          <p:nvPr/>
        </p:nvSpPr>
        <p:spPr>
          <a:xfrm>
            <a:off x="4566818" y="5010912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ZPC_BR_ADMIN: os quatro catálogos. ZPC_BR_COMUM: Pedidos e Reembolsos.</a:t>
            </a:r>
            <a:endParaRPr lang="en-US" sz="1200" dirty="0"/>
          </a:p>
        </p:txBody>
      </p:sp>
      <p:sp>
        <p:nvSpPr>
          <p:cNvPr id="45" name="Cartão"/>
          <p:cNvSpPr/>
          <p:nvPr/>
        </p:nvSpPr>
        <p:spPr>
          <a:xfrm>
            <a:off x="8127797" y="4526280"/>
            <a:ext cx="3515258" cy="1645920"/>
          </a:xfrm>
          <a:prstGeom prst="roundRect">
            <a:avLst>
              <a:gd name="adj" fmla="val 6667"/>
            </a:avLst>
          </a:prstGeom>
          <a:solidFill>
            <a:srgbClr val="FFF3B8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8356397" y="4681728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No trial</a:t>
            </a:r>
            <a:endParaRPr lang="en-US" sz="1350" dirty="0"/>
          </a:p>
        </p:txBody>
      </p:sp>
      <p:sp>
        <p:nvSpPr>
          <p:cNvPr id="47" name="Text 39"/>
          <p:cNvSpPr txBox="1"/>
          <p:nvPr/>
        </p:nvSpPr>
        <p:spPr>
          <a:xfrm>
            <a:off x="8356397" y="5010912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Maintain Business Roles exige administrador: c_modo_trial = abap_true libera as operações.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COMMON · IAM POR DOMÍNIO (SAP BTP)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Um IAM App e um catálogo para cada serviço</a:t>
            </a:r>
            <a:endParaRPr lang="en-US" sz="3000" dirty="0"/>
          </a:p>
        </p:txBody>
      </p:sp>
      <p:sp>
        <p:nvSpPr>
          <p:cNvPr id="5" name="Fundo da tabela"/>
          <p:cNvSpPr/>
          <p:nvPr/>
        </p:nvSpPr>
        <p:spPr>
          <a:xfrm>
            <a:off x="548640" y="1645920"/>
            <a:ext cx="11094415" cy="2962656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55648"/>
          <a:ext cx="1082009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834640"/>
                <a:gridCol w="2606040"/>
                <a:gridCol w="2286000"/>
                <a:gridCol w="1721815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Domínio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Serviço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IAM App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Business Catalog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Autorização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Clientes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ZUI_PC_CLIENTES_O4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ZPC_IAM_CLIENTES_EXT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ZPC_BC_CLIENTES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ZPC_ADMIN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Estoque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ZUI_PC_ESTOQUE_O4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ZPC_IAM_ESTOQUE_EXT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ZPC_BC_ESTOQUE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ZPC_ADMIN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Pedidos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ZUI_PC_PEDIDOS_COMPRAS_O4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ZPC_IAM_PEDIDOS_EXT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ZPC_BC_PEDIDOS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ZPC_PEDIDO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Reembolsos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ZUI_PC_REEMBOLSOS_O4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ZPC_IAM_REEMBOLSOS_EXT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ZPC_BC_REEMBOLSOS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ZPC_PEDIDO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4754880"/>
            <a:ext cx="541004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77240" y="489204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ZPC_BR_ADMIN</a:t>
            </a:r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  Administração</a:t>
            </a:r>
            <a:endParaRPr lang="en-US" sz="1400" dirty="0"/>
          </a:p>
        </p:txBody>
      </p:sp>
      <p:sp>
        <p:nvSpPr>
          <p:cNvPr id="9" name="Status ZPC_BC_CLIENTES"/>
          <p:cNvSpPr/>
          <p:nvPr/>
        </p:nvSpPr>
        <p:spPr>
          <a:xfrm>
            <a:off x="777240" y="5321808"/>
            <a:ext cx="1380744" cy="310896"/>
          </a:xfrm>
          <a:prstGeom prst="roundRect">
            <a:avLst>
              <a:gd name="adj" fmla="val 50000"/>
            </a:avLst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ZPC_BC_CLIENTES</a:t>
            </a:r>
            <a:endParaRPr lang="en-US" sz="1000" dirty="0"/>
          </a:p>
        </p:txBody>
      </p:sp>
      <p:sp>
        <p:nvSpPr>
          <p:cNvPr id="10" name="Status ZPC_BC_ESTOQUE"/>
          <p:cNvSpPr/>
          <p:nvPr/>
        </p:nvSpPr>
        <p:spPr>
          <a:xfrm>
            <a:off x="2249424" y="5321808"/>
            <a:ext cx="1305763" cy="310896"/>
          </a:xfrm>
          <a:prstGeom prst="roundRect">
            <a:avLst>
              <a:gd name="adj" fmla="val 50000"/>
            </a:avLst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ZPC_BC_ESTOQUE</a:t>
            </a:r>
            <a:endParaRPr lang="en-US" sz="1000" dirty="0"/>
          </a:p>
        </p:txBody>
      </p:sp>
      <p:sp>
        <p:nvSpPr>
          <p:cNvPr id="11" name="Status ZPC_BC_PEDIDOS"/>
          <p:cNvSpPr/>
          <p:nvPr/>
        </p:nvSpPr>
        <p:spPr>
          <a:xfrm>
            <a:off x="3646627" y="5321808"/>
            <a:ext cx="1305763" cy="310896"/>
          </a:xfrm>
          <a:prstGeom prst="roundRect">
            <a:avLst>
              <a:gd name="adj" fmla="val 50000"/>
            </a:avLst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ZPC_BC_PEDIDOS</a:t>
            </a:r>
            <a:endParaRPr lang="en-US" sz="1000" dirty="0"/>
          </a:p>
        </p:txBody>
      </p:sp>
      <p:sp>
        <p:nvSpPr>
          <p:cNvPr id="12" name="Status ZPC_BC_REEMBOLSOS"/>
          <p:cNvSpPr/>
          <p:nvPr/>
        </p:nvSpPr>
        <p:spPr>
          <a:xfrm>
            <a:off x="777240" y="5705856"/>
            <a:ext cx="1530706" cy="310896"/>
          </a:xfrm>
          <a:prstGeom prst="roundRect">
            <a:avLst>
              <a:gd name="adj" fmla="val 50000"/>
            </a:avLst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ZPC_BC_REEMBOLSOS</a:t>
            </a:r>
            <a:endParaRPr lang="en-US" sz="1000" dirty="0"/>
          </a:p>
        </p:txBody>
      </p:sp>
      <p:sp>
        <p:nvSpPr>
          <p:cNvPr id="13" name="Cartão"/>
          <p:cNvSpPr/>
          <p:nvPr/>
        </p:nvSpPr>
        <p:spPr>
          <a:xfrm>
            <a:off x="6233008" y="4754880"/>
            <a:ext cx="541004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461608" y="489204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ZPC_BR_COMUM</a:t>
            </a:r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  Usuário comum</a:t>
            </a:r>
            <a:endParaRPr lang="en-US" sz="1400" dirty="0"/>
          </a:p>
        </p:txBody>
      </p:sp>
      <p:sp>
        <p:nvSpPr>
          <p:cNvPr id="15" name="Status ZPC_BC_PEDIDOS"/>
          <p:cNvSpPr/>
          <p:nvPr/>
        </p:nvSpPr>
        <p:spPr>
          <a:xfrm>
            <a:off x="6461608" y="5321808"/>
            <a:ext cx="1305763" cy="310896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ZPC_BC_PEDIDOS</a:t>
            </a:r>
            <a:endParaRPr lang="en-US" sz="1000" dirty="0"/>
          </a:p>
        </p:txBody>
      </p:sp>
      <p:sp>
        <p:nvSpPr>
          <p:cNvPr id="16" name="Status ZPC_BC_REEMBOLSOS"/>
          <p:cNvSpPr/>
          <p:nvPr/>
        </p:nvSpPr>
        <p:spPr>
          <a:xfrm>
            <a:off x="7858811" y="5321808"/>
            <a:ext cx="1530706" cy="310896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ZPC_BC_REEMBOLSOS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COMMON · SERVIÇO ANALÍTICO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ZUI_PC_ANALITICO: um serviço, quatro análises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669280" cy="2039112"/>
          </a:xfrm>
          <a:prstGeom prst="roundRect">
            <a:avLst>
              <a:gd name="adj" fmla="val 4484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669280" cy="1691640"/>
          </a:xfrm>
          <a:prstGeom prst="roundRect">
            <a:avLst>
              <a:gd name="adj" fmla="val 5405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65099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6509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UI_PC_ANALITICO.srvd.srvdsrv"/>
          <p:cNvSpPr/>
          <p:nvPr/>
        </p:nvSpPr>
        <p:spPr>
          <a:xfrm>
            <a:off x="640080" y="1719072"/>
            <a:ext cx="249174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ZUI_PC_ANALITICO.srvd.srvdsrv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249174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Trecho de código"/>
          <p:cNvSpPr txBox="1"/>
          <p:nvPr/>
        </p:nvSpPr>
        <p:spPr>
          <a:xfrm>
            <a:off x="731520" y="2103120"/>
            <a:ext cx="534924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'Pedidos de Compras - Análises (ALP e OVP)'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ZUI_PC_ANALITICO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ZC_PC_PEDIDO_ANALISE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PedidoAnalise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ZC_PC_CLIENTE_ANALISE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ClienteAnalise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ZC_PC_ITEM_ANALISE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ItemAnalise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ZC_PC_REEMB_ANALISE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ReembolsoAnalise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Cartão"/>
          <p:cNvSpPr/>
          <p:nvPr/>
        </p:nvSpPr>
        <p:spPr>
          <a:xfrm>
            <a:off x="548640" y="3867912"/>
            <a:ext cx="5669280" cy="1051560"/>
          </a:xfrm>
          <a:prstGeom prst="roundRect">
            <a:avLst>
              <a:gd name="adj" fmla="val 10435"/>
            </a:avLst>
          </a:prstGeom>
          <a:solidFill>
            <a:srgbClr val="E1F4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400507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6B82"/>
                </a:solidFill>
              </a:rPr>
              <a:t>Service binding  </a:t>
            </a:r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ZUI_PC_ANALITICO_O4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37083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/sap/opu/odata4/sap/zui_pc_analitico_o4/srvd/sap/zui_pc_analitico/0001/ClienteAnalise?$apply=groupby((Genero),aggregate(QtdeClientes))</a:t>
            </a:r>
            <a:endParaRPr lang="en-US" sz="1000" dirty="0"/>
          </a:p>
        </p:txBody>
      </p:sp>
      <p:sp>
        <p:nvSpPr>
          <p:cNvPr id="15" name="Cartão"/>
          <p:cNvSpPr/>
          <p:nvPr/>
        </p:nvSpPr>
        <p:spPr>
          <a:xfrm>
            <a:off x="548640" y="5102352"/>
            <a:ext cx="5669280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77240" y="52395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Somente leitura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554126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Sem BDEF: o serviço só lê. As medidas usam a agregação padrão do cubo, então o $apply pede aggregate(Medida) sem método.</a:t>
            </a:r>
            <a:endParaRPr lang="en-US" sz="1100" dirty="0"/>
          </a:p>
        </p:txBody>
      </p:sp>
      <p:sp>
        <p:nvSpPr>
          <p:cNvPr id="18" name="Fundo da tabela"/>
          <p:cNvSpPr/>
          <p:nvPr/>
        </p:nvSpPr>
        <p:spPr>
          <a:xfrm>
            <a:off x="6492240" y="1645920"/>
            <a:ext cx="5150815" cy="2414016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755648"/>
          <a:ext cx="487649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131033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Entity set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Origem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Uso na app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PedidoAnalise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ZC_PC_PEDIDO_ANALISE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Análise de Pedidos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ClienteAnalise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ZC_PC_CLIENTE_ANALISE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Análise de Clientes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ItemAnalise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ZC_PC_ITEM_ANALISE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Análise do Estoque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ReembolsoAnalise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ZC_PC_REEMB_ANALISE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Análise de Reembolsos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Cartão"/>
          <p:cNvSpPr/>
          <p:nvPr/>
        </p:nvSpPr>
        <p:spPr>
          <a:xfrm>
            <a:off x="6492240" y="4270248"/>
            <a:ext cx="5150815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720840" y="4407408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Teste no navegador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6720840" y="4773168"/>
            <a:ext cx="4693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56B82"/>
                </a:solidFill>
              </a:rPr>
              <a:t>Metadados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6720840" y="4974336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.../$metadata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6720840" y="5426964"/>
            <a:ext cx="4693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56B82"/>
                </a:solidFill>
              </a:rPr>
              <a:t>Totais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6720840" y="5628132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PedidoAnalise?$apply=groupby((StatusPedido),aggregate(ValorTotal))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4 · CLIENTES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Serviço de clientes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 serviço da app Gestão de Clientes, com a BDEF de projeção do cliente e do endereço.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Ícone customer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D232A"/>
          </a:solidFill>
          <a:ln/>
        </p:spPr>
      </p:sp>
      <p:pic>
        <p:nvPicPr>
          <p:cNvPr id="8" name="Image 0" descr="custom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2221992"/>
          </a:xfrm>
          <a:prstGeom prst="roundRect">
            <a:avLst>
              <a:gd name="adj" fmla="val 4938"/>
            </a:avLst>
          </a:prstGeom>
          <a:solidFill>
            <a:srgbClr val="1D23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B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ZUI_PC_CLIENTES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service definition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ZUI_PC_CLIENTES_O4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service binding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426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ZC_PC_CLIENTE_APP.bdef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projeção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0266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ZPC_IAM_CLIENTES_EXT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IAM App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CLIENTES · SERVIÇO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ZUI_PC_CLIENTES: cliente, endereço e duas VHs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669280" cy="1869948"/>
          </a:xfrm>
          <a:prstGeom prst="roundRect">
            <a:avLst>
              <a:gd name="adj" fmla="val 489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669280" cy="1522476"/>
          </a:xfrm>
          <a:prstGeom prst="roundRect">
            <a:avLst>
              <a:gd name="adj" fmla="val 6006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65099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6509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UI_PC_CLIENTES.srvd.srvdsrv"/>
          <p:cNvSpPr/>
          <p:nvPr/>
        </p:nvSpPr>
        <p:spPr>
          <a:xfrm>
            <a:off x="640080" y="1719072"/>
            <a:ext cx="242316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ZUI_PC_CLIENTES.srvd.srvdsrv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242316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Trecho de código"/>
          <p:cNvSpPr txBox="1"/>
          <p:nvPr/>
        </p:nvSpPr>
        <p:spPr>
          <a:xfrm>
            <a:off x="731520" y="2103120"/>
            <a:ext cx="5349240" cy="1321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'Gestão de Clientes'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ZUI_PC_CLIENTES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ZC_PC_CLIENTE_APP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ZC_PC_ENDERECO_APP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ZC_PC_GENERO_VH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GeneroVH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ZC_PC_CEP_VH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Cartão"/>
          <p:cNvSpPr/>
          <p:nvPr/>
        </p:nvSpPr>
        <p:spPr>
          <a:xfrm>
            <a:off x="548640" y="3698748"/>
            <a:ext cx="5669280" cy="1051560"/>
          </a:xfrm>
          <a:prstGeom prst="roundRect">
            <a:avLst>
              <a:gd name="adj" fmla="val 10435"/>
            </a:avLst>
          </a:prstGeom>
          <a:solidFill>
            <a:srgbClr val="E1F4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38359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6B82"/>
                </a:solidFill>
              </a:rPr>
              <a:t>Service binding  </a:t>
            </a:r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ZUI_PC_CLIENTES_O4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2016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/sap/opu/odata4/sap/zui_pc_clientes_o4/srvd/sap/zui_pc_clientes/0001/</a:t>
            </a:r>
            <a:endParaRPr lang="en-US" sz="1000" dirty="0"/>
          </a:p>
        </p:txBody>
      </p:sp>
      <p:sp>
        <p:nvSpPr>
          <p:cNvPr id="15" name="Cartão"/>
          <p:cNvSpPr/>
          <p:nvPr/>
        </p:nvSpPr>
        <p:spPr>
          <a:xfrm>
            <a:off x="548640" y="4933188"/>
            <a:ext cx="5669280" cy="1239012"/>
          </a:xfrm>
          <a:prstGeom prst="roundRect">
            <a:avLst>
              <a:gd name="adj" fmla="val 88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77240" y="50703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Exposto pela projeção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5372100"/>
            <a:ext cx="5212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create, update, delete, draft, ImportarPlanilha; no endereço, update, delete e DefinirEnderecoPrincipal.</a:t>
            </a:r>
            <a:endParaRPr lang="en-US" sz="1100" dirty="0"/>
          </a:p>
        </p:txBody>
      </p:sp>
      <p:sp>
        <p:nvSpPr>
          <p:cNvPr id="18" name="Fundo da tabela"/>
          <p:cNvSpPr/>
          <p:nvPr/>
        </p:nvSpPr>
        <p:spPr>
          <a:xfrm>
            <a:off x="6492240" y="1645920"/>
            <a:ext cx="5150815" cy="2414016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755648"/>
          <a:ext cx="487649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131033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Entity set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Origem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Uso na app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ZC_PC_CLIENTE_APP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List Report e Object Page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Endereco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ZC_PC_ENDERECO_APP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Tabela e sub-página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GeneroVH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ZC_PC_GENERO_VH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Lista de gênero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CepVH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ZC_PC_CEP_VH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Sugestão de CEPs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Cartão"/>
          <p:cNvSpPr/>
          <p:nvPr/>
        </p:nvSpPr>
        <p:spPr>
          <a:xfrm>
            <a:off x="6492240" y="4270248"/>
            <a:ext cx="5150815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720840" y="4407408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Teste no navegador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6720840" y="4773168"/>
            <a:ext cx="4693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56B82"/>
                </a:solidFill>
              </a:rPr>
              <a:t>Metadados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6720840" y="4974336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.../$metadata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6720840" y="5209032"/>
            <a:ext cx="4693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56B82"/>
                </a:solidFill>
              </a:rPr>
              <a:t>Rascunhos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6720840" y="5410200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Cliente?$filter=IsActiveEntity eq false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6720840" y="5644896"/>
            <a:ext cx="4693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56B82"/>
                </a:solidFill>
              </a:rPr>
              <a:t>Filho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6720840" y="5846064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Cliente(ClienteUUID=…,IsActiveEntity=true)/_Endereco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4 · ESTOQUE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Serviço de estoque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 serviço da app Gestão de Estoque. As actions de movimentação ficam de fora da projeção.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Ícone product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D232A"/>
          </a:solidFill>
          <a:ln/>
        </p:spPr>
      </p:sp>
      <p:pic>
        <p:nvPicPr>
          <p:cNvPr id="8" name="Image 0" descr="produ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2221992"/>
          </a:xfrm>
          <a:prstGeom prst="roundRect">
            <a:avLst>
              <a:gd name="adj" fmla="val 4938"/>
            </a:avLst>
          </a:prstGeom>
          <a:solidFill>
            <a:srgbClr val="1D23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B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ZUI_PC_ESTOQUE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service definition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ZUI_PC_ESTOQUE_O4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service binding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426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ZC_PC_ITEM_APP.bdef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projeção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0266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ZPC_IAM_ESTOQUE_EXT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IAM App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ESTOQUE · SERVIÇO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ZUI_PC_ESTOQUE: item e três value helps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669280" cy="1869948"/>
          </a:xfrm>
          <a:prstGeom prst="roundRect">
            <a:avLst>
              <a:gd name="adj" fmla="val 489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669280" cy="1522476"/>
          </a:xfrm>
          <a:prstGeom prst="roundRect">
            <a:avLst>
              <a:gd name="adj" fmla="val 6006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65099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6509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UI_PC_ESTOQUE.srvd.srvdsrv"/>
          <p:cNvSpPr/>
          <p:nvPr/>
        </p:nvSpPr>
        <p:spPr>
          <a:xfrm>
            <a:off x="640080" y="1719072"/>
            <a:ext cx="235458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ZUI_PC_ESTOQUE.srvd.srvdsrv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235458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Trecho de código"/>
          <p:cNvSpPr txBox="1"/>
          <p:nvPr/>
        </p:nvSpPr>
        <p:spPr>
          <a:xfrm>
            <a:off x="731520" y="2103120"/>
            <a:ext cx="5349240" cy="1321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'Gestão de Estoque'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ZUI_PC_ESTOQUE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ZC_PC_ITEM_APP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ZC_PC_CATEGORIA_VH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ZC_PC_STATUSEST_VH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StatusEstoqueVH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I_CurrencyStdVH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Cartão"/>
          <p:cNvSpPr/>
          <p:nvPr/>
        </p:nvSpPr>
        <p:spPr>
          <a:xfrm>
            <a:off x="548640" y="3698748"/>
            <a:ext cx="5669280" cy="1051560"/>
          </a:xfrm>
          <a:prstGeom prst="roundRect">
            <a:avLst>
              <a:gd name="adj" fmla="val 10435"/>
            </a:avLst>
          </a:prstGeom>
          <a:solidFill>
            <a:srgbClr val="E1F4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38359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6B82"/>
                </a:solidFill>
              </a:rPr>
              <a:t>Service binding  </a:t>
            </a:r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ZUI_PC_ESTOQUE_O4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2016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/sap/opu/odata4/sap/zui_pc_estoque_o4/srvd/sap/zui_pc_estoque/0001/</a:t>
            </a:r>
            <a:endParaRPr lang="en-US" sz="1000" dirty="0"/>
          </a:p>
        </p:txBody>
      </p:sp>
      <p:sp>
        <p:nvSpPr>
          <p:cNvPr id="15" name="Cartão"/>
          <p:cNvSpPr/>
          <p:nvPr/>
        </p:nvSpPr>
        <p:spPr>
          <a:xfrm>
            <a:off x="548640" y="4933188"/>
            <a:ext cx="5669280" cy="1239012"/>
          </a:xfrm>
          <a:prstGeom prst="roundRect">
            <a:avLst>
              <a:gd name="adj" fmla="val 88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77240" y="50703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Exposto pela projeção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5372100"/>
            <a:ext cx="521208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create, update, delete, draft e ImportarPlanilha. Movimentos de estoque: só via EML interno.</a:t>
            </a:r>
            <a:endParaRPr lang="en-US" sz="1100" dirty="0"/>
          </a:p>
        </p:txBody>
      </p:sp>
      <p:sp>
        <p:nvSpPr>
          <p:cNvPr id="18" name="Fundo da tabela"/>
          <p:cNvSpPr/>
          <p:nvPr/>
        </p:nvSpPr>
        <p:spPr>
          <a:xfrm>
            <a:off x="6492240" y="1645920"/>
            <a:ext cx="5150815" cy="2414016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755648"/>
          <a:ext cx="487649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131033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Entity set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Origem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Uso na app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ZC_PC_ITEM_APP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List Report e Object Page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CategoriaVH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ZC_PC_CATEGORIA_VH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Categoria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StatusEstoqueVH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ZC_PC_STATUSEST_VH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Filtro de status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CurrencyVH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I_CurrencyStdVH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Moeda (view SAP)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Cartão"/>
          <p:cNvSpPr/>
          <p:nvPr/>
        </p:nvSpPr>
        <p:spPr>
          <a:xfrm>
            <a:off x="6492240" y="4270248"/>
            <a:ext cx="5150815" cy="190195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720840" y="4407408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Teste no navegador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6720840" y="4773168"/>
            <a:ext cx="4693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56B82"/>
                </a:solidFill>
              </a:rPr>
              <a:t>Metadados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6720840" y="4974336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.../$metadata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6720840" y="5209032"/>
            <a:ext cx="4693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56B82"/>
                </a:solidFill>
              </a:rPr>
              <a:t>Itens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6720840" y="5410200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Item?$top=5&amp;$select=Sku,Nome,QtdeDisponivel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6720840" y="5644896"/>
            <a:ext cx="4693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56B82"/>
                </a:solidFill>
              </a:rPr>
              <a:t>Sem estoque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6720840" y="5846064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Item?$filter=StatusEstoque eq 'SEM_ESTOQUE'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4 · PEDIDOS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Serviço de pedidos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 maior serviço: cinco entidades do BO e seis value helps, três delas de outros domínios.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Ícone sales-order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D232A"/>
          </a:solidFill>
          <a:ln/>
        </p:spPr>
      </p:sp>
      <p:pic>
        <p:nvPicPr>
          <p:cNvPr id="8" name="Image 0" descr="sales-or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2221992"/>
          </a:xfrm>
          <a:prstGeom prst="roundRect">
            <a:avLst>
              <a:gd name="adj" fmla="val 4938"/>
            </a:avLst>
          </a:prstGeom>
          <a:solidFill>
            <a:srgbClr val="1D23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B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ZUI_PC_PEDIDOS_COMPRAS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service definition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ZUI_PC_PEDIDOS_COMPRAS_O4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service binding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426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ZC_PC_PEDIDO_APP.bdef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projeção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0266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ZPC_IAM_PEDIDOS_EXT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IAM App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PEDIDOS · SERVIÇO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ZUI_PC_PEDIDOS_COMPRAS: 11 entidades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669280" cy="3054096"/>
          </a:xfrm>
          <a:prstGeom prst="roundRect">
            <a:avLst>
              <a:gd name="adj" fmla="val 2994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669280" cy="2706624"/>
          </a:xfrm>
          <a:prstGeom prst="roundRect">
            <a:avLst>
              <a:gd name="adj" fmla="val 337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65099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6509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UI_PC_PEDIDOS_COMPRAS.srvd.srvdsrv"/>
          <p:cNvSpPr/>
          <p:nvPr/>
        </p:nvSpPr>
        <p:spPr>
          <a:xfrm>
            <a:off x="640080" y="1719072"/>
            <a:ext cx="290322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ZUI_PC_PEDIDOS_COMPRAS.srvd.srvdsrv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290322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Trecho de código"/>
          <p:cNvSpPr txBox="1"/>
          <p:nvPr/>
        </p:nvSpPr>
        <p:spPr>
          <a:xfrm>
            <a:off x="731520" y="2103120"/>
            <a:ext cx="534924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'Pedidos de Compras'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ZUI_PC_PEDIDOS_COMPRAS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ZC_PC_PEDIDO_APP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ZC_PC_ITEM_PEDIDO_APP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ItemPedido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ZC_PC_PAGAMENTO_APP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Pagamento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ZC_PC_PED_CLI_SNAP_APP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ClienteSnapshot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ZC_PC_PED_ITEM_SNAP_APP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ItemSnapshot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ZC_PC_CLIENTE_VH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ZC_PC_ENDERECO_VH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ZC_PC_ITEM_VH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ZC_PC_STATUSPED_VH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ZC_PC_STATUSPAG_VH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StatusPagamentoVH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ZC_PC_METODOPAG_VH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MetodoPagamentoVH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Cartão"/>
          <p:cNvSpPr/>
          <p:nvPr/>
        </p:nvSpPr>
        <p:spPr>
          <a:xfrm>
            <a:off x="548640" y="4882896"/>
            <a:ext cx="5669280" cy="1051560"/>
          </a:xfrm>
          <a:prstGeom prst="roundRect">
            <a:avLst>
              <a:gd name="adj" fmla="val 10435"/>
            </a:avLst>
          </a:prstGeom>
          <a:solidFill>
            <a:srgbClr val="E1F4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502005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6B82"/>
                </a:solidFill>
              </a:rPr>
              <a:t>Service binding  </a:t>
            </a:r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ZUI_PC_PEDIDOS_COMPRAS_O4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538581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/sap/opu/odata4/sap/zui_pc_pedidos_compras_o4/srvd/sap/zui_pc_pedidos_compras/0001/</a:t>
            </a:r>
            <a:endParaRPr lang="en-US" sz="1000" dirty="0"/>
          </a:p>
        </p:txBody>
      </p:sp>
      <p:sp>
        <p:nvSpPr>
          <p:cNvPr id="15" name="Fundo da tabela"/>
          <p:cNvSpPr/>
          <p:nvPr/>
        </p:nvSpPr>
        <p:spPr>
          <a:xfrm>
            <a:off x="6492240" y="1645920"/>
            <a:ext cx="5150815" cy="373075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755648"/>
          <a:ext cx="487649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131033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Entity set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Origem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Uso na app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ZC_PC_PEDIDO_APP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List Report e Object Page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ItemPedido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ZC_PC_ITEM_PEDIDO_APP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Itens inline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Pagamento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ZC_PC_PAGAMENTO_APP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Seção Pagamento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Client./ItemSnapshot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ZC_PC_PED_*_SNAP_APP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Histórico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ClienteVH · EnderecoVH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Escolha do cliente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ItemVH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Estoque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Escolha do item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Status/MétodoVH (3)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CodeList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Filtros e diálogo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4 · REEMBOLSOS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Serviço de reembolsos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 menor serviço do projeto: uma entidade, uma value help e duas ações.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Ícone money-bills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D232A"/>
          </a:solidFill>
          <a:ln/>
        </p:spPr>
      </p:sp>
      <p:pic>
        <p:nvPicPr>
          <p:cNvPr id="8" name="Image 0" descr="money-bi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2606040"/>
          </a:xfrm>
          <a:prstGeom prst="roundRect">
            <a:avLst>
              <a:gd name="adj" fmla="val 4211"/>
            </a:avLst>
          </a:prstGeom>
          <a:solidFill>
            <a:srgbClr val="1D23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B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ZUI_PC_REEMBOLSOS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service definition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ZUI_PC_REEMBOLSOS_O4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service binding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426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ZC_PC_REEMBOLSO_APP.bdef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projeção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0266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ZPC_IAM_REEMBOLSOS_EXT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IAM App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341071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..._0001_G4BA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SCO2 · SUSH · SIA6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REEMBOLSOS · SERVIÇO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ZUI_PC_REEMBOLSOS: decisão sem edição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669280" cy="1531620"/>
          </a:xfrm>
          <a:prstGeom prst="roundRect">
            <a:avLst>
              <a:gd name="adj" fmla="val 597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669280" cy="1184148"/>
          </a:xfrm>
          <a:prstGeom prst="roundRect">
            <a:avLst>
              <a:gd name="adj" fmla="val 7722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65099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6509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UI_PC_REEMBOLSOS.srvd.srvdsrv"/>
          <p:cNvSpPr/>
          <p:nvPr/>
        </p:nvSpPr>
        <p:spPr>
          <a:xfrm>
            <a:off x="640080" y="1719072"/>
            <a:ext cx="256032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ZUI_PC_REEMBOLSOS.srvd.srvdsrv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256032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Trecho de código"/>
          <p:cNvSpPr txBox="1"/>
          <p:nvPr/>
        </p:nvSpPr>
        <p:spPr>
          <a:xfrm>
            <a:off x="731520" y="2103120"/>
            <a:ext cx="53492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'Gestão de Reembolsos'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ZUI_PC_REEMBOLSOS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ZC_PC_REEMBOLSO_APP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ZC_PC_STATUSREEMB_VH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StatusReembolsoVH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Cartão"/>
          <p:cNvSpPr/>
          <p:nvPr/>
        </p:nvSpPr>
        <p:spPr>
          <a:xfrm>
            <a:off x="548640" y="3360420"/>
            <a:ext cx="5669280" cy="1051560"/>
          </a:xfrm>
          <a:prstGeom prst="roundRect">
            <a:avLst>
              <a:gd name="adj" fmla="val 10435"/>
            </a:avLst>
          </a:prstGeom>
          <a:solidFill>
            <a:srgbClr val="E1F4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34975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6B82"/>
                </a:solidFill>
              </a:rPr>
              <a:t>Service binding  </a:t>
            </a:r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ZUI_PC_REEMBOLSOS_O4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8633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/sap/opu/odata4/sap/zui_pc_reembolsos_o4/srvd/sap/zui_pc_reembolsos/0001/</a:t>
            </a:r>
            <a:endParaRPr lang="en-US" sz="1000" dirty="0"/>
          </a:p>
        </p:txBody>
      </p:sp>
      <p:sp>
        <p:nvSpPr>
          <p:cNvPr id="15" name="Cartão"/>
          <p:cNvSpPr/>
          <p:nvPr/>
        </p:nvSpPr>
        <p:spPr>
          <a:xfrm>
            <a:off x="548640" y="4594860"/>
            <a:ext cx="5669280" cy="157734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77240" y="47320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Exposto pela projeção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5033772"/>
            <a:ext cx="521208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Só use action AprovarReembolso e RejeitarReembolso. As solicitações nascem no BO Pedido; o pedido abre por link direto (ZPCPedidoCompra-manage).</a:t>
            </a:r>
            <a:endParaRPr lang="en-US" sz="1100" dirty="0"/>
          </a:p>
        </p:txBody>
      </p:sp>
      <p:sp>
        <p:nvSpPr>
          <p:cNvPr id="18" name="Fundo da tabela"/>
          <p:cNvSpPr/>
          <p:nvPr/>
        </p:nvSpPr>
        <p:spPr>
          <a:xfrm>
            <a:off x="6492240" y="1645920"/>
            <a:ext cx="5150815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755648"/>
          <a:ext cx="487649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131033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Entity set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Origem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Uso na app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Reembolso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ZC_PC_REEMBOLSO_APP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List Report e Object Page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StatusReembolsoVH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ZC_PC_STATUSREEMB_VH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Filtro de status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Cartão"/>
          <p:cNvSpPr/>
          <p:nvPr/>
        </p:nvSpPr>
        <p:spPr>
          <a:xfrm>
            <a:off x="6492240" y="3392424"/>
            <a:ext cx="5150815" cy="2779776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720840" y="3529584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Teste no navegador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6720840" y="3895344"/>
            <a:ext cx="4693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56B82"/>
                </a:solidFill>
              </a:rPr>
              <a:t>Metadados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6720840" y="4096512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.../$metadata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6720840" y="4623816"/>
            <a:ext cx="4693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56B82"/>
                </a:solidFill>
              </a:rPr>
              <a:t>Pendentes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6720840" y="4824984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Reembolso?$filter=StatusReembolso eq 'PENDENTE'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6720840" y="5352288"/>
            <a:ext cx="4693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56B82"/>
                </a:solidFill>
              </a:rPr>
              <a:t>Ação (POST)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6720840" y="5553456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Reembolso(…)/com.sap.gateway.srvd.zui_pc_reembolsos.v0001.AprovarReembolso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MÃO NA MASSA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Publicar, configurar e carregar os dados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58521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892808"/>
            <a:ext cx="512064" cy="512064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0F2"/>
                </a:solidFill>
              </a:rPr>
              <a:t>8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783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2D3E"/>
                </a:solidFill>
              </a:rPr>
              <a:t>Behavior pools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12140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ZBP_R_* (Global Class + Local Types) e BDEF de projeção ZC_*</a:t>
            </a:r>
            <a:endParaRPr lang="en-US" sz="1150" dirty="0"/>
          </a:p>
        </p:txBody>
      </p:sp>
      <p:sp>
        <p:nvSpPr>
          <p:cNvPr id="9" name="Cartão"/>
          <p:cNvSpPr/>
          <p:nvPr/>
        </p:nvSpPr>
        <p:spPr>
          <a:xfrm>
            <a:off x="548640" y="2788920"/>
            <a:ext cx="58521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3035808"/>
            <a:ext cx="512064" cy="512064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0F2"/>
                </a:solidFill>
              </a:rPr>
              <a:t>9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2926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2D3E"/>
                </a:solidFill>
              </a:rPr>
              <a:t>Classes de apoio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326440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ZCL_PC_VE_CLIENTE, ZCL_PC_PAGAMENTO_SIM, ZCL_PC_SETUP</a:t>
            </a:r>
            <a:endParaRPr lang="en-US" sz="1150" dirty="0"/>
          </a:p>
        </p:txBody>
      </p:sp>
      <p:sp>
        <p:nvSpPr>
          <p:cNvPr id="13" name="Cartão"/>
          <p:cNvSpPr/>
          <p:nvPr/>
        </p:nvSpPr>
        <p:spPr>
          <a:xfrm>
            <a:off x="548640" y="3931920"/>
            <a:ext cx="58521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7240" y="4178808"/>
            <a:ext cx="512064" cy="512064"/>
          </a:xfrm>
          <a:prstGeom prst="ellipse">
            <a:avLst/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4069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2D3E"/>
                </a:solidFill>
              </a:rPr>
              <a:t>Serviços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" y="440740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Service definitions → service bindings → Publish</a:t>
            </a:r>
            <a:endParaRPr lang="en-US" sz="1150" dirty="0"/>
          </a:p>
        </p:txBody>
      </p:sp>
      <p:sp>
        <p:nvSpPr>
          <p:cNvPr id="17" name="Cartão"/>
          <p:cNvSpPr/>
          <p:nvPr/>
        </p:nvSpPr>
        <p:spPr>
          <a:xfrm>
            <a:off x="548640" y="5074920"/>
            <a:ext cx="58521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7240" y="5321808"/>
            <a:ext cx="512064" cy="512064"/>
          </a:xfrm>
          <a:prstGeom prst="ellipse">
            <a:avLst/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11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5212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D2D3E"/>
                </a:solidFill>
              </a:rPr>
              <a:t>Dados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1508760" y="555040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ZCL_PC_SETUP com F9: numeração, CodeLists e demonstração</a:t>
            </a:r>
            <a:endParaRPr lang="en-US" sz="1150" dirty="0"/>
          </a:p>
        </p:txBody>
      </p:sp>
      <p:sp>
        <p:nvSpPr>
          <p:cNvPr id="21" name="Editor"/>
          <p:cNvSpPr/>
          <p:nvPr/>
        </p:nvSpPr>
        <p:spPr>
          <a:xfrm>
            <a:off x="6720840" y="1645920"/>
            <a:ext cx="4922215" cy="3200400"/>
          </a:xfrm>
          <a:prstGeom prst="roundRect">
            <a:avLst>
              <a:gd name="adj" fmla="val 2857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2" name="Área do editor"/>
          <p:cNvSpPr/>
          <p:nvPr/>
        </p:nvSpPr>
        <p:spPr>
          <a:xfrm>
            <a:off x="6720840" y="1993392"/>
            <a:ext cx="4922215" cy="2852928"/>
          </a:xfrm>
          <a:prstGeom prst="roundRect">
            <a:avLst>
              <a:gd name="adj" fmla="val 3205"/>
            </a:avLst>
          </a:prstGeom>
          <a:solidFill>
            <a:srgbClr val="1F1F1F"/>
          </a:solidFill>
          <a:ln/>
        </p:spPr>
      </p:sp>
      <p:sp>
        <p:nvSpPr>
          <p:cNvPr id="23" name="Shape 20"/>
          <p:cNvSpPr/>
          <p:nvPr/>
        </p:nvSpPr>
        <p:spPr>
          <a:xfrm>
            <a:off x="6729984" y="1993392"/>
            <a:ext cx="4903927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24" name="Shape 21"/>
          <p:cNvSpPr/>
          <p:nvPr/>
        </p:nvSpPr>
        <p:spPr>
          <a:xfrm>
            <a:off x="6729984" y="1993392"/>
            <a:ext cx="4903927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25" name="Aba ZCL_PC_SETUP"/>
          <p:cNvSpPr/>
          <p:nvPr/>
        </p:nvSpPr>
        <p:spPr>
          <a:xfrm>
            <a:off x="6812280" y="1719072"/>
            <a:ext cx="132588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ZCL_PC_SETUP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812280" y="1719072"/>
            <a:ext cx="132588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27" name="Breadcrumb"/>
          <p:cNvSpPr txBox="1"/>
          <p:nvPr/>
        </p:nvSpPr>
        <p:spPr>
          <a:xfrm>
            <a:off x="6949440" y="2103120"/>
            <a:ext cx="4465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ZAVBS_PC_COMMON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ZCL_PC_SETUP</a:t>
            </a:r>
            <a:endParaRPr lang="en-US" sz="900" dirty="0"/>
          </a:p>
        </p:txBody>
      </p:sp>
      <p:sp>
        <p:nvSpPr>
          <p:cNvPr id="28" name="Trecho de código"/>
          <p:cNvSpPr txBox="1"/>
          <p:nvPr/>
        </p:nvSpPr>
        <p:spPr>
          <a:xfrm>
            <a:off x="6903720" y="2414016"/>
            <a:ext cx="4602175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ZCL_PC_SETUP — F9 no ADT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zcl_pc_setup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if_oo_adt_classrun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1. Intervalos 01 (pedido) e 02 (SKU) em ZPC_NR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2. CodeLists: gênero, categoria, status...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3. Clientes, endereços, itens e pedidos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de demonstração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4. Recalcula os indicadores de status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dos pedidos existentes</a:t>
            </a:r>
            <a:endParaRPr lang="en-US" sz="1100" dirty="0"/>
          </a:p>
        </p:txBody>
      </p:sp>
      <p:sp>
        <p:nvSpPr>
          <p:cNvPr id="29" name="Cartão"/>
          <p:cNvSpPr/>
          <p:nvPr/>
        </p:nvSpPr>
        <p:spPr>
          <a:xfrm>
            <a:off x="6720840" y="5074920"/>
            <a:ext cx="4922215" cy="1097280"/>
          </a:xfrm>
          <a:prstGeom prst="roundRect">
            <a:avLst>
              <a:gd name="adj" fmla="val 10000"/>
            </a:avLst>
          </a:prstGeom>
          <a:solidFill>
            <a:srgbClr val="F5FAE5"/>
          </a:solidFill>
          <a:ln/>
        </p:spPr>
      </p:sp>
      <p:pic>
        <p:nvPicPr>
          <p:cNvPr id="30" name="Image 0" descr="message-succ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5303520"/>
            <a:ext cx="365760" cy="365760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7406640" y="512064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E"/>
                </a:solidFill>
              </a:rPr>
              <a:t>Com os dados carregados, os gráficos das análises e o preview dos serviços já têm o que mostrar.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TESTES NO PREVIEW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Cenários para validar o serviço antes das apps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Ícone payment-approval"/>
          <p:cNvSpPr/>
          <p:nvPr/>
        </p:nvSpPr>
        <p:spPr>
          <a:xfrm>
            <a:off x="777240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pic>
        <p:nvPicPr>
          <p:cNvPr id="7" name="Image 0" descr="payment-approv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357" y="1988637"/>
            <a:ext cx="247254" cy="24725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89888" y="187452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Pagamento aprovado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48716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VISA 4111 1111 1111 1111, validade 12/30, CVV 123: pedido vai a AGUARDANDO_APROVACAO.</a:t>
            </a:r>
            <a:endParaRPr lang="en-US" sz="1250" dirty="0"/>
          </a:p>
        </p:txBody>
      </p:sp>
      <p:sp>
        <p:nvSpPr>
          <p:cNvPr id="10" name="Cartão"/>
          <p:cNvSpPr/>
          <p:nvPr/>
        </p:nvSpPr>
        <p:spPr>
          <a:xfrm>
            <a:off x="4338218" y="164592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1" name="Ícone status-negative"/>
          <p:cNvSpPr/>
          <p:nvPr/>
        </p:nvSpPr>
        <p:spPr>
          <a:xfrm>
            <a:off x="4566818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pic>
        <p:nvPicPr>
          <p:cNvPr id="12" name="Image 1" descr="status-negati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936" y="1988637"/>
            <a:ext cx="247254" cy="24725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79466" y="187452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Pagamento recusado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48716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Mesmo cartão com CVV 000: pedido continua ABERTO e pagamento RECUSADO.</a:t>
            </a:r>
            <a:endParaRPr lang="en-US" sz="1250" dirty="0"/>
          </a:p>
        </p:txBody>
      </p:sp>
      <p:sp>
        <p:nvSpPr>
          <p:cNvPr id="15" name="Cartão"/>
          <p:cNvSpPr/>
          <p:nvPr/>
        </p:nvSpPr>
        <p:spPr>
          <a:xfrm>
            <a:off x="8127797" y="164592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6" name="Ícone product"/>
          <p:cNvSpPr/>
          <p:nvPr/>
        </p:nvSpPr>
        <p:spPr>
          <a:xfrm>
            <a:off x="8356397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3E0"/>
          </a:solidFill>
          <a:ln/>
        </p:spPr>
      </p:sp>
      <p:pic>
        <p:nvPicPr>
          <p:cNvPr id="17" name="Image 2" descr="produ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514" y="1988637"/>
            <a:ext cx="247254" cy="24725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69045" y="187452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Estoque insuficiente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48716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Precheck bloqueia item com disponível zerado ao incluir no pedido.</a:t>
            </a:r>
            <a:endParaRPr lang="en-US" sz="1250" dirty="0"/>
          </a:p>
        </p:txBody>
      </p:sp>
      <p:sp>
        <p:nvSpPr>
          <p:cNvPr id="20" name="Cartão"/>
          <p:cNvSpPr/>
          <p:nvPr/>
        </p:nvSpPr>
        <p:spPr>
          <a:xfrm>
            <a:off x="548640" y="406908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1" name="Ícone synchronize"/>
          <p:cNvSpPr/>
          <p:nvPr/>
        </p:nvSpPr>
        <p:spPr>
          <a:xfrm>
            <a:off x="777240" y="429768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22" name="Image 3" descr="synchroniz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57" y="4411797"/>
            <a:ext cx="247254" cy="24725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89888" y="429768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Concorrência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91032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Item em edição no Estoque e pedido salvo com ele: ITEM_ESTOQUE_CONCORRENTE.</a:t>
            </a:r>
            <a:endParaRPr lang="en-US" sz="1250" dirty="0"/>
          </a:p>
        </p:txBody>
      </p:sp>
      <p:sp>
        <p:nvSpPr>
          <p:cNvPr id="25" name="Cartão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6" name="Ícone customer"/>
          <p:cNvSpPr/>
          <p:nvPr/>
        </p:nvSpPr>
        <p:spPr>
          <a:xfrm>
            <a:off x="4566818" y="429768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E3F7F6"/>
          </a:solidFill>
          <a:ln/>
        </p:spPr>
      </p:sp>
      <p:pic>
        <p:nvPicPr>
          <p:cNvPr id="27" name="Image 4" descr="custom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936" y="4411797"/>
            <a:ext cx="247254" cy="24725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179466" y="429768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Exclusão de cliente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91032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Cliente com pedido não pode ser excluído (mensagem 004).</a:t>
            </a:r>
            <a:endParaRPr lang="en-US" sz="1250" dirty="0"/>
          </a:p>
        </p:txBody>
      </p:sp>
      <p:sp>
        <p:nvSpPr>
          <p:cNvPr id="30" name="Cartão"/>
          <p:cNvSpPr/>
          <p:nvPr/>
        </p:nvSpPr>
        <p:spPr>
          <a:xfrm>
            <a:off x="8127797" y="406908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1" name="Ícone money-bills"/>
          <p:cNvSpPr/>
          <p:nvPr/>
        </p:nvSpPr>
        <p:spPr>
          <a:xfrm>
            <a:off x="8356397" y="429768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DE8F1"/>
          </a:solidFill>
          <a:ln/>
        </p:spPr>
      </p:sp>
      <p:pic>
        <p:nvPicPr>
          <p:cNvPr id="32" name="Image 5" descr="money-bill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0514" y="4411797"/>
            <a:ext cx="247254" cy="24725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969045" y="429768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Reembolso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8356397" y="491032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Cancelar pedido pago → PROCESSANDO_REEMBOLSO; aprovar ou rejeitar na app de Reembolsos.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4 CONCLUÍDA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Serviços publicados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Cinco serviços OData V4, BDEFs de projeção, objetos de autorização, IAM Apps (BTP) ou roles PFCG (On-Premise) e dados de demonstração.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23544" y="5266944"/>
            <a:ext cx="10131552" cy="0"/>
          </a:xfrm>
          <a:prstGeom prst="line">
            <a:avLst/>
          </a:prstGeom>
          <a:noFill/>
          <a:ln w="25400">
            <a:solidFill>
              <a:srgbClr val="3A4654"/>
            </a:solidFill>
            <a:prstDash val="solid"/>
          </a:ln>
        </p:spPr>
      </p:sp>
      <p:sp>
        <p:nvSpPr>
          <p:cNvPr id="8" name="Etapa 1"/>
          <p:cNvSpPr/>
          <p:nvPr/>
        </p:nvSpPr>
        <p:spPr>
          <a:xfrm>
            <a:off x="731520" y="5074920"/>
            <a:ext cx="384048" cy="384048"/>
          </a:xfrm>
          <a:prstGeom prst="ellipse">
            <a:avLst/>
          </a:prstGeom>
          <a:solidFill>
            <a:srgbClr val="1F4F86"/>
          </a:solidFill>
          <a:ln w="19050">
            <a:solidFill>
              <a:srgbClr val="1F4F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92024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Modelagem de dados</a:t>
            </a:r>
            <a:endParaRPr lang="en-US" sz="1100" dirty="0"/>
          </a:p>
        </p:txBody>
      </p:sp>
      <p:sp>
        <p:nvSpPr>
          <p:cNvPr id="10" name="Etapa 2"/>
          <p:cNvSpPr/>
          <p:nvPr/>
        </p:nvSpPr>
        <p:spPr>
          <a:xfrm>
            <a:off x="3264408" y="5074920"/>
            <a:ext cx="384048" cy="384048"/>
          </a:xfrm>
          <a:prstGeom prst="ellipse">
            <a:avLst/>
          </a:prstGeom>
          <a:solidFill>
            <a:srgbClr val="1F4F86"/>
          </a:solidFill>
          <a:ln w="19050">
            <a:solidFill>
              <a:srgbClr val="1F4F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Core Data Services</a:t>
            </a:r>
            <a:endParaRPr lang="en-US" sz="1100" dirty="0"/>
          </a:p>
        </p:txBody>
      </p:sp>
      <p:sp>
        <p:nvSpPr>
          <p:cNvPr id="12" name="Etapa 3"/>
          <p:cNvSpPr/>
          <p:nvPr/>
        </p:nvSpPr>
        <p:spPr>
          <a:xfrm>
            <a:off x="5797296" y="5074920"/>
            <a:ext cx="384048" cy="384048"/>
          </a:xfrm>
          <a:prstGeom prst="ellipse">
            <a:avLst/>
          </a:prstGeom>
          <a:solidFill>
            <a:srgbClr val="1F4F86"/>
          </a:solidFill>
          <a:ln w="19050">
            <a:solidFill>
              <a:srgbClr val="1F4F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Comportamento RAP</a:t>
            </a:r>
            <a:endParaRPr lang="en-US" sz="1100" dirty="0"/>
          </a:p>
        </p:txBody>
      </p:sp>
      <p:sp>
        <p:nvSpPr>
          <p:cNvPr id="14" name="Etapa 4"/>
          <p:cNvSpPr/>
          <p:nvPr/>
        </p:nvSpPr>
        <p:spPr>
          <a:xfrm>
            <a:off x="8330184" y="5074920"/>
            <a:ext cx="384048" cy="384048"/>
          </a:xfrm>
          <a:prstGeom prst="ellipse">
            <a:avLst/>
          </a:prstGeom>
          <a:solidFill>
            <a:srgbClr val="1F4F86"/>
          </a:solidFill>
          <a:ln w="19050">
            <a:solidFill>
              <a:srgbClr val="1F4F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Serviços OData</a:t>
            </a:r>
            <a:endParaRPr lang="en-US" sz="1100" dirty="0"/>
          </a:p>
        </p:txBody>
      </p:sp>
      <p:sp>
        <p:nvSpPr>
          <p:cNvPr id="16" name="Etapa 5"/>
          <p:cNvSpPr/>
          <p:nvPr/>
        </p:nvSpPr>
        <p:spPr>
          <a:xfrm>
            <a:off x="10863072" y="5074920"/>
            <a:ext cx="384048" cy="384048"/>
          </a:xfrm>
          <a:prstGeom prst="ellipse">
            <a:avLst/>
          </a:prstGeom>
          <a:solidFill>
            <a:srgbClr val="1D232A"/>
          </a:solidFill>
          <a:ln w="19050">
            <a:solidFill>
              <a:srgbClr val="3A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323576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Apps Fiori</a:t>
            </a:r>
            <a:endParaRPr lang="en-US" sz="1100" dirty="0"/>
          </a:p>
        </p:txBody>
      </p:sp>
      <p:sp>
        <p:nvSpPr>
          <p:cNvPr id="18" name="Próxima etapa"/>
          <p:cNvSpPr/>
          <p:nvPr/>
        </p:nvSpPr>
        <p:spPr>
          <a:xfrm>
            <a:off x="8183880" y="178308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1D23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B1FF"/>
                </a:solidFill>
              </a:rPr>
              <a:t>PRÓXIMA ETAPA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286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Apps Fiori: gerar, navegar e implantar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4 · ON-PREMISE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Autorização com o SAP GUI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Os mesmos ZPC_ADMIN e ZPC_PEDIDO, agora criados e atribuídos pelas transações clássicas: SU21, publicação do grupo de serviços, SU24, PFCG e SU01.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Ícone settings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D232A"/>
          </a:solidFill>
          <a:ln/>
        </p:spPr>
      </p:sp>
      <p:pic>
        <p:nvPicPr>
          <p:cNvPr id="8" name="Image 0" descr="sett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3374136"/>
          </a:xfrm>
          <a:prstGeom prst="roundRect">
            <a:avLst>
              <a:gd name="adj" fmla="val 3252"/>
            </a:avLst>
          </a:prstGeom>
          <a:solidFill>
            <a:srgbClr val="1D23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B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 (SU21)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classe de objetos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ZPC_ADMIN · ZPC_PEDIDO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objetos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426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/IWFND/V4_ADMIN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grupos de serviços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0266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SU24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valores propostos (G4BA)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341071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Z_PC_ADMIN · Z_PC_COMUM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roles PFCG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379476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S_START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acesso ao serviço OData V4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417880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SU53 · STAUTHTRACE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diagnóstico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ON-PREMISE · TRANSAÇÕES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Cinco transações do SAP GUI fazem o papel do IAM</a:t>
            </a:r>
            <a:endParaRPr lang="en-US" sz="3000" dirty="0"/>
          </a:p>
        </p:txBody>
      </p:sp>
      <p:sp>
        <p:nvSpPr>
          <p:cNvPr id="5" name="Fundo da tabela"/>
          <p:cNvSpPr/>
          <p:nvPr/>
        </p:nvSpPr>
        <p:spPr>
          <a:xfrm>
            <a:off x="548640" y="1645920"/>
            <a:ext cx="7040880" cy="3236976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55648"/>
          <a:ext cx="6766560" cy="914400"/>
        </p:xfrm>
        <a:graphic>
          <a:graphicData uri="http://schemas.openxmlformats.org/drawingml/2006/table">
            <a:tbl>
              <a:tblPr/>
              <a:tblGrid>
                <a:gridCol w="950000"/>
                <a:gridCol w="1500000"/>
                <a:gridCol w="2100000"/>
                <a:gridCol w="1000000"/>
                <a:gridCol w="1216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Transação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Função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Objetos do projeto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Ordem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No BTP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SU21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Objetos de autorização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F3A"/>
                          </a:solidFill>
                        </a:rPr>
                        <a:t>ZPC_ADMIN · ZPC_PEDIDO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F3A"/>
                          </a:solidFill>
                        </a:rPr>
                        <a:t>Workbench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ADT (CPAE)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SU24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Valores propostos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F3A"/>
                          </a:solidFill>
                        </a:rPr>
                        <a:t>ZUI_PC_*_O4 (G4BA)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F3A"/>
                          </a:solidFill>
                        </a:rPr>
                        <a:t>Workbench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IAM App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PFCG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Roles e perfis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F3A"/>
                          </a:solidFill>
                        </a:rPr>
                        <a:t>Z_PC_ADMIN · Z_PC_COMUM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F3A"/>
                          </a:solidFill>
                        </a:rPr>
                        <a:t>Workbench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Business Role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SU01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Usuários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F3A"/>
                          </a:solidFill>
                        </a:rPr>
                        <a:t>PC_ADMIN · PC_COMUM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F3A"/>
                          </a:solidFill>
                        </a:rPr>
                        <a:t>manual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Business Users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SU53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Diagnóstico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</a:rPr>
                        <a:t>+ STAUTHTRACE e SUIM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F3A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Auth. Trace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7635240" y="1645920"/>
            <a:ext cx="4007815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8" name="Ícone locked"/>
          <p:cNvSpPr/>
          <p:nvPr/>
        </p:nvSpPr>
        <p:spPr>
          <a:xfrm>
            <a:off x="7863840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3ECFB"/>
          </a:solidFill>
          <a:ln/>
        </p:spPr>
      </p:sp>
      <p:pic>
        <p:nvPicPr>
          <p:cNvPr id="9" name="Image 0" descr="lock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7957" y="1988637"/>
            <a:ext cx="247254" cy="24725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476488" y="1874520"/>
            <a:ext cx="29836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SU21 · classe ZPC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7863840" y="2487168"/>
            <a:ext cx="35506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ZPC_ADMIN: 01, 02, 03, 06. ZPC_PEDIDO: 01, 02, 03, 06 e 16 (Executar). As mesmas atividades do BTP.</a:t>
            </a:r>
            <a:endParaRPr lang="en-US" sz="1200" dirty="0"/>
          </a:p>
        </p:txBody>
      </p:sp>
      <p:sp>
        <p:nvSpPr>
          <p:cNvPr id="12" name="Cartão"/>
          <p:cNvSpPr/>
          <p:nvPr/>
        </p:nvSpPr>
        <p:spPr>
          <a:xfrm>
            <a:off x="7635240" y="4023360"/>
            <a:ext cx="4007815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3" name="Ícone locked"/>
          <p:cNvSpPr/>
          <p:nvPr/>
        </p:nvSpPr>
        <p:spPr>
          <a:xfrm>
            <a:off x="7863840" y="425196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14" name="Image 1" descr="lock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957" y="4366077"/>
            <a:ext cx="247254" cy="24725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476488" y="4251960"/>
            <a:ext cx="29836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c_modo_trial = abap_false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7863840" y="4864608"/>
            <a:ext cx="35506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No On-Premise o AUTHORITY-CHECK de ZCL_PC_AUTH sempre vale: nunca transporte com abap_true.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ON-PREMISE · PUBLICAÇÃO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que a publicação cria no On-Premise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543290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1783080"/>
            <a:ext cx="5067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ZUI_PC_REEMBOLSOS_O4</a:t>
            </a:r>
            <a:endParaRPr lang="en-US" sz="1100" dirty="0"/>
          </a:p>
        </p:txBody>
      </p:sp>
      <p:sp>
        <p:nvSpPr>
          <p:cNvPr id="7" name="Status SCO2 · serviço de entrada"/>
          <p:cNvSpPr/>
          <p:nvPr/>
        </p:nvSpPr>
        <p:spPr>
          <a:xfrm>
            <a:off x="731520" y="2103120"/>
            <a:ext cx="1856232" cy="23774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4D9"/>
                </a:solidFill>
              </a:rPr>
              <a:t>/IWFND/V4_ADMIN · grupo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23160"/>
            <a:ext cx="50671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Publish no ADT ou em /IWFND/V4_ADMIN (alias LOCAL): cada binding vira um grupo de serviços OData V4.</a:t>
            </a:r>
            <a:endParaRPr lang="en-US" sz="1200" dirty="0"/>
          </a:p>
        </p:txBody>
      </p:sp>
      <p:sp>
        <p:nvSpPr>
          <p:cNvPr id="9" name="Cartão"/>
          <p:cNvSpPr/>
          <p:nvPr/>
        </p:nvSpPr>
        <p:spPr>
          <a:xfrm>
            <a:off x="6210148" y="1645920"/>
            <a:ext cx="543290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393028" y="1783080"/>
            <a:ext cx="5067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S_START</a:t>
            </a:r>
            <a:endParaRPr lang="en-US" sz="1100" dirty="0"/>
          </a:p>
        </p:txBody>
      </p:sp>
      <p:sp>
        <p:nvSpPr>
          <p:cNvPr id="11" name="Status SUSH · valores padrão"/>
          <p:cNvSpPr/>
          <p:nvPr/>
        </p:nvSpPr>
        <p:spPr>
          <a:xfrm>
            <a:off x="6393028" y="2103120"/>
            <a:ext cx="1606052" cy="237744"/>
          </a:xfrm>
          <a:prstGeom prst="roundRect">
            <a:avLst>
              <a:gd name="adj" fmla="val 50000"/>
            </a:avLst>
          </a:prstGeom>
          <a:solidFill>
            <a:srgbClr val="FFF3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93E00"/>
                </a:solidFill>
              </a:rPr>
              <a:t>R3TR G4BA · acesso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393028" y="2423160"/>
            <a:ext cx="50671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grupo de serviços é verificado pelo objeto S_START (AUTHOBJTYP = G4BA, AUTHOBJNAM = grupo).</a:t>
            </a:r>
            <a:endParaRPr lang="en-US" sz="1200" dirty="0"/>
          </a:p>
        </p:txBody>
      </p:sp>
      <p:sp>
        <p:nvSpPr>
          <p:cNvPr id="13" name="Cartão"/>
          <p:cNvSpPr/>
          <p:nvPr/>
        </p:nvSpPr>
        <p:spPr>
          <a:xfrm>
            <a:off x="548640" y="4023360"/>
            <a:ext cx="543290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31520" y="4160520"/>
            <a:ext cx="5067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ZUI_PC_*_O4 → ZPC_*</a:t>
            </a:r>
            <a:endParaRPr lang="en-US" sz="1100" dirty="0"/>
          </a:p>
        </p:txBody>
      </p:sp>
      <p:sp>
        <p:nvSpPr>
          <p:cNvPr id="15" name="Status SIA6 · IAM"/>
          <p:cNvSpPr/>
          <p:nvPr/>
        </p:nvSpPr>
        <p:spPr>
          <a:xfrm>
            <a:off x="731520" y="4480560"/>
            <a:ext cx="918058" cy="23774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6B82"/>
                </a:solidFill>
              </a:rPr>
              <a:t>SU24 · valores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4800600"/>
            <a:ext cx="50671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Liga o grupo de serviços a ZPC_ADMIN ou ZPC_PEDIDO: a PFCG traz os objetos ao inserir o serviço.</a:t>
            </a:r>
            <a:endParaRPr lang="en-US" sz="1200" dirty="0"/>
          </a:p>
        </p:txBody>
      </p:sp>
      <p:sp>
        <p:nvSpPr>
          <p:cNvPr id="17" name="Cartão"/>
          <p:cNvSpPr/>
          <p:nvPr/>
        </p:nvSpPr>
        <p:spPr>
          <a:xfrm>
            <a:off x="6210148" y="4023360"/>
            <a:ext cx="5432908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393028" y="4160520"/>
            <a:ext cx="50671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ZUI_PC_ANALITICO_O2</a:t>
            </a:r>
            <a:endParaRPr lang="en-US" sz="1100" dirty="0"/>
          </a:p>
        </p:txBody>
      </p:sp>
      <p:sp>
        <p:nvSpPr>
          <p:cNvPr id="19" name="Status SIA6 · IAM App"/>
          <p:cNvSpPr/>
          <p:nvPr/>
        </p:nvSpPr>
        <p:spPr>
          <a:xfrm>
            <a:off x="6393028" y="4480560"/>
            <a:ext cx="1168237" cy="237744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F3A"/>
                </a:solidFill>
              </a:rPr>
              <a:t>IWSG · OData V2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393028" y="4800600"/>
            <a:ext cx="50671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Binding V2 opcional: registrado em /IWFND/MAINT_SERVICE e verificado por S_SERVICE, não S_START.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ON-PREMISE · PFCG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Do objeto de autorização ao usuário no On-Premise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783080"/>
            <a:ext cx="1962851" cy="2514600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Ícone locked"/>
          <p:cNvSpPr/>
          <p:nvPr/>
        </p:nvSpPr>
        <p:spPr>
          <a:xfrm>
            <a:off x="1210026" y="201168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3ECFB"/>
          </a:solidFill>
          <a:ln/>
        </p:spPr>
      </p:sp>
      <p:pic>
        <p:nvPicPr>
          <p:cNvPr id="7" name="Image 0" descr="lock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645" y="2165299"/>
            <a:ext cx="332842" cy="33284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2788920"/>
            <a:ext cx="1688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Objetos (SU21)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310128"/>
            <a:ext cx="1688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ZPC_ADMIN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ZPC_PEDIDO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3822192"/>
            <a:ext cx="16885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classe ZPC · ACTVT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548067" y="3035808"/>
            <a:ext cx="246888" cy="0"/>
          </a:xfrm>
          <a:prstGeom prst="line">
            <a:avLst/>
          </a:prstGeom>
          <a:noFill/>
          <a:ln w="2540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12" name="Cartão"/>
          <p:cNvSpPr/>
          <p:nvPr/>
        </p:nvSpPr>
        <p:spPr>
          <a:xfrm>
            <a:off x="2831531" y="1783080"/>
            <a:ext cx="1962851" cy="2514600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3" name="Ícone action-settings"/>
          <p:cNvSpPr/>
          <p:nvPr/>
        </p:nvSpPr>
        <p:spPr>
          <a:xfrm>
            <a:off x="3492917" y="201168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14" name="Image 1" descr="action-settin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536" y="21652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968691" y="2788920"/>
            <a:ext cx="1688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SU24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2968691" y="3310128"/>
            <a:ext cx="1688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ZUI_PC_*_O4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968691" y="3822192"/>
            <a:ext cx="16885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serviço + valores ACTVT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830958" y="3035808"/>
            <a:ext cx="246888" cy="0"/>
          </a:xfrm>
          <a:prstGeom prst="line">
            <a:avLst/>
          </a:prstGeom>
          <a:noFill/>
          <a:ln w="2540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19" name="Cartão"/>
          <p:cNvSpPr/>
          <p:nvPr/>
        </p:nvSpPr>
        <p:spPr>
          <a:xfrm>
            <a:off x="5114422" y="1783080"/>
            <a:ext cx="1962851" cy="2514600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0" name="Ícone list"/>
          <p:cNvSpPr/>
          <p:nvPr/>
        </p:nvSpPr>
        <p:spPr>
          <a:xfrm>
            <a:off x="5775808" y="201168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3F7F6"/>
          </a:solidFill>
          <a:ln/>
        </p:spPr>
      </p:sp>
      <p:pic>
        <p:nvPicPr>
          <p:cNvPr id="21" name="Image 2" descr="l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427" y="216529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251582" y="2788920"/>
            <a:ext cx="1688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Menu da role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251582" y="3310128"/>
            <a:ext cx="1688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S_START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251582" y="3822192"/>
            <a:ext cx="16885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um por grupo de serviços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113849" y="3035808"/>
            <a:ext cx="246888" cy="0"/>
          </a:xfrm>
          <a:prstGeom prst="line">
            <a:avLst/>
          </a:prstGeom>
          <a:noFill/>
          <a:ln w="2540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26" name="Cartão"/>
          <p:cNvSpPr/>
          <p:nvPr/>
        </p:nvSpPr>
        <p:spPr>
          <a:xfrm>
            <a:off x="7397313" y="1783080"/>
            <a:ext cx="1962851" cy="2514600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7" name="Ícone role"/>
          <p:cNvSpPr/>
          <p:nvPr/>
        </p:nvSpPr>
        <p:spPr>
          <a:xfrm>
            <a:off x="8058699" y="201168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F3E0"/>
          </a:solidFill>
          <a:ln/>
        </p:spPr>
      </p:sp>
      <p:pic>
        <p:nvPicPr>
          <p:cNvPr id="28" name="Image 3" descr="ro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2318" y="2165299"/>
            <a:ext cx="332842" cy="33284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534473" y="2788920"/>
            <a:ext cx="1688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Role (PFCG)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7534473" y="3310128"/>
            <a:ext cx="1688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Z_PC_ADMIN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Z_PC_COMUM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7534473" y="3822192"/>
            <a:ext cx="16885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perfil gerado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9396740" y="3035808"/>
            <a:ext cx="246888" cy="0"/>
          </a:xfrm>
          <a:prstGeom prst="line">
            <a:avLst/>
          </a:prstGeom>
          <a:noFill/>
          <a:ln w="2540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33" name="Cartão"/>
          <p:cNvSpPr/>
          <p:nvPr/>
        </p:nvSpPr>
        <p:spPr>
          <a:xfrm>
            <a:off x="9680204" y="1783080"/>
            <a:ext cx="1962851" cy="2514600"/>
          </a:xfrm>
          <a:prstGeom prst="roundRect">
            <a:avLst>
              <a:gd name="adj" fmla="val 55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4" name="Ícone employee"/>
          <p:cNvSpPr/>
          <p:nvPr/>
        </p:nvSpPr>
        <p:spPr>
          <a:xfrm>
            <a:off x="10341590" y="201168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DE8F1"/>
          </a:solidFill>
          <a:ln/>
        </p:spPr>
      </p:sp>
      <p:pic>
        <p:nvPicPr>
          <p:cNvPr id="35" name="Image 4" descr="employe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5209" y="2165299"/>
            <a:ext cx="332842" cy="332842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817364" y="2788920"/>
            <a:ext cx="168853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Usuário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9817364" y="3310128"/>
            <a:ext cx="16885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SU01 · PFCG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9817364" y="3822192"/>
            <a:ext cx="16885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comparação de usuários</a:t>
            </a:r>
            <a:endParaRPr lang="en-US" sz="1100" dirty="0"/>
          </a:p>
        </p:txBody>
      </p:sp>
      <p:sp>
        <p:nvSpPr>
          <p:cNvPr id="39" name="Cartão"/>
          <p:cNvSpPr/>
          <p:nvPr/>
        </p:nvSpPr>
        <p:spPr>
          <a:xfrm>
            <a:off x="548640" y="4526280"/>
            <a:ext cx="35152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40" name="Text 32"/>
          <p:cNvSpPr txBox="1"/>
          <p:nvPr/>
        </p:nvSpPr>
        <p:spPr>
          <a:xfrm>
            <a:off x="777240" y="4681728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Conteúdo do launchpad</a:t>
            </a:r>
            <a:endParaRPr lang="en-US" sz="1350" dirty="0"/>
          </a:p>
        </p:txBody>
      </p:sp>
      <p:sp>
        <p:nvSpPr>
          <p:cNvPr id="41" name="Text 33"/>
          <p:cNvSpPr txBox="1"/>
          <p:nvPr/>
        </p:nvSpPr>
        <p:spPr>
          <a:xfrm>
            <a:off x="777240" y="5010912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menu da role recebe também o catálogo e o espaço do SAP Fiori launchpad (etapa 5).</a:t>
            </a:r>
            <a:endParaRPr lang="en-US" sz="1200" dirty="0"/>
          </a:p>
        </p:txBody>
      </p:sp>
      <p:sp>
        <p:nvSpPr>
          <p:cNvPr id="42" name="Cartão"/>
          <p:cNvSpPr/>
          <p:nvPr/>
        </p:nvSpPr>
        <p:spPr>
          <a:xfrm>
            <a:off x="4338218" y="4526280"/>
            <a:ext cx="35152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43" name="Text 35"/>
          <p:cNvSpPr txBox="1"/>
          <p:nvPr/>
        </p:nvSpPr>
        <p:spPr>
          <a:xfrm>
            <a:off x="4566818" y="4681728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Roles do projeto</a:t>
            </a:r>
            <a:endParaRPr lang="en-US" sz="1350" dirty="0"/>
          </a:p>
        </p:txBody>
      </p:sp>
      <p:sp>
        <p:nvSpPr>
          <p:cNvPr id="44" name="Text 36"/>
          <p:cNvSpPr txBox="1"/>
          <p:nvPr/>
        </p:nvSpPr>
        <p:spPr>
          <a:xfrm>
            <a:off x="4566818" y="5010912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Z_PC_ADMIN: os quatro serviços e as análises. Z_PC_COMUM: Pedidos e Reembolsos, sem a 16.</a:t>
            </a:r>
            <a:endParaRPr lang="en-US" sz="1200" dirty="0"/>
          </a:p>
        </p:txBody>
      </p:sp>
      <p:sp>
        <p:nvSpPr>
          <p:cNvPr id="45" name="Cartão"/>
          <p:cNvSpPr/>
          <p:nvPr/>
        </p:nvSpPr>
        <p:spPr>
          <a:xfrm>
            <a:off x="8127797" y="4526280"/>
            <a:ext cx="3515258" cy="1645920"/>
          </a:xfrm>
          <a:prstGeom prst="roundRect">
            <a:avLst>
              <a:gd name="adj" fmla="val 6667"/>
            </a:avLst>
          </a:prstGeom>
          <a:solidFill>
            <a:srgbClr val="FFF3B8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8356397" y="4681728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Atenção</a:t>
            </a:r>
            <a:endParaRPr lang="en-US" sz="1350" dirty="0"/>
          </a:p>
        </p:txBody>
      </p:sp>
      <p:sp>
        <p:nvSpPr>
          <p:cNvPr id="47" name="Text 39"/>
          <p:cNvSpPr txBox="1"/>
          <p:nvPr/>
        </p:nvSpPr>
        <p:spPr>
          <a:xfrm>
            <a:off x="8356397" y="5010912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Sem a atividade 16 em ZPC_PEDIDO, ninguém paga, aprova, cancela ou decide reembolso.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ON-PREMISE · ROLES POR DOMÍNIO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Uma role PFCG por perfil, com S_START por serviço</a:t>
            </a:r>
            <a:endParaRPr lang="en-US" sz="3000" dirty="0"/>
          </a:p>
        </p:txBody>
      </p:sp>
      <p:sp>
        <p:nvSpPr>
          <p:cNvPr id="5" name="Fundo da tabela"/>
          <p:cNvSpPr/>
          <p:nvPr/>
        </p:nvSpPr>
        <p:spPr>
          <a:xfrm>
            <a:off x="548640" y="1645920"/>
            <a:ext cx="11094415" cy="2962656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55648"/>
          <a:ext cx="1082009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834640"/>
                <a:gridCol w="2606040"/>
                <a:gridCol w="2286000"/>
                <a:gridCol w="1721815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Domínio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Grupo de serviços (S_START)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Objeto (SU24)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Z_PC_ADMIN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Z_PC_COMUM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Clientes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ZUI_PC_CLIENTES_O4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ZPC_ADMIN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01 02 03 06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 (fora do menu)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Estoque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ZUI_PC_ESTOQUE_O4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ZPC_ADMIN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01 02 03 06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 (fora do menu)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Pedidos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ZUI_PC_PEDIDOS_COMPRAS_O4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ZPC_PEDIDO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01 02 03 06 16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01 02 03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Reembolsos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ZUI_PC_REEMBOLSOS_O4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ZPC_PEDIDO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03 16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4754880"/>
            <a:ext cx="541004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77240" y="489204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Z_PC_ADMIN</a:t>
            </a:r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  Administrador</a:t>
            </a:r>
            <a:endParaRPr lang="en-US" sz="1400" dirty="0"/>
          </a:p>
        </p:txBody>
      </p:sp>
      <p:sp>
        <p:nvSpPr>
          <p:cNvPr id="9" name="Status ZPC_BC_CLIENTES"/>
          <p:cNvSpPr/>
          <p:nvPr/>
        </p:nvSpPr>
        <p:spPr>
          <a:xfrm>
            <a:off x="777240" y="5321808"/>
            <a:ext cx="1380744" cy="310896"/>
          </a:xfrm>
          <a:prstGeom prst="roundRect">
            <a:avLst>
              <a:gd name="adj" fmla="val 50000"/>
            </a:avLst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Clientes</a:t>
            </a:r>
            <a:endParaRPr lang="en-US" sz="1000" dirty="0"/>
          </a:p>
        </p:txBody>
      </p:sp>
      <p:sp>
        <p:nvSpPr>
          <p:cNvPr id="10" name="Status ZPC_BC_ESTOQUE"/>
          <p:cNvSpPr/>
          <p:nvPr/>
        </p:nvSpPr>
        <p:spPr>
          <a:xfrm>
            <a:off x="2249424" y="5321808"/>
            <a:ext cx="1305763" cy="310896"/>
          </a:xfrm>
          <a:prstGeom prst="roundRect">
            <a:avLst>
              <a:gd name="adj" fmla="val 50000"/>
            </a:avLst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Estoque</a:t>
            </a:r>
            <a:endParaRPr lang="en-US" sz="1000" dirty="0"/>
          </a:p>
        </p:txBody>
      </p:sp>
      <p:sp>
        <p:nvSpPr>
          <p:cNvPr id="11" name="Status ZPC_BC_PEDIDOS"/>
          <p:cNvSpPr/>
          <p:nvPr/>
        </p:nvSpPr>
        <p:spPr>
          <a:xfrm>
            <a:off x="3646627" y="5321808"/>
            <a:ext cx="1305763" cy="310896"/>
          </a:xfrm>
          <a:prstGeom prst="roundRect">
            <a:avLst>
              <a:gd name="adj" fmla="val 50000"/>
            </a:avLst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endParaRPr lang="en-US" sz="1000" dirty="0"/>
          </a:p>
        </p:txBody>
      </p:sp>
      <p:sp>
        <p:nvSpPr>
          <p:cNvPr id="12" name="Status ZPC_BC_REEMBOLSOS"/>
          <p:cNvSpPr/>
          <p:nvPr/>
        </p:nvSpPr>
        <p:spPr>
          <a:xfrm>
            <a:off x="777240" y="5705856"/>
            <a:ext cx="1530706" cy="310896"/>
          </a:xfrm>
          <a:prstGeom prst="roundRect">
            <a:avLst>
              <a:gd name="adj" fmla="val 50000"/>
            </a:avLst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endParaRPr lang="en-US" sz="1000" dirty="0"/>
          </a:p>
        </p:txBody>
      </p:sp>
      <p:sp>
        <p:nvSpPr>
          <p:cNvPr id="13" name="Cartão"/>
          <p:cNvSpPr/>
          <p:nvPr/>
        </p:nvSpPr>
        <p:spPr>
          <a:xfrm>
            <a:off x="6233008" y="4754880"/>
            <a:ext cx="541004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461608" y="489204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Z_PC_COMUM</a:t>
            </a:r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  Usuário comum (ZPC_ADMIN 03)</a:t>
            </a:r>
            <a:endParaRPr lang="en-US" sz="1400" dirty="0"/>
          </a:p>
        </p:txBody>
      </p:sp>
      <p:sp>
        <p:nvSpPr>
          <p:cNvPr id="15" name="Status ZPC_BC_PEDIDOS"/>
          <p:cNvSpPr/>
          <p:nvPr/>
        </p:nvSpPr>
        <p:spPr>
          <a:xfrm>
            <a:off x="6461608" y="5321808"/>
            <a:ext cx="1305763" cy="310896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endParaRPr lang="en-US" sz="1000" dirty="0"/>
          </a:p>
        </p:txBody>
      </p:sp>
      <p:sp>
        <p:nvSpPr>
          <p:cNvPr id="16" name="Status ZPC_BC_REEMBOLSOS"/>
          <p:cNvSpPr/>
          <p:nvPr/>
        </p:nvSpPr>
        <p:spPr>
          <a:xfrm>
            <a:off x="7858811" y="5321808"/>
            <a:ext cx="1530706" cy="310896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ON-PREMISE · TESTE E DIAGNÓSTICO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Testar com dois usuários e diagnosticar no SAP GUI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Ícone payment-approval"/>
          <p:cNvSpPr/>
          <p:nvPr/>
        </p:nvSpPr>
        <p:spPr>
          <a:xfrm>
            <a:off x="777240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pic>
        <p:nvPicPr>
          <p:cNvPr id="7" name="Image 0" descr="payment-approv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357" y="1988637"/>
            <a:ext cx="247254" cy="24725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89888" y="187452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App não abre: 403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48716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Falta S_START na role: SU53 logo após o erro e incluir o serviço no menu da PFCG.</a:t>
            </a:r>
            <a:endParaRPr lang="en-US" sz="1250" dirty="0"/>
          </a:p>
        </p:txBody>
      </p:sp>
      <p:sp>
        <p:nvSpPr>
          <p:cNvPr id="10" name="Cartão"/>
          <p:cNvSpPr/>
          <p:nvPr/>
        </p:nvSpPr>
        <p:spPr>
          <a:xfrm>
            <a:off x="4338218" y="164592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1" name="Ícone status-negative"/>
          <p:cNvSpPr/>
          <p:nvPr/>
        </p:nvSpPr>
        <p:spPr>
          <a:xfrm>
            <a:off x="4566818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pic>
        <p:nvPicPr>
          <p:cNvPr id="12" name="Image 1" descr="status-negati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936" y="1988637"/>
            <a:ext cx="247254" cy="24725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79466" y="187452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Botões desabilitados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48716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AUTHORITY-CHECK negado em ZPC_ADMIN ou ZPC_PEDIDO: STAUTHTRACE pelo usuário.</a:t>
            </a:r>
            <a:endParaRPr lang="en-US" sz="1250" dirty="0"/>
          </a:p>
        </p:txBody>
      </p:sp>
      <p:sp>
        <p:nvSpPr>
          <p:cNvPr id="15" name="Cartão"/>
          <p:cNvSpPr/>
          <p:nvPr/>
        </p:nvSpPr>
        <p:spPr>
          <a:xfrm>
            <a:off x="8127797" y="164592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6" name="Ícone product"/>
          <p:cNvSpPr/>
          <p:nvPr/>
        </p:nvSpPr>
        <p:spPr>
          <a:xfrm>
            <a:off x="8356397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3E0"/>
          </a:solidFill>
          <a:ln/>
        </p:spPr>
      </p:sp>
      <p:pic>
        <p:nvPicPr>
          <p:cNvPr id="17" name="Image 2" descr="produ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514" y="1988637"/>
            <a:ext cx="247254" cy="24725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69045" y="187452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Ações negadas ao admin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48716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Atividade 16 fora das atividades permitidas de ZPC_PEDIDO (SU21).</a:t>
            </a:r>
            <a:endParaRPr lang="en-US" sz="1250" dirty="0"/>
          </a:p>
        </p:txBody>
      </p:sp>
      <p:sp>
        <p:nvSpPr>
          <p:cNvPr id="20" name="Cartão"/>
          <p:cNvSpPr/>
          <p:nvPr/>
        </p:nvSpPr>
        <p:spPr>
          <a:xfrm>
            <a:off x="548640" y="406908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1" name="Ícone synchronize"/>
          <p:cNvSpPr/>
          <p:nvPr/>
        </p:nvSpPr>
        <p:spPr>
          <a:xfrm>
            <a:off x="777240" y="429768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22" name="Image 3" descr="synchroniz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57" y="4411797"/>
            <a:ext cx="247254" cy="24725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89888" y="429768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Todos podem tudo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91032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c_modo_trial ainda abap_true em ZIF_PC_CONSTANTS: corrija antes de transportar.</a:t>
            </a:r>
            <a:endParaRPr lang="en-US" sz="1250" dirty="0"/>
          </a:p>
        </p:txBody>
      </p:sp>
      <p:sp>
        <p:nvSpPr>
          <p:cNvPr id="25" name="Cartão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6" name="Ícone customer"/>
          <p:cNvSpPr/>
          <p:nvPr/>
        </p:nvSpPr>
        <p:spPr>
          <a:xfrm>
            <a:off x="4566818" y="429768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E3F7F6"/>
          </a:solidFill>
          <a:ln/>
        </p:spPr>
      </p:sp>
      <p:pic>
        <p:nvPicPr>
          <p:cNvPr id="27" name="Image 4" descr="custom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936" y="4411797"/>
            <a:ext cx="247254" cy="24725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179466" y="429768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Role sem efeito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91032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Perfil não gerado ou comparação de usuários não executada na PFCG.</a:t>
            </a:r>
            <a:endParaRPr lang="en-US" sz="1250" dirty="0"/>
          </a:p>
        </p:txBody>
      </p:sp>
      <p:sp>
        <p:nvSpPr>
          <p:cNvPr id="30" name="Cartão"/>
          <p:cNvSpPr/>
          <p:nvPr/>
        </p:nvSpPr>
        <p:spPr>
          <a:xfrm>
            <a:off x="8127797" y="406908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1" name="Ícone money-bills"/>
          <p:cNvSpPr/>
          <p:nvPr/>
        </p:nvSpPr>
        <p:spPr>
          <a:xfrm>
            <a:off x="8356397" y="429768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DE8F1"/>
          </a:solidFill>
          <a:ln/>
        </p:spPr>
      </p:sp>
      <p:pic>
        <p:nvPicPr>
          <p:cNvPr id="32" name="Image 5" descr="money-bill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0514" y="4411797"/>
            <a:ext cx="247254" cy="24725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969045" y="429768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Quem tem acesso?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8356397" y="491032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SUIM: usuários por valores de autorização; teste com PC_ADMIN e PC_COMUM.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 - Pedidos de Compras">
  <a:themeElements>
    <a:clrScheme name="SAP Horizon - Pedidos de Compras">
      <a:dk1>
        <a:srgbClr val="1D2D3E"/>
      </a:dk1>
      <a:lt1>
        <a:srgbClr val="FFFFFF"/>
      </a:lt1>
      <a:dk2>
        <a:srgbClr val="12171C"/>
      </a:dk2>
      <a:lt2>
        <a:srgbClr val="F5F6F7"/>
      </a:lt2>
      <a:accent1>
        <a:srgbClr val="0070F2"/>
      </a:accent1>
      <a:accent2>
        <a:srgbClr val="049F9A"/>
      </a:accent2>
      <a:accent3>
        <a:srgbClr val="8B47D7"/>
      </a:accent3>
      <a:accent4>
        <a:srgbClr val="C87B00"/>
      </a:accent4>
      <a:accent5>
        <a:srgbClr val="DF1278"/>
      </a:accent5>
      <a:accent6>
        <a:srgbClr val="256F3A"/>
      </a:accent6>
      <a:hlink>
        <a:srgbClr val="0064D9"/>
      </a:hlink>
      <a:folHlink>
        <a:srgbClr val="8B47D7"/>
      </a:folHlink>
    </a:clrScheme>
    <a:fontScheme name="SAP Horizon - Pedidos de Compra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Pedidos de Compras - SAP RAP / ABAP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4 - Serviços OData</dc:title>
  <dc:subject>Pedidos de Compras no SAP BTP ABAP Environment</dc:subject>
  <dc:creator>Adriano Bispo</dc:creator>
  <cp:lastModifiedBy>Adriano Bispo</cp:lastModifiedBy>
  <cp:revision>1</cp:revision>
  <dcterms:created xsi:type="dcterms:W3CDTF">2026-10-20T11:23:46Z</dcterms:created>
  <dcterms:modified xsi:type="dcterms:W3CDTF">2026-10-20T11:23:46Z</dcterms:modified>
</cp:coreProperties>
</file>