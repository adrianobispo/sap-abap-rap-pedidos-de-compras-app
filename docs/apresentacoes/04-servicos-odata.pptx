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5894d5d-5fba-4b26-aa2f-fcf131ce36c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Common" id="{4fe1eb9e-66a6-6993-a846-05ef0b361e8f}">
          <p14:sldIdLst>
            <p14:sldId id="262"/>
            <p14:sldId id="263"/>
            <p14:sldId id="264"/>
            <p14:sldId id="265"/>
            <p14:sldId id="266"/>
          </p14:sldIdLst>
        </p14:section>
        <p14:section name="Clientes" id="{c814bd0e-fa12-7620-bcf1-3e991d8cfdf2}">
          <p14:sldIdLst>
            <p14:sldId id="267"/>
            <p14:sldId id="268"/>
          </p14:sldIdLst>
        </p14:section>
        <p14:section name="Estoque" id="{f9ea1334-fa0f-3ea2-f2dd-7c6e9d4d43d8}">
          <p14:sldIdLst>
            <p14:sldId id="269"/>
            <p14:sldId id="270"/>
          </p14:sldIdLst>
        </p14:section>
        <p14:section name="Pedidos" id="{3c3f6819-205d-d52d-26fd-5461aaec4d3b}">
          <p14:sldIdLst>
            <p14:sldId id="271"/>
            <p14:sldId id="272"/>
          </p14:sldIdLst>
        </p14:section>
        <p14:section name="Reembolsos" id="{371fcf37-8eac-5b0c-8ff8-48bb4333da80}">
          <p14:sldIdLst>
            <p14:sldId id="273"/>
            <p14:sldId id="274"/>
          </p14:sldIdLst>
        </p14:section>
        <p14:section name="Dados e testes" id="{f82794e7-c9b1-2bb5-2c99-7b05cffd60f1}">
          <p14:sldIdLst>
            <p14:sldId id="275"/>
            <p14:sldId id="276"/>
          </p14:sldIdLst>
        </p14:section>
        <p14:section name="Encerramento" id="{5552973f-3bd1-27e1-3ec2-9f004c991329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etapa. Primeiro o caminho comum a todos os serviços; depois um slide por serviço, BO a BO, e a cadeia de segurança que dá acesso aos usuários.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de gestão tem seu próprio serviço. A projeção e a BDEF de projeção definem o contrato; a service definition escolhe o que expor; o binding escolhe o protocolo (OData V4) e o cenário (UI); a publicação gera a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service definition expõe as projeções do BO e as value helps que os campos e filtros usam. Os aliases (Pedido, ItemPedido…) viram os entity sets do metadata e aparecem nas URLs e no manifest das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BDEF de projeção decide que parte do comportamento é exposta. Actions internas do Pedido (CancelarPorReembolso, RetomarPedido, RecalcularTotal) e as do Item (ReservarEstoque…) não aparecem aqui: só podem ser chamadas por EML de dentro do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binding liga a service definition a um protocolo e a um cenário. Todos usam OData V4 com cenário UI, o que habilita draft, side effects e as anotações de UI no metadata. Depois de ativar, o botão Publish registra o serviço e libera a URL e o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Publicar um binding no ABAP Cloud não cria só a URL: o sistema gera um serviço de entrada para comunicação, valores padrão de autorização e uma entrada de IAM. No repositório eles aparecem no pacote de reembolsos, gerados pelo binding ZUI_PC_REEMBOLSOS_O4.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ZPC_ADMIN e ZPC_PEDIDO são objetos de autorização para ABAP Cloud (classe CPAE), criados no ADT, com um único campo: ACTVT. Os behavior pools verificam a atividade de cada operação por meio de ZCL_PC_AUTH.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ABAP Cloud o acesso não é dado por transação: o serviço e os valores de autorização entram em um IAM App; o IAM App vai para um Business Catalog; catálogos compõem Business Roles; a role é atribuída ao usuário.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aba de autorizações do IAM App, ZPC_ADMIN recebe as atividades de Clientes e Estoque e ZPC_PEDIDO as de Pedidos e Reembolsos, incluindo a 16 (executar) exigida pelas actions.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analítico fica no pacote comum e expõe só as consultas ZC_PC_*_ANALISE. Cada app de análise usa um entity set e pede ao servidor os totais com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clientes expõe o root e o filho, mais as value helps de gênero e de CEP. A BDEF de projeção expõe CRUD com draft, a importação e a ação de endereço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estoque expõe o item, as value helps de categoria e status e a value help padrão de moeda. A projeção não expõe ReservarEstoque, LiberarReserva nem BaixarEstoque: só o Pedido movimenta o estoque.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pedidos expõe o root, os quatro filhos e seis value helps. As value helps de cliente, endereço e item vêm dos outros domínios: é assim que um serviço consome dados de outro BO sem expor a projeção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serviço de reembolsos expõe a solicitação e a value help de status. A projeção não expõe create, update nem delete: a app só lista, abre e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Passos 8 a 11 da ordem de criação. A classe ZCL_PC_SETUP é executada com F9 no ADT (if_oo_adt_classrun): cria os intervalos de numeração, carrega as CodeLists e gera clientes, itens e pedidos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Pelo preview do service binding (ou já pelas apps) dá para percorrer as regras de negócio principais. Os dados de cartão são de teste; nada além de bandeira, últimos 4 dígitos e máscara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projeção, BDEF de projeção, service definition, binding OData V4 – UI e Publish, BO a BO. Na última etapa as apps Fiori consomem estes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4 de 5 — Serviços OData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DE 5 · SAP RAP NO BTP OU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Serviços OData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Expor cada BO como serviço OData V4, publicar os bindings e liberar o acesso: IAM Apps no BTP, SU24 e PFCG no On-Premise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passos da projeção até a URL do serviço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ource-code"/>
          <p:cNvSpPr/>
          <p:nvPr/>
        </p:nvSpPr>
        <p:spPr>
          <a:xfrm>
            <a:off x="777240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source-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1. Projeção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Etapa 2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575499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22387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workflow-tasks"/>
          <p:cNvSpPr/>
          <p:nvPr/>
        </p:nvSpPr>
        <p:spPr>
          <a:xfrm>
            <a:off x="3050987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workflow-tas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661" y="218907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050987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2. BDEF de projeção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050987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create, use action…</a:t>
            </a:r>
            <a:endParaRPr lang="en-US" sz="1050" dirty="0"/>
          </a:p>
        </p:txBody>
      </p:sp>
      <p:sp>
        <p:nvSpPr>
          <p:cNvPr id="17" name="Text 12"/>
          <p:cNvSpPr txBox="1"/>
          <p:nvPr/>
        </p:nvSpPr>
        <p:spPr>
          <a:xfrm>
            <a:off x="3050987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Comportamento exposto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849246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096134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document-text"/>
          <p:cNvSpPr/>
          <p:nvPr/>
        </p:nvSpPr>
        <p:spPr>
          <a:xfrm>
            <a:off x="5324734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document-tex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324734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3. Service definition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324734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324734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que expor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7122993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69881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chain-link"/>
          <p:cNvSpPr/>
          <p:nvPr/>
        </p:nvSpPr>
        <p:spPr>
          <a:xfrm>
            <a:off x="7598481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8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0155" y="2189074"/>
            <a:ext cx="285293" cy="285293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98481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4. Service binding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7598481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ZUI_PC_*_O4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7598481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OData V4 – UI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9396740" y="3154680"/>
            <a:ext cx="21945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43628" y="1828800"/>
            <a:ext cx="1999427" cy="2651760"/>
          </a:xfrm>
          <a:prstGeom prst="roundRect">
            <a:avLst>
              <a:gd name="adj" fmla="val 5488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upload-to-cloud"/>
          <p:cNvSpPr/>
          <p:nvPr/>
        </p:nvSpPr>
        <p:spPr>
          <a:xfrm>
            <a:off x="9872228" y="205740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5" name="Image 4" descr="upload-to-clou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3902" y="2189074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72228" y="2788920"/>
            <a:ext cx="15422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5. Publish</a:t>
            </a:r>
            <a:endParaRPr lang="en-US" sz="1500" dirty="0"/>
          </a:p>
        </p:txBody>
      </p:sp>
      <p:sp>
        <p:nvSpPr>
          <p:cNvPr id="37" name="Text 29"/>
          <p:cNvSpPr txBox="1"/>
          <p:nvPr/>
        </p:nvSpPr>
        <p:spPr>
          <a:xfrm>
            <a:off x="9872228" y="3383280"/>
            <a:ext cx="15422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6E9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/sap/opu/odata4/…</a:t>
            </a:r>
            <a:endParaRPr lang="en-US" sz="1050" dirty="0"/>
          </a:p>
        </p:txBody>
      </p:sp>
      <p:sp>
        <p:nvSpPr>
          <p:cNvPr id="38" name="Text 30"/>
          <p:cNvSpPr txBox="1"/>
          <p:nvPr/>
        </p:nvSpPr>
        <p:spPr>
          <a:xfrm>
            <a:off x="9872228" y="3931920"/>
            <a:ext cx="15422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9FF"/>
                </a:solidFill>
              </a:rPr>
              <a:t>Serviço ativo</a:t>
            </a:r>
            <a:endParaRPr lang="en-US" sz="1200" dirty="0"/>
          </a:p>
        </p:txBody>
      </p:sp>
      <p:sp>
        <p:nvSpPr>
          <p:cNvPr id="39" name="Cartão"/>
          <p:cNvSpPr/>
          <p:nvPr/>
        </p:nvSpPr>
        <p:spPr>
          <a:xfrm>
            <a:off x="548640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822960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4</a:t>
            </a:r>
            <a:endParaRPr lang="en-US" sz="3000" dirty="0"/>
          </a:p>
        </p:txBody>
      </p:sp>
      <p:sp>
        <p:nvSpPr>
          <p:cNvPr id="41" name="Text 33"/>
          <p:cNvSpPr txBox="1"/>
          <p:nvPr/>
        </p:nvSpPr>
        <p:spPr>
          <a:xfrm>
            <a:off x="822960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serviços de gestão, um por app</a:t>
            </a:r>
            <a:endParaRPr lang="en-US" sz="1300" dirty="0"/>
          </a:p>
        </p:txBody>
      </p:sp>
      <p:sp>
        <p:nvSpPr>
          <p:cNvPr id="42" name="Cartão"/>
          <p:cNvSpPr/>
          <p:nvPr/>
        </p:nvSpPr>
        <p:spPr>
          <a:xfrm>
            <a:off x="4338218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3" name="Text 35"/>
          <p:cNvSpPr txBox="1"/>
          <p:nvPr/>
        </p:nvSpPr>
        <p:spPr>
          <a:xfrm>
            <a:off x="4612538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1</a:t>
            </a:r>
            <a:endParaRPr lang="en-US" sz="3000" dirty="0"/>
          </a:p>
        </p:txBody>
      </p:sp>
      <p:sp>
        <p:nvSpPr>
          <p:cNvPr id="44" name="Text 36"/>
          <p:cNvSpPr txBox="1"/>
          <p:nvPr/>
        </p:nvSpPr>
        <p:spPr>
          <a:xfrm>
            <a:off x="4612538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serviço analítico para as 4 análises</a:t>
            </a:r>
            <a:endParaRPr lang="en-US" sz="1300" dirty="0"/>
          </a:p>
        </p:txBody>
      </p:sp>
      <p:sp>
        <p:nvSpPr>
          <p:cNvPr id="45" name="Cartão"/>
          <p:cNvSpPr/>
          <p:nvPr/>
        </p:nvSpPr>
        <p:spPr>
          <a:xfrm>
            <a:off x="8127797" y="4800600"/>
            <a:ext cx="3515258" cy="1325880"/>
          </a:xfrm>
          <a:prstGeom prst="roundRect">
            <a:avLst>
              <a:gd name="adj" fmla="val 8276"/>
            </a:avLst>
          </a:prstGeom>
          <a:solidFill>
            <a:srgbClr val="E1F4FF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402117" y="491947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70F2"/>
                </a:solidFill>
              </a:rPr>
              <a:t>OData V4</a:t>
            </a:r>
            <a:endParaRPr lang="en-US" sz="3000" dirty="0"/>
          </a:p>
        </p:txBody>
      </p:sp>
      <p:sp>
        <p:nvSpPr>
          <p:cNvPr id="47" name="Text 39"/>
          <p:cNvSpPr txBox="1"/>
          <p:nvPr/>
        </p:nvSpPr>
        <p:spPr>
          <a:xfrm>
            <a:off x="8402117" y="5532120"/>
            <a:ext cx="2966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D2D3E"/>
                </a:solidFill>
              </a:rPr>
              <a:t>protocolo de todos os bindings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DEFINITIONS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Os cinco serviços do projeto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3621024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685800"/>
                <a:gridCol w="5120640"/>
                <a:gridCol w="23618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Entid.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Entity sets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D3E"/>
                          </a:solidFill>
                        </a:rPr>
                        <a:t>Pacote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Cliente, Endereco, GeneroVH, CepVH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Item, CategoriaVH, StatusEstoqueVH, CurrencyVH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11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Pedido, ItemPedido, Pagamento, 2 snapshots, 6 VHs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Reembolso, StatusReembolsoVH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</a:rPr>
                        <a:t>PedidoAnalise, ClienteAnalise, ItemAnalise, ReembolsoAnalise</a:t>
                      </a:r>
                      <a:endParaRPr lang="en-US" sz="11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ZAVBS_PC_COMMON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E1F4FF"/>
          </a:solidFill>
          <a:ln/>
        </p:spPr>
      </p:sp>
      <p:pic>
        <p:nvPicPr>
          <p:cNvPr id="8" name="Image 0" descr="hi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23560"/>
            <a:ext cx="365760" cy="36576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5440680"/>
            <a:ext cx="100885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Value helps também precisam ser expostas: sem isso, o Fiori Elements não monta a lista de seleção do campo. A de moeda reutiliza a view liberada I_CurrencyStdVH.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BDEF DE PROJEÇÃO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Só o que tem use chega à app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12064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12064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10235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10235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C_PC_PEDIDO_APP.bdef.asbdef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ZC_PC_PEDIDO_APP.bdef.asbdef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48006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Activate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Discard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ImportarPlanilha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association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_Itens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5989320" y="1645920"/>
            <a:ext cx="5653735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63640" y="182880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Exposto na app</a:t>
            </a:r>
            <a:endParaRPr lang="en-US" sz="1400" dirty="0"/>
          </a:p>
        </p:txBody>
      </p:sp>
      <p:sp>
        <p:nvSpPr>
          <p:cNvPr id="14" name="Status SimularPagamento"/>
          <p:cNvSpPr/>
          <p:nvPr/>
        </p:nvSpPr>
        <p:spPr>
          <a:xfrm>
            <a:off x="6263640" y="224028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SimularPagamento</a:t>
            </a:r>
            <a:endParaRPr lang="en-US" sz="1100" dirty="0"/>
          </a:p>
        </p:txBody>
      </p:sp>
      <p:sp>
        <p:nvSpPr>
          <p:cNvPr id="15" name="Status AprovarPedido"/>
          <p:cNvSpPr/>
          <p:nvPr/>
        </p:nvSpPr>
        <p:spPr>
          <a:xfrm>
            <a:off x="7824704" y="224028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AprovarPedido</a:t>
            </a:r>
            <a:endParaRPr lang="en-US" sz="1100" dirty="0"/>
          </a:p>
        </p:txBody>
      </p:sp>
      <p:sp>
        <p:nvSpPr>
          <p:cNvPr id="16" name="Status CancelarPedido"/>
          <p:cNvSpPr/>
          <p:nvPr/>
        </p:nvSpPr>
        <p:spPr>
          <a:xfrm>
            <a:off x="9168506" y="224028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CancelarPedido</a:t>
            </a:r>
            <a:endParaRPr lang="en-US" sz="1100" dirty="0"/>
          </a:p>
        </p:txBody>
      </p:sp>
      <p:sp>
        <p:nvSpPr>
          <p:cNvPr id="17" name="Status ImportarPlanilha"/>
          <p:cNvSpPr/>
          <p:nvPr/>
        </p:nvSpPr>
        <p:spPr>
          <a:xfrm>
            <a:off x="6263640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ImportarPlanilha</a:t>
            </a:r>
            <a:endParaRPr lang="en-US" sz="1100" dirty="0"/>
          </a:p>
        </p:txBody>
      </p:sp>
      <p:sp>
        <p:nvSpPr>
          <p:cNvPr id="18" name="Status draft (Edit, Activate…)"/>
          <p:cNvSpPr/>
          <p:nvPr/>
        </p:nvSpPr>
        <p:spPr>
          <a:xfrm>
            <a:off x="7824704" y="2651760"/>
            <a:ext cx="1958279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draft (Edit, Activate…)</a:t>
            </a:r>
            <a:endParaRPr lang="en-US" sz="1100" dirty="0"/>
          </a:p>
        </p:txBody>
      </p:sp>
      <p:sp>
        <p:nvSpPr>
          <p:cNvPr id="19" name="Status use side effects"/>
          <p:cNvSpPr/>
          <p:nvPr/>
        </p:nvSpPr>
        <p:spPr>
          <a:xfrm>
            <a:off x="9892711" y="2651760"/>
            <a:ext cx="1451336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use side effects</a:t>
            </a:r>
            <a:endParaRPr lang="en-US" sz="1100" dirty="0"/>
          </a:p>
        </p:txBody>
      </p:sp>
      <p:sp>
        <p:nvSpPr>
          <p:cNvPr id="20" name="Cartão"/>
          <p:cNvSpPr/>
          <p:nvPr/>
        </p:nvSpPr>
        <p:spPr>
          <a:xfrm>
            <a:off x="5989320" y="3886200"/>
            <a:ext cx="5653735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263640" y="4069080"/>
            <a:ext cx="5105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Interno (sem use)</a:t>
            </a:r>
            <a:endParaRPr lang="en-US" sz="1400" dirty="0"/>
          </a:p>
        </p:txBody>
      </p:sp>
      <p:sp>
        <p:nvSpPr>
          <p:cNvPr id="22" name="Status CancelarPorReembolso"/>
          <p:cNvSpPr/>
          <p:nvPr/>
        </p:nvSpPr>
        <p:spPr>
          <a:xfrm>
            <a:off x="6263640" y="4480560"/>
            <a:ext cx="1741018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CancelarPorReembolso</a:t>
            </a:r>
            <a:endParaRPr lang="en-US" sz="1100" dirty="0"/>
          </a:p>
        </p:txBody>
      </p:sp>
      <p:sp>
        <p:nvSpPr>
          <p:cNvPr id="23" name="Status RetomarPedido"/>
          <p:cNvSpPr/>
          <p:nvPr/>
        </p:nvSpPr>
        <p:spPr>
          <a:xfrm>
            <a:off x="8114386" y="448056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RetomarPedido</a:t>
            </a:r>
            <a:endParaRPr lang="en-US" sz="1100" dirty="0"/>
          </a:p>
        </p:txBody>
      </p:sp>
      <p:sp>
        <p:nvSpPr>
          <p:cNvPr id="24" name="Status RecalcularTotal"/>
          <p:cNvSpPr/>
          <p:nvPr/>
        </p:nvSpPr>
        <p:spPr>
          <a:xfrm>
            <a:off x="9458188" y="448056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RecalcularTotal</a:t>
            </a:r>
            <a:endParaRPr lang="en-US" sz="1100" dirty="0"/>
          </a:p>
        </p:txBody>
      </p:sp>
      <p:sp>
        <p:nvSpPr>
          <p:cNvPr id="25" name="Status ReservarEstoque"/>
          <p:cNvSpPr/>
          <p:nvPr/>
        </p:nvSpPr>
        <p:spPr>
          <a:xfrm>
            <a:off x="6263640" y="4892040"/>
            <a:ext cx="137891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ReservarEstoque</a:t>
            </a:r>
            <a:endParaRPr lang="en-US" sz="1100" dirty="0"/>
          </a:p>
        </p:txBody>
      </p:sp>
      <p:sp>
        <p:nvSpPr>
          <p:cNvPr id="26" name="Status LiberarReserva"/>
          <p:cNvSpPr/>
          <p:nvPr/>
        </p:nvSpPr>
        <p:spPr>
          <a:xfrm>
            <a:off x="7752283" y="4892040"/>
            <a:ext cx="1306495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LiberarReserva</a:t>
            </a:r>
            <a:endParaRPr lang="en-US" sz="1100" dirty="0"/>
          </a:p>
        </p:txBody>
      </p:sp>
      <p:sp>
        <p:nvSpPr>
          <p:cNvPr id="27" name="Status BaixarEstoque"/>
          <p:cNvSpPr/>
          <p:nvPr/>
        </p:nvSpPr>
        <p:spPr>
          <a:xfrm>
            <a:off x="9168506" y="4892040"/>
            <a:ext cx="1234074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BaixarEstoque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6263640" y="5349240"/>
            <a:ext cx="5105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Reembolso: só use action AprovarReembolso e RejeitarReembolso; o create vem do Pedido.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SERVICE BINDING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Bindings OData V4 – UI, publicados no ADT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858000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5836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Consumido por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Tipo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ZUI_PC_ANALITICO_O4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As 4 apps de análise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OData V4 – UI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54864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Anatomia da URL do serviço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548640" y="5074920"/>
            <a:ext cx="68580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1937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</a:t>
            </a:r>
            <a:pPr indent="0" marL="0">
              <a:buNone/>
            </a:pPr>
            <a:r>
              <a:rPr lang="en-US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/srvd/sap/</a:t>
            </a:r>
            <a:pPr indent="0" marL="0">
              <a:buNone/>
            </a:pPr>
            <a:r>
              <a:rPr lang="en-US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/0001/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650992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■ prefixo OData V4</a:t>
            </a:r>
            <a:pPr indent="0" marL="0">
              <a:buNone/>
            </a:pPr>
            <a:r>
              <a:rPr lang="en-US" sz="1100" dirty="0">
                <a:solidFill>
                  <a:srgbClr val="0070F2"/>
                </a:solidFill>
              </a:rPr>
              <a:t>   ■ binding</a:t>
            </a:r>
            <a:pPr indent="0" marL="0">
              <a:buNone/>
            </a:pPr>
            <a:r>
              <a:rPr lang="en-US" sz="1100" dirty="0">
                <a:solidFill>
                  <a:srgbClr val="8B47D7"/>
                </a:solidFill>
              </a:rPr>
              <a:t>   ■ service definition</a:t>
            </a:r>
            <a:pPr indent="0" marL="0">
              <a:buNone/>
            </a:pPr>
            <a:r>
              <a:rPr lang="en-US" sz="1100" dirty="0">
                <a:solidFill>
                  <a:srgbClr val="C87B00"/>
                </a:solidFill>
              </a:rPr>
              <a:t>   ■ versão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7635240" y="1645920"/>
            <a:ext cx="4007815" cy="4526280"/>
          </a:xfrm>
          <a:prstGeom prst="roundRect">
            <a:avLst>
              <a:gd name="adj" fmla="val 2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upload-to-cloud"/>
          <p:cNvSpPr/>
          <p:nvPr/>
        </p:nvSpPr>
        <p:spPr>
          <a:xfrm>
            <a:off x="790956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3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1234" y="2006194"/>
            <a:ext cx="285293" cy="28529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641080" y="1874520"/>
            <a:ext cx="28190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Publicar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7909560" y="2651760"/>
            <a:ext cx="34591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Criar o binding sobre a service definition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Binding Type: OData V4 – UI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Ativar (Ctrl+F3)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Publish no editor do binding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300" dirty="0">
                <a:solidFill>
                  <a:srgbClr val="1D2D3E"/>
                </a:solidFill>
              </a:rPr>
              <a:t>Selecionar a entidade e abrir o Preview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7909560" y="4846320"/>
            <a:ext cx="3459175" cy="1097280"/>
          </a:xfrm>
          <a:prstGeom prst="roundRect">
            <a:avLst>
              <a:gd name="adj" fmla="val 10000"/>
            </a:avLst>
          </a:prstGeom>
          <a:solidFill>
            <a:srgbClr val="FFF3B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092440" y="4892040"/>
            <a:ext cx="3093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D3E"/>
                </a:solidFill>
              </a:rPr>
              <a:t>O preview testa o backend isolado, mas não tem launchpad nem navegação entre apps.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PUBLICAÇÃO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 que o Publish cria por trás no SAP BTP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</a:t>
            </a:r>
            <a:endParaRPr lang="en-US" sz="1100" dirty="0"/>
          </a:p>
        </p:txBody>
      </p:sp>
      <p:sp>
        <p:nvSpPr>
          <p:cNvPr id="7" name="Status SCO2 · serviço de entrada"/>
          <p:cNvSpPr/>
          <p:nvPr/>
        </p:nvSpPr>
        <p:spPr>
          <a:xfrm>
            <a:off x="731520" y="2103120"/>
            <a:ext cx="1856232" cy="23774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064D9"/>
                </a:solidFill>
              </a:rPr>
              <a:t>SCO2 · serviço de entrada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Cloud Communication Management: o serviço OData V4 como inbound service, que pode ser usado em communication scenarios.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6210148" y="164592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3028" y="178308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DE50EF42D566…6HT</a:t>
            </a:r>
            <a:endParaRPr lang="en-US" sz="1100" dirty="0"/>
          </a:p>
        </p:txBody>
      </p:sp>
      <p:sp>
        <p:nvSpPr>
          <p:cNvPr id="11" name="Status SUSH · valores padrão"/>
          <p:cNvSpPr/>
          <p:nvPr/>
        </p:nvSpPr>
        <p:spPr>
          <a:xfrm>
            <a:off x="6393028" y="2103120"/>
            <a:ext cx="1606052" cy="237744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3E00"/>
                </a:solidFill>
              </a:rPr>
              <a:t>SUSH · valores padrão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393028" y="242316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Authorization default values do objeto R3TR G4BA do binding: quais autorizações o serviço pede.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548640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ZUI_PC_REEMBOLSOS_O4_0001_G4BA_IBS</a:t>
            </a:r>
            <a:endParaRPr lang="en-US" sz="1100" dirty="0"/>
          </a:p>
        </p:txBody>
      </p:sp>
      <p:sp>
        <p:nvSpPr>
          <p:cNvPr id="15" name="Status SIA6 · IAM"/>
          <p:cNvSpPr/>
          <p:nvPr/>
        </p:nvSpPr>
        <p:spPr>
          <a:xfrm>
            <a:off x="731520" y="4480560"/>
            <a:ext cx="918058" cy="23774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56B82"/>
                </a:solidFill>
              </a:rPr>
              <a:t>SIA6 · IAM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Entrada de Identity and Access Management do inbound service, referenciada pelos IAM Apps.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6210148" y="4023360"/>
            <a:ext cx="543290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3028" y="4160520"/>
            <a:ext cx="50671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</a:t>
            </a:r>
            <a:endParaRPr lang="en-US" sz="1100" dirty="0"/>
          </a:p>
        </p:txBody>
      </p:sp>
      <p:sp>
        <p:nvSpPr>
          <p:cNvPr id="19" name="Status SIA6 · IAM App"/>
          <p:cNvSpPr/>
          <p:nvPr/>
        </p:nvSpPr>
        <p:spPr>
          <a:xfrm>
            <a:off x="6393028" y="4480560"/>
            <a:ext cx="1168237" cy="237744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56F3A"/>
                </a:solidFill>
              </a:rPr>
              <a:t>SIA6 · IAM App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6393028" y="4800600"/>
            <a:ext cx="50671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Criado manualmente: junta o serviço e os valores de ZPC_ADMIN/ZPC_PEDIDO; o ADT acrescenta _EXT.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COMMON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Segurança e serviço analítico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Os dois objetos de autorização, a cadeia de IAM que libera os serviços no SAP BTP e o serviço analítico compartilhado pelas quatro apps de análise.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3374136"/>
          </a:xfrm>
          <a:prstGeom prst="roundRect">
            <a:avLst>
              <a:gd name="adj" fmla="val 3252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authorization object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ZPC_IAM_*_EXT (4)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(4)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Business Catalogs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 · ZPC_BR_COMUM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Business Roles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17880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AUTORIZAÇÃO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Dois objetos de autorização, um campo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3236976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234440"/>
                <a:gridCol w="1234440"/>
                <a:gridCol w="2286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ACTVT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Atividade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ZPC_ADMIN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ZPC_PEDIDO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Usada em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01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Criar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create, ImportarPlanilha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02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Alterar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update, Edit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03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Exibir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leitura (com DCL opcional)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06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Excluir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delete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Executar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56F3A"/>
                          </a:solidFill>
                        </a:rPr>
                        <a:t>sim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actions do pedido e do reembolso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635240" y="164592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locked"/>
          <p:cNvSpPr/>
          <p:nvPr/>
        </p:nvSpPr>
        <p:spPr>
          <a:xfrm>
            <a:off x="78638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9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79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76488" y="187452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ZPC_ADMIN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7863840" y="248716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Administração de clientes e itens de estoque: só administradores mantêm cadastros.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635240" y="4023360"/>
            <a:ext cx="40078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locked"/>
          <p:cNvSpPr/>
          <p:nvPr/>
        </p:nvSpPr>
        <p:spPr>
          <a:xfrm>
            <a:off x="78638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79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76488" y="4251960"/>
            <a:ext cx="29836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ZPC_PEDIDO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7863840" y="4864608"/>
            <a:ext cx="3550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Operação de pedidos e reembolsos, inclusive a atividade 16 exigida pelas actions.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Do objeto de autorização ao usuário no SAP BTP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locked"/>
          <p:cNvSpPr/>
          <p:nvPr/>
        </p:nvSpPr>
        <p:spPr>
          <a:xfrm>
            <a:off x="1210026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7" name="Image 0" descr="lock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645" y="21652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Objetos de autorização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campo ACTVT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548067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2" name="Cartão"/>
          <p:cNvSpPr/>
          <p:nvPr/>
        </p:nvSpPr>
        <p:spPr>
          <a:xfrm>
            <a:off x="2831531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action-settings"/>
          <p:cNvSpPr/>
          <p:nvPr/>
        </p:nvSpPr>
        <p:spPr>
          <a:xfrm>
            <a:off x="3492917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1" descr="action-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6536" y="21652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968691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IAM App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2968691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2968691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serviço + valores ACTVT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830958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5114422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775808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1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427" y="216529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251582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Catalog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251582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5251582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um por IAM App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7113849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6" name="Cartão"/>
          <p:cNvSpPr/>
          <p:nvPr/>
        </p:nvSpPr>
        <p:spPr>
          <a:xfrm>
            <a:off x="7397313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8058699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8" name="Image 3" descr="ro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318" y="216529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534473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Role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7534473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endParaRPr lang="en-US" sz="1000" dirty="0"/>
          </a:p>
        </p:txBody>
      </p:sp>
      <p:sp>
        <p:nvSpPr>
          <p:cNvPr id="31" name="Text 24"/>
          <p:cNvSpPr txBox="1"/>
          <p:nvPr/>
        </p:nvSpPr>
        <p:spPr>
          <a:xfrm>
            <a:off x="7534473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agrupa catálogos</a:t>
            </a:r>
            <a:endParaRPr lang="en-US" sz="1100" dirty="0"/>
          </a:p>
        </p:txBody>
      </p:sp>
      <p:sp>
        <p:nvSpPr>
          <p:cNvPr id="32" name="Shape 25"/>
          <p:cNvSpPr/>
          <p:nvPr/>
        </p:nvSpPr>
        <p:spPr>
          <a:xfrm>
            <a:off x="9396740" y="3035808"/>
            <a:ext cx="246888" cy="0"/>
          </a:xfrm>
          <a:prstGeom prst="line">
            <a:avLst/>
          </a:prstGeom>
          <a:noFill/>
          <a:ln w="2540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3" name="Cartão"/>
          <p:cNvSpPr/>
          <p:nvPr/>
        </p:nvSpPr>
        <p:spPr>
          <a:xfrm>
            <a:off x="9680204" y="1783080"/>
            <a:ext cx="1962851" cy="2514600"/>
          </a:xfrm>
          <a:prstGeom prst="roundRect">
            <a:avLst>
              <a:gd name="adj" fmla="val 5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employee"/>
          <p:cNvSpPr/>
          <p:nvPr/>
        </p:nvSpPr>
        <p:spPr>
          <a:xfrm>
            <a:off x="10341590" y="20116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5" name="Image 4" descr="employe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5209" y="2165299"/>
            <a:ext cx="332842" cy="33284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817364" y="2788920"/>
            <a:ext cx="1688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Usuário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9817364" y="3310128"/>
            <a:ext cx="168853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atribuição da role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9817364" y="3822192"/>
            <a:ext cx="168853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Maintain Business Users</a:t>
            </a:r>
            <a:endParaRPr lang="en-US" sz="1100" dirty="0"/>
          </a:p>
        </p:txBody>
      </p:sp>
      <p:sp>
        <p:nvSpPr>
          <p:cNvPr id="39" name="Cartão"/>
          <p:cNvSpPr/>
          <p:nvPr/>
        </p:nvSpPr>
        <p:spPr>
          <a:xfrm>
            <a:off x="548640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Text 32"/>
          <p:cNvSpPr txBox="1"/>
          <p:nvPr/>
        </p:nvSpPr>
        <p:spPr>
          <a:xfrm>
            <a:off x="777240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Depois do deploy das apps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77240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Cada catálogo recebe também o IAM App do tile (ZPC_*_UI5R), criado pelo deploy da etapa 5.</a:t>
            </a:r>
            <a:endParaRPr lang="en-US" sz="1200" dirty="0"/>
          </a:p>
        </p:txBody>
      </p:sp>
      <p:sp>
        <p:nvSpPr>
          <p:cNvPr id="42" name="Cartão"/>
          <p:cNvSpPr/>
          <p:nvPr/>
        </p:nvSpPr>
        <p:spPr>
          <a:xfrm>
            <a:off x="4338218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5"/>
          <p:cNvSpPr txBox="1"/>
          <p:nvPr/>
        </p:nvSpPr>
        <p:spPr>
          <a:xfrm>
            <a:off x="4566818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Roles do projeto</a:t>
            </a:r>
            <a:endParaRPr lang="en-US" sz="1350" dirty="0"/>
          </a:p>
        </p:txBody>
      </p:sp>
      <p:sp>
        <p:nvSpPr>
          <p:cNvPr id="44" name="Text 36"/>
          <p:cNvSpPr txBox="1"/>
          <p:nvPr/>
        </p:nvSpPr>
        <p:spPr>
          <a:xfrm>
            <a:off x="4566818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ZPC_BR_ADMIN: os quatro catálogos. ZPC_BR_COMUM: Pedidos e Reembolsos.</a:t>
            </a:r>
            <a:endParaRPr lang="en-US" sz="1200" dirty="0"/>
          </a:p>
        </p:txBody>
      </p:sp>
      <p:sp>
        <p:nvSpPr>
          <p:cNvPr id="45" name="Cartão"/>
          <p:cNvSpPr/>
          <p:nvPr/>
        </p:nvSpPr>
        <p:spPr>
          <a:xfrm>
            <a:off x="8127797" y="4526280"/>
            <a:ext cx="3515258" cy="1645920"/>
          </a:xfrm>
          <a:prstGeom prst="roundRect">
            <a:avLst>
              <a:gd name="adj" fmla="val 6667"/>
            </a:avLst>
          </a:prstGeom>
          <a:solidFill>
            <a:srgbClr val="FFF3B8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8356397" y="4681728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No trial</a:t>
            </a:r>
            <a:endParaRPr lang="en-US" sz="1350" dirty="0"/>
          </a:p>
        </p:txBody>
      </p:sp>
      <p:sp>
        <p:nvSpPr>
          <p:cNvPr id="47" name="Text 39"/>
          <p:cNvSpPr txBox="1"/>
          <p:nvPr/>
        </p:nvSpPr>
        <p:spPr>
          <a:xfrm>
            <a:off x="8356397" y="5010912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Maintain Business Roles exige administrador: c_modo_trial = abap_true libera as operações.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IAM POR DOMÍNIO (SAP BTP)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IAM App e um catálogo para cada serviço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11094415" cy="2962656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1082009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834640"/>
                <a:gridCol w="2606040"/>
                <a:gridCol w="2286000"/>
                <a:gridCol w="172181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Domínio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Serviço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IAM App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Autorização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ZUI_PC_CLIENTES_O4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ZUI_PC_ESTOQUE_O4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ZPC_ADMIN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Pedidos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ZUI_PC_PEDIDOS_COMPRAS_O4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ZUI_PC_REEMBOLSOS_O4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7240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ZPC_BR_ADMIN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Administração</a:t>
            </a:r>
            <a:endParaRPr lang="en-US" sz="1400" dirty="0"/>
          </a:p>
        </p:txBody>
      </p:sp>
      <p:sp>
        <p:nvSpPr>
          <p:cNvPr id="9" name="Status ZPC_BC_CLIENTES"/>
          <p:cNvSpPr/>
          <p:nvPr/>
        </p:nvSpPr>
        <p:spPr>
          <a:xfrm>
            <a:off x="777240" y="5321808"/>
            <a:ext cx="1380744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ZPC_BC_CLIENTES</a:t>
            </a:r>
            <a:endParaRPr lang="en-US" sz="1000" dirty="0"/>
          </a:p>
        </p:txBody>
      </p:sp>
      <p:sp>
        <p:nvSpPr>
          <p:cNvPr id="10" name="Status ZPC_BC_ESTOQUE"/>
          <p:cNvSpPr/>
          <p:nvPr/>
        </p:nvSpPr>
        <p:spPr>
          <a:xfrm>
            <a:off x="2249424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ZPC_BC_ESTOQUE</a:t>
            </a:r>
            <a:endParaRPr lang="en-US" sz="1000" dirty="0"/>
          </a:p>
        </p:txBody>
      </p:sp>
      <p:sp>
        <p:nvSpPr>
          <p:cNvPr id="11" name="Status ZPC_BC_PEDIDOS"/>
          <p:cNvSpPr/>
          <p:nvPr/>
        </p:nvSpPr>
        <p:spPr>
          <a:xfrm>
            <a:off x="3646627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2" name="Status ZPC_BC_REEMBOLSOS"/>
          <p:cNvSpPr/>
          <p:nvPr/>
        </p:nvSpPr>
        <p:spPr>
          <a:xfrm>
            <a:off x="777240" y="5705856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6233008" y="4754880"/>
            <a:ext cx="5410048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461608" y="489204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ZPC_BR_COMUM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Usuário comum</a:t>
            </a:r>
            <a:endParaRPr lang="en-US" sz="1400" dirty="0"/>
          </a:p>
        </p:txBody>
      </p:sp>
      <p:sp>
        <p:nvSpPr>
          <p:cNvPr id="15" name="Status ZPC_BC_PEDIDOS"/>
          <p:cNvSpPr/>
          <p:nvPr/>
        </p:nvSpPr>
        <p:spPr>
          <a:xfrm>
            <a:off x="6461608" y="5321808"/>
            <a:ext cx="1305763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ZPC_BC_PEDIDOS</a:t>
            </a:r>
            <a:endParaRPr lang="en-US" sz="1000" dirty="0"/>
          </a:p>
        </p:txBody>
      </p:sp>
      <p:sp>
        <p:nvSpPr>
          <p:cNvPr id="16" name="Status ZPC_BC_REEMBOLSOS"/>
          <p:cNvSpPr/>
          <p:nvPr/>
        </p:nvSpPr>
        <p:spPr>
          <a:xfrm>
            <a:off x="7858811" y="5321808"/>
            <a:ext cx="1530706" cy="310896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ZPC_BC_REEMBOLSOS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COMMON · SERVIÇO ANALÍTICO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ZUI_PC_ANALITICO: um serviço, quatro análises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2039112"/>
          </a:xfrm>
          <a:prstGeom prst="roundRect">
            <a:avLst>
              <a:gd name="adj" fmla="val 448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691640"/>
          </a:xfrm>
          <a:prstGeom prst="roundRect">
            <a:avLst>
              <a:gd name="adj" fmla="val 5405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ANALITICO.srvd.srvdsrv"/>
          <p:cNvSpPr/>
          <p:nvPr/>
        </p:nvSpPr>
        <p:spPr>
          <a:xfrm>
            <a:off x="640080" y="1719072"/>
            <a:ext cx="24917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ZUI_PC_ANALITICO.srvd.srvdsrv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917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 - Análises (ALP e OVP)'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ZC_PC_REEMB_ANALISE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867912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40050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ZUI_PC_ANALITICO_O4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370832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/sap/opu/odata4/sap/zui_pc_analitico_o4/srvd/sap/zui_pc_analitico/0001/ClienteAnalise?$apply=groupby((Genero),aggregate(QtdeClientes))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5102352"/>
            <a:ext cx="566928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23951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Somente leitura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541264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Sem BDEF: o serviço só lê. As medidas usam a agregação padrão do cubo, então o $apply pede aggregate(Medida) sem método.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Pedidos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Clientes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do Estoque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ZC_PC_REEMB_ANALISE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Análise de Reembolsos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42696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Totais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62813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PedidoAnalise?$apply=groupby((StatusPedido),aggregate(ValorTotal))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Clientes, com a BDEF de projeção do cliente e do endereço.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ZPC_IAM_CLIENTES_EXT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ZUI_PC_CLIENTES: cliente, endereço e duas VHs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CLIENTES.srvd.srvdsrv"/>
          <p:cNvSpPr/>
          <p:nvPr/>
        </p:nvSpPr>
        <p:spPr>
          <a:xfrm>
            <a:off x="640080" y="1719072"/>
            <a:ext cx="24231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ZUI_PC_CLIENTES.srvd.srvdsrv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4231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Clientes'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ZC_PC_GENERO_VH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ZC_PC_CEP_VH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CepVH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/sap/opu/odata4/sap/zui_pc_clientes_o4/srvd/sap/zui_pc_clientes/0001/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draft, ImportarPlanilha; no endereço, update, delete e DefinirEnderecoPrincipal.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ZC_PC_CLIENTE_APP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Endereco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ZC_PC_ENDERECO_APP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Tabela e sub-página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ZC_PC_GENERO_VH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Lista de gênero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CepVH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ZC_PC_CEP_VH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Sugestão de CEPs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Rascunhos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Cliente?$filter=IsActiveEntity eq false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Filho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Cliente(ClienteUUID=…,IsActiveEntity=true)/_Endereco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serviço da app Gestão de Estoque. As actions de movimentação ficam de fora da projeção.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ZPC_IAM_ESTOQUE_EXT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ZUI_PC_ESTOQUE: item e três value helps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869948"/>
          </a:xfrm>
          <a:prstGeom prst="roundRect">
            <a:avLst>
              <a:gd name="adj" fmla="val 489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522476"/>
          </a:xfrm>
          <a:prstGeom prst="roundRect">
            <a:avLst>
              <a:gd name="adj" fmla="val 6006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ESTOQUE.srvd.srvdsrv"/>
          <p:cNvSpPr/>
          <p:nvPr/>
        </p:nvSpPr>
        <p:spPr>
          <a:xfrm>
            <a:off x="640080" y="1719072"/>
            <a:ext cx="23545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ZUI_PC_ESTOQUE.srvd.srvdsrv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3545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1321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Estoque'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ZC_PC_CATEGORIA_VH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ZC_PC_STATUSEST_VH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I_CurrencyStdVH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698748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8359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42016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/sap/opu/odata4/sap/zui_pc_estoque_o4/srvd/sap/zui_pc_estoque/0001/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933188"/>
            <a:ext cx="5669280" cy="1239012"/>
          </a:xfrm>
          <a:prstGeom prst="roundRect">
            <a:avLst>
              <a:gd name="adj" fmla="val 88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507034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372100"/>
            <a:ext cx="5212080" cy="7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create, update, delete, draft e ImportarPlanilha. Movimentos de estoque: só via EML interno.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241401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ZC_PC_CATEGORIA_VH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Categoria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ZC_PC_STATUSEST_VH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CurrencyVH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I_CurrencyStdVH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Moeda (view SAP)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4270248"/>
            <a:ext cx="5150815" cy="1901952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4407408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477316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97433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5209032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Itens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541020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Item?$top=5&amp;$select=Sku,Nome,QtdeDisponivel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64489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Sem estoque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84606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Item?$filter=StatusEstoque eq 'SEM_ESTOQUE'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maior serviço: cinco entidades do BO e seis value helps, três delas de outros domínios.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ZPC_IAM_PEDIDOS_EXT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ZUI_PC_PEDIDOS_COMPRAS: 11 entidades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3054096"/>
          </a:xfrm>
          <a:prstGeom prst="roundRect">
            <a:avLst>
              <a:gd name="adj" fmla="val 2994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2706624"/>
          </a:xfrm>
          <a:prstGeom prst="roundRect">
            <a:avLst>
              <a:gd name="adj" fmla="val 337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PEDIDOS_COMPRAS.srvd.srvdsrv"/>
          <p:cNvSpPr/>
          <p:nvPr/>
        </p:nvSpPr>
        <p:spPr>
          <a:xfrm>
            <a:off x="640080" y="1719072"/>
            <a:ext cx="29032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ZUI_PC_PEDIDOS_COMPRAS.srvd.srvdsrv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9032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'Pedidos de Compras'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ZC_PC_ITEM_PEDIDO_APP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ItemPedido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ZC_PC_PAGAMENTO_APP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Pagamento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ZC_PC_PED_CLI_SNAP_APP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ZC_PC_PED_ITEM_SNAP_APP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ItemSnapshot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ZC_PC_CLIENTE_VH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ZC_PC_ENDERECO_VH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EnderecoVH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ZC_PC_ITEM_VH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ZC_PC_STATUSPED_VH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ZC_PC_METODOPAG_VH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MetodoPagamentoVH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4882896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502005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385816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/sap/opu/odata4/sap/zui_pc_pedidos_compras_o4/srvd/sap/zui_pc_pedidos_compras/0001/</a:t>
            </a:r>
            <a:endParaRPr lang="en-US" sz="1000" dirty="0"/>
          </a:p>
        </p:txBody>
      </p:sp>
      <p:sp>
        <p:nvSpPr>
          <p:cNvPr id="15" name="Fundo da tabela"/>
          <p:cNvSpPr/>
          <p:nvPr/>
        </p:nvSpPr>
        <p:spPr>
          <a:xfrm>
            <a:off x="6492240" y="1645920"/>
            <a:ext cx="5150815" cy="3730752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ZC_PC_ITEM_PEDIDO_APP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Itens inline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ZC_PC_PAGAMENTO_APP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Seção Pagamento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Client./ItemSnapshot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ZC_PC_PED_*_SNAP_APP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Histórico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ClienteVH · EnderecoVH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cliente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Escolha do item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Status/MétodoVH (3)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CodeList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Filtros e diálogo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O menor serviço do projeto: uma entidade, uma value help e duas ações.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D232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D232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definition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service binding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ZC_PC_REEMBOLSO_APP.bdef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projeção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ZPC_IAM_REEMBOLSOS_EXT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IAM App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..._0001_G4BA</a:t>
            </a:r>
            <a:pPr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  SCO2 · SUSH · SIA6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SERVIÇO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ZUI_PC_REEMBOLSOS: decisão sem edição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669280" cy="1531620"/>
          </a:xfrm>
          <a:prstGeom prst="roundRect">
            <a:avLst>
              <a:gd name="adj" fmla="val 597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669280" cy="1184148"/>
          </a:xfrm>
          <a:prstGeom prst="roundRect">
            <a:avLst>
              <a:gd name="adj" fmla="val 772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65099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65099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ZUI_PC_REEMBOLSOS.srvd.srvdsrv"/>
          <p:cNvSpPr/>
          <p:nvPr/>
        </p:nvSpPr>
        <p:spPr>
          <a:xfrm>
            <a:off x="640080" y="1719072"/>
            <a:ext cx="25603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ZUI_PC_REEMBOLSOS.srvd.srvdsrv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25603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Trecho de código"/>
          <p:cNvSpPr txBox="1"/>
          <p:nvPr/>
        </p:nvSpPr>
        <p:spPr>
          <a:xfrm>
            <a:off x="731520" y="2103120"/>
            <a:ext cx="5349240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'Gestão de Reembolsos'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ZC_PC_REEMBOLSO_APP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ZC_PC_STATUSREEMB_VH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StatusReembolsoVH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48640" y="3360420"/>
            <a:ext cx="5669280" cy="1051560"/>
          </a:xfrm>
          <a:prstGeom prst="roundRect">
            <a:avLst>
              <a:gd name="adj" fmla="val 10435"/>
            </a:avLst>
          </a:prstGeom>
          <a:solidFill>
            <a:srgbClr val="E1F4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34975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56B82"/>
                </a:solidFill>
              </a:rPr>
              <a:t>Service binding  </a:t>
            </a:r>
            <a:pPr indent="0" marL="0">
              <a:buNone/>
            </a:pPr>
            <a:r>
              <a:rPr lang="en-US" sz="13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38633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/sap/opu/odata4/sap/zui_pc_reembolsos_o4/srvd/sap/zui_pc_reembolsos/0001/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548640" y="4594860"/>
            <a:ext cx="5669280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77240" y="47320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Exposto pela projeção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5033772"/>
            <a:ext cx="521208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Só use action AprovarReembolso e RejeitarReembolso. As solicitações nascem no BO Pedido; o pedido abre por link direto (ZPCPedidoCompra-manage).</a:t>
            </a:r>
            <a:endParaRPr lang="en-US" sz="1100" dirty="0"/>
          </a:p>
        </p:txBody>
      </p:sp>
      <p:sp>
        <p:nvSpPr>
          <p:cNvPr id="18" name="Fundo da tabela"/>
          <p:cNvSpPr/>
          <p:nvPr/>
        </p:nvSpPr>
        <p:spPr>
          <a:xfrm>
            <a:off x="6492240" y="1645920"/>
            <a:ext cx="5150815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755648"/>
          <a:ext cx="48764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310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Entity set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Origem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Uso na app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ZC_PC_REEMBOLSO_APP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List Report e Object Page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ZC_PC_STATUSREEMB_VH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Filtro de status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Cartão"/>
          <p:cNvSpPr/>
          <p:nvPr/>
        </p:nvSpPr>
        <p:spPr>
          <a:xfrm>
            <a:off x="6492240" y="3392424"/>
            <a:ext cx="5150815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720840" y="3529584"/>
            <a:ext cx="4693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Teste no navegador</a:t>
            </a:r>
            <a:endParaRPr lang="en-US" sz="1250" dirty="0"/>
          </a:p>
        </p:txBody>
      </p:sp>
      <p:sp>
        <p:nvSpPr>
          <p:cNvPr id="22" name="Text 18"/>
          <p:cNvSpPr txBox="1"/>
          <p:nvPr/>
        </p:nvSpPr>
        <p:spPr>
          <a:xfrm>
            <a:off x="6720840" y="3895344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Metadados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6720840" y="4096512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.../$metadata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6720840" y="4623816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Pendentes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6720840" y="48249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Reembolso?$filter=StatusReembolso eq 'PENDENTE'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6720840" y="5352288"/>
            <a:ext cx="46936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56B82"/>
                </a:solidFill>
              </a:rPr>
              <a:t>Ação (POST)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6720840" y="5553456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Reembolso(…)/com.sap.gateway.srvd.zui_pc_reembolsos.v0001.AprovarReembolso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Publicar, configurar e carregar os dados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92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783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Behavior pools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2121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ZBP_R_* (Global Class + Local Types) e BDEF de projeção ZC_*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2788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77240" y="3035808"/>
            <a:ext cx="512064" cy="512064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0F2"/>
                </a:solidFill>
              </a:rPr>
              <a:t>9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26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Classes de apoio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3264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ZCL_PC_VE_CLIENTE, ZCL_PC_PAGAMENTO_SIM, ZCL_PC_SETUP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548640" y="3931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4069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Serviços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4407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Service definitions → service bindings → Publish</a:t>
            </a:r>
            <a:endParaRPr lang="en-US" sz="1150" dirty="0"/>
          </a:p>
        </p:txBody>
      </p:sp>
      <p:sp>
        <p:nvSpPr>
          <p:cNvPr id="17" name="Cartão"/>
          <p:cNvSpPr/>
          <p:nvPr/>
        </p:nvSpPr>
        <p:spPr>
          <a:xfrm>
            <a:off x="548640" y="5074920"/>
            <a:ext cx="58521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21808"/>
            <a:ext cx="512064" cy="512064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52120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D2D3E"/>
                </a:solidFill>
              </a:rPr>
              <a:t>Dados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1508760" y="555040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ZCL_PC_SETUP com F9: numeração, CodeLists e demonstração</a:t>
            </a:r>
            <a:endParaRPr lang="en-US" sz="1150" dirty="0"/>
          </a:p>
        </p:txBody>
      </p:sp>
      <p:sp>
        <p:nvSpPr>
          <p:cNvPr id="21" name="Editor"/>
          <p:cNvSpPr/>
          <p:nvPr/>
        </p:nvSpPr>
        <p:spPr>
          <a:xfrm>
            <a:off x="6720840" y="1645920"/>
            <a:ext cx="4922215" cy="3200400"/>
          </a:xfrm>
          <a:prstGeom prst="roundRect">
            <a:avLst>
              <a:gd name="adj" fmla="val 2857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Área do editor"/>
          <p:cNvSpPr/>
          <p:nvPr/>
        </p:nvSpPr>
        <p:spPr>
          <a:xfrm>
            <a:off x="6720840" y="1993392"/>
            <a:ext cx="4922215" cy="2852928"/>
          </a:xfrm>
          <a:prstGeom prst="roundRect">
            <a:avLst>
              <a:gd name="adj" fmla="val 3205"/>
            </a:avLst>
          </a:prstGeom>
          <a:solidFill>
            <a:srgbClr val="1F1F1F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9984" y="1993392"/>
            <a:ext cx="490392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4" name="Shape 21"/>
          <p:cNvSpPr/>
          <p:nvPr/>
        </p:nvSpPr>
        <p:spPr>
          <a:xfrm>
            <a:off x="6729984" y="1993392"/>
            <a:ext cx="490392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5" name="Aba ZCL_PC_SETUP"/>
          <p:cNvSpPr/>
          <p:nvPr/>
        </p:nvSpPr>
        <p:spPr>
          <a:xfrm>
            <a:off x="6812280" y="1719072"/>
            <a:ext cx="132588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ZCL_PC_SETUP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812280" y="1719072"/>
            <a:ext cx="132588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27" name="Breadcrumb"/>
          <p:cNvSpPr txBox="1"/>
          <p:nvPr/>
        </p:nvSpPr>
        <p:spPr>
          <a:xfrm>
            <a:off x="6949440" y="2103120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ZAVBS_PC_COMMON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ZCL_PC_SETUP</a:t>
            </a:r>
            <a:endParaRPr lang="en-US" sz="900" dirty="0"/>
          </a:p>
        </p:txBody>
      </p:sp>
      <p:sp>
        <p:nvSpPr>
          <p:cNvPr id="28" name="Trecho de código"/>
          <p:cNvSpPr txBox="1"/>
          <p:nvPr/>
        </p:nvSpPr>
        <p:spPr>
          <a:xfrm>
            <a:off x="6903720" y="2414016"/>
            <a:ext cx="4602175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ZCL_PC_SETUP — F9 no ADT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zcl_pc_setup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if_oo_adt_classrun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1. Intervalos 01 (pedido) e 02 (SKU) em ZPC_NR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2. CodeLists: gênero, categoria, status...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3. Clientes, endereços, itens e 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de demonstração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4. Recalcula os indicadores de status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dos pedidos existentes</a:t>
            </a:r>
            <a:endParaRPr lang="en-US" sz="1100" dirty="0"/>
          </a:p>
        </p:txBody>
      </p:sp>
      <p:sp>
        <p:nvSpPr>
          <p:cNvPr id="29" name="Cartão"/>
          <p:cNvSpPr/>
          <p:nvPr/>
        </p:nvSpPr>
        <p:spPr>
          <a:xfrm>
            <a:off x="6720840" y="5074920"/>
            <a:ext cx="4922215" cy="1097280"/>
          </a:xfrm>
          <a:prstGeom prst="roundRect">
            <a:avLst>
              <a:gd name="adj" fmla="val 10000"/>
            </a:avLst>
          </a:prstGeom>
          <a:solidFill>
            <a:srgbClr val="F5FAE5"/>
          </a:solidFill>
          <a:ln/>
        </p:spPr>
      </p:sp>
      <p:pic>
        <p:nvPicPr>
          <p:cNvPr id="30" name="Image 0" descr="message-succ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5303520"/>
            <a:ext cx="365760" cy="36576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7406640" y="51206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Com os dados carregados, os gráficos das análises e o preview dos serviços já têm o que mostrar.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TESTES NO PREVIEW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Cenários para validar o serviço antes das apps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ayment-approval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payment-approv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aprovado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VISA 4111 1111 1111 1111, validade 12/30, CVV 123: pedido vai a AGUARDANDO_APROVACAO.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tatus-negative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12" name="Image 1" descr="status-nega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Pagamento recusado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Mesmo cartão com CVV 000: pedido continua ABERTO e pagamento RECUSADO.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Estoque insuficiente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Precheck bloqueia item com disponível zerado ao incluir no pedido.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ynchronize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3" descr="synchroniz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Concorrência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Item em edição no Estoque e pedido salvo com ele: ITEM_ESTOQUE_CONCORRENTE.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ustomer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27" name="Image 4" descr="custom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Exclusão de cliente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com pedido não pode ser excluído (mensagem 004).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money-bills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Reembolso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Cancelar pedido pago → PROCESSANDO_REEMBOLSO; aprovar ou rejeitar na app de Reembolsos.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4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Serviços publicados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Cinco serviços OData V4, BDEFs de projeção, objetos de autorização, IAM Apps (BTP) ou roles PFCG (On-Premise) e dados de demonstração.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Apps Fiori: gerar, navegar e implantar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4 - Serviços OData</dc:title>
  <dc:subject>Pedidos de Compras no SAP BTP ABAP Environment</dc:subject>
  <dc:creator>Adriano Bispo</dc:creator>
  <cp:lastModifiedBy>Adriano Bispo</cp:lastModifiedBy>
  <cp:revision>1</cp:revision>
  <dcterms:created xsi:type="dcterms:W3CDTF">2026-10-20T11:23:46Z</dcterms:created>
  <dcterms:modified xsi:type="dcterms:W3CDTF">2026-10-20T11:23:46Z</dcterms:modified>
</cp:coreProperties>
</file>