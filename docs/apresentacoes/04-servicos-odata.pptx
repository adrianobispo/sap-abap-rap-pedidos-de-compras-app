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4a3875a-eba9-69d4-bee6-c6ca2a328196}">
          <p14:sldIdLst>
            <p14:sldId id="256"/>
            <p14:sldId id="257"/>
          </p14:sldIdLst>
        </p14:section>
        <p14:section name="Definição e binding" id="{547c68f2-4313-d371-e908-a9c58b415765}">
          <p14:sldIdLst>
            <p14:sldId id="258"/>
            <p14:sldId id="259"/>
            <p14:sldId id="260"/>
          </p14:sldIdLst>
        </p14:section>
        <p14:section name="Segurança" id="{e2af5156-622c-b0e0-45f8-57bf68bcb763}">
          <p14:sldIdLst>
            <p14:sldId id="261"/>
            <p14:sldId id="262"/>
          </p14:sldIdLst>
        </p14:section>
        <p14:section name="Dados e testes" id="{641f5005-2548-51cd-079d-88229635f8d6}">
          <p14:sldIdLst>
            <p14:sldId id="263"/>
            <p14:sldId id="264"/>
          </p14:sldIdLst>
        </p14:section>
        <p14:section name="Encerramento" id="{c61d9d9b-2932-a14f-bff1-60afc3b021e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etapa. Os BOs prontos viram serviços: BDEF de projeção, service definition, service binding OData V4 e publicação. Depois, a cadeia de segurança que dá acesso aos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de gestão tem seu próprio serviço. A projeção e a BDEF de projeção definem o contrato; a service definition escolhe o que expor; o binding escolhe o protocolo (OData V4) e o cenário (UI); a publicação gera a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das projeções do BO, o serviço expõe as value helps usadas pelos campos e filtros. Os aliases (Pedido, ItemPedido…) viram os nomes dos entity sets no metadata e aparecem nas URLs e no manifest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BDEF de projeção decide que parte do comportamento é exposta. Actions internas do Pedido (CancelarPorReembolso, RetomarPedido, RecalcularTotal) e as do Item (ReservarEstoque…) não aparecem aqui: só podem ser chamadas por EML de dentro do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binding liga a service definition a um protocolo e a um cenário. Todos usam OData V4 com cenário UI, o que habilita draft, side effects e as anotações de UI no metadata. Depois de ativar, o botão Publish registra o serviço e libera a URL e o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ABAP Cloud o acesso não é dado por transação: o serviço e os valores de autorização entram em um IAM App; o IAM App vai para um Business Catalog; catálogos compõem Business Roles; a role é atribuída ao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ADT acrescenta o sufixo _EXT ao nome do IAM App. Na aba de autorizações do IAM App, ZPC_ADMIN recebe as atividades de Clientes e Estoque e ZPC_PEDIDO as de Pedidos e Reembolsos, incluindo a 16 (executar) exigida pelas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8 a 11 da ordem de criação. A classe ZCL_PC_SETUP é executada com F9 no ADT (if_oo_adt_classrun): cria os intervalos de numeração, carrega as CodeLists e gera clientes, itens e pedidos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preview do service binding (ou já pelas apps) dá para percorrer as regras de negócio principais. Os dados de cartão são de teste; nada além de bandeira, últimos 4 dígitos e máscara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projeção, BDEF de projeção, service definition, binding OData V4 – UI e Publish. A cadeia de segurança vai do objeto de autorização ao usuário. Na última etapa, as apps Fiori consomem estes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4 de 5 — Serviços OData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Serviços OData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Expor os BOs como serviços OData V4, publicar os bindings e liberar o acesso com IAM Apps, catálogos e roles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passos da projeção até a URL do serviço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ource-code"/>
          <p:cNvSpPr/>
          <p:nvPr/>
        </p:nvSpPr>
        <p:spPr>
          <a:xfrm>
            <a:off x="777240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source-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1. Projeção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Etapa 2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575499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22387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workflow-tasks"/>
          <p:cNvSpPr/>
          <p:nvPr/>
        </p:nvSpPr>
        <p:spPr>
          <a:xfrm>
            <a:off x="3050987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workflow-tas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661" y="21890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50987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2. BDEF de projeção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050987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create, use action…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050987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Comportamento exposto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9246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096134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document-text"/>
          <p:cNvSpPr/>
          <p:nvPr/>
        </p:nvSpPr>
        <p:spPr>
          <a:xfrm>
            <a:off x="5324734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document-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24734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3. Service definition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324734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324734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que expor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22993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69881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chain-link"/>
          <p:cNvSpPr/>
          <p:nvPr/>
        </p:nvSpPr>
        <p:spPr>
          <a:xfrm>
            <a:off x="7598481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8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155" y="218907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98481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4. Service binding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598481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7598481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OData V4 – UI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396740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43628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upload-to-cloud"/>
          <p:cNvSpPr/>
          <p:nvPr/>
        </p:nvSpPr>
        <p:spPr>
          <a:xfrm>
            <a:off x="9872228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5" name="Image 4" descr="upload-to-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902" y="218907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72228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5. Publish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872228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/sap/opu/odata4/…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9872228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9FF"/>
                </a:solidFill>
              </a:rPr>
              <a:t>Serviço ativo</a:t>
            </a:r>
            <a:endParaRPr lang="en-US" sz="1200" dirty="0"/>
          </a:p>
        </p:txBody>
      </p:sp>
      <p:sp>
        <p:nvSpPr>
          <p:cNvPr id="39" name="Cartão"/>
          <p:cNvSpPr/>
          <p:nvPr/>
        </p:nvSpPr>
        <p:spPr>
          <a:xfrm>
            <a:off x="548640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4</a:t>
            </a:r>
            <a:endParaRPr lang="en-US" sz="30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serviços de gestão, um por app</a:t>
            </a:r>
            <a:endParaRPr lang="en-US" sz="1300" dirty="0"/>
          </a:p>
        </p:txBody>
      </p:sp>
      <p:sp>
        <p:nvSpPr>
          <p:cNvPr id="42" name="Cartão"/>
          <p:cNvSpPr/>
          <p:nvPr/>
        </p:nvSpPr>
        <p:spPr>
          <a:xfrm>
            <a:off x="4338218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4612538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44" name="Text 36"/>
          <p:cNvSpPr txBox="1"/>
          <p:nvPr/>
        </p:nvSpPr>
        <p:spPr>
          <a:xfrm>
            <a:off x="4612538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 analítico para as 4 análises</a:t>
            </a:r>
            <a:endParaRPr lang="en-US" sz="1300" dirty="0"/>
          </a:p>
        </p:txBody>
      </p:sp>
      <p:sp>
        <p:nvSpPr>
          <p:cNvPr id="45" name="Cartão"/>
          <p:cNvSpPr/>
          <p:nvPr/>
        </p:nvSpPr>
        <p:spPr>
          <a:xfrm>
            <a:off x="8127797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402117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OData V4</a:t>
            </a:r>
            <a:endParaRPr lang="en-US" sz="3000" dirty="0"/>
          </a:p>
        </p:txBody>
      </p:sp>
      <p:sp>
        <p:nvSpPr>
          <p:cNvPr id="47" name="Text 39"/>
          <p:cNvSpPr txBox="1"/>
          <p:nvPr/>
        </p:nvSpPr>
        <p:spPr>
          <a:xfrm>
            <a:off x="8402117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protocolo de todos os bindings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service definition escolhe as entidades expostas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PEDIDOS_COMPRAS.srvd.srvdsrv"/>
          <p:cNvSpPr/>
          <p:nvPr/>
        </p:nvSpPr>
        <p:spPr>
          <a:xfrm>
            <a:off x="640080" y="1719072"/>
            <a:ext cx="29032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ZUI_PC_PEDIDOS_COMPRAS.srvd.srvdsrv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9032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5321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Fundo da tabela"/>
          <p:cNvSpPr/>
          <p:nvPr/>
        </p:nvSpPr>
        <p:spPr>
          <a:xfrm>
            <a:off x="6629400" y="1645920"/>
            <a:ext cx="50109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65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621792"/>
                <a:gridCol w="1783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Entid.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artão"/>
          <p:cNvSpPr/>
          <p:nvPr/>
        </p:nvSpPr>
        <p:spPr>
          <a:xfrm>
            <a:off x="6629400" y="4800600"/>
            <a:ext cx="5010912" cy="1371600"/>
          </a:xfrm>
          <a:prstGeom prst="roundRect">
            <a:avLst>
              <a:gd name="adj" fmla="val 8000"/>
            </a:avLst>
          </a:prstGeom>
          <a:solidFill>
            <a:srgbClr val="E1F4FF"/>
          </a:solidFill>
          <a:ln/>
        </p:spPr>
      </p:sp>
      <p:pic>
        <p:nvPicPr>
          <p:cNvPr id="15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4983480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0" y="489204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Value helps também precisam ser expostas: sem isso, o Fiori Elements não monta a lista de seleção do campo.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BDEF DE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Só o que tem use chega à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bdef.asbdef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8006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5989320" y="1645920"/>
            <a:ext cx="5653735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6364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Exposto na app</a:t>
            </a:r>
            <a:endParaRPr lang="en-US" sz="1400" dirty="0"/>
          </a:p>
        </p:txBody>
      </p:sp>
      <p:sp>
        <p:nvSpPr>
          <p:cNvPr id="14" name="Status SimularPagamento"/>
          <p:cNvSpPr/>
          <p:nvPr/>
        </p:nvSpPr>
        <p:spPr>
          <a:xfrm>
            <a:off x="6263640" y="224028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SimularPagamento</a:t>
            </a:r>
            <a:endParaRPr lang="en-US" sz="1100" dirty="0"/>
          </a:p>
        </p:txBody>
      </p:sp>
      <p:sp>
        <p:nvSpPr>
          <p:cNvPr id="15" name="Status AprovarPedido"/>
          <p:cNvSpPr/>
          <p:nvPr/>
        </p:nvSpPr>
        <p:spPr>
          <a:xfrm>
            <a:off x="7824704" y="224028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AprovarPedido</a:t>
            </a:r>
            <a:endParaRPr lang="en-US" sz="1100" dirty="0"/>
          </a:p>
        </p:txBody>
      </p:sp>
      <p:sp>
        <p:nvSpPr>
          <p:cNvPr id="16" name="Status CancelarPedido"/>
          <p:cNvSpPr/>
          <p:nvPr/>
        </p:nvSpPr>
        <p:spPr>
          <a:xfrm>
            <a:off x="9168506" y="224028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CancelarPedido</a:t>
            </a:r>
            <a:endParaRPr lang="en-US" sz="1100" dirty="0"/>
          </a:p>
        </p:txBody>
      </p:sp>
      <p:sp>
        <p:nvSpPr>
          <p:cNvPr id="17" name="Status ImportarPlanilha"/>
          <p:cNvSpPr/>
          <p:nvPr/>
        </p:nvSpPr>
        <p:spPr>
          <a:xfrm>
            <a:off x="6263640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ImportarPlanilha</a:t>
            </a:r>
            <a:endParaRPr lang="en-US" sz="1100" dirty="0"/>
          </a:p>
        </p:txBody>
      </p:sp>
      <p:sp>
        <p:nvSpPr>
          <p:cNvPr id="18" name="Status draft (Edit, Activate…)"/>
          <p:cNvSpPr/>
          <p:nvPr/>
        </p:nvSpPr>
        <p:spPr>
          <a:xfrm>
            <a:off x="7824704" y="2651760"/>
            <a:ext cx="1958279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draft (Edit, Activate…)</a:t>
            </a:r>
            <a:endParaRPr lang="en-US" sz="1100" dirty="0"/>
          </a:p>
        </p:txBody>
      </p:sp>
      <p:sp>
        <p:nvSpPr>
          <p:cNvPr id="19" name="Status use side effects"/>
          <p:cNvSpPr/>
          <p:nvPr/>
        </p:nvSpPr>
        <p:spPr>
          <a:xfrm>
            <a:off x="9892711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use side effects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5989320" y="3886200"/>
            <a:ext cx="5653735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63640" y="40690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Interno (sem use)</a:t>
            </a:r>
            <a:endParaRPr lang="en-US" sz="1400" dirty="0"/>
          </a:p>
        </p:txBody>
      </p:sp>
      <p:sp>
        <p:nvSpPr>
          <p:cNvPr id="22" name="Status CancelarPorReembolso"/>
          <p:cNvSpPr/>
          <p:nvPr/>
        </p:nvSpPr>
        <p:spPr>
          <a:xfrm>
            <a:off x="6263640" y="4480560"/>
            <a:ext cx="1741018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CancelarPorReembolso</a:t>
            </a:r>
            <a:endParaRPr lang="en-US" sz="1100" dirty="0"/>
          </a:p>
        </p:txBody>
      </p:sp>
      <p:sp>
        <p:nvSpPr>
          <p:cNvPr id="23" name="Status RetomarPedido"/>
          <p:cNvSpPr/>
          <p:nvPr/>
        </p:nvSpPr>
        <p:spPr>
          <a:xfrm>
            <a:off x="8114386" y="448056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RetomarPedido</a:t>
            </a:r>
            <a:endParaRPr lang="en-US" sz="1100" dirty="0"/>
          </a:p>
        </p:txBody>
      </p:sp>
      <p:sp>
        <p:nvSpPr>
          <p:cNvPr id="24" name="Status RecalcularTotal"/>
          <p:cNvSpPr/>
          <p:nvPr/>
        </p:nvSpPr>
        <p:spPr>
          <a:xfrm>
            <a:off x="9458188" y="448056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RecalcularTotal</a:t>
            </a:r>
            <a:endParaRPr lang="en-US" sz="1100" dirty="0"/>
          </a:p>
        </p:txBody>
      </p:sp>
      <p:sp>
        <p:nvSpPr>
          <p:cNvPr id="25" name="Status ReservarEstoque"/>
          <p:cNvSpPr/>
          <p:nvPr/>
        </p:nvSpPr>
        <p:spPr>
          <a:xfrm>
            <a:off x="6263640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ReservarEstoque</a:t>
            </a:r>
            <a:endParaRPr lang="en-US" sz="1100" dirty="0"/>
          </a:p>
        </p:txBody>
      </p:sp>
      <p:sp>
        <p:nvSpPr>
          <p:cNvPr id="26" name="Status LiberarReserva"/>
          <p:cNvSpPr/>
          <p:nvPr/>
        </p:nvSpPr>
        <p:spPr>
          <a:xfrm>
            <a:off x="7752283" y="489204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LiberarReserva</a:t>
            </a:r>
            <a:endParaRPr lang="en-US" sz="1100" dirty="0"/>
          </a:p>
        </p:txBody>
      </p:sp>
      <p:sp>
        <p:nvSpPr>
          <p:cNvPr id="27" name="Status BaixarEstoque"/>
          <p:cNvSpPr/>
          <p:nvPr/>
        </p:nvSpPr>
        <p:spPr>
          <a:xfrm>
            <a:off x="9168506" y="489204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BaixarEstoque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263640" y="5394960"/>
            <a:ext cx="5105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Reembolso: só use action AprovarReembolso e RejeitarReembolso; o create vem do Pedido.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BINDING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Bindings OData V4 – UI, publicados no ADT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858000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583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Consumido por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As 4 apps de análise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Anatomia da URL do serviço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548640" y="5074920"/>
            <a:ext cx="6858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193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</a:t>
            </a:r>
            <a:pPr indent="0" marL="0">
              <a:buNone/>
            </a:pPr>
            <a:r>
              <a:rPr lang="en-US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/srvd/sap/</a:t>
            </a:r>
            <a:pPr indent="0" marL="0">
              <a:buNone/>
            </a:pPr>
            <a:r>
              <a:rPr lang="en-US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/0001/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650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■ prefixo OData V4</a:t>
            </a:r>
            <a:pPr indent="0" marL="0">
              <a:buNone/>
            </a:pPr>
            <a:r>
              <a:rPr lang="en-US" sz="1100" dirty="0">
                <a:solidFill>
                  <a:srgbClr val="0070F2"/>
                </a:solidFill>
              </a:rPr>
              <a:t>   ■ binding</a:t>
            </a:r>
            <a:pPr indent="0" marL="0">
              <a:buNone/>
            </a:pPr>
            <a:r>
              <a:rPr lang="en-US" sz="1100" dirty="0">
                <a:solidFill>
                  <a:srgbClr val="8B47D7"/>
                </a:solidFill>
              </a:rPr>
              <a:t>   ■ service definition</a:t>
            </a:r>
            <a:pPr indent="0" marL="0">
              <a:buNone/>
            </a:pPr>
            <a:r>
              <a:rPr lang="en-US" sz="1100" dirty="0">
                <a:solidFill>
                  <a:srgbClr val="C87B00"/>
                </a:solidFill>
              </a:rPr>
              <a:t>   ■ versão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7635240" y="1645920"/>
            <a:ext cx="4007815" cy="4526280"/>
          </a:xfrm>
          <a:prstGeom prst="roundRect">
            <a:avLst>
              <a:gd name="adj" fmla="val 2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upload-to-cloud"/>
          <p:cNvSpPr/>
          <p:nvPr/>
        </p:nvSpPr>
        <p:spPr>
          <a:xfrm>
            <a:off x="79095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3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1234" y="200619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641080" y="18745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Publicar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909560" y="265176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Criar o binding sobre a service definition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Binding Type: OData V4 – UI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Ativar (Ctrl+F3)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Publish no editor do binding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Selecionar a entidade e abrir o Preview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7909560" y="4846320"/>
            <a:ext cx="3459175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2440" y="4892040"/>
            <a:ext cx="3093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O preview testa o backend isolado, mas não tem launchpad nem navegação entre apps.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IDENTITY AND ACCESS MANAGEMENT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de autorização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campo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IAM App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IAM App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Role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agrupa catálogos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atribuição da role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Maintain Business Users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Depois do deploy das apps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catálogo recebe também o IAM App do tile (ZPC_*_UI5R), criado pelo deploy da etapa 5.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ZPC_BR_ADMIN: os quatro catálogos. ZPC_BR_COMUM: Pedidos e Reembolsos.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No trial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Maintain Business Roles exige administrador: c_modo_trial = abap_true libera as operações.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IAM POR DOMÍNIO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IAM App e um catálogo para cada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Administração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Publicar, configurar e carregar os dados de demonstração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92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Behavior pools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ZBP_R_* (Global Class + Local Types) e BDEF de projeção ZC_*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035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Classes de apoio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ZCL_PC_VE_CLIENTE, ZCL_PC_PAGAMENTO_SIM, ZCL_PC_SETUP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Serviços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4407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Service definitions → service bindings → Publish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548640" y="5074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5212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Dados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5550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ZCL_PC_SETUP com F9: numeração, CodeLists e demonstração</a:t>
            </a:r>
            <a:endParaRPr lang="en-US" sz="1150" dirty="0"/>
          </a:p>
        </p:txBody>
      </p:sp>
      <p:sp>
        <p:nvSpPr>
          <p:cNvPr id="21" name="Editor"/>
          <p:cNvSpPr/>
          <p:nvPr/>
        </p:nvSpPr>
        <p:spPr>
          <a:xfrm>
            <a:off x="6720840" y="1645920"/>
            <a:ext cx="4922215" cy="3200400"/>
          </a:xfrm>
          <a:prstGeom prst="roundRect">
            <a:avLst>
              <a:gd name="adj" fmla="val 285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Área do editor"/>
          <p:cNvSpPr/>
          <p:nvPr/>
        </p:nvSpPr>
        <p:spPr>
          <a:xfrm>
            <a:off x="6720840" y="1993392"/>
            <a:ext cx="4922215" cy="2852928"/>
          </a:xfrm>
          <a:prstGeom prst="roundRect">
            <a:avLst>
              <a:gd name="adj" fmla="val 3205"/>
            </a:avLst>
          </a:prstGeom>
          <a:solidFill>
            <a:srgbClr val="1F1F1F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9984" y="1993392"/>
            <a:ext cx="490392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4" name="Shape 21"/>
          <p:cNvSpPr/>
          <p:nvPr/>
        </p:nvSpPr>
        <p:spPr>
          <a:xfrm>
            <a:off x="6729984" y="1993392"/>
            <a:ext cx="490392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Aba ZCL_PC_SETUP"/>
          <p:cNvSpPr/>
          <p:nvPr/>
        </p:nvSpPr>
        <p:spPr>
          <a:xfrm>
            <a:off x="6812280" y="1719072"/>
            <a:ext cx="13258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812280" y="1719072"/>
            <a:ext cx="13258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7" name="Breadcrumb"/>
          <p:cNvSpPr txBox="1"/>
          <p:nvPr/>
        </p:nvSpPr>
        <p:spPr>
          <a:xfrm>
            <a:off x="6949440" y="2103120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ZCL_PC_SETUP</a:t>
            </a:r>
            <a:endParaRPr lang="en-US" sz="900" dirty="0"/>
          </a:p>
        </p:txBody>
      </p:sp>
      <p:sp>
        <p:nvSpPr>
          <p:cNvPr id="28" name="Trecho de código"/>
          <p:cNvSpPr txBox="1"/>
          <p:nvPr/>
        </p:nvSpPr>
        <p:spPr>
          <a:xfrm>
            <a:off x="6903720" y="2414016"/>
            <a:ext cx="4602175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ZCL_PC_SETUP — F9 no ADT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Intervalos 01 (pedido) e 02 (SKU) em ZPC_NR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CodeLists: gênero, categoria, status...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3. Clientes, endereços, itens e 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de demonstração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 Recalcula os indicadores de 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dos pedidos existentes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6720840" y="5074920"/>
            <a:ext cx="492221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pic>
        <p:nvPicPr>
          <p:cNvPr id="30" name="Image 0" descr="message-su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303520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406640" y="51206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Com os dados carregados, os gráficos das análises e o preview dos serviços já têm o que mostrar.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NO PREVIEW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Cenários para validar o serviço antes das apps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aprovado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VISA 4111 1111 1111 1111, validade 12/30, CVV 123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recusado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Mesmo cartão com CVV 000: pedido continua ABERTO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Estoque insuficiente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Precheck bloqueia item com disponível zerado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Concorrência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Item em edição no Estoque → ITEM_ESTOQUE_CONCORRENTE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Exclusão de cliente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Cliente com pedido não pode ser excluído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Reembolso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Cancelar pedido pago → PROCESSANDO_REEMBOLSO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publicados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serviços OData V4, BDEFs de projeção, IAM Apps, catálogos, roles e dados de demonstração.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Apps Fiori: gerar, navegar e implantar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Serviços OData</dc:title>
  <dc:subject>Pedidos de Compras no SAP BTP ABAP Environment</dc:subject>
  <dc:creator>Adriano Bispo</dc:creator>
  <cp:lastModifiedBy>Adriano Bispo</cp:lastModifiedBy>
  <cp:revision>1</cp:revision>
  <dcterms:created xsi:type="dcterms:W3CDTF">2026-10-20T02:47:48Z</dcterms:created>
  <dcterms:modified xsi:type="dcterms:W3CDTF">2026-10-20T02:47:48Z</dcterms:modified>
</cp:coreProperties>
</file>