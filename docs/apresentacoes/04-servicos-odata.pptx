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8" r:id="rId29"/>
    <p:sldId id="279" r:id="rId30"/>
    <p:sldId id="280" r:id="rId31"/>
    <p:sldId id="281" r:id="rId32"/>
    <p:sldId id="282" r:id="rId33"/>
    <p:sldId id="283" r:id="rId34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5894d5d-5fba-4b26-aa2f-fcf131ce36c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Common" id="{4fe1eb9e-66a6-6993-a846-05ef0b361e8f}">
          <p14:sldIdLst>
            <p14:sldId id="262"/>
            <p14:sldId id="263"/>
            <p14:sldId id="264"/>
            <p14:sldId id="265"/>
            <p14:sldId id="266"/>
          </p14:sldIdLst>
        </p14:section>
        <p14:section name="Clientes" id="{c814bd0e-fa12-7620-bcf1-3e991d8cfdf2}">
          <p14:sldIdLst>
            <p14:sldId id="267"/>
            <p14:sldId id="268"/>
          </p14:sldIdLst>
        </p14:section>
        <p14:section name="Estoque" id="{f9ea1334-fa0f-3ea2-f2dd-7c6e9d4d43d8}">
          <p14:sldIdLst>
            <p14:sldId id="269"/>
            <p14:sldId id="270"/>
          </p14:sldIdLst>
        </p14:section>
        <p14:section name="Pedidos" id="{3c3f6819-205d-d52d-26fd-5461aaec4d3b}">
          <p14:sldIdLst>
            <p14:sldId id="271"/>
            <p14:sldId id="272"/>
          </p14:sldIdLst>
        </p14:section>
        <p14:section name="Reembolsos" id="{371fcf37-8eac-5b0c-8ff8-48bb4333da80}">
          <p14:sldIdLst>
            <p14:sldId id="273"/>
            <p14:sldId id="274"/>
          </p14:sldIdLst>
        </p14:section>
        <p14:section name="Dados e testes" id="{f82794e7-c9b1-2bb5-2c99-7b05cffd60f1}">
          <p14:sldIdLst>
            <p14:sldId id="275"/>
            <p14:sldId id="276"/>
          </p14:sldIdLst>
        </p14:section>
        <p14:section name="Encerramento" id="{5552973f-3bd1-27e1-3ec2-9f004c991329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etapa. Primeiro o caminho comum a todos os serviços; depois um slide por serviço, BO a BO, e a cadeia de segurança que dá acesso aos usuários.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de gestão tem seu próprio serviço. A projeção e a BDEF de projeção definem o contrato; a service definition escolhe o que expor; o binding escolhe o protocolo (OData V4) e o cenário (UI); a publicação gera a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service definition expõe as projeções do BO e as value helps que os campos e filtros usam. Os aliases (Pedido, ItemPedido…) viram os entity sets do metadata e aparecem nas URLs e no manifest das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BDEF de projeção decide que parte do comportamento é exposta. Actions internas do Pedido (CancelarPorReembolso, RetomarPedido, RecalcularTotal) e as do Item (ReservarEstoque…) não aparecem aqui: só podem ser chamadas por EML de dentro do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binding liga a service definition a um protocolo e a um cenário. Todos usam OData V4 com cenário UI, o que habilita draft, side effects e as anotações de UI no metadata. Depois de ativar, o botão Publish registra o serviço e libera a URL e o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Publicar um binding no ABAP Cloud não cria só a URL: o sistema gera um serviço de entrada para comunicação, valores padrão de autorização e uma entrada de IAM. No repositório eles aparecem no pacote de reembolsos, gerados pelo binding ZUI_PC_REEMBOLSOS_O4.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ZPC_ADMIN e ZPC_PEDIDO são objetos de autorização para ABAP Cloud (classe CPAE), criados no ADT, com um único campo: ACTVT. Os behavior pools verificam a atividade de cada operação por meio de ZCL_PC_AUTH.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ABAP Cloud o acesso não é dado por transação: o serviço e os valores de autorização entram em um IAM App; o IAM App vai para um Business Catalog; catálogos compõem Business Roles; a role é atribuída ao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aba de autorizações do IAM App, ZPC_ADMIN recebe as atividades de Clientes e Estoque e ZPC_PEDIDO as de Pedidos e Reembolsos, incluindo a 16 (executar) exigida pelas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analítico fica no pacote comum e expõe só as consultas ZC_PC_*_ANALISE. Cada app de análise usa um entity set e pede ao servidor os totais com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clientes expõe o root e o filho, mais as value helps de gênero e de CEP. A BDEF de projeção expõe CRUD com draft, a importação e a ação de endereço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estoque expõe o item, as value helps de categoria e status e a value help padrão de moeda. A projeção não expõe ReservarEstoque, LiberarReserva nem BaixarEstoque: só o Pedido movimenta o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pedidos expõe o root, os quatro filhos e seis value helps. As value helps de cliente, endereço e item vêm dos outros domínios: é assim que um serviço consome dados de outro BO sem expor a projeção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reembolsos expõe a solicitação e a value help de status. A projeção não expõe create, update nem delete: a app só lista, abre e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8 a 11 da ordem de criação. A classe ZCL_PC_SETUP é executada com F9 no ADT (if_oo_adt_classrun): cria os intervalos de numeração, carrega as CodeLists e gera clientes, itens e pedidos de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preview do service binding (ou já pelas apps) dá para percorrer as regras de negócio principais. Os dados de cartão são de teste; nada além de bandeira, últimos 4 dígitos e máscara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projeção, BDEF de projeção, service definition, binding OData V4 – UI e Publish, BO a BO. Na última etapa as apps Fiori consomem estes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para quem estuda num SAP S/4HANA On-Premise. O código de autorização não muda: ZCL_PC_AUTH e os métodos get_global_authorizations são os mesmos. Muda onde os objetos são criados e como chegam ao usuário: SU21, SU24, PFCG e SU01 no SAP GUI, no lugar de IAM Apps, Business Catalogs e Business Roles. Lembre de manter c_modo_trial = abap_false.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SU21 cria a classe ZPC e os objetos ZPC_ADMIN e ZPC_PEDIDO, com o campo ACTVT restrito às atividades permitidas (a 16 é obrigatória em ZPC_PEDIDO). SU24 liga cada grupo de serviços OData V4 aos objetos. A PFCG monta as roles Z_PC_ADMIN e Z_PC_COMUM, e a SU01 atribui as roles aos usuários de teste. SU53 e STAUTHTRACE mostram o que foi negado. SU21, SU24 e as roles vão por ordem Workbench; a atribuição de usuários é feita em cada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não há serviço de entrada nem IAM App. O Publish do ADT, ou a transação /IWFND/V4_ADMIN com o alias de sistema LOCAL, registra cada binding como grupo de serviços OData V4. O acesso ao grupo é verificado pelo objeto S_START, que entra na role quando o serviço é inserido no menu da PFCG. Os valores propostos da SU24 fazem a PFCG trazer também ZPC_ADMIN ou ZPC_PEDIDO.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cadeia equivalente à do BTP: os objetos da SU21 entram na SU24 como valores propostos do grupo de serviços; na PFCG, o serviço é inserido no menu da role (gera S_START), as autorizações são ajustadas e o perfil é gerado; por fim a role é atribuída na SU01 e a comparação de usuários grava o perfil. Depois de alterar uma role, faça logoff e logon ou limpe o cache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mostra o grupo de serviços que vai ao menu da role e os valores de ACTVT de cada perfil. Z_PC_ADMIN tem os quatro serviços de gestão e o analítico (ZUI_PC_ANALITICO_O4). Z_PC_COMUM opera pedidos sem a atividade 16 e recebe ZPC_ADMIN 03 para ler clientes e itens nos value helps. Ajuste a matriz ao processo da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Crie PC_ADMIN com Z_PC_ADMIN e PC_COMUM com Z_PC_COMUM. Com PC_COMUM, Criar e Editar ficam indisponíveis em Clientes, e Efetuar Pagamento, Aprovar e Cancelar são negados em Pedidos; com PC_ADMIN tudo funciona. Sem a role, o serviço responde 403. O roteiro completo está em abap/README.md, seção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4 de 5 — Serviços OData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100" Type="http://schemas.openxmlformats.org/officeDocument/2006/relationships/image" Target="../media/cap-22-rId100.png"/><Relationship Id="rId101" Type="http://schemas.openxmlformats.org/officeDocument/2006/relationships/image" Target="../media/cap-22-rId101.png"/><Relationship Id="rId102" Type="http://schemas.openxmlformats.org/officeDocument/2006/relationships/image" Target="../media/cap-22-rId102.png"/><Relationship Id="rId103" Type="http://schemas.openxmlformats.org/officeDocument/2006/relationships/image" Target="../media/cap-22-rId103.png"/><Relationship Id="rId104" Type="http://schemas.openxmlformats.org/officeDocument/2006/relationships/image" Target="../media/cap-22-rId104.png"/><Relationship Id="rId105" Type="http://schemas.openxmlformats.org/officeDocument/2006/relationships/image" Target="../media/cap-22-rId105.png"/><Relationship Id="rId106" Type="http://schemas.openxmlformats.org/officeDocument/2006/relationships/image" Target="../media/cap-22-rId10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04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OData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Expor cada BO como serviço OData V4, publicar os bindings e liberar o acesso: IAM Apps no BTP, SU24 e PFCG no On-Premise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Serviços OData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4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passos da projeção até a URL do serviço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ource-code"/>
          <p:cNvSpPr/>
          <p:nvPr/>
        </p:nvSpPr>
        <p:spPr>
          <a:xfrm>
            <a:off x="777240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source-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1. Projeção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Etapa 2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575499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22387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workflow-tasks"/>
          <p:cNvSpPr/>
          <p:nvPr/>
        </p:nvSpPr>
        <p:spPr>
          <a:xfrm>
            <a:off x="3050987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workflow-tas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661" y="21890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50987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2. BDEF de projeção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050987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create, use action…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050987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Comportamento exposto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49246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096134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document-text"/>
          <p:cNvSpPr/>
          <p:nvPr/>
        </p:nvSpPr>
        <p:spPr>
          <a:xfrm>
            <a:off x="5324734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1" name="Image 2" descr="document-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21890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24734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3. Service definition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324734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5324734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que expor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122993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69881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chain-link"/>
          <p:cNvSpPr/>
          <p:nvPr/>
        </p:nvSpPr>
        <p:spPr>
          <a:xfrm>
            <a:off x="7598481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8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155" y="218907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98481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4. Service binding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598481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7598481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OData V4 – UI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396740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43628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upload-to-cloud"/>
          <p:cNvSpPr/>
          <p:nvPr/>
        </p:nvSpPr>
        <p:spPr>
          <a:xfrm>
            <a:off x="9872228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5" name="Image 4" descr="upload-to-clo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902" y="2189074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72228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5. Publish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872228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/sap/opu/odata4/…</a:t>
            </a:r>
            <a:endParaRPr lang="en-US" sz="1050" dirty="0"/>
          </a:p>
        </p:txBody>
      </p:sp>
      <p:sp>
        <p:nvSpPr>
          <p:cNvPr id="38" name="Text 30"/>
          <p:cNvSpPr txBox="1"/>
          <p:nvPr/>
        </p:nvSpPr>
        <p:spPr>
          <a:xfrm>
            <a:off x="9872228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9FF"/>
                </a:solidFill>
              </a:rPr>
              <a:t>Serviço ativo</a:t>
            </a:r>
            <a:endParaRPr lang="en-US" sz="1200" dirty="0"/>
          </a:p>
        </p:txBody>
      </p:sp>
      <p:sp>
        <p:nvSpPr>
          <p:cNvPr id="39" name="Cartão"/>
          <p:cNvSpPr/>
          <p:nvPr/>
        </p:nvSpPr>
        <p:spPr>
          <a:xfrm>
            <a:off x="548640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822960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4</a:t>
            </a:r>
            <a:endParaRPr lang="en-US" sz="30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serviços de gestão, um por app</a:t>
            </a:r>
            <a:endParaRPr lang="en-US" sz="1300" dirty="0"/>
          </a:p>
        </p:txBody>
      </p:sp>
      <p:sp>
        <p:nvSpPr>
          <p:cNvPr id="42" name="Cartão"/>
          <p:cNvSpPr/>
          <p:nvPr/>
        </p:nvSpPr>
        <p:spPr>
          <a:xfrm>
            <a:off x="4338218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4612538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1</a:t>
            </a:r>
            <a:endParaRPr lang="en-US" sz="3000" dirty="0"/>
          </a:p>
        </p:txBody>
      </p:sp>
      <p:sp>
        <p:nvSpPr>
          <p:cNvPr id="44" name="Text 36"/>
          <p:cNvSpPr txBox="1"/>
          <p:nvPr/>
        </p:nvSpPr>
        <p:spPr>
          <a:xfrm>
            <a:off x="4612538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 analítico para as 4 análises</a:t>
            </a:r>
            <a:endParaRPr lang="en-US" sz="1300" dirty="0"/>
          </a:p>
        </p:txBody>
      </p:sp>
      <p:sp>
        <p:nvSpPr>
          <p:cNvPr id="45" name="Cartão"/>
          <p:cNvSpPr/>
          <p:nvPr/>
        </p:nvSpPr>
        <p:spPr>
          <a:xfrm>
            <a:off x="8127797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402117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OData V4</a:t>
            </a:r>
            <a:endParaRPr lang="en-US" sz="3000" dirty="0"/>
          </a:p>
        </p:txBody>
      </p:sp>
      <p:sp>
        <p:nvSpPr>
          <p:cNvPr id="47" name="Text 39"/>
          <p:cNvSpPr txBox="1"/>
          <p:nvPr/>
        </p:nvSpPr>
        <p:spPr>
          <a:xfrm>
            <a:off x="8402117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protocolo de todos os bindings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DEFINITIONS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cinco serviços do projeto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85800"/>
                <a:gridCol w="5120640"/>
                <a:gridCol w="23618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Service definition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Entid.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Entity sets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Cliente, Endereco, GeneroVH, CepVH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Item, CategoriaVH, StatusEstoqueVH, CurrencyVH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Pedido, ItemPedido, Pagamento, 2 snapshots, 6 VHs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Reembolso, StatusReembolsoVH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PedidoAnalise, ClienteAnalise, ItemAnalise, ReembolsoAnalise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ZAVBS_PC_COMMON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E1F4FF"/>
          </a:solidFill>
          <a:ln/>
        </p:spPr>
      </p:sp>
      <p:pic>
        <p:nvPicPr>
          <p:cNvPr id="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2356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54406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Value helps também precisam ser expostas: sem isso, o Fiori Elements não monta a lista de seleção do campo. A de moeda reutiliza a view liberada I_CurrencyStdVH.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BDEF DE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Só o que tem use chega à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bdef.asbdef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8006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5989320" y="1645920"/>
            <a:ext cx="5653735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63640" y="182880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Exposto na app</a:t>
            </a:r>
            <a:endParaRPr lang="en-US" sz="1400" dirty="0"/>
          </a:p>
        </p:txBody>
      </p:sp>
      <p:sp>
        <p:nvSpPr>
          <p:cNvPr id="14" name="Status SimularPagamento"/>
          <p:cNvSpPr/>
          <p:nvPr/>
        </p:nvSpPr>
        <p:spPr>
          <a:xfrm>
            <a:off x="6263640" y="224028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SimularPagamento</a:t>
            </a:r>
            <a:endParaRPr lang="en-US" sz="1100" dirty="0"/>
          </a:p>
        </p:txBody>
      </p:sp>
      <p:sp>
        <p:nvSpPr>
          <p:cNvPr id="15" name="Status AprovarPedido"/>
          <p:cNvSpPr/>
          <p:nvPr/>
        </p:nvSpPr>
        <p:spPr>
          <a:xfrm>
            <a:off x="7824704" y="224028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AprovarPedido</a:t>
            </a:r>
            <a:endParaRPr lang="en-US" sz="1100" dirty="0"/>
          </a:p>
        </p:txBody>
      </p:sp>
      <p:sp>
        <p:nvSpPr>
          <p:cNvPr id="16" name="Status CancelarPedido"/>
          <p:cNvSpPr/>
          <p:nvPr/>
        </p:nvSpPr>
        <p:spPr>
          <a:xfrm>
            <a:off x="9168506" y="224028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CancelarPedido</a:t>
            </a:r>
            <a:endParaRPr lang="en-US" sz="1100" dirty="0"/>
          </a:p>
        </p:txBody>
      </p:sp>
      <p:sp>
        <p:nvSpPr>
          <p:cNvPr id="17" name="Status ImportarPlanilha"/>
          <p:cNvSpPr/>
          <p:nvPr/>
        </p:nvSpPr>
        <p:spPr>
          <a:xfrm>
            <a:off x="6263640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ImportarPlanilha</a:t>
            </a:r>
            <a:endParaRPr lang="en-US" sz="1100" dirty="0"/>
          </a:p>
        </p:txBody>
      </p:sp>
      <p:sp>
        <p:nvSpPr>
          <p:cNvPr id="18" name="Status draft (Edit, Activate…)"/>
          <p:cNvSpPr/>
          <p:nvPr/>
        </p:nvSpPr>
        <p:spPr>
          <a:xfrm>
            <a:off x="7824704" y="2651760"/>
            <a:ext cx="1958279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draft (Edit, Activate…)</a:t>
            </a:r>
            <a:endParaRPr lang="en-US" sz="1100" dirty="0"/>
          </a:p>
        </p:txBody>
      </p:sp>
      <p:sp>
        <p:nvSpPr>
          <p:cNvPr id="19" name="Status use side effects"/>
          <p:cNvSpPr/>
          <p:nvPr/>
        </p:nvSpPr>
        <p:spPr>
          <a:xfrm>
            <a:off x="9892711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use side effects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5989320" y="3886200"/>
            <a:ext cx="5653735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63640" y="406908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Interno (sem use)</a:t>
            </a:r>
            <a:endParaRPr lang="en-US" sz="1400" dirty="0"/>
          </a:p>
        </p:txBody>
      </p:sp>
      <p:sp>
        <p:nvSpPr>
          <p:cNvPr id="22" name="Status CancelarPorReembolso"/>
          <p:cNvSpPr/>
          <p:nvPr/>
        </p:nvSpPr>
        <p:spPr>
          <a:xfrm>
            <a:off x="6263640" y="4480560"/>
            <a:ext cx="1741018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CancelarPorReembolso</a:t>
            </a:r>
            <a:endParaRPr lang="en-US" sz="1100" dirty="0"/>
          </a:p>
        </p:txBody>
      </p:sp>
      <p:sp>
        <p:nvSpPr>
          <p:cNvPr id="23" name="Status RetomarPedido"/>
          <p:cNvSpPr/>
          <p:nvPr/>
        </p:nvSpPr>
        <p:spPr>
          <a:xfrm>
            <a:off x="8114386" y="448056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RetomarPedido</a:t>
            </a:r>
            <a:endParaRPr lang="en-US" sz="1100" dirty="0"/>
          </a:p>
        </p:txBody>
      </p:sp>
      <p:sp>
        <p:nvSpPr>
          <p:cNvPr id="24" name="Status RecalcularTotal"/>
          <p:cNvSpPr/>
          <p:nvPr/>
        </p:nvSpPr>
        <p:spPr>
          <a:xfrm>
            <a:off x="9458188" y="448056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RecalcularTotal</a:t>
            </a:r>
            <a:endParaRPr lang="en-US" sz="1100" dirty="0"/>
          </a:p>
        </p:txBody>
      </p:sp>
      <p:sp>
        <p:nvSpPr>
          <p:cNvPr id="25" name="Status ReservarEstoque"/>
          <p:cNvSpPr/>
          <p:nvPr/>
        </p:nvSpPr>
        <p:spPr>
          <a:xfrm>
            <a:off x="6263640" y="489204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ReservarEstoque</a:t>
            </a:r>
            <a:endParaRPr lang="en-US" sz="1100" dirty="0"/>
          </a:p>
        </p:txBody>
      </p:sp>
      <p:sp>
        <p:nvSpPr>
          <p:cNvPr id="26" name="Status LiberarReserva"/>
          <p:cNvSpPr/>
          <p:nvPr/>
        </p:nvSpPr>
        <p:spPr>
          <a:xfrm>
            <a:off x="7752283" y="489204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LiberarReserva</a:t>
            </a:r>
            <a:endParaRPr lang="en-US" sz="1100" dirty="0"/>
          </a:p>
        </p:txBody>
      </p:sp>
      <p:sp>
        <p:nvSpPr>
          <p:cNvPr id="27" name="Status BaixarEstoque"/>
          <p:cNvSpPr/>
          <p:nvPr/>
        </p:nvSpPr>
        <p:spPr>
          <a:xfrm>
            <a:off x="9168506" y="489204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BaixarEstoque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263640" y="5349240"/>
            <a:ext cx="5105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Reembolso: só use action AprovarReembolso e RejeitarReembolso; o create vem do Pedido.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BINDING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Bindings OData V4 – UI, publicados no ADT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858000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583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Service binding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Consumido por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As 4 apps de análise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Anatomia da URL do serviço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548640" y="5074920"/>
            <a:ext cx="6858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1937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</a:t>
            </a:r>
            <a:pPr indent="0" marL="0">
              <a:buNone/>
            </a:pPr>
            <a:r>
              <a:rPr lang="en-US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/srvd/sap/</a:t>
            </a:r>
            <a:pPr indent="0" marL="0">
              <a:buNone/>
            </a:pPr>
            <a:r>
              <a:rPr lang="en-US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/0001/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6509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■ prefixo OData V4</a:t>
            </a:r>
            <a:pPr indent="0" marL="0">
              <a:buNone/>
            </a:pPr>
            <a:r>
              <a:rPr lang="en-US" sz="1100" dirty="0">
                <a:solidFill>
                  <a:srgbClr val="0070F2"/>
                </a:solidFill>
              </a:rPr>
              <a:t>   ■ binding</a:t>
            </a:r>
            <a:pPr indent="0" marL="0">
              <a:buNone/>
            </a:pPr>
            <a:r>
              <a:rPr lang="en-US" sz="1100" dirty="0">
                <a:solidFill>
                  <a:srgbClr val="8B47D7"/>
                </a:solidFill>
              </a:rPr>
              <a:t>   ■ service definition</a:t>
            </a:r>
            <a:pPr indent="0" marL="0">
              <a:buNone/>
            </a:pPr>
            <a:r>
              <a:rPr lang="en-US" sz="1100" dirty="0">
                <a:solidFill>
                  <a:srgbClr val="C87B00"/>
                </a:solidFill>
              </a:rPr>
              <a:t>   ■ versão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7635240" y="1645920"/>
            <a:ext cx="4007815" cy="4526280"/>
          </a:xfrm>
          <a:prstGeom prst="roundRect">
            <a:avLst>
              <a:gd name="adj" fmla="val 2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upload-to-cloud"/>
          <p:cNvSpPr/>
          <p:nvPr/>
        </p:nvSpPr>
        <p:spPr>
          <a:xfrm>
            <a:off x="790956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3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1234" y="200619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641080" y="1874520"/>
            <a:ext cx="2819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Publicar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7909560" y="2651760"/>
            <a:ext cx="34591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Criar o binding sobre a service definition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Binding Type: OData V4 – UI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Ativar (Ctrl+F3)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Publish no editor do binding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Selecionar a entidade e abrir o Preview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7909560" y="4846320"/>
            <a:ext cx="3459175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2440" y="4892040"/>
            <a:ext cx="3093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O preview testa o backend isolado, mas não tem launchpad nem navegação entre apps.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PUBLICAÇÃO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o Publish cria por trás no SAP BTP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ZUI_PC_REEMBOLSOS_O4_0001_G4BA</a:t>
            </a:r>
            <a:endParaRPr lang="en-US" sz="1100" dirty="0"/>
          </a:p>
        </p:txBody>
      </p:sp>
      <p:sp>
        <p:nvSpPr>
          <p:cNvPr id="7" name="Status SCO2 · serviço de entrada"/>
          <p:cNvSpPr/>
          <p:nvPr/>
        </p:nvSpPr>
        <p:spPr>
          <a:xfrm>
            <a:off x="731520" y="2103120"/>
            <a:ext cx="185623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SCO2 · serviço de entrada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Cloud Communication Management: o serviço OData V4 como inbound service, que pode ser usado em communication scenarios.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6210148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3028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DE50EF42D566…6HT</a:t>
            </a:r>
            <a:endParaRPr lang="en-US" sz="1100" dirty="0"/>
          </a:p>
        </p:txBody>
      </p:sp>
      <p:sp>
        <p:nvSpPr>
          <p:cNvPr id="11" name="Status SUSH · valores padrão"/>
          <p:cNvSpPr/>
          <p:nvPr/>
        </p:nvSpPr>
        <p:spPr>
          <a:xfrm>
            <a:off x="6393028" y="2103120"/>
            <a:ext cx="1606052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SUSH · valores padrão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393028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Authorization default values do objeto R3TR G4BA do binding: quais autorizações o serviço pede.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548640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ZUI_PC_REEMBOLSOS_O4_0001_G4BA_IBS</a:t>
            </a:r>
            <a:endParaRPr lang="en-US" sz="1100" dirty="0"/>
          </a:p>
        </p:txBody>
      </p:sp>
      <p:sp>
        <p:nvSpPr>
          <p:cNvPr id="15" name="Status SIA6 · IAM"/>
          <p:cNvSpPr/>
          <p:nvPr/>
        </p:nvSpPr>
        <p:spPr>
          <a:xfrm>
            <a:off x="731520" y="448056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SIA6 · IAM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Entrada de Identity and Access Management do inbound service, referenciada pelos IAM Apps.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210148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3028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ZPC_IAM_*_EXT</a:t>
            </a:r>
            <a:endParaRPr lang="en-US" sz="1100" dirty="0"/>
          </a:p>
        </p:txBody>
      </p:sp>
      <p:sp>
        <p:nvSpPr>
          <p:cNvPr id="19" name="Status SIA6 · IAM App"/>
          <p:cNvSpPr/>
          <p:nvPr/>
        </p:nvSpPr>
        <p:spPr>
          <a:xfrm>
            <a:off x="6393028" y="4480560"/>
            <a:ext cx="1168237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SIA6 · IAM App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393028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Criado manualmente: junta o serviço e os valores de ZPC_ADMIN/ZPC_PEDIDO; o ADT acrescenta _EXT.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Segurança e serviço analítico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Os dois objetos de autorização, a cadeia de IAM que libera os serviços no SAP BTP e o serviço analítico compartilhado pelas quatro apps de análise.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374136"/>
          </a:xfrm>
          <a:prstGeom prst="roundRect">
            <a:avLst>
              <a:gd name="adj" fmla="val 3252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authorization object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authorization object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ZPC_IAM_*_EXT (4)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(4)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Business Catalogs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 · ZPC_BR_COMUM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Business Roles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Dois objetos de autorização, um campo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3236976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234440"/>
                <a:gridCol w="123444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(com 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do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635240" y="164592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locked"/>
          <p:cNvSpPr/>
          <p:nvPr/>
        </p:nvSpPr>
        <p:spPr>
          <a:xfrm>
            <a:off x="78638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9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79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476488" y="187452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ZPC_ADMIN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863840" y="248716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Administração de clientes e itens de estoque: só administradores mantêm cadastros.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635240" y="402336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locked"/>
          <p:cNvSpPr/>
          <p:nvPr/>
        </p:nvSpPr>
        <p:spPr>
          <a:xfrm>
            <a:off x="78638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9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76488" y="425196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ZPC_PEDIDO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863840" y="486460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Operação de pedidos e reembolsos, inclusive a atividade 16 exigida pelas actions.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IAM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 objeto de autorização ao usuário no SAP BTP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locked"/>
          <p:cNvSpPr/>
          <p:nvPr/>
        </p:nvSpPr>
        <p:spPr>
          <a:xfrm>
            <a:off x="1210026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7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645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Objetos de autorização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campo ACTVT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48067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31531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action-settings"/>
          <p:cNvSpPr/>
          <p:nvPr/>
        </p:nvSpPr>
        <p:spPr>
          <a:xfrm>
            <a:off x="3492917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action-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1652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68691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IAM App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serviço + valores ACTVT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30958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114422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775808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427" y="21652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51582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Catalog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por IAM App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13849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97313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8058699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8" name="Image 3" descr="ro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18" y="216529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34473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Role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agrupa catálogos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9396740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80204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employee"/>
          <p:cNvSpPr/>
          <p:nvPr/>
        </p:nvSpPr>
        <p:spPr>
          <a:xfrm>
            <a:off x="10341590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5" name="Image 4" descr="employ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5209" y="2165299"/>
            <a:ext cx="332842" cy="33284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17364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Usuário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atribuição da role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Maintain Business Users</a:t>
            </a:r>
            <a:endParaRPr lang="en-US" sz="1100" dirty="0"/>
          </a:p>
        </p:txBody>
      </p:sp>
      <p:sp>
        <p:nvSpPr>
          <p:cNvPr id="39" name="Cartão"/>
          <p:cNvSpPr/>
          <p:nvPr/>
        </p:nvSpPr>
        <p:spPr>
          <a:xfrm>
            <a:off x="548640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777240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Depois do deploy das apps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77240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catálogo recebe também o IAM App do tile (ZPC_*_UI5R), criado pelo deploy da etapa 5.</a:t>
            </a:r>
            <a:endParaRPr lang="en-US" sz="1200" dirty="0"/>
          </a:p>
        </p:txBody>
      </p:sp>
      <p:sp>
        <p:nvSpPr>
          <p:cNvPr id="42" name="Cartão"/>
          <p:cNvSpPr/>
          <p:nvPr/>
        </p:nvSpPr>
        <p:spPr>
          <a:xfrm>
            <a:off x="4338218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5"/>
          <p:cNvSpPr txBox="1"/>
          <p:nvPr/>
        </p:nvSpPr>
        <p:spPr>
          <a:xfrm>
            <a:off x="4566818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Roles do projeto</a:t>
            </a:r>
            <a:endParaRPr lang="en-US" sz="1350" dirty="0"/>
          </a:p>
        </p:txBody>
      </p:sp>
      <p:sp>
        <p:nvSpPr>
          <p:cNvPr id="44" name="Text 36"/>
          <p:cNvSpPr txBox="1"/>
          <p:nvPr/>
        </p:nvSpPr>
        <p:spPr>
          <a:xfrm>
            <a:off x="4566818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ZPC_BR_ADMIN: os quatro catálogos. ZPC_BR_COMUM: Pedidos e Reembolsos.</a:t>
            </a:r>
            <a:endParaRPr lang="en-US" sz="1200" dirty="0"/>
          </a:p>
        </p:txBody>
      </p:sp>
      <p:sp>
        <p:nvSpPr>
          <p:cNvPr id="45" name="Cartão"/>
          <p:cNvSpPr/>
          <p:nvPr/>
        </p:nvSpPr>
        <p:spPr>
          <a:xfrm>
            <a:off x="8127797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3B8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356397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No trial</a:t>
            </a:r>
            <a:endParaRPr lang="en-US" sz="1350" dirty="0"/>
          </a:p>
        </p:txBody>
      </p:sp>
      <p:sp>
        <p:nvSpPr>
          <p:cNvPr id="47" name="Text 39"/>
          <p:cNvSpPr txBox="1"/>
          <p:nvPr/>
        </p:nvSpPr>
        <p:spPr>
          <a:xfrm>
            <a:off x="8356397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Maintain Business Roles exige administrador: c_modo_trial = abap_true libera as operações.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IAM POR DOMÍNIO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IAM App e um catálogo para cada serviço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2606040"/>
                <a:gridCol w="2286000"/>
                <a:gridCol w="17218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IAM App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Autorização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Administração</a:t>
            </a:r>
            <a:endParaRPr lang="en-US" sz="1400" dirty="0"/>
          </a:p>
        </p:txBody>
      </p:sp>
      <p:sp>
        <p:nvSpPr>
          <p:cNvPr id="9" name="Status ZPC_BC_CLIENTES"/>
          <p:cNvSpPr/>
          <p:nvPr/>
        </p:nvSpPr>
        <p:spPr>
          <a:xfrm>
            <a:off x="777240" y="532180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ZPC_BC_CLIENTES</a:t>
            </a:r>
            <a:endParaRPr lang="en-US" sz="1000" dirty="0"/>
          </a:p>
        </p:txBody>
      </p:sp>
      <p:sp>
        <p:nvSpPr>
          <p:cNvPr id="10" name="Status ZPC_BC_ESTOQUE"/>
          <p:cNvSpPr/>
          <p:nvPr/>
        </p:nvSpPr>
        <p:spPr>
          <a:xfrm>
            <a:off x="2249424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ZPC_BC_ESTOQUE</a:t>
            </a:r>
            <a:endParaRPr lang="en-US" sz="1000" dirty="0"/>
          </a:p>
        </p:txBody>
      </p:sp>
      <p:sp>
        <p:nvSpPr>
          <p:cNvPr id="11" name="Status ZPC_BC_PEDIDOS"/>
          <p:cNvSpPr/>
          <p:nvPr/>
        </p:nvSpPr>
        <p:spPr>
          <a:xfrm>
            <a:off x="3646627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2" name="Status ZPC_BC_REEMBOLSOS"/>
          <p:cNvSpPr/>
          <p:nvPr/>
        </p:nvSpPr>
        <p:spPr>
          <a:xfrm>
            <a:off x="777240" y="5705856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233008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61608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Usuário comum</a:t>
            </a:r>
            <a:endParaRPr lang="en-US" sz="1400" dirty="0"/>
          </a:p>
        </p:txBody>
      </p:sp>
      <p:sp>
        <p:nvSpPr>
          <p:cNvPr id="15" name="Status ZPC_BC_PEDIDOS"/>
          <p:cNvSpPr/>
          <p:nvPr/>
        </p:nvSpPr>
        <p:spPr>
          <a:xfrm>
            <a:off x="6461608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6" name="Status ZPC_BC_REEMBOLSOS"/>
          <p:cNvSpPr/>
          <p:nvPr/>
        </p:nvSpPr>
        <p:spPr>
          <a:xfrm>
            <a:off x="7858811" y="5321808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SERVIÇO ANALÍTICO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ZUI_PC_ANALITICO: um serviço, quatro análises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2039112"/>
          </a:xfrm>
          <a:prstGeom prst="roundRect">
            <a:avLst>
              <a:gd name="adj" fmla="val 448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691640"/>
          </a:xfrm>
          <a:prstGeom prst="roundRect">
            <a:avLst>
              <a:gd name="adj" fmla="val 5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ANALITICO.srvd.srvdsrv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ZUI_PC_ANALITICO.srvd.srvdsrv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Análises (ALP e OVP)'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867912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40050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37083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/sap/opu/odata4/sap/zui_pc_analitico_o4/srvd/sap/zui_pc_analitico/0001/ClienteAnalise?$apply=groupby((Genero),aggregate(QtdeClientes))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5102352"/>
            <a:ext cx="566928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2395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Somente leitura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54126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BDEF: o serviço só lê. As medidas usam a agregação padrão do cubo, então o $apply pede aggregate(Medida) sem método.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Pedidos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ZC_PC_CLIENTE_ANALISE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Clientes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do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ZC_PC_REEMB_ANALISE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Reembolsos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426964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Totais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62813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PedidoAnalise?$apply=groupby((StatusPedido),aggregate(ValorTotal))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serviço da app Gestão de Clientes, com a BDEF de projeção do cliente e do endereço.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ZPC_IAM_CLIENTES_EXT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ZUI_PC_CLIENTES: cliente, endereço e duas VHs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869948"/>
          </a:xfrm>
          <a:prstGeom prst="roundRect">
            <a:avLst>
              <a:gd name="adj" fmla="val 489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522476"/>
          </a:xfrm>
          <a:prstGeom prst="roundRect">
            <a:avLst>
              <a:gd name="adj" fmla="val 6006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CLIENTES.srvd.srvdsrv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ZUI_PC_CLIENTES.srvd.srvdsrv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698748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8359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2016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/sap/opu/odata4/sap/zui_pc_clientes_o4/srvd/sap/zui_pc_clientes/0001/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933188"/>
            <a:ext cx="5669280" cy="1239012"/>
          </a:xfrm>
          <a:prstGeom prst="roundRect">
            <a:avLst>
              <a:gd name="adj" fmla="val 88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0703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72100"/>
            <a:ext cx="5212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create, update, delete, draft, ImportarPlanilha; no endereço, update, delete e DefinirEnderecoPrincipal.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ZC_PC_CLIENTE_APP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ZC_PC_ENDERECO_APP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Tabela e sub-página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ZC_PC_GENERO_VH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Lista de gênero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ZC_PC_CEP_VH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Sugestão de CEPs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209032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Rascunhos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41020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Cliente?$filter=IsActiveEntity eq false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64489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Filho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84606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Cliente(ClienteUUID=…,IsActiveEntity=true)/_Endereco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serviço da app Gestão de Estoque. As actions de movimentação ficam de fora da projeção.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ZPC_IAM_ESTOQUE_EXT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ZUI_PC_ESTOQUE: item e três value helps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869948"/>
          </a:xfrm>
          <a:prstGeom prst="roundRect">
            <a:avLst>
              <a:gd name="adj" fmla="val 489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522476"/>
          </a:xfrm>
          <a:prstGeom prst="roundRect">
            <a:avLst>
              <a:gd name="adj" fmla="val 6006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ESTOQUE.srvd.srvdsrv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ZUI_PC_ESTOQUE.srvd.srvdsrv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Estoque'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I_CurrencyStdVH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698748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8359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2016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/sap/opu/odata4/sap/zui_pc_estoque_o4/srvd/sap/zui_pc_estoque/0001/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933188"/>
            <a:ext cx="5669280" cy="1239012"/>
          </a:xfrm>
          <a:prstGeom prst="roundRect">
            <a:avLst>
              <a:gd name="adj" fmla="val 88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0703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72100"/>
            <a:ext cx="5212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create, update, delete, draft e ImportarPlanilha. Movimentos de estoque: só via EML interno.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ZC_PC_CATEGORIA_VH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Categoria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ZC_PC_STATUSEST_VH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 de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I_CurrencyStdVH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Moeda (view SAP)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209032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Itens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41020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Item?$top=5&amp;$select=Sku,Nome,QtdeDisponivel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64489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Sem estoque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84606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Item?$filter=StatusEstoque eq 'SEM_ESTOQUE'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maior serviço: cinco entidades do BO e seis value helps, três delas de outros domínios.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ZUI_PC_PEDIDOS_COMPRAS: 11 entidades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3054096"/>
          </a:xfrm>
          <a:prstGeom prst="roundRect">
            <a:avLst>
              <a:gd name="adj" fmla="val 299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2706624"/>
          </a:xfrm>
          <a:prstGeom prst="roundRect">
            <a:avLst>
              <a:gd name="adj" fmla="val 337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PEDIDOS_COMPRAS.srvd.srvdsrv"/>
          <p:cNvSpPr/>
          <p:nvPr/>
        </p:nvSpPr>
        <p:spPr>
          <a:xfrm>
            <a:off x="640080" y="1719072"/>
            <a:ext cx="29032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ZUI_PC_PEDIDOS_COMPRAS.srvd.srvdsrv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9032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ZC_PC_METODOPAG_VH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4882896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502005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38581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/sap/opu/odata4/sap/zui_pc_pedidos_compras_o4/srvd/sap/zui_pc_pedidos_compras/0001/</a:t>
            </a:r>
            <a:endParaRPr lang="en-US" sz="1000" dirty="0"/>
          </a:p>
        </p:txBody>
      </p:sp>
      <p:sp>
        <p:nvSpPr>
          <p:cNvPr id="15" name="Fundo da tabela"/>
          <p:cNvSpPr/>
          <p:nvPr/>
        </p:nvSpPr>
        <p:spPr>
          <a:xfrm>
            <a:off x="6492240" y="1645920"/>
            <a:ext cx="5150815" cy="373075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ZC_PC_ITEM_PEDIDO_APP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Itens inline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ZC_PC_PAGAMENTO_APP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Seção Pagamento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Client./ItemSnapshot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ZC_PC_PED_*_SNAP_APP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Histórico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ClienteVH · EnderecoVH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Escolha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Escolha do item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Status/MétodoVH (3)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CodeList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Filtros e diálogo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menor serviço do projeto: uma entidade, uma value help e duas ações.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ZPC_IAM_REEMBOLSOS_EXT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IAM App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..._0001_G4BA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SCO2 · SUSH · SIA6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ZUI_PC_REEMBOLSOS: decisão sem edição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531620"/>
          </a:xfrm>
          <a:prstGeom prst="roundRect">
            <a:avLst>
              <a:gd name="adj" fmla="val 597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184148"/>
          </a:xfrm>
          <a:prstGeom prst="roundRect">
            <a:avLst>
              <a:gd name="adj" fmla="val 772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REEMBOLSOS.srvd.srvdsrv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ZUI_PC_REEMBOLSOS.srvd.srvdsrv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Reembolsos'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360420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4975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8633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/sap/opu/odata4/sap/zui_pc_reembolsos_o4/srvd/sap/zui_pc_reembolsos/0001/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594860"/>
            <a:ext cx="5669280" cy="15773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47320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033772"/>
            <a:ext cx="521208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use action AprovarReembolso e RejeitarReembolso. As solicitações nascem no BO Pedido; o pedido abre por link direto (ZPCPedidoCompra-manage).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ZC_PC_REEMBOLSO_APP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ZC_PC_STATUSREEMB_VH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 de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3392424"/>
            <a:ext cx="5150815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3529584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3895344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09651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462381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Pendentes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48249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Reembolso?$filter=StatusReembolso eq 'PENDENTE'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35228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Ação (POST)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55345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Reembolso(…)/com.sap.gateway.srvd.zui_pc_reembolsos.v0001.AprovarReembolso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Publicar, configurar e carregar os dados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92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Behavior pools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21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ZBP_R_* (Global Class + Local Types) e BDEF de projeção ZC_*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3035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26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Classes de apoio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264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ZCL_PC_VE_CLIENTE, ZCL_PC_PAGAMENTO_SIM, ZCL_PC_SETUP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4069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Serviços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4407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Service definitions → service bindings → Publish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548640" y="5074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5212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Dados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5550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ZCL_PC_SETUP com F9: numeração, CodeLists e demonstração</a:t>
            </a:r>
            <a:endParaRPr lang="en-US" sz="1150" dirty="0"/>
          </a:p>
        </p:txBody>
      </p:sp>
      <p:sp>
        <p:nvSpPr>
          <p:cNvPr id="21" name="Editor"/>
          <p:cNvSpPr/>
          <p:nvPr/>
        </p:nvSpPr>
        <p:spPr>
          <a:xfrm>
            <a:off x="6720840" y="1645920"/>
            <a:ext cx="4922215" cy="3200400"/>
          </a:xfrm>
          <a:prstGeom prst="roundRect">
            <a:avLst>
              <a:gd name="adj" fmla="val 285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Área do editor"/>
          <p:cNvSpPr/>
          <p:nvPr/>
        </p:nvSpPr>
        <p:spPr>
          <a:xfrm>
            <a:off x="6720840" y="1993392"/>
            <a:ext cx="4922215" cy="2852928"/>
          </a:xfrm>
          <a:prstGeom prst="roundRect">
            <a:avLst>
              <a:gd name="adj" fmla="val 3205"/>
            </a:avLst>
          </a:prstGeom>
          <a:solidFill>
            <a:srgbClr val="1F1F1F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9984" y="1993392"/>
            <a:ext cx="490392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4" name="Shape 21"/>
          <p:cNvSpPr/>
          <p:nvPr/>
        </p:nvSpPr>
        <p:spPr>
          <a:xfrm>
            <a:off x="6729984" y="1993392"/>
            <a:ext cx="490392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Aba ZCL_PC_SETUP"/>
          <p:cNvSpPr/>
          <p:nvPr/>
        </p:nvSpPr>
        <p:spPr>
          <a:xfrm>
            <a:off x="6812280" y="1719072"/>
            <a:ext cx="13258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812280" y="1719072"/>
            <a:ext cx="13258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7" name="Breadcrumb"/>
          <p:cNvSpPr txBox="1"/>
          <p:nvPr/>
        </p:nvSpPr>
        <p:spPr>
          <a:xfrm>
            <a:off x="6949440" y="2103120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ZCL_PC_SETUP</a:t>
            </a:r>
            <a:endParaRPr lang="en-US" sz="900" dirty="0"/>
          </a:p>
        </p:txBody>
      </p:sp>
      <p:sp>
        <p:nvSpPr>
          <p:cNvPr id="28" name="Trecho de código"/>
          <p:cNvSpPr txBox="1"/>
          <p:nvPr/>
        </p:nvSpPr>
        <p:spPr>
          <a:xfrm>
            <a:off x="6903720" y="2414016"/>
            <a:ext cx="4602175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ZCL_PC_SETUP — F9 no ADT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 Intervalos 01 (pedido) e 02 (SKU) em ZPC_NR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2. CodeLists: gênero, categoria, status...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3. Clientes, endereços, itens e 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de demonstração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 Recalcula os indicadores de status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dos pedidos existentes</a:t>
            </a:r>
            <a:endParaRPr lang="en-US" sz="1100" dirty="0"/>
          </a:p>
        </p:txBody>
      </p:sp>
      <p:sp>
        <p:nvSpPr>
          <p:cNvPr id="29" name="Cartão"/>
          <p:cNvSpPr/>
          <p:nvPr/>
        </p:nvSpPr>
        <p:spPr>
          <a:xfrm>
            <a:off x="6720840" y="5074920"/>
            <a:ext cx="4922215" cy="1097280"/>
          </a:xfrm>
          <a:prstGeom prst="roundRect">
            <a:avLst>
              <a:gd name="adj" fmla="val 10000"/>
            </a:avLst>
          </a:prstGeom>
          <a:solidFill>
            <a:srgbClr val="F5FAE5"/>
          </a:solidFill>
          <a:ln/>
        </p:spPr>
      </p:sp>
      <p:pic>
        <p:nvPicPr>
          <p:cNvPr id="30" name="Image 0" descr="message-suc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5303520"/>
            <a:ext cx="365760" cy="3657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406640" y="51206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Com os dados carregados, os gráficos das análises e o preview dos serviços já têm o que mostrar.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NO PREVIEW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Cenários para validar o serviço antes das apps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ayment-approval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payment-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aprovado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VISA 4111 1111 1111 1111, validade 12/30, CVV 123: pedido vai a AGUARDANDO_APROVACAO.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tatus-negative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recusado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Mesmo cartão com CVV 000: pedido continua ABERTO e pagamento RECUSADO.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Estoque insuficiente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Precheck bloqueia item com disponível zerado ao incluir no pedido.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ynchronize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3" descr="synchroniz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Concorrência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Item em edição no Estoque e pedido salvo com ele: ITEM_ESTOQUE_CONCORRENTE.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ustomer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7" name="Image 4" descr="custo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Exclusão de cliente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com pedido não pode ser excluído (mensagem 004).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oney-bills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Reembolso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Cancelar pedido pago → PROCESSANDO_REEMBOLSO; aprovar ou rejeitar na app de Reembolsos.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4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Cinco service definitions e bindings OData V4 – UI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BDEFs de projeção expondo só o que cada app usa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Objetos ZPC_ADMIN e ZPC_PEDIDO, com a atividade 16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IAM Apps, Business Catalogs e Business Roles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SU21, SU24, roles PFCG e S_START no SAP GUI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Dados de demonstração e cenários testados no preview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Apps Fiori: gerar, navegar e implantar.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4 de 5 — Serviços OData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4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Autorização com o SAP GUI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Os mesmos ZPC_ADMIN e ZPC_PEDIDO, agora criados e atribuídos pelas transações clássicas: SU21, publicação do grupo de serviços, SU24, PFCG e SU01.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374136"/>
          </a:xfrm>
          <a:prstGeom prst="roundRect">
            <a:avLst>
              <a:gd name="adj" fmla="val 3252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 (SU21)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classe de objetos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objetos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/IWFND/V4_ADMIN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grupos de serviços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valores propostos (G4BA)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S_START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acesso ao serviço OData V4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diagnóstico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TRANSAÇÕES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transações do SAP GUI fazem o papel do IAM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3236976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950000"/>
                <a:gridCol w="1500000"/>
                <a:gridCol w="2100000"/>
                <a:gridCol w="1000000"/>
                <a:gridCol w="1216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Transação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Objetos do projeto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Ordem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No BTP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SU21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Objetos de autorização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ZPC_ADMIN · ZPC_PEDIDO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Workbench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ADT (CPAE)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SU24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Valores propostos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ZUI_PC_*_O4 (G4BA)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Workbench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IAM App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PFCG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Roles e perfis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Z_PC_ADMIN · Z_PC_COMUM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Workbench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Business Role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SU01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Usuários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PC_ADMIN · PC_COMUM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Business Users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SU53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Diagnóstico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+ STAUTHTRACE e SUIM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Auth. Trace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635240" y="164592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locked"/>
          <p:cNvSpPr/>
          <p:nvPr/>
        </p:nvSpPr>
        <p:spPr>
          <a:xfrm>
            <a:off x="78638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9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79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476488" y="187452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SU21 · classe ZPC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863840" y="248716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ZPC_ADMIN: 01, 02, 03, 06. ZPC_PEDIDO: 01, 02, 03, 06 e 16 (Executar). As mesmas atividades do BTP.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635240" y="402336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locked"/>
          <p:cNvSpPr/>
          <p:nvPr/>
        </p:nvSpPr>
        <p:spPr>
          <a:xfrm>
            <a:off x="78638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9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76488" y="425196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c_modo_trial = abap_false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863840" y="486460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On-Premise o AUTHORITY-CHECK de ZCL_PC_AUTH sempre vale: nunca transporte com abap_true.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PUBLICAÇÃO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a publicação cria no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100" dirty="0"/>
          </a:p>
        </p:txBody>
      </p:sp>
      <p:sp>
        <p:nvSpPr>
          <p:cNvPr id="7" name="Status SCO2 · serviço de entrada"/>
          <p:cNvSpPr/>
          <p:nvPr/>
        </p:nvSpPr>
        <p:spPr>
          <a:xfrm>
            <a:off x="731520" y="2103120"/>
            <a:ext cx="185623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/IWFND/V4_ADMIN · grupo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Publish no ADT ou em /IWFND/V4_ADMIN (alias LOCAL): cada binding vira um grupo de serviços OData V4.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6210148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3028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S_START</a:t>
            </a:r>
            <a:endParaRPr lang="en-US" sz="1100" dirty="0"/>
          </a:p>
        </p:txBody>
      </p:sp>
      <p:sp>
        <p:nvSpPr>
          <p:cNvPr id="11" name="Status SUSH · valores padrão"/>
          <p:cNvSpPr/>
          <p:nvPr/>
        </p:nvSpPr>
        <p:spPr>
          <a:xfrm>
            <a:off x="6393028" y="2103120"/>
            <a:ext cx="1606052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R3TR G4BA · acesso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393028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grupo de serviços é verificado pelo objeto S_START (AUTHOBJTYP = G4BA, AUTHOBJNAM = grupo).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548640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 → ZPC_*</a:t>
            </a:r>
            <a:endParaRPr lang="en-US" sz="1100" dirty="0"/>
          </a:p>
        </p:txBody>
      </p:sp>
      <p:sp>
        <p:nvSpPr>
          <p:cNvPr id="15" name="Status SIA6 · IAM"/>
          <p:cNvSpPr/>
          <p:nvPr/>
        </p:nvSpPr>
        <p:spPr>
          <a:xfrm>
            <a:off x="731520" y="448056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SU24 · valores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Liga o grupo de serviços a ZPC_ADMIN ou ZPC_PEDIDO: a PFCG traz os objetos ao inserir o serviço.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210148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3028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ZUI_PC_ANALITICO_O2</a:t>
            </a:r>
            <a:endParaRPr lang="en-US" sz="1100" dirty="0"/>
          </a:p>
        </p:txBody>
      </p:sp>
      <p:sp>
        <p:nvSpPr>
          <p:cNvPr id="19" name="Status SIA6 · IAM App"/>
          <p:cNvSpPr/>
          <p:nvPr/>
        </p:nvSpPr>
        <p:spPr>
          <a:xfrm>
            <a:off x="6393028" y="4480560"/>
            <a:ext cx="1168237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IWSG · OData V2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393028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Binding V2 opcional: registrado em /IWFND/MAINT_SERVICE e verificado por S_SERVICE, não S_START.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PFCG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 objeto de autorização ao usuário no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locked"/>
          <p:cNvSpPr/>
          <p:nvPr/>
        </p:nvSpPr>
        <p:spPr>
          <a:xfrm>
            <a:off x="1210026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7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645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Objetos (SU21)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classe ZPC · ACTVT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48067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31531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action-settings"/>
          <p:cNvSpPr/>
          <p:nvPr/>
        </p:nvSpPr>
        <p:spPr>
          <a:xfrm>
            <a:off x="3492917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action-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1652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68691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SU24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serviço + valores ACTVT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30958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114422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775808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427" y="21652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51582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Menu da role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S_START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por grupo de serviços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13849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97313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8058699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8" name="Image 3" descr="ro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18" y="216529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34473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Role (PFCG)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perfil gerado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9396740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80204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employee"/>
          <p:cNvSpPr/>
          <p:nvPr/>
        </p:nvSpPr>
        <p:spPr>
          <a:xfrm>
            <a:off x="10341590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5" name="Image 4" descr="employ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5209" y="2165299"/>
            <a:ext cx="332842" cy="33284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17364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Usuário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· PFCG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comparação de usuários</a:t>
            </a:r>
            <a:endParaRPr lang="en-US" sz="1100" dirty="0"/>
          </a:p>
        </p:txBody>
      </p:sp>
      <p:sp>
        <p:nvSpPr>
          <p:cNvPr id="39" name="Cartão"/>
          <p:cNvSpPr/>
          <p:nvPr/>
        </p:nvSpPr>
        <p:spPr>
          <a:xfrm>
            <a:off x="548640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777240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Conteúdo do launchpad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77240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menu da role recebe também o catálogo e o espaço do SAP Fiori launchpad (etapa 5).</a:t>
            </a:r>
            <a:endParaRPr lang="en-US" sz="1200" dirty="0"/>
          </a:p>
        </p:txBody>
      </p:sp>
      <p:sp>
        <p:nvSpPr>
          <p:cNvPr id="42" name="Cartão"/>
          <p:cNvSpPr/>
          <p:nvPr/>
        </p:nvSpPr>
        <p:spPr>
          <a:xfrm>
            <a:off x="4338218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5"/>
          <p:cNvSpPr txBox="1"/>
          <p:nvPr/>
        </p:nvSpPr>
        <p:spPr>
          <a:xfrm>
            <a:off x="4566818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Roles do projeto</a:t>
            </a:r>
            <a:endParaRPr lang="en-US" sz="1350" dirty="0"/>
          </a:p>
        </p:txBody>
      </p:sp>
      <p:sp>
        <p:nvSpPr>
          <p:cNvPr id="44" name="Text 36"/>
          <p:cNvSpPr txBox="1"/>
          <p:nvPr/>
        </p:nvSpPr>
        <p:spPr>
          <a:xfrm>
            <a:off x="4566818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Z_PC_ADMIN: os quatro serviços e as análises. Z_PC_COMUM: Pedidos e Reembolsos, sem a 16.</a:t>
            </a:r>
            <a:endParaRPr lang="en-US" sz="1200" dirty="0"/>
          </a:p>
        </p:txBody>
      </p:sp>
      <p:sp>
        <p:nvSpPr>
          <p:cNvPr id="45" name="Cartão"/>
          <p:cNvSpPr/>
          <p:nvPr/>
        </p:nvSpPr>
        <p:spPr>
          <a:xfrm>
            <a:off x="8127797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3B8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356397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Atenção</a:t>
            </a:r>
            <a:endParaRPr lang="en-US" sz="1350" dirty="0"/>
          </a:p>
        </p:txBody>
      </p:sp>
      <p:sp>
        <p:nvSpPr>
          <p:cNvPr id="47" name="Text 39"/>
          <p:cNvSpPr txBox="1"/>
          <p:nvPr/>
        </p:nvSpPr>
        <p:spPr>
          <a:xfrm>
            <a:off x="8356397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Sem a atividade 16 em ZPC_PEDIDO, ninguém paga, aprova, cancela ou decide reembolso.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ROLES POR DOMÍNIO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Uma role PFCG por perfil, com S_START por serviço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2606040"/>
                <a:gridCol w="2286000"/>
                <a:gridCol w="17218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Objeto (SU24)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Z_PC_ADMIN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Z_PC_COMUM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01 02 03 06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(fora do menu)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01 02 03 06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(fora do menu)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01 02 03 06 16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01 02 03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03 16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Administrador</a:t>
            </a:r>
            <a:endParaRPr lang="en-US" sz="1400" dirty="0"/>
          </a:p>
        </p:txBody>
      </p:sp>
      <p:sp>
        <p:nvSpPr>
          <p:cNvPr id="9" name="Status ZPC_BC_CLIENTES"/>
          <p:cNvSpPr/>
          <p:nvPr/>
        </p:nvSpPr>
        <p:spPr>
          <a:xfrm>
            <a:off x="777240" y="532180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ZPC_BC_ESTOQUE"/>
          <p:cNvSpPr/>
          <p:nvPr/>
        </p:nvSpPr>
        <p:spPr>
          <a:xfrm>
            <a:off x="2249424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ZPC_BC_PEDIDOS"/>
          <p:cNvSpPr/>
          <p:nvPr/>
        </p:nvSpPr>
        <p:spPr>
          <a:xfrm>
            <a:off x="3646627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ZPC_BC_REEMBOLSOS"/>
          <p:cNvSpPr/>
          <p:nvPr/>
        </p:nvSpPr>
        <p:spPr>
          <a:xfrm>
            <a:off x="777240" y="5705856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233008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61608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Usuário comum (ZPC_ADMIN 03)</a:t>
            </a:r>
            <a:endParaRPr lang="en-US" sz="1400" dirty="0"/>
          </a:p>
        </p:txBody>
      </p:sp>
      <p:sp>
        <p:nvSpPr>
          <p:cNvPr id="15" name="Status ZPC_BC_PEDIDOS"/>
          <p:cNvSpPr/>
          <p:nvPr/>
        </p:nvSpPr>
        <p:spPr>
          <a:xfrm>
            <a:off x="6461608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6" name="Status ZPC_BC_REEMBOLSOS"/>
          <p:cNvSpPr/>
          <p:nvPr/>
        </p:nvSpPr>
        <p:spPr>
          <a:xfrm>
            <a:off x="7858811" y="5321808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TESTE E DIAGNÓSTICO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com dois usuários e diagnosticar no SAP GUI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ayment-approval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payment-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App não abre: 403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Falta S_START na role: SU53 logo após o erro e incluir o serviço no menu da PFCG.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tatus-negative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Botões desabilitados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AUTHORITY-CHECK negado em ZPC_ADMIN ou ZPC_PEDIDO: STAUTHTRACE pelo usuário.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Ações negadas ao admin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Atividade 16 fora das atividades permitidas de ZPC_PEDIDO (SU21).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ynchronize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3" descr="synchroniz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Todos podem tudo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c_modo_trial ainda abap_true em ZIF_PC_CONSTANTS: corrija antes de transportar.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ustomer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7" name="Image 4" descr="custo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Role sem efeito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Perfil não gerado ou comparação de usuários não executada na PFCG.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oney-bills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Quem tem acesso?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SUIM: usuários por valores de autorização; teste com PC_ADMIN e PC_COMUM.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Serviços OData</dc:title>
  <dc:subject>Pedidos de Compras no SAP BTP ABAP Environment</dc:subject>
  <dc:creator>Adriano Bispo</dc:creator>
  <cp:lastModifiedBy>Adriano Bispo</cp:lastModifiedBy>
  <cp:revision>1</cp:revision>
  <dcterms:created xsi:type="dcterms:W3CDTF">2026-10-20T11:23:46Z</dcterms:created>
  <dcterms:modified xsi:type="dcterms:W3CDTF">2026-10-20T11:23:46Z</dcterms:modified>
</cp:coreProperties>
</file>