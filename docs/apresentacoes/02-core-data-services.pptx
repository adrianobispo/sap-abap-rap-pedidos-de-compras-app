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62283a3-f49e-44a5-252d-e1721a1df9b2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703e1378-aa8b-4e1d-026f-1d46ad8d7279}">
          <p14:sldIdLst>
            <p14:sldId id="261"/>
            <p14:sldId id="262"/>
            <p14:sldId id="263"/>
          </p14:sldIdLst>
        </p14:section>
        <p14:section name="Clientes" id="{c6ec915c-a319-ea19-85e9-1fb9bf3f5355}">
          <p14:sldIdLst>
            <p14:sldId id="264"/>
            <p14:sldId id="265"/>
            <p14:sldId id="266"/>
            <p14:sldId id="267"/>
            <p14:sldId id="268"/>
          </p14:sldIdLst>
        </p14:section>
        <p14:section name="Estoque" id="{adce605b-996d-2949-8277-0d6965331143}">
          <p14:sldIdLst>
            <p14:sldId id="269"/>
            <p14:sldId id="270"/>
            <p14:sldId id="271"/>
          </p14:sldIdLst>
        </p14:section>
        <p14:section name="Pedidos" id="{015204dc-c32e-7b9d-43b4-7f6f3d4bf59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f742af4a-7543-ee45-95f3-cf25d33793c2}">
          <p14:sldIdLst>
            <p14:sldId id="280"/>
            <p14:sldId id="281"/>
            <p14:sldId id="282"/>
          </p14:sldIdLst>
        </p14:section>
        <p14:section name="Analítico" id="{302a58a5-7d16-76e9-c5ea-a65b64d98f2f}">
          <p14:sldIdLst>
            <p14:sldId id="283"/>
            <p14:sldId id="284"/>
            <p14:sldId id="285"/>
            <p14:sldId id="286"/>
          </p14:sldIdLst>
        </p14:section>
        <p14:section name="Encerramento" id="{2046a87a-ed02-7972-5631-b174ef8f7691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etapa. Sobre as tabelas da etapa 1 construímos as CDS view entities. Depois da visão geral, cada seção percorre um BO: suas views de BO, projeções, metadata extensions, value helps e abstract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views CDS são idênticas no SAP BTP e no On-Premise: copie os fontes de abap/ sem alteração. Leia da esquerda para a direita. As views ZR_ são a única camada que lê as tabelas; tudo o que é consumido (projeções, value helps e cubos) é construído sobre elas, e cada linha termina em um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convenção de nomes segue o modelo virtual de dados (VDM) da SAP adaptado ao projeto. Em uma revisão de código, o prefixo já indica em qual camada o objeto está e quem pode consumi-lo.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código de cada BO, vale conhecer o cabeçalho padrão. As views de BO desligam a herança de anotações e não usam controle de acesso CDS (a autorização é feita no behavior); as projeções liberam extensões e busca.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BO é uma árvore com um root. O Pedido é o mais rico, com quatro filhos; o Reembolso foi separado do Pedido na v2.1 e virou root próprio, sem draft, com app dedicada.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ZR_PC_CODELIST expõe a tabela de listas. Cada value help de status filtra uma lista e esconde criticality e ordem; as views de BO associam a mesma CodeList para obter o texto e a cor de cada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estática ImportarPlanilha de Clientes, Estoque e Pedidos recebe um parâmetro deep: uma raiz abstrata com associação para a entidade do arquivo. @Semantics.largeObject transforma o campo em seletor de arquivo no diálogo do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cliente compõe os endereços e tem uma segunda associação para o mesmo filho, filtrada pelo endereço principal: é ela que alimenta cidade e UF na lista de clientes e o endereço de entrega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CPF e telefone ficam só com dígitos no banco. Para exibir formatados, a projeção declara elementos virtuais calculados em ABAP pela classe ZCL_PC_VE_CLIENTE, que também calcula a unidade (%) e a cor da barra de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 usa a foto como imagem do cabeçalho e o CPF formatado como descrição. O score aparece no header como dataPoint de progresso, colorido pelo virtual ScoreCriticality. Os endereços são uma tabela (LINEITEM_REFERENCE) da composição.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do endereço sugere CEPs já cadastrados. ZC_PC_CLIENTE_VH só oferece clientes ativos ao pedido; ZC_PC_ENDERECO_VH monta a descrição com concat e é filtrada pelo cliente; ZC_PC_CEP_VH agrega um registro por CEP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tem duas associações para a CodeList: categoria e status do estoque. A projeção traz o texto e a criticality do status, usa a value help padrão I_CurrencyStdVH para a moeda e define o SKU como chave semântica.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header mostra o status colorido; a seção Estoque agrupa quantidades. A value help ZC_PC_ITEM_VH oferece ao pedido só itens ativos, já com preço e disponível, e ZPC_A_QTDE_INPUT é o parâmetro das actions internas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pedido lê a tabela, declara as quatro composições (filhos que compartilham bloqueio e draft) e as associações para outros BOs e para os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filhos usam association to parent para voltar ao pedido. O item do pedido também associa o item de estoque; o pagamento associa a CodeList de método e status. Os snapshots não têm associações extras: são cópias autossuficientes.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a app vê e acrescenta o que é de UI: busca, textos no lugar de UUIDs, value helps e os semantic objects que permitem navegar para a app de Clientes direto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projeções filhas redirecionam a associação para o pai da projeção. O item do pedido e o snapshot de itens marcam Item e SKU com o semantic object ZPCItemEstoque; o pagamento e os snapshots são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de UI ficam no .ddlx, separadas da projeção. lineItem define as colunas, selectionField os filtros, criticality a cor do status e FOR_ACTION_GROUP agrupa as ações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Itens existem em duas versões com o mesmo título: dados vivos enquanto o pedido está ativo e snapshots depois do encerramento. A expressão hidden: #(PedidoEncerrado) só funciona sobre um campo persistido; por isso os indicadores viraram colunas xfeld.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action com parâmetro tem uma abstract entity. O Fiori Elements monta o diálogo a partir dela, inclusive com value help. Os dados do cartão só existem durante a action: a abstract entity não tem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reembolso associa o pedido, o cliente e a CodeList de status. A projeção transforma o pedido em link para a app Pedidos de Compras e o cliente/CPF em link para a Gestão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aparecem na lista e na Object Page (FOR_ACTION). O número do pedido usa WITH_INTENT_BASED_NAVIGATION: em vez do popover de links, o clique abre direto a Object Page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tem um cubo ZI_ sobre a view de BO. A agregação acontece no servidor: as apps de análise pedem groupby e aggregate e recebem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cubos derivam dimensões que não existem nas tabelas: faixa de score, mês de criação, UF do endereço principal e valor em estoque (preço × quantidade).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metadata extensions das consultas declaram cinco gráficos por domínio, cada um com qualifier, tipo, dimensão e medida, e uma presentationVariant de ordenação. Os qualifiers são os cenários das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4, 5 e 7 da ordem de criação. A view de reembolso precisa estar ativa, com sua BDEF, antes da behavior pool do Pedido, que cria reembolsos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camadas e o que cada BO ganhou nesta etapa. Na próxima etapa damos comportamento aos BOs com as behavior definitions e os behavior pools.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2 de 5 — Core Data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image-3-hint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100" Type="http://schemas.openxmlformats.org/officeDocument/2006/relationships/image" Target="../media/cap-33-rId100.png"/><Relationship Id="rId101" Type="http://schemas.openxmlformats.org/officeDocument/2006/relationships/image" Target="../media/cap-33-rId101.png"/><Relationship Id="rId102" Type="http://schemas.openxmlformats.org/officeDocument/2006/relationships/image" Target="../media/cap-33-rId102.png"/><Relationship Id="rId103" Type="http://schemas.openxmlformats.org/officeDocument/2006/relationships/image" Target="../media/cap-33-rId103.png"/><Relationship Id="rId104" Type="http://schemas.openxmlformats.org/officeDocument/2006/relationships/image" Target="../media/cap-33-rId104.png"/><Relationship Id="rId105" Type="http://schemas.openxmlformats.org/officeDocument/2006/relationships/image" Target="../media/cap-33-rId105.png"/><Relationship Id="rId106" Type="http://schemas.openxmlformats.org/officeDocument/2006/relationships/image" Target="../media/cap-33-rId10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Core Data Services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 modelo virtual sobre as tabelas: views de BO, projeções, value helps, anotações de UI e cubos, BO por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re Data Services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ARQUITETURA DE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 tabela ao serviço, em quatro camadas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103120" cy="4434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table-view"/>
          <p:cNvSpPr/>
          <p:nvPr/>
        </p:nvSpPr>
        <p:spPr>
          <a:xfrm>
            <a:off x="731520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934139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8288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ZTA_PC_*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95728"/>
            <a:ext cx="17373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Tabelas ativas da etapa 1. Só a camada ZR_ lê estas tabelas.</a:t>
            </a:r>
            <a:endParaRPr lang="en-US" sz="1150" dirty="0"/>
          </a:p>
        </p:txBody>
      </p:sp>
      <p:sp>
        <p:nvSpPr>
          <p:cNvPr id="10" name="Cartão"/>
          <p:cNvSpPr/>
          <p:nvPr/>
        </p:nvSpPr>
        <p:spPr>
          <a:xfrm>
            <a:off x="3090672" y="1645920"/>
            <a:ext cx="2286000" cy="44348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business-objects-experience"/>
          <p:cNvSpPr/>
          <p:nvPr/>
        </p:nvSpPr>
        <p:spPr>
          <a:xfrm>
            <a:off x="3273552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business-objects-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891" y="1934139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22192" y="18288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273552" y="2395728"/>
            <a:ext cx="1920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Views de BO: root, filhos por composição, associações, semântica de campos e textos das CodeLists.</a:t>
            </a:r>
            <a:endParaRPr lang="en-US" sz="1150" dirty="0"/>
          </a:p>
        </p:txBody>
      </p:sp>
      <p:sp>
        <p:nvSpPr>
          <p:cNvPr id="15" name="Cartão"/>
          <p:cNvSpPr/>
          <p:nvPr/>
        </p:nvSpPr>
        <p:spPr>
          <a:xfrm>
            <a:off x="5815584" y="164592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5998464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803" y="193413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47104" y="182880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98464" y="23957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Projeções transacionais com busca, textos e navegação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5815584" y="315468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earch"/>
          <p:cNvSpPr/>
          <p:nvPr/>
        </p:nvSpPr>
        <p:spPr>
          <a:xfrm>
            <a:off x="5998464" y="33375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803" y="3442899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7104" y="333756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98464" y="3904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Value helps de clientes, itens, CEPs e CodeLists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815584" y="466344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bar-chart"/>
          <p:cNvSpPr/>
          <p:nvPr/>
        </p:nvSpPr>
        <p:spPr>
          <a:xfrm>
            <a:off x="5998464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803" y="4951659"/>
            <a:ext cx="228234" cy="22823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47104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ZI_*_CUBE → ZC_*_ANALISE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5998464" y="5413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Cubos e consultas analíticas, só leitura</a:t>
            </a:r>
            <a:endParaRPr lang="en-US" sz="1150" dirty="0"/>
          </a:p>
        </p:txBody>
      </p:sp>
      <p:sp>
        <p:nvSpPr>
          <p:cNvPr id="30" name="Cartão"/>
          <p:cNvSpPr/>
          <p:nvPr/>
        </p:nvSpPr>
        <p:spPr>
          <a:xfrm>
            <a:off x="9272016" y="1645920"/>
            <a:ext cx="2377440" cy="2926080"/>
          </a:xfrm>
          <a:prstGeom prst="roundRect">
            <a:avLst>
              <a:gd name="adj" fmla="val 4615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9454896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5" descr="chain-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0235" y="1934139"/>
            <a:ext cx="228234" cy="22823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003536" y="18288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9454896" y="2395728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Quatro serviços de gestão: Clientes, Estoque, Pedidos e Reembolsos.</a:t>
            </a:r>
            <a:endParaRPr lang="en-US" sz="1150" dirty="0"/>
          </a:p>
        </p:txBody>
      </p:sp>
      <p:sp>
        <p:nvSpPr>
          <p:cNvPr id="35" name="Cartão"/>
          <p:cNvSpPr/>
          <p:nvPr/>
        </p:nvSpPr>
        <p:spPr>
          <a:xfrm>
            <a:off x="9272016" y="46634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3ECFB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chain-link"/>
          <p:cNvSpPr/>
          <p:nvPr/>
        </p:nvSpPr>
        <p:spPr>
          <a:xfrm>
            <a:off x="9454896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7" name="Image 6" descr="chain-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0235" y="4951659"/>
            <a:ext cx="228234" cy="22823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0003536" y="484632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9454896" y="5413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serviço para as 4 apps de análise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2651760" y="3858768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1" name="Shape 31"/>
          <p:cNvSpPr/>
          <p:nvPr/>
        </p:nvSpPr>
        <p:spPr>
          <a:xfrm>
            <a:off x="5376672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2" name="Shape 32"/>
          <p:cNvSpPr/>
          <p:nvPr/>
        </p:nvSpPr>
        <p:spPr>
          <a:xfrm>
            <a:off x="5376672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8833104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8833104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8833104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CONVENÇÕES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prefixo diz o papel de cada objeto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611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697480"/>
                <a:gridCol w="640080"/>
                <a:gridCol w="3367735"/>
              </a:tblGrid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Prefixo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Qtde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Root / filhos do BO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Base de tudo; recebe a behavior definition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Projeção transacional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O que cada app enxerga; recebe a BDEF de projeção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Listas de seleção; CodeLists com criticality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Abstract entity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Parâmetros das actions (diálogos)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ZI_PC_*_CUBE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Cubo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Medidas com agregação padrão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Consulta analítica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Exposta no serviço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60070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39496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Os prefixos são convenções deste projeto. Os pacotes usam ZAVBS, as iniciais do nome do autor, e o prefixo é opcional: no seu projeto, use os que preferir (sugestão genérica para os pacotes: ZPK, como em ZPK_PC_PEDIDOS).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ANATOMIA DE UMA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que toda view do projeto repete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 Root View'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@Metadata.ignorePropagatedAnnotations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@Semantics.user.createdBy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@Semantics.systemDateTime.localInstanceLastChangedAt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projeções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@Search.searchable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authorizationCheck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#NOT_REQUIRED: sem DCL; o acesso é controlado pelo RAP (ver tutorial DCL).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ignorePropagated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view de BO não herda anotações das tabelas: tudo é declarado explicitamente.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CamelCase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snake_case da tabela vira CamelCase da entidade (cliente_uuid → ClienteUUID).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Projeções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allowExtensions libera o .ddlx; searchable e semanticKey preparam a busca e a chave exibida.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árvores de composição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468880" cy="45262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498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38528"/>
            <a:ext cx="237744" cy="237744"/>
          </a:xfrm>
          <a:prstGeom prst="rect">
            <a:avLst/>
          </a:prstGeom>
        </p:spPr>
      </p:pic>
      <p:sp>
        <p:nvSpPr>
          <p:cNvPr id="8" name="Status draft"/>
          <p:cNvSpPr/>
          <p:nvPr/>
        </p:nvSpPr>
        <p:spPr>
          <a:xfrm>
            <a:off x="13258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9" name="Status ViaCEP"/>
          <p:cNvSpPr/>
          <p:nvPr/>
        </p:nvSpPr>
        <p:spPr>
          <a:xfrm>
            <a:off x="2053742" y="1920240"/>
            <a:ext cx="72713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ViaCEP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49808" y="2514600"/>
            <a:ext cx="206654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326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15568" y="3063240"/>
            <a:ext cx="170078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49808" y="5120640"/>
            <a:ext cx="206654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5230368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com CEP, logradouro e indicador de principal.</a:t>
            </a:r>
            <a:endParaRPr lang="en-US" sz="1150" dirty="0"/>
          </a:p>
        </p:txBody>
      </p:sp>
      <p:sp>
        <p:nvSpPr>
          <p:cNvPr id="16" name="Cartão"/>
          <p:cNvSpPr/>
          <p:nvPr/>
        </p:nvSpPr>
        <p:spPr>
          <a:xfrm>
            <a:off x="3200400" y="1645920"/>
            <a:ext cx="21945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Ícone product"/>
          <p:cNvSpPr/>
          <p:nvPr/>
        </p:nvSpPr>
        <p:spPr>
          <a:xfrm>
            <a:off x="340156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38528"/>
            <a:ext cx="237744" cy="237744"/>
          </a:xfrm>
          <a:prstGeom prst="rect">
            <a:avLst/>
          </a:prstGeom>
        </p:spPr>
      </p:pic>
      <p:sp>
        <p:nvSpPr>
          <p:cNvPr id="19" name="Status draft"/>
          <p:cNvSpPr/>
          <p:nvPr/>
        </p:nvSpPr>
        <p:spPr>
          <a:xfrm>
            <a:off x="397764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0" name="Status SKU"/>
          <p:cNvSpPr/>
          <p:nvPr/>
        </p:nvSpPr>
        <p:spPr>
          <a:xfrm>
            <a:off x="4705502" y="192024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SKU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401568" y="2514600"/>
            <a:ext cx="17922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3401568" y="30632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401568" y="5120640"/>
            <a:ext cx="17922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01568" y="5230368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Estoque, reserva e disponível na própria entidade.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5778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les-order"/>
          <p:cNvSpPr/>
          <p:nvPr/>
        </p:nvSpPr>
        <p:spPr>
          <a:xfrm>
            <a:off x="57790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38528"/>
            <a:ext cx="237744" cy="237744"/>
          </a:xfrm>
          <a:prstGeom prst="rect">
            <a:avLst/>
          </a:prstGeom>
        </p:spPr>
      </p:pic>
      <p:sp>
        <p:nvSpPr>
          <p:cNvPr id="28" name="Status draft"/>
          <p:cNvSpPr/>
          <p:nvPr/>
        </p:nvSpPr>
        <p:spPr>
          <a:xfrm>
            <a:off x="63550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9" name="Status 4 filhos"/>
          <p:cNvSpPr/>
          <p:nvPr/>
        </p:nvSpPr>
        <p:spPr>
          <a:xfrm>
            <a:off x="7082942" y="1920240"/>
            <a:ext cx="87197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4 filhos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779008" y="2514600"/>
            <a:ext cx="31638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9618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9618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44768" y="306324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961888" y="322783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961888" y="375818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144768" y="356616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961888" y="373075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61888" y="426110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144768" y="406908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961888" y="423367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5961888" y="476402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144768" y="457200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779008" y="5120640"/>
            <a:ext cx="31638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5779008" y="523036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Pagamento e snapshots só são criados por actions internas.</a:t>
            </a:r>
            <a:endParaRPr lang="en-US" sz="1150" dirty="0"/>
          </a:p>
        </p:txBody>
      </p:sp>
      <p:sp>
        <p:nvSpPr>
          <p:cNvPr id="45" name="Cartão"/>
          <p:cNvSpPr/>
          <p:nvPr/>
        </p:nvSpPr>
        <p:spPr>
          <a:xfrm>
            <a:off x="9326880" y="1645920"/>
            <a:ext cx="2313432" cy="4526280"/>
          </a:xfrm>
          <a:prstGeom prst="roundRect">
            <a:avLst>
              <a:gd name="adj" fmla="val 47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money-bills"/>
          <p:cNvSpPr/>
          <p:nvPr/>
        </p:nvSpPr>
        <p:spPr>
          <a:xfrm>
            <a:off x="952804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7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1938528"/>
            <a:ext cx="237744" cy="237744"/>
          </a:xfrm>
          <a:prstGeom prst="rect">
            <a:avLst/>
          </a:prstGeom>
        </p:spPr>
      </p:pic>
      <p:sp>
        <p:nvSpPr>
          <p:cNvPr id="48" name="Status sem draft"/>
          <p:cNvSpPr/>
          <p:nvPr/>
        </p:nvSpPr>
        <p:spPr>
          <a:xfrm>
            <a:off x="10104120" y="1920240"/>
            <a:ext cx="94439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3E00"/>
                </a:solidFill>
              </a:rPr>
              <a:t>sem draft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9528048" y="2514600"/>
            <a:ext cx="1911096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1100" dirty="0"/>
          </a:p>
        </p:txBody>
      </p:sp>
      <p:sp>
        <p:nvSpPr>
          <p:cNvPr id="50" name="Text 43"/>
          <p:cNvSpPr txBox="1"/>
          <p:nvPr/>
        </p:nvSpPr>
        <p:spPr>
          <a:xfrm>
            <a:off x="9528048" y="3063240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9528048" y="5120640"/>
            <a:ext cx="1911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9528048" y="5230368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Criado pelo Pedido via EML; decidido na app de Reembolsos.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CodeLists e parâmetros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CodeList que todas as value helps de status usam e as abstract entities do upload de planilhas, compartilhadas pelos três BOs que importam dados.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view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 (7)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helps de CodeList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Uma view de CodeList, sete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ODELIST"/>
          <p:cNvSpPr/>
          <p:nvPr/>
        </p:nvSpPr>
        <p:spPr>
          <a:xfrm>
            <a:off x="64008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ZR_PC_CODELIST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ZR_PC_CODELIST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ZC_PC_GENERO_VH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@ObjectModel.resultSet.sizeCategory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#XS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@Semantics.text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583680" y="1645920"/>
            <a:ext cx="505937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755648"/>
          <a:ext cx="47850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45920"/>
                <a:gridCol w="9902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Lista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STATUS_PEDIDO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ZC_PC_METODOPAG_VH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STATUS_REEMBOLSO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583680" y="553212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766560" y="5532120"/>
            <a:ext cx="4693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sizeCategory #XS: o Fiori mostra uma lista suspensa em vez do diálogo de busca.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Upload de planilha: um parâmetro deep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UPLOAD_INPUT.ddls.asddl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ZPC_A_UPLOAD_INPUT.ddls.asddls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_StreamProperties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PC_A_FILE_STREAM.ddls.asddls"/>
          <p:cNvSpPr/>
          <p:nvPr/>
        </p:nvSpPr>
        <p:spPr>
          <a:xfrm>
            <a:off x="626364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ZPC_A_FILE_STREAM.ddls.asddls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'MimeType'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'FileName'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StreamProperty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22960" y="4224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Como é usada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90288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BDEF: static action ImportarPlanilha deep parameter ZPC_A_UPLOAD_INPUT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Cada abstract tem uma BDEF própria (with hierarchy) que declara a associação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No behavior pool: %param-_StreamProperties-StreamProperty traz o arquivo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Views de BO, projeções com virtual elements, as metadata extensions da app Gestão de Clientes e três value helps.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VIEWS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ZR_PC_CLIENTE: composição e associação filtrada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ZR_PC_CLIENTE.ddls.asddls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'FotoMimeType'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'FotoFileName'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acceptableMimeTypes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'image/jpeg'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'image/png'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'image/webp'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composition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pertencem ao cliente: mesmo lock, ETag e draft.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Associação filtrada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_EnderecoPrincipal: o mesmo filho, só o principal (cardinalidade 0..1).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largeObject com MIME aceitos e exibição inline: vira upload e imagem no Fiori.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ZR_PC_ENDERECO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association to parent ZR_PC_CLIENTE: o outro lado da composição.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ZC_PC_CLIENTE_APP: virtual elements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4406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'ScoreUnidade'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abap.unit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583680" y="1645920"/>
            <a:ext cx="5059375" cy="3291840"/>
          </a:xfrm>
          <a:prstGeom prst="roundRect">
            <a:avLst>
              <a:gd name="adj" fmla="val 2778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583680" y="1993392"/>
            <a:ext cx="5059375" cy="2944368"/>
          </a:xfrm>
          <a:prstGeom prst="roundRect">
            <a:avLst>
              <a:gd name="adj" fmla="val 3106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VE_CLIENTE.clas.abap"/>
          <p:cNvSpPr/>
          <p:nvPr/>
        </p:nvSpPr>
        <p:spPr>
          <a:xfrm>
            <a:off x="667512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ZCL_PC_VE_CLIENTE.clas.abap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7512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766560" y="2103120"/>
            <a:ext cx="47393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if_sadl_exit_calc_element_read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lt_dados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583680" y="5120640"/>
            <a:ext cx="5059375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766560" y="516636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get_calculation_info avisa quais campos reais cada virtual precisa (Cpf, Telefone, ScoreCliente), para o SADL lê-los mesmo fora do $select.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Header com foto e barra de score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x.asddlx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@UI.headerInfo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'CpfFormatado'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'HeaderScore'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#HEADER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#DATAPOINT_REFERENCE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'Enderecos'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'_Endereco'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'Administrativo'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#PROGRESS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'ScoreCriticality'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12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clientes: foto, CPF formatado, cidade/UF do endereço principal e o botão Importar planilha.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Endereço e as três value helps de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ENDERECO_AP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ZC_PC_ENDERECO_APP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ZC_PC_ENDERECO_APP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ZC_PC_CEP_VH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800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'ZC_PC_CEP_VH'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5943600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126480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en-US" sz="1100" dirty="0"/>
          </a:p>
        </p:txBody>
      </p:sp>
      <p:sp>
        <p:nvSpPr>
          <p:cNvPr id="15" name="Status pedido"/>
          <p:cNvSpPr/>
          <p:nvPr/>
        </p:nvSpPr>
        <p:spPr>
          <a:xfrm>
            <a:off x="612648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ClienteAtivo = 'X'. Mostra CPF, nome, e-mail, cidade e UF do endereço principal.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8907628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090508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endParaRPr lang="en-US" sz="1100" dirty="0"/>
          </a:p>
        </p:txBody>
      </p:sp>
      <p:sp>
        <p:nvSpPr>
          <p:cNvPr id="19" name="Status pedido"/>
          <p:cNvSpPr/>
          <p:nvPr/>
        </p:nvSpPr>
        <p:spPr>
          <a:xfrm>
            <a:off x="9090508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090508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concat_with_space(Logradouro, Numero). Usada com additionalBinding em ClienteUUID.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5943600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126480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00" dirty="0"/>
          </a:p>
        </p:txBody>
      </p:sp>
      <p:sp>
        <p:nvSpPr>
          <p:cNvPr id="23" name="Status endereço"/>
          <p:cNvSpPr/>
          <p:nvPr/>
        </p:nvSpPr>
        <p:spPr>
          <a:xfrm>
            <a:off x="612648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endereço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126480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CEP por linha (max + group by), só validados e sem CEP geral de município.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8907628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090508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100" dirty="0"/>
          </a:p>
        </p:txBody>
      </p:sp>
      <p:sp>
        <p:nvSpPr>
          <p:cNvPr id="27" name="Status CodeList"/>
          <p:cNvSpPr/>
          <p:nvPr/>
        </p:nvSpPr>
        <p:spPr>
          <a:xfrm>
            <a:off x="909050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090508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GENERO, #XS: aparece como lista suspensa.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BO do item, a projeção da app Gestão de Estoque com status colorido, e as value helps de item, categoria e status.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ZR_PC_ITEM e ZC_PC_ITEM_APP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"/>
          <p:cNvSpPr/>
          <p:nvPr/>
        </p:nvSpPr>
        <p:spPr>
          <a:xfrm>
            <a:off x="640080" y="1719072"/>
            <a:ext cx="11887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1887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ZC_PC_ITEM_APP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'STATUS_ESTOQUE'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'StatusEstoqueTexto'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StatusEstoqueTexto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'I_CurrencyStdVH'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Duas CodeLists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e status do estoque, cada uma com sua associação filtrada.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cor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Texto e criticality vêm da CodeList; o .ddlx usa a criticality na lista e no header.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padrão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I_CurrencyStdVH é uma view liberada da SAP para moedas.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ações de estoque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Reservar, liberar e baixar não aparecem na projeção: só o Pedido movimenta.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METADATA EXTENSION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 e a value help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486400" cy="3276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178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itens com SKU, categoria, quantidades e status colorido.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355080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6537960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en-US" sz="1050" dirty="0"/>
          </a:p>
        </p:txBody>
      </p:sp>
      <p:sp>
        <p:nvSpPr>
          <p:cNvPr id="10" name="Status pedido"/>
          <p:cNvSpPr/>
          <p:nvPr/>
        </p:nvSpPr>
        <p:spPr>
          <a:xfrm>
            <a:off x="653796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ItemAtivo = 'X'. SKU, nome, categoria, preço e qtde disponível.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9113368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9296248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endParaRPr lang="en-US" sz="1050" dirty="0"/>
          </a:p>
        </p:txBody>
      </p:sp>
      <p:sp>
        <p:nvSpPr>
          <p:cNvPr id="14" name="Status CodeList"/>
          <p:cNvSpPr/>
          <p:nvPr/>
        </p:nvSpPr>
        <p:spPr>
          <a:xfrm>
            <a:off x="9296248" y="210312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9296248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CATEGORIA, usada para validar a categoria.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355080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537960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endParaRPr lang="en-US" sz="1050" dirty="0"/>
          </a:p>
        </p:txBody>
      </p:sp>
      <p:sp>
        <p:nvSpPr>
          <p:cNvPr id="18" name="Status CodeList"/>
          <p:cNvSpPr/>
          <p:nvPr/>
        </p:nvSpPr>
        <p:spPr>
          <a:xfrm>
            <a:off x="653796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537960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STATUS_ESTOQUE, para o filtro de status.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9113368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96248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endParaRPr lang="en-US" sz="1050" dirty="0"/>
          </a:p>
        </p:txBody>
      </p:sp>
      <p:sp>
        <p:nvSpPr>
          <p:cNvPr id="22" name="Status abstract"/>
          <p:cNvSpPr/>
          <p:nvPr/>
        </p:nvSpPr>
        <p:spPr>
          <a:xfrm>
            <a:off x="929624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abstract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9296248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Quantidade : abap.int4. Parâmetro de Reservar, Liberar e Baixar.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views de BO, cinco projeções, as metadata extensions da Object Page dinâmica, três value helps de CodeList e três abstract entities de ações.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 (5)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projeções + ddlx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ZC_PC_STATUSPED/PAG/METODOPAG_VH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VH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ZPC_A_PAGAMENTO/CANCELAMENTO/RETOMADA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ZR_PC_PEDIDO: o root com quatro composições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ddls.asddls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ZR_PC_PEDIDO.ddls.asddls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[0..*] e [0..1]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e snapshots de itens são N; pagamento e snapshot do cliente, no máximo um.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Outros BOs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endereço são associações: o pedido lê, mas não controla.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texto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Duas associações para a CodeList: pedido e pagamento.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Flags físicos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Os quatro xfeld vão direto para a projeção dirigir as seções.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quatro filhos de composição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_PEDIDO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ZR_PC_PAGAMENTO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'METODO_PAGAMENTO'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100" dirty="0"/>
          </a:p>
        </p:txBody>
      </p:sp>
      <p:sp>
        <p:nvSpPr>
          <p:cNvPr id="15" name="Status filho [0..*]"/>
          <p:cNvSpPr/>
          <p:nvPr/>
        </p:nvSpPr>
        <p:spPr>
          <a:xfrm>
            <a:off x="8602980" y="180136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Item, quantidade, preço congelado e total. _Item lê nome, SKU e disponível atuais.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100" dirty="0"/>
          </a:p>
        </p:txBody>
      </p:sp>
      <p:sp>
        <p:nvSpPr>
          <p:cNvPr id="19" name="Status filho [0..1]"/>
          <p:cNvSpPr/>
          <p:nvPr/>
        </p:nvSpPr>
        <p:spPr>
          <a:xfrm>
            <a:off x="8435340" y="299008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Última tentativa de pagamento, com textos de método e status.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100" dirty="0"/>
          </a:p>
        </p:txBody>
      </p:sp>
      <p:sp>
        <p:nvSpPr>
          <p:cNvPr id="23" name="Status filho [0..1]"/>
          <p:cNvSpPr/>
          <p:nvPr/>
        </p:nvSpPr>
        <p:spPr>
          <a:xfrm>
            <a:off x="8686800" y="417880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 cliente e do endereço no encerramento.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100" dirty="0"/>
          </a:p>
        </p:txBody>
      </p:sp>
      <p:sp>
        <p:nvSpPr>
          <p:cNvPr id="27" name="Status filho [0..*]"/>
          <p:cNvSpPr/>
          <p:nvPr/>
        </p:nvSpPr>
        <p:spPr>
          <a:xfrm>
            <a:off x="8770620" y="536752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dos itens vendidos no encerramento.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ZC_PC_PEDIDO_APP: o contrato com a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s.asddls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'ZC_PC_CLIENTE_VH'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'ZC_PC_ENDERECO_VH'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#FILTER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05916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181051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provider contract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093976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transactional_query: recebe a BDEF de projeção e pode ser exposta com draft.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5916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2660904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no lugar do UUID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2944368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text.element + textArrangement #TEXT_ONLY mostram o nome do cliente.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5916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3511296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validada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3794760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useForValidation recusa valores fora da lista.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5916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3616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additionalBinding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0" y="4645152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filtrados pelo cliente escolhido (#FILTER).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05916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498080" y="5212080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Navegação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495544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semanticObject 'ZPCCliente' transforma Cliente e CPF em links.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PROJEÇÕES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Projeções dos filhos: links e só leitura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ITEM_PEDIDO_APP.ddls.asddl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ZC_PC_ITEM_PEDIDO_APP.ddls.asddls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'NomeItem'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'ZC_PC_ITEM_VH'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QtdeDisponivelAtual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50" dirty="0"/>
          </a:p>
        </p:txBody>
      </p:sp>
      <p:sp>
        <p:nvSpPr>
          <p:cNvPr id="14" name="Status editável no rascunho"/>
          <p:cNvSpPr/>
          <p:nvPr/>
        </p:nvSpPr>
        <p:spPr>
          <a:xfrm>
            <a:off x="8858250" y="1801368"/>
            <a:ext cx="1543507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editável no rascunho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Criado inline na tabela de itens; link para Gestão de Estoque.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endParaRPr lang="en-US" sz="1050" dirty="0"/>
          </a:p>
        </p:txBody>
      </p:sp>
      <p:sp>
        <p:nvSpPr>
          <p:cNvPr id="18" name="Status somente leitura"/>
          <p:cNvSpPr/>
          <p:nvPr/>
        </p:nvSpPr>
        <p:spPr>
          <a:xfrm>
            <a:off x="8698230" y="299008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Método e status com texto e criticality; cartão mascarado.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endParaRPr lang="en-US" sz="1050" dirty="0"/>
          </a:p>
        </p:txBody>
      </p:sp>
      <p:sp>
        <p:nvSpPr>
          <p:cNvPr id="22" name="Status somente leitura"/>
          <p:cNvSpPr/>
          <p:nvPr/>
        </p:nvSpPr>
        <p:spPr>
          <a:xfrm>
            <a:off x="8938260" y="417880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CPF com semantic object ZPCCliente.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endParaRPr lang="en-US" sz="1050" dirty="0"/>
          </a:p>
        </p:txBody>
      </p:sp>
      <p:sp>
        <p:nvSpPr>
          <p:cNvPr id="26" name="Status somente leitura"/>
          <p:cNvSpPr/>
          <p:nvPr/>
        </p:nvSpPr>
        <p:spPr>
          <a:xfrm>
            <a:off x="9018270" y="536752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SKU com semantic object ZPCItemEstoque.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@UI desenham a List Report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do 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'Ações'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'SimularPagamento'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 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916168" y="5303520"/>
            <a:ext cx="5724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Resultado: List Report da app Pedidos de Compras, com filtros, status coloridos e menu de 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hidden: #(campo) torna a página dinâmica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'DadosClienteSnap'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'_ClienteSnapshot'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PedidoAtivoSemHistorico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PedidoNaoCancelado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Status #(Campo) aceito"/>
          <p:cNvSpPr/>
          <p:nvPr/>
        </p:nvSpPr>
        <p:spPr>
          <a:xfrm>
            <a:off x="5916168" y="5349240"/>
            <a:ext cx="1428293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#(Campo) aceito</a:t>
            </a:r>
            <a:endParaRPr lang="en-US" sz="1150" dirty="0"/>
          </a:p>
        </p:txBody>
      </p:sp>
      <p:sp>
        <p:nvSpPr>
          <p:cNvPr id="15" name="Status &amp;apos;Campo&amp;apos; rejeitado"/>
          <p:cNvSpPr/>
          <p:nvPr/>
        </p:nvSpPr>
        <p:spPr>
          <a:xfrm>
            <a:off x="7454189" y="5349240"/>
            <a:ext cx="1579717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'Campo' rejeitado</a:t>
            </a:r>
            <a:endParaRPr lang="en-US" sz="1150" dirty="0"/>
          </a:p>
        </p:txBody>
      </p:sp>
      <p:sp>
        <p:nvSpPr>
          <p:cNvPr id="16" name="Status [0..1] vira formulário"/>
          <p:cNvSpPr/>
          <p:nvPr/>
        </p:nvSpPr>
        <p:spPr>
          <a:xfrm>
            <a:off x="9143634" y="5349240"/>
            <a:ext cx="195827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[0..1] vira formulário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916168" y="580644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 finalizado: seções de cliente e itens lidas dos snapshots.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diálogos das ações do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PAGAMENT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'ZC_PC_METODOPAG_VH'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'Codigo'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ZPC_A_RETOMADA_INPUT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583680" y="164592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66560" y="178308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en-US" sz="1150" dirty="0"/>
          </a:p>
        </p:txBody>
      </p:sp>
      <p:sp>
        <p:nvSpPr>
          <p:cNvPr id="15" name="Status Efetuar Pagamento"/>
          <p:cNvSpPr/>
          <p:nvPr/>
        </p:nvSpPr>
        <p:spPr>
          <a:xfrm>
            <a:off x="6766560" y="2103120"/>
            <a:ext cx="135587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Efetuar Pagamento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42316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Método com value help, número, validade MM/AA e CVV.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6583680" y="323088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66560" y="336804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150" dirty="0"/>
          </a:p>
        </p:txBody>
      </p:sp>
      <p:sp>
        <p:nvSpPr>
          <p:cNvPr id="19" name="Status Cancelar"/>
          <p:cNvSpPr/>
          <p:nvPr/>
        </p:nvSpPr>
        <p:spPr>
          <a:xfrm>
            <a:off x="6766560" y="368808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Cancelar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00812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Motivo obrigatório; com pagamento aprovado abre reembolso.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583680" y="481584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766560" y="495300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1150" dirty="0"/>
          </a:p>
        </p:txBody>
      </p:sp>
      <p:sp>
        <p:nvSpPr>
          <p:cNvPr id="23" name="Status interna"/>
          <p:cNvSpPr/>
          <p:nvPr/>
        </p:nvSpPr>
        <p:spPr>
          <a:xfrm>
            <a:off x="6766560" y="5273040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interna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59308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Chamada pelo Reembolso ao rejeitar: devolve o status anterior.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root sem filhos, uma projeção com dois semantic objects e a abstract entity da decisão.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ZR_PC_REEMBOLSO e ZC_PC_REEMBOLSO_APP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ZR_PC_REEMBOLSO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'STATUS_REEMBOLSO'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'ZPCPedidoCompra'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@Consumption.semanticObjectMapping.additionalBinding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'CpfCliente'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composição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Root sem filhos e sem draft: a solicitação não é editada, só decidida.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Dois links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ZPCPedidoCompra no pedido e ZPCCliente no cliente e CPF.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semanticObjectMapping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CpfCliente é enviado como Cpf, a chave semântica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Busca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como chave semântica e campo de busca.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Botões de decisão e link direto ao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REEMBOLSO_APP.ddlx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ZC_PC_REEMBOLSO_APP.ddlx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ZC_PC_REEMBOLSO_APP.ddlx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ZPC_A_REEMB_DECISAO_INPUT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0749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#WITH_INTENT_BASED_NAVIGATION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'manage'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'StatusReembolsoCriticality'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4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Gestão de Reembolsos: status colorido pela CodeList e as ações de decisão.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ANALÍTICO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Camada analítica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cubo e uma consulta por domínio, todos somente leitura, publicados juntos no serviço ZUI_PC_ANALITICO.</a:t>
            </a:r>
            <a:endParaRPr lang="en-US" sz="1800" dirty="0"/>
          </a:p>
        </p:txBody>
      </p:sp>
      <p:sp>
        <p:nvSpPr>
          <p:cNvPr id="7" name="Ícone bar-char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bar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ZI_PC_CLIENTE_CUBE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ZI_PC_ITEM_CUBE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ZI_PC_REEMB_CUBE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ZC_PC_*_ANALISE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consultas + ddlx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Cubos com agregação padrão, prontos para $apply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_PC_PEDIDO_CUBE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ZI_PC_PEDIDO_CUBE.ddls.asddls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@Analytics.dataCategory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@ObjectModel.modelingPattern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@ObjectModel.supportedCapabilities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'StatusPedidoTexto'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@Semantics.calendar.yearMonth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#AVG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#CUBE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analítica: dimensões e medidas.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#SUM e #AVG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Agregação padrão de cada medida; a média vira o ticket médio.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Contagem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cast( 1 as abap.int4 ) somado = quantidade de pedidos.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Dimensões derivadas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UF do endereço principal e mês de criação (AAAAMM).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Medidas e dimensões dos quatro cubos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396209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Dimensões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Medidas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pedido, status do pagamento, UF,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ValorTotal (SUM), ValorMedio (AVG), QtdePedidos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gênero, ativo, UF, faixa de score (BAIXO &lt;40, MEDIO ≤70, ALTO),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QtdeClientes (SUM), ScoreMedio (AVG)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categoria, status do estoque, ativo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QtdeEstoque, QtdeReservada, QtdeDisponivel, ValorEstoque, QtdeItens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reembolso, motivo, UF, mês da solicitação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ValorReembolso (SUM), QtdeReembolsos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Cada consulta ZC_PC_*_ANALISE seleciona do cubo, repete as agregações e acrescenta busca e semantic objects.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CONSULTA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Consultas com gráficos declarados em UI.Chart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NALISE.ddlx.asddlx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ZC_PC_PEDIDO_ANALISE.ddlx.asddlxs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'ValorPorStatus'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#DONUT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@UI.presentationVariant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sortOrder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#AS_CHART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6876288" y="1645920"/>
            <a:ext cx="4766767" cy="2949435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Painel da 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19072"/>
            <a:ext cx="4620463" cy="280313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76288" y="4705083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mesmos cenários renderizados pela app de análise de reembolsos.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ativação e armadilhas desta etapa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6692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2002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CDS base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ZR_PC_CODELIST e value helps de CodeList → ZR_PC_CLIENTE + ZR_PC_ENDERECO (juntas) → ZR_PC_ITEM → views do pedido e ZR_PC_REEMBOLSO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297180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Abstract entities e value helps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3355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ZPC_A_* e ZC_PC_*_VH, inclusive ZC_PC_CEP_VH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410565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Projeções e metadata extensions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3159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ZC_*_APP ativadas por BO, junto com os .ddlx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48640" y="4892040"/>
            <a:ext cx="5669280" cy="1280160"/>
          </a:xfrm>
          <a:prstGeom prst="roundRect">
            <a:avLst>
              <a:gd name="adj" fmla="val 8571"/>
            </a:avLst>
          </a:prstGeom>
          <a:solidFill>
            <a:srgbClr val="E1F4FF"/>
          </a:solidFill>
          <a:ln/>
        </p:spPr>
      </p:sp>
      <p:pic>
        <p:nvPicPr>
          <p:cNvPr id="1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50292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Cliente e Endereço se referenciam (composição e associação de volta ao pai): ative as duas views juntas, selecionando ambas no ADT.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6492240" y="164592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tatus-negative"/>
          <p:cNvSpPr/>
          <p:nvPr/>
        </p:nvSpPr>
        <p:spPr>
          <a:xfrm>
            <a:off x="672084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8424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0920" y="184708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hidden com CASE/CAST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360920" y="221284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annotation hidden não aceita expressão calculada: use um campo persistido (xfeld).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492240" y="320040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message-warning"/>
          <p:cNvSpPr/>
          <p:nvPr/>
        </p:nvSpPr>
        <p:spPr>
          <a:xfrm>
            <a:off x="67208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7" name="Image 2" descr="message-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538728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60920" y="340156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Composição [0..1] como tabela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360920" y="376732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Fiori Elements V4 só monta tabela para cardinalidade N: use IDENTIFICATION_REFERENCE.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492240" y="475488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essage-information"/>
          <p:cNvSpPr/>
          <p:nvPr/>
        </p:nvSpPr>
        <p:spPr>
          <a:xfrm>
            <a:off x="6720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2" name="Image 3" descr="message-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09320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60920" y="495604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UUID aparecendo na tela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532180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Combine text.element com textArrangement: #TEXT_ONLY para mostrar só o nome.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views de BO ZR_PC_* com composições e associações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Nove projeções ZC_PC_*_APP com busca, textos e navegação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Treze metadata extensions: a UI anotada no backend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Onze value helps de clientes, itens, CEPs e CodeLists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Sete abstract entities para parâmetros de actions e upload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cubos e consultas analíticas, iguais no BTP e On-Premise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Comportamento RAP: draft, regras e ações.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2 de 5 — Core Data Services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Core Data Services</dc:title>
  <dc:subject>Pedidos de Compras no SAP BTP ABAP Environment</dc:subject>
  <dc:creator>Adriano Bispo</dc:creator>
  <cp:lastModifiedBy>Adriano Bispo</cp:lastModifiedBy>
  <cp:revision>1</cp:revision>
  <dcterms:created xsi:type="dcterms:W3CDTF">2026-10-20T11:13:53Z</dcterms:created>
  <dcterms:modified xsi:type="dcterms:W3CDTF">2026-10-20T11:13:53Z</dcterms:modified>
</cp:coreProperties>
</file>