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62283a3-f49e-44a5-252d-e1721a1df9b2}">
          <p14:sldIdLst>
            <p14:sldId id="256"/>
            <p14:sldId id="257"/>
            <p14:sldId id="258"/>
            <p14:sldId id="259"/>
            <p14:sldId id="260"/>
          </p14:sldIdLst>
        </p14:section>
        <p14:section name="Common" id="{703e1378-aa8b-4e1d-026f-1d46ad8d7279}">
          <p14:sldIdLst>
            <p14:sldId id="261"/>
            <p14:sldId id="262"/>
            <p14:sldId id="263"/>
          </p14:sldIdLst>
        </p14:section>
        <p14:section name="Clientes" id="{c6ec915c-a319-ea19-85e9-1fb9bf3f5355}">
          <p14:sldIdLst>
            <p14:sldId id="264"/>
            <p14:sldId id="265"/>
            <p14:sldId id="266"/>
            <p14:sldId id="267"/>
            <p14:sldId id="268"/>
          </p14:sldIdLst>
        </p14:section>
        <p14:section name="Estoque" id="{adce605b-996d-2949-8277-0d6965331143}">
          <p14:sldIdLst>
            <p14:sldId id="269"/>
            <p14:sldId id="270"/>
            <p14:sldId id="271"/>
          </p14:sldIdLst>
        </p14:section>
        <p14:section name="Pedidos" id="{015204dc-c32e-7b9d-43b4-7f6f3d4bf59d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Reembolsos" id="{f742af4a-7543-ee45-95f3-cf25d33793c2}">
          <p14:sldIdLst>
            <p14:sldId id="280"/>
            <p14:sldId id="281"/>
            <p14:sldId id="282"/>
          </p14:sldIdLst>
        </p14:section>
        <p14:section name="Analítico" id="{302a58a5-7d16-76e9-c5ea-a65b64d98f2f}">
          <p14:sldIdLst>
            <p14:sldId id="283"/>
            <p14:sldId id="284"/>
            <p14:sldId id="285"/>
            <p14:sldId id="286"/>
          </p14:sldIdLst>
        </p14:section>
        <p14:section name="Encerramento" id="{2046a87a-ed02-7972-5631-b174ef8f7691}">
          <p14:sldIdLst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etapa. Sobre as tabelas da etapa 1 construímos as CDS view entities. Depois da visão geral, cada seção percorre um BO: suas views de BO, projeções, metadata extensions, value helps e abstract entities.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views CDS são idênticas no SAP BTP e no On-Premise: copie os fontes de abap/ sem alteração. Leia da esquerda para a direita. As views ZR_ são a única camada que lê as tabelas; tudo o que é consumido (projeções, value helps e cubos) é construído sobre elas, e cada linha termina em um serviço.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convenção de nomes segue o modelo virtual de dados (VDM) da SAP adaptado ao projeto. Em uma revisão de código, o prefixo já indica em qual camada o objeto está e quem pode consumi-lo.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 código de cada BO, vale conhecer o cabeçalho padrão. As views de BO desligam a herança de anotações e não usam controle de acesso CDS (a autorização é feita no behavior); as projeções liberam extensões e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BO é uma árvore com um root. O Pedido é o mais rico, com quatro filhos; o Reembolso foi separado do Pedido na v2.1 e virou root próprio, sem draft, com app dedicada.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ZR_PC_CODELIST expõe a tabela de listas. Cada value help de status filtra uma lista e esconde criticality e ordem; as views de BO associam a mesma CodeList para obter o texto e a cor de cada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action estática ImportarPlanilha de Clientes, Estoque e Pedidos recebe um parâmetro deep: uma raiz abstrata com associação para a entidade do arquivo. @Semantics.largeObject transforma o campo em seletor de arquivo no diálogo do Fiori.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root do cliente compõe os endereços e tem uma segunda associação para o mesmo filho, filtrada pelo endereço principal: é ela que alimenta cidade e UF na lista de clientes e o endereço de entrega do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CPF e telefone ficam só com dígitos no banco. Para exibir formatados, a projeção declara elementos virtuais calculados em ABAP pela classe ZCL_PC_VE_CLIENTE, que também calcula a unidade (%) e a cor da barra de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headerInfo usa a foto como imagem do cabeçalho e o CPF formatado como descrição. O score aparece no header como dataPoint de progresso, colorido pelo virtual ScoreCriticality. Os endereços são uma tabela (LINEITEM_REFERENCE) da composição.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projeção do endereço sugere CEPs já cadastrados. ZC_PC_CLIENTE_VH só oferece clientes ativos ao pedido; ZC_PC_ENDERECO_VH monta a descrição com concat e é filtrada pelo cliente; ZC_PC_CEP_VH agrega um registro por CEP validado.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item tem duas associações para a CodeList: categoria e status do estoque. A projeção traz o texto e a criticality do status, usa a value help padrão I_CurrencyStdVH para a moeda e define o SKU como chave semântica.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header mostra o status colorido; a seção Estoque agrupa quantidades. A value help ZC_PC_ITEM_VH oferece ao pedido só itens ativos, já com preço e disponível, e ZPC_A_QTDE_INPUT é o parâmetro das actions internas de estoque.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root do pedido lê a tabela, declara as quatro composições (filhos que compartilham bloqueio e draft) e as associações para outros BOs e para os textos das CodeLists.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filhos usam association to parent para voltar ao pedido. O item do pedido também associa o item de estoque; o pagamento associa a CodeList de método e status. Os snapshots não têm associações extras: são cópias autossuficientes.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projeção escolhe o que a app vê e acrescenta o que é de UI: busca, textos no lugar de UUIDs, value helps e os semantic objects que permitem navegar para a app de Clientes direto do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projeções filhas redirecionam a associação para o pai da projeção. O item do pedido e o snapshot de itens marcam Item e SKU com o semantic object ZPCItemEstoque; o pagamento e os snapshots são somente leitura.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anotações de UI ficam no .ddlx, separadas da projeção. lineItem define as colunas, selectionField os filtros, criticality a cor do status e FOR_ACTION_GROUP agrupa as ações no menu 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Cliente e Itens existem em duas versões com o mesmo título: dados vivos enquanto o pedido está ativo e snapshots depois do encerramento. A expressão hidden: #(PedidoEncerrado) só funciona sobre um campo persistido; por isso os indicadores viraram colunas xfeld.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action com parâmetro tem uma abstract entity. O Fiori Elements monta o diálogo a partir dela, inclusive com value help. Os dados do cartão só existem durante a action: a abstract entity não tem tabela.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reembolso associa o pedido, o cliente e a CodeList de status. A projeção transforma o pedido em link para a app Pedidos de Compras e o cliente/CPF em link para a Gestão de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Aprovar e Rejeitar aparecem na lista e na Object Page (FOR_ACTION). O número do pedido usa WITH_INTENT_BASED_NAVIGATION: em vez do popover de links, o clique abre direto a Object Page do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domínio tem um cubo ZI_ sobre a view de BO. A agregação acontece no servidor: as apps de análise pedem groupby e aggregate e recebem só os totais.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cubos derivam dimensões que não existem nas tabelas: faixa de score, mês de criação, UF do endereço principal e valor em estoque (preço × quantidade).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metadata extensions das consultas declaram cinco gráficos por domínio, cada um com qualifier, tipo, dimensão e medida, e uma presentationVariant de ordenação. Os qualifiers são os cenários das apps de análise.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Passos 4, 5 e 7 da ordem de criação. A view de reembolso precisa estar ativa, com sua BDEF, antes da behavior pool do Pedido, que cria reembolsos via EML.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Recapitule as camadas e o que cada BO ganhou nesta etapa. Na próxima etapa damos comportamento aos BOs com as behavior definitions e os behavior pools.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2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7772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76809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71323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2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Pedidos de Compras · SAP RAP no BTP e On-Premise  ·  Etapa 2 de 5 — Core Data Services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2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A9B4B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2 DE 5 · SAP RAP NO BTP OU ON-PREMISE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7680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Core Data Services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 modelo virtual sobre as tabelas: views de BO, projeções, value helps, anotações de UI e cubos, BO por BO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5266944"/>
            <a:ext cx="10131552" cy="0"/>
          </a:xfrm>
          <a:prstGeom prst="line">
            <a:avLst/>
          </a:prstGeom>
          <a:noFill/>
          <a:ln w="25400">
            <a:solidFill>
              <a:srgbClr val="3A4654"/>
            </a:solidFill>
            <a:prstDash val="solid"/>
          </a:ln>
        </p:spPr>
      </p:sp>
      <p:sp>
        <p:nvSpPr>
          <p:cNvPr id="8" name="Etapa 1"/>
          <p:cNvSpPr/>
          <p:nvPr/>
        </p:nvSpPr>
        <p:spPr>
          <a:xfrm>
            <a:off x="731520" y="5074920"/>
            <a:ext cx="384048" cy="384048"/>
          </a:xfrm>
          <a:prstGeom prst="ellipse">
            <a:avLst/>
          </a:prstGeom>
          <a:solidFill>
            <a:srgbClr val="1F4F86"/>
          </a:solidFill>
          <a:ln w="19050">
            <a:solidFill>
              <a:srgbClr val="1F4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2024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Modelagem de dados</a:t>
            </a:r>
            <a:endParaRPr lang="en-US" sz="1100" dirty="0"/>
          </a:p>
        </p:txBody>
      </p:sp>
      <p:sp>
        <p:nvSpPr>
          <p:cNvPr id="10" name="Etapa 2"/>
          <p:cNvSpPr/>
          <p:nvPr/>
        </p:nvSpPr>
        <p:spPr>
          <a:xfrm>
            <a:off x="3264408" y="5074920"/>
            <a:ext cx="384048" cy="384048"/>
          </a:xfrm>
          <a:prstGeom prst="ellipse">
            <a:avLst/>
          </a:prstGeom>
          <a:solidFill>
            <a:srgbClr val="0070F2"/>
          </a:solidFill>
          <a:ln w="19050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Data Services</a:t>
            </a:r>
            <a:endParaRPr lang="en-US" sz="1100" dirty="0"/>
          </a:p>
        </p:txBody>
      </p:sp>
      <p:sp>
        <p:nvSpPr>
          <p:cNvPr id="12" name="Etapa 3"/>
          <p:cNvSpPr/>
          <p:nvPr/>
        </p:nvSpPr>
        <p:spPr>
          <a:xfrm>
            <a:off x="5797296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Comportamento RAP</a:t>
            </a:r>
            <a:endParaRPr lang="en-US" sz="1100" dirty="0"/>
          </a:p>
        </p:txBody>
      </p:sp>
      <p:sp>
        <p:nvSpPr>
          <p:cNvPr id="14" name="Etapa 4"/>
          <p:cNvSpPr/>
          <p:nvPr/>
        </p:nvSpPr>
        <p:spPr>
          <a:xfrm>
            <a:off x="8330184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Serviços OData</a:t>
            </a:r>
            <a:endParaRPr lang="en-US" sz="1100" dirty="0"/>
          </a:p>
        </p:txBody>
      </p:sp>
      <p:sp>
        <p:nvSpPr>
          <p:cNvPr id="16" name="Etapa 5"/>
          <p:cNvSpPr/>
          <p:nvPr/>
        </p:nvSpPr>
        <p:spPr>
          <a:xfrm>
            <a:off x="10863072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323576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Apps Fiori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ARQUITETURA DE CAMADAS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 tabela ao serviço, em quatro camadas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2103120" cy="44348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table-view"/>
          <p:cNvSpPr/>
          <p:nvPr/>
        </p:nvSpPr>
        <p:spPr>
          <a:xfrm>
            <a:off x="731520" y="182880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7" name="Image 0" descr="table-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859" y="1934139"/>
            <a:ext cx="228234" cy="22823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182880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ZTA_PC_*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395728"/>
            <a:ext cx="1737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Tabelas ativas da etapa 1. Só a camada ZR_ lê estas tabelas.</a:t>
            </a:r>
            <a:endParaRPr lang="en-US" sz="1150" dirty="0"/>
          </a:p>
        </p:txBody>
      </p:sp>
      <p:sp>
        <p:nvSpPr>
          <p:cNvPr id="10" name="Cartão"/>
          <p:cNvSpPr/>
          <p:nvPr/>
        </p:nvSpPr>
        <p:spPr>
          <a:xfrm>
            <a:off x="3090672" y="1645920"/>
            <a:ext cx="2286000" cy="44348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0070F2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1" name="Ícone business-objects-experience"/>
          <p:cNvSpPr/>
          <p:nvPr/>
        </p:nvSpPr>
        <p:spPr>
          <a:xfrm>
            <a:off x="3273552" y="182880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12" name="Image 1" descr="business-objects-experie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891" y="1934139"/>
            <a:ext cx="228234" cy="22823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22192" y="18288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ZR_PC_*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3273552" y="2395728"/>
            <a:ext cx="1920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Views de BO: root, filhos por composição, associações, semântica de campos e textos das CodeLists.</a:t>
            </a:r>
            <a:endParaRPr lang="en-US" sz="1150" dirty="0"/>
          </a:p>
        </p:txBody>
      </p:sp>
      <p:sp>
        <p:nvSpPr>
          <p:cNvPr id="15" name="Cartão"/>
          <p:cNvSpPr/>
          <p:nvPr/>
        </p:nvSpPr>
        <p:spPr>
          <a:xfrm>
            <a:off x="5815584" y="1645920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Ícone source-code"/>
          <p:cNvSpPr/>
          <p:nvPr/>
        </p:nvSpPr>
        <p:spPr>
          <a:xfrm>
            <a:off x="5998464" y="182880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17" name="Image 2" descr="source-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803" y="1934139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547104" y="182880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ZC_PC_*_APP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5998464" y="23957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Projeções transacionais com busca, textos e navegação</a:t>
            </a:r>
            <a:endParaRPr lang="en-US" sz="1150" dirty="0"/>
          </a:p>
        </p:txBody>
      </p:sp>
      <p:sp>
        <p:nvSpPr>
          <p:cNvPr id="20" name="Cartão"/>
          <p:cNvSpPr/>
          <p:nvPr/>
        </p:nvSpPr>
        <p:spPr>
          <a:xfrm>
            <a:off x="5815584" y="3154680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Ícone search"/>
          <p:cNvSpPr/>
          <p:nvPr/>
        </p:nvSpPr>
        <p:spPr>
          <a:xfrm>
            <a:off x="5998464" y="333756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22" name="Image 3" descr="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803" y="3442899"/>
            <a:ext cx="228234" cy="22823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547104" y="333756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ZC_PC_*_VH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998464" y="39044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Value helps de clientes, itens, CEPs e CodeLists</a:t>
            </a:r>
            <a:endParaRPr lang="en-US" sz="1150" dirty="0"/>
          </a:p>
        </p:txBody>
      </p:sp>
      <p:sp>
        <p:nvSpPr>
          <p:cNvPr id="25" name="Cartão"/>
          <p:cNvSpPr/>
          <p:nvPr/>
        </p:nvSpPr>
        <p:spPr>
          <a:xfrm>
            <a:off x="5815584" y="4663440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Ícone bar-chart"/>
          <p:cNvSpPr/>
          <p:nvPr/>
        </p:nvSpPr>
        <p:spPr>
          <a:xfrm>
            <a:off x="5998464" y="484632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27" name="Image 4" descr="bar-cha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3803" y="4951659"/>
            <a:ext cx="228234" cy="22823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547104" y="48463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ZI_*_CUBE → ZC_*_ANALISE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5998464" y="54132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Cubos e consultas analíticas, só leitura</a:t>
            </a:r>
            <a:endParaRPr lang="en-US" sz="1150" dirty="0"/>
          </a:p>
        </p:txBody>
      </p:sp>
      <p:sp>
        <p:nvSpPr>
          <p:cNvPr id="30" name="Cartão"/>
          <p:cNvSpPr/>
          <p:nvPr/>
        </p:nvSpPr>
        <p:spPr>
          <a:xfrm>
            <a:off x="9272016" y="1645920"/>
            <a:ext cx="2377440" cy="2926080"/>
          </a:xfrm>
          <a:prstGeom prst="roundRect">
            <a:avLst>
              <a:gd name="adj" fmla="val 4615"/>
            </a:avLst>
          </a:prstGeom>
          <a:solidFill>
            <a:srgbClr val="E1F4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1" name="Ícone chain-link"/>
          <p:cNvSpPr/>
          <p:nvPr/>
        </p:nvSpPr>
        <p:spPr>
          <a:xfrm>
            <a:off x="9454896" y="182880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32" name="Image 5" descr="chain-lin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0235" y="1934139"/>
            <a:ext cx="228234" cy="22823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003536" y="18288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ZUI_PC_*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9454896" y="2395728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Quatro serviços de gestão: Clientes, Estoque, Pedidos e Reembolsos.</a:t>
            </a:r>
            <a:endParaRPr lang="en-US" sz="1150" dirty="0"/>
          </a:p>
        </p:txBody>
      </p:sp>
      <p:sp>
        <p:nvSpPr>
          <p:cNvPr id="35" name="Cartão"/>
          <p:cNvSpPr/>
          <p:nvPr/>
        </p:nvSpPr>
        <p:spPr>
          <a:xfrm>
            <a:off x="9272016" y="4663440"/>
            <a:ext cx="2377440" cy="1417320"/>
          </a:xfrm>
          <a:prstGeom prst="roundRect">
            <a:avLst>
              <a:gd name="adj" fmla="val 7742"/>
            </a:avLst>
          </a:prstGeom>
          <a:solidFill>
            <a:srgbClr val="F3ECFB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6" name="Ícone chain-link"/>
          <p:cNvSpPr/>
          <p:nvPr/>
        </p:nvSpPr>
        <p:spPr>
          <a:xfrm>
            <a:off x="9454896" y="484632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37" name="Image 6" descr="chain-lin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0235" y="4951659"/>
            <a:ext cx="228234" cy="228234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10003536" y="484632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ZUI_PC_ANALITICO</a:t>
            </a:r>
            <a:endParaRPr lang="en-US" sz="1100" dirty="0"/>
          </a:p>
        </p:txBody>
      </p:sp>
      <p:sp>
        <p:nvSpPr>
          <p:cNvPr id="39" name="Text 29"/>
          <p:cNvSpPr txBox="1"/>
          <p:nvPr/>
        </p:nvSpPr>
        <p:spPr>
          <a:xfrm>
            <a:off x="9454896" y="54132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Um serviço para as 4 apps de análise</a:t>
            </a:r>
            <a:endParaRPr lang="en-US" sz="1150" dirty="0"/>
          </a:p>
        </p:txBody>
      </p:sp>
      <p:sp>
        <p:nvSpPr>
          <p:cNvPr id="40" name="Shape 30"/>
          <p:cNvSpPr/>
          <p:nvPr/>
        </p:nvSpPr>
        <p:spPr>
          <a:xfrm>
            <a:off x="2651760" y="3858768"/>
            <a:ext cx="438912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41" name="Shape 31"/>
          <p:cNvSpPr/>
          <p:nvPr/>
        </p:nvSpPr>
        <p:spPr>
          <a:xfrm>
            <a:off x="5376672" y="2354580"/>
            <a:ext cx="438912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42" name="Shape 32"/>
          <p:cNvSpPr/>
          <p:nvPr/>
        </p:nvSpPr>
        <p:spPr>
          <a:xfrm>
            <a:off x="5376672" y="3863340"/>
            <a:ext cx="438912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43" name="Shape 33"/>
          <p:cNvSpPr/>
          <p:nvPr/>
        </p:nvSpPr>
        <p:spPr>
          <a:xfrm>
            <a:off x="5376672" y="5372100"/>
            <a:ext cx="438912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44" name="Shape 34"/>
          <p:cNvSpPr/>
          <p:nvPr/>
        </p:nvSpPr>
        <p:spPr>
          <a:xfrm>
            <a:off x="8833104" y="2354580"/>
            <a:ext cx="438912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45" name="Shape 35"/>
          <p:cNvSpPr/>
          <p:nvPr/>
        </p:nvSpPr>
        <p:spPr>
          <a:xfrm>
            <a:off x="8833104" y="3863340"/>
            <a:ext cx="438912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46" name="Shape 36"/>
          <p:cNvSpPr/>
          <p:nvPr/>
        </p:nvSpPr>
        <p:spPr>
          <a:xfrm>
            <a:off x="8833104" y="5372100"/>
            <a:ext cx="438912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CONVENÇÕES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Um prefixo diz o papel de cada objeto</a:t>
            </a:r>
            <a:endParaRPr lang="en-US" sz="3000" dirty="0"/>
          </a:p>
        </p:txBody>
      </p:sp>
      <p:sp>
        <p:nvSpPr>
          <p:cNvPr id="5" name="Fundo da tabela"/>
          <p:cNvSpPr/>
          <p:nvPr/>
        </p:nvSpPr>
        <p:spPr>
          <a:xfrm>
            <a:off x="548640" y="1645920"/>
            <a:ext cx="11094415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55648"/>
          <a:ext cx="108200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2697480"/>
                <a:gridCol w="640080"/>
                <a:gridCol w="336773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D3E"/>
                          </a:solidFill>
                        </a:rPr>
                        <a:t>Prefixo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D3E"/>
                          </a:solidFill>
                        </a:rPr>
                        <a:t>Tipo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D3E"/>
                          </a:solidFill>
                        </a:rPr>
                        <a:t>Exemplo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D3E"/>
                          </a:solidFill>
                        </a:rPr>
                        <a:t>Qtde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D3E"/>
                          </a:solidFill>
                        </a:rPr>
                        <a:t>Papel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ZR_PC_*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Root / filhos do BO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ZR_PC_PEDIDO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10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Base de tudo; recebe a behavior definition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ZC_PC_*_APP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Projeção transacional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ZC_PC_PEDIDO_APP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9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O que cada app enxerga; recebe a BDEF de projeção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ZC_PC_*_VH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Value help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ZC_PC_STATUSPED_VH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11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Listas de seleção; CodeLists com criticality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ZPC_A_*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Abstract entity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ZPC_A_PAGAMENTO_INPUT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7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Parâmetros das actions (diálogos)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ZI_PC_*_CUBE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Cubo analítico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ZI_PC_PEDIDO_CUBE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Medidas com agregação padrão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ZC_PC_*_ANALISE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Consulta analítica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ZC_PC_PEDIDO_ANALISE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Exposta no serviço analítico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*.ddlx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Metadata extension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ZC_PC_PEDIDO_APP.ddlx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13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</a:rPr>
                        <a:t>Anotações de UI separadas da view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ANATOMIA DE UMA 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Anotações que toda view do projeto repete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630936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630936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629107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629107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R_PC_CLIENTE.ddls.asddls"/>
          <p:cNvSpPr/>
          <p:nvPr/>
        </p:nvSpPr>
        <p:spPr>
          <a:xfrm>
            <a:off x="640080" y="1719072"/>
            <a:ext cx="22174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ZR_PC_CLIENTE.ddls.asddls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2174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5989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@AccessControl.authorizationCheck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#NOT_REQUIRED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'Pedidos de Compras - Cliente Root View'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@Metadata.ignorePropagatedAnnotations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ZR_PC_CLIENTE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zta_pc_cliente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@Semantics.user.createdBy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CreatedBy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@Semantics.systemDateTime.localInstanceLastChangedAt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local_last_changed_at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LocalLastChangedAt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@Metadata.allowExtensions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projeções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@Search.searchable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@ObjectModel.semanticKey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'Cpf'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</p:txBody>
      </p:sp>
      <p:sp>
        <p:nvSpPr>
          <p:cNvPr id="12" name="Cartão"/>
          <p:cNvSpPr/>
          <p:nvPr/>
        </p:nvSpPr>
        <p:spPr>
          <a:xfrm>
            <a:off x="7132320" y="1645920"/>
            <a:ext cx="4510735" cy="4526280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33488" y="18288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1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181051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authorizationCheck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209397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#NOT_REQUIRED: sem DCL; o acesso é controlado pelo RAP (ver tutorial DCL).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33488" y="289179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2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287350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ignorePropagated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315696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A view de BO não herda anotações das tabelas: tudo é declarado explicitamente.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3348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3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0" y="393649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Nomes CamelCase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421995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snake_case da tabela vira CamelCase da entidade (cliente_uuid → ClienteUUID).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33488" y="5017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4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0" y="499948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Projeções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528294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allowExtensions libera o .ddlx; searchable e semanticKey preparam a busca e a chave exibida.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BUSINESS OBJECTS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Quatro árvores de composição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2468880" cy="45262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customer"/>
          <p:cNvSpPr/>
          <p:nvPr/>
        </p:nvSpPr>
        <p:spPr>
          <a:xfrm>
            <a:off x="749808" y="1828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7" name="Image 0" descr="custom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38528"/>
            <a:ext cx="237744" cy="237744"/>
          </a:xfrm>
          <a:prstGeom prst="rect">
            <a:avLst/>
          </a:prstGeom>
        </p:spPr>
      </p:pic>
      <p:sp>
        <p:nvSpPr>
          <p:cNvPr id="8" name="Status draft"/>
          <p:cNvSpPr/>
          <p:nvPr/>
        </p:nvSpPr>
        <p:spPr>
          <a:xfrm>
            <a:off x="1325880" y="1920240"/>
            <a:ext cx="65471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draft</a:t>
            </a:r>
            <a:endParaRPr lang="en-US" sz="1100" dirty="0"/>
          </a:p>
        </p:txBody>
      </p:sp>
      <p:sp>
        <p:nvSpPr>
          <p:cNvPr id="9" name="Status ViaCEP"/>
          <p:cNvSpPr/>
          <p:nvPr/>
        </p:nvSpPr>
        <p:spPr>
          <a:xfrm>
            <a:off x="2053742" y="1920240"/>
            <a:ext cx="727131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ViaCEP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49808" y="2514600"/>
            <a:ext cx="2066544" cy="384048"/>
          </a:xfrm>
          <a:prstGeom prst="roundRect">
            <a:avLst>
              <a:gd name="adj" fmla="val 19048"/>
            </a:avLst>
          </a:prstGeom>
          <a:solidFill>
            <a:srgbClr val="E1F4FF"/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ZR_PC_CLIENTE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32688" y="2898648"/>
            <a:ext cx="0" cy="356616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32688" y="3255264"/>
            <a:ext cx="182880" cy="0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15568" y="3063240"/>
            <a:ext cx="170078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ZR_PC_ENDERECO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49808" y="5120640"/>
            <a:ext cx="2066544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9808" y="5230368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Endereço com CEP, logradouro e indicador de principal.</a:t>
            </a:r>
            <a:endParaRPr lang="en-US" sz="1150" dirty="0"/>
          </a:p>
        </p:txBody>
      </p:sp>
      <p:sp>
        <p:nvSpPr>
          <p:cNvPr id="16" name="Cartão"/>
          <p:cNvSpPr/>
          <p:nvPr/>
        </p:nvSpPr>
        <p:spPr>
          <a:xfrm>
            <a:off x="3200400" y="1645920"/>
            <a:ext cx="21945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7" name="Ícone product"/>
          <p:cNvSpPr/>
          <p:nvPr/>
        </p:nvSpPr>
        <p:spPr>
          <a:xfrm>
            <a:off x="3401568" y="1828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18" name="Image 1" descr="produ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938528"/>
            <a:ext cx="237744" cy="237744"/>
          </a:xfrm>
          <a:prstGeom prst="rect">
            <a:avLst/>
          </a:prstGeom>
        </p:spPr>
      </p:pic>
      <p:sp>
        <p:nvSpPr>
          <p:cNvPr id="19" name="Status draft"/>
          <p:cNvSpPr/>
          <p:nvPr/>
        </p:nvSpPr>
        <p:spPr>
          <a:xfrm>
            <a:off x="3977640" y="1920240"/>
            <a:ext cx="65471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draft</a:t>
            </a:r>
            <a:endParaRPr lang="en-US" sz="1100" dirty="0"/>
          </a:p>
        </p:txBody>
      </p:sp>
      <p:sp>
        <p:nvSpPr>
          <p:cNvPr id="20" name="Status SKU"/>
          <p:cNvSpPr/>
          <p:nvPr/>
        </p:nvSpPr>
        <p:spPr>
          <a:xfrm>
            <a:off x="4705502" y="192024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SKU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401568" y="2514600"/>
            <a:ext cx="1792224" cy="384048"/>
          </a:xfrm>
          <a:prstGeom prst="roundRect">
            <a:avLst>
              <a:gd name="adj" fmla="val 19048"/>
            </a:avLst>
          </a:prstGeom>
          <a:solidFill>
            <a:srgbClr val="E1F4FF"/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3401568" y="30632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6B82"/>
                </a:solidFill>
              </a:rPr>
              <a:t>sem filhos de composição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401568" y="5120640"/>
            <a:ext cx="1792224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401568" y="5230368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Estoque, reserva e disponível na própria entidade.</a:t>
            </a:r>
            <a:endParaRPr lang="en-US" sz="1150" dirty="0"/>
          </a:p>
        </p:txBody>
      </p:sp>
      <p:sp>
        <p:nvSpPr>
          <p:cNvPr id="25" name="Cartão"/>
          <p:cNvSpPr/>
          <p:nvPr/>
        </p:nvSpPr>
        <p:spPr>
          <a:xfrm>
            <a:off x="5577840" y="164592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Ícone sales-order"/>
          <p:cNvSpPr/>
          <p:nvPr/>
        </p:nvSpPr>
        <p:spPr>
          <a:xfrm>
            <a:off x="5779008" y="1828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27" name="Image 2" descr="sales-or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1938528"/>
            <a:ext cx="237744" cy="237744"/>
          </a:xfrm>
          <a:prstGeom prst="rect">
            <a:avLst/>
          </a:prstGeom>
        </p:spPr>
      </p:pic>
      <p:sp>
        <p:nvSpPr>
          <p:cNvPr id="28" name="Status draft"/>
          <p:cNvSpPr/>
          <p:nvPr/>
        </p:nvSpPr>
        <p:spPr>
          <a:xfrm>
            <a:off x="6355080" y="1920240"/>
            <a:ext cx="65471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draft</a:t>
            </a:r>
            <a:endParaRPr lang="en-US" sz="1100" dirty="0"/>
          </a:p>
        </p:txBody>
      </p:sp>
      <p:sp>
        <p:nvSpPr>
          <p:cNvPr id="29" name="Status 4 filhos"/>
          <p:cNvSpPr/>
          <p:nvPr/>
        </p:nvSpPr>
        <p:spPr>
          <a:xfrm>
            <a:off x="7082942" y="1920240"/>
            <a:ext cx="871972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4 filhos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779008" y="2514600"/>
            <a:ext cx="3163824" cy="384048"/>
          </a:xfrm>
          <a:prstGeom prst="roundRect">
            <a:avLst>
              <a:gd name="adj" fmla="val 19048"/>
            </a:avLst>
          </a:prstGeom>
          <a:solidFill>
            <a:srgbClr val="E1F4FF"/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961888" y="2898648"/>
            <a:ext cx="0" cy="356616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961888" y="3255264"/>
            <a:ext cx="182880" cy="0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144768" y="3063240"/>
            <a:ext cx="279806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ZR_PC_ITEM_PEDIDO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5961888" y="3227832"/>
            <a:ext cx="0" cy="530352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961888" y="3758184"/>
            <a:ext cx="182880" cy="0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144768" y="3566160"/>
            <a:ext cx="279806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ZR_PC_PAGAMENTO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5961888" y="3730752"/>
            <a:ext cx="0" cy="530352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961888" y="4261104"/>
            <a:ext cx="182880" cy="0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144768" y="4069080"/>
            <a:ext cx="279806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ZR_PC_PED_CLI_SNAP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5961888" y="4233672"/>
            <a:ext cx="0" cy="530352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5961888" y="4764024"/>
            <a:ext cx="182880" cy="0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144768" y="4572000"/>
            <a:ext cx="279806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ZR_PC_PED_ITEM_SNAP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5779008" y="5120640"/>
            <a:ext cx="3163824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5779008" y="523036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Pagamento e snapshots só são criados por actions internas.</a:t>
            </a:r>
            <a:endParaRPr lang="en-US" sz="1150" dirty="0"/>
          </a:p>
        </p:txBody>
      </p:sp>
      <p:sp>
        <p:nvSpPr>
          <p:cNvPr id="45" name="Cartão"/>
          <p:cNvSpPr/>
          <p:nvPr/>
        </p:nvSpPr>
        <p:spPr>
          <a:xfrm>
            <a:off x="9326880" y="1645920"/>
            <a:ext cx="2313432" cy="4526280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46" name="Ícone money-bills"/>
          <p:cNvSpPr/>
          <p:nvPr/>
        </p:nvSpPr>
        <p:spPr>
          <a:xfrm>
            <a:off x="9528048" y="1828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47" name="Image 3" descr="money-bil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76" y="1938528"/>
            <a:ext cx="237744" cy="237744"/>
          </a:xfrm>
          <a:prstGeom prst="rect">
            <a:avLst/>
          </a:prstGeom>
        </p:spPr>
      </p:pic>
      <p:sp>
        <p:nvSpPr>
          <p:cNvPr id="48" name="Status sem draft"/>
          <p:cNvSpPr/>
          <p:nvPr/>
        </p:nvSpPr>
        <p:spPr>
          <a:xfrm>
            <a:off x="10104120" y="1920240"/>
            <a:ext cx="944392" cy="274320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3E00"/>
                </a:solidFill>
              </a:rPr>
              <a:t>sem draft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9528048" y="2514600"/>
            <a:ext cx="1911096" cy="384048"/>
          </a:xfrm>
          <a:prstGeom prst="roundRect">
            <a:avLst>
              <a:gd name="adj" fmla="val 19048"/>
            </a:avLst>
          </a:prstGeom>
          <a:solidFill>
            <a:srgbClr val="E1F4FF"/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ZR_PC_REEMBOLSO</a:t>
            </a:r>
            <a:endParaRPr lang="en-US" sz="1100" dirty="0"/>
          </a:p>
        </p:txBody>
      </p:sp>
      <p:sp>
        <p:nvSpPr>
          <p:cNvPr id="50" name="Text 43"/>
          <p:cNvSpPr txBox="1"/>
          <p:nvPr/>
        </p:nvSpPr>
        <p:spPr>
          <a:xfrm>
            <a:off x="9528048" y="306324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6B82"/>
                </a:solidFill>
              </a:rPr>
              <a:t>sem filhos de composição</a:t>
            </a:r>
            <a:endParaRPr lang="en-US" sz="1100" dirty="0"/>
          </a:p>
        </p:txBody>
      </p:sp>
      <p:sp>
        <p:nvSpPr>
          <p:cNvPr id="51" name="Shape 44"/>
          <p:cNvSpPr/>
          <p:nvPr/>
        </p:nvSpPr>
        <p:spPr>
          <a:xfrm>
            <a:off x="9528048" y="5120640"/>
            <a:ext cx="191109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9528048" y="5230368"/>
            <a:ext cx="1911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Criado pelo Pedido via EML; decidido na app de Reembolsos.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2 · COMMON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Common: CodeLists e parâmetros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view de CodeList que todas as value helps de status usam e as abstract entities do upload de planilhas, compartilhadas pelos três BOs que importam dados.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settings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2221992"/>
          </a:xfrm>
          <a:prstGeom prst="roundRect">
            <a:avLst>
              <a:gd name="adj" fmla="val 4938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ZR_PC_CODELIST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view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ZC_PC_*_VH (7)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value helps de CodeList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ZPC_A_UPLOAD_INPUT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abstract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ZPC_A_FILE_STREAM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abstract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COMMON · CODELIST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Uma view de CodeList, sete value helps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76072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76072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74243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74243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R_PC_CODELIST"/>
          <p:cNvSpPr/>
          <p:nvPr/>
        </p:nvSpPr>
        <p:spPr>
          <a:xfrm>
            <a:off x="640080" y="1719072"/>
            <a:ext cx="146304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ZR_PC_CODELIST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46304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ZR_PC_CODELIST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ZC_PC_GENERO_VH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44068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ZR_PC_CODELIST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zta_pc_codelist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descricao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Descricao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Ordem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@ObjectModel.resultSet.sizeCategory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#XS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ZC_PC_GENERO_VH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ZR_PC_CODELIST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@ObjectModel.text.element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'Descricao'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@UI.textArrangement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#TEXT_ONLY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@Semantics.text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Descricao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@UI.hidden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'GENERO'</a:t>
            </a:r>
            <a:endParaRPr lang="en-US" sz="1000" dirty="0"/>
          </a:p>
        </p:txBody>
      </p:sp>
      <p:sp>
        <p:nvSpPr>
          <p:cNvPr id="13" name="Fundo da tabela"/>
          <p:cNvSpPr/>
          <p:nvPr/>
        </p:nvSpPr>
        <p:spPr>
          <a:xfrm>
            <a:off x="6583680" y="1645920"/>
            <a:ext cx="5059375" cy="3877056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755648"/>
          <a:ext cx="4785055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645920"/>
                <a:gridCol w="9902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Value help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Lista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Pacote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ZC_PC_GENERO_VH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Clientes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ZC_PC_CATEGORIA_VH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CATEGORIA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Estoque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ZC_PC_STATUSEST_VH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STATUS_ESTOQUE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Estoque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ZC_PC_STATUSPED_VH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STATUS_PEDIDO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Pedidos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ZC_PC_STATUSPAG_VH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STATUS_PAGAMENTO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Pedidos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ZC_PC_METODOPAG_VH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METODO_PAGAMENTO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Pedidos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ZC_PC_STATUSREEMB_VH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STATUS_REEMBOLSO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Reembolsos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Cartão"/>
          <p:cNvSpPr/>
          <p:nvPr/>
        </p:nvSpPr>
        <p:spPr>
          <a:xfrm>
            <a:off x="6583680" y="5532120"/>
            <a:ext cx="5059375" cy="640080"/>
          </a:xfrm>
          <a:prstGeom prst="roundRect">
            <a:avLst>
              <a:gd name="adj" fmla="val 17143"/>
            </a:avLst>
          </a:prstGeom>
          <a:solidFill>
            <a:srgbClr val="E1F4F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766560" y="5532120"/>
            <a:ext cx="4693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D3E"/>
                </a:solidFill>
              </a:rPr>
              <a:t>sizeCategory #XS: o Fiori mostra uma lista suspensa em vez do diálogo de busca.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COMMON · ABSTRACT ENTITIES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Upload de planilha: um parâmetro deep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394960" cy="1847088"/>
          </a:xfrm>
          <a:prstGeom prst="roundRect">
            <a:avLst>
              <a:gd name="adj" fmla="val 4950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37667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37667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PC_A_UPLOAD_INPUT.ddls.asddls"/>
          <p:cNvSpPr/>
          <p:nvPr/>
        </p:nvSpPr>
        <p:spPr>
          <a:xfrm>
            <a:off x="640080" y="1719072"/>
            <a:ext cx="25603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ZPC_A_UPLOAD_INPUT.ddls.asddls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5603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5074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ZPC_A_UPLOAD_INPUT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@UI.hidden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Dummy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abap_boolean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_StreamProperties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ZPC_A_FILE_STREAM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Editor"/>
          <p:cNvSpPr/>
          <p:nvPr/>
        </p:nvSpPr>
        <p:spPr>
          <a:xfrm>
            <a:off x="6172200" y="1645920"/>
            <a:ext cx="5470855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Área do editor"/>
          <p:cNvSpPr/>
          <p:nvPr/>
        </p:nvSpPr>
        <p:spPr>
          <a:xfrm>
            <a:off x="6172200" y="1993392"/>
            <a:ext cx="5470855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14" name="Shape 11"/>
          <p:cNvSpPr/>
          <p:nvPr/>
        </p:nvSpPr>
        <p:spPr>
          <a:xfrm>
            <a:off x="6181344" y="1993392"/>
            <a:ext cx="5452567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5" name="Shape 12"/>
          <p:cNvSpPr/>
          <p:nvPr/>
        </p:nvSpPr>
        <p:spPr>
          <a:xfrm>
            <a:off x="6181344" y="1993392"/>
            <a:ext cx="5452567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6" name="Aba ZPC_A_FILE_STREAM.ddls.asddls"/>
          <p:cNvSpPr/>
          <p:nvPr/>
        </p:nvSpPr>
        <p:spPr>
          <a:xfrm>
            <a:off x="6263640" y="1719072"/>
            <a:ext cx="249174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ZPC_A_FILE_STREAM.ddls.asddls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63640" y="1719072"/>
            <a:ext cx="249174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8" name="Trecho de código"/>
          <p:cNvSpPr txBox="1"/>
          <p:nvPr/>
        </p:nvSpPr>
        <p:spPr>
          <a:xfrm>
            <a:off x="6355080" y="2103120"/>
            <a:ext cx="515081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ZPC_A_FILE_STREAM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@Semantics.largeObject.mimeType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'MimeType'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@Semantics.largeObject.fileName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'FileName'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@Semantics.largeObject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contentDispositionPreference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#INLINE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StreamProperty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abap.rawstring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@UI.hidden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MimeType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@UI.hidden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9" name="Cartão"/>
          <p:cNvSpPr/>
          <p:nvPr/>
        </p:nvSpPr>
        <p:spPr>
          <a:xfrm>
            <a:off x="548640" y="406908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22960" y="4224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Como é usada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590288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BDEF: static action ImportarPlanilha deep parameter ZPC_A_UPLOAD_INPUT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Cada abstract tem uma BDEF própria (with hierarchy) que declara a associação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No behavior pool: %param-_StreamProperties-StreamProperty traz o arquivo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2 · CLIENTES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Clientes e endereços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Views de BO, projeções com virtual elements, as metadata extensions da app Gestão de Clientes e três value helps.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customer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custom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3758184"/>
          </a:xfrm>
          <a:prstGeom prst="roundRect">
            <a:avLst>
              <a:gd name="adj" fmla="val 3015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ZR_PC_CLIENTE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root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ZR_PC_ENDERECO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filho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ZC_PC_CLIENTE_APP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projeção + ddlx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ZC_PC_ENDERECO_APP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projeção + ddlx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41071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ZC_PC_CLIENTE_VH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value help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379476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ZC_PC_ENDERECO_VH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value help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417880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ZC_PC_CEP_VH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value help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456285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ZC_PC_GENERO_VH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value help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CLIENTES · VIEWS DE BO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ZR_PC_CLIENTE: composição e associação filtrada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630936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630936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629107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629107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R_PC_CLIENTE.ddls.asddls"/>
          <p:cNvSpPr/>
          <p:nvPr/>
        </p:nvSpPr>
        <p:spPr>
          <a:xfrm>
            <a:off x="640080" y="1719072"/>
            <a:ext cx="22174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ZR_PC_CLIENTE.ddls.asddls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2174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ZAVBS_PC_CLIENTES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ZR_PC_CLIENTE.ddls.asddls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98932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ZR_PC_CLIENTE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zta_pc_cliente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..*]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ZR_PC_ENDERECO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_Endereco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ZR_PC_ENDERECO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_EnderecoPrincipal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_EnderecoPrincipal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_EnderecoPrincipal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EnderecoPrincipal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ZR_PC_CODELIST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_GeneroTxt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_GeneroTxt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'GENERO'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_GeneroTxt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@Semantics.largeObject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mimeType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'FotoMimeType'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'FotoFileName'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acceptableMimeTypes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'image/jpeg'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'image/png'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'image/webp'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contentDispositionPreference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#INLINE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foto_cliente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FotoCliente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@Semantics.mimeType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foto_mime_type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FotoMimeType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_Endereco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_EnderecoPrincipal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_GeneroTxt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Cartão"/>
          <p:cNvSpPr/>
          <p:nvPr/>
        </p:nvSpPr>
        <p:spPr>
          <a:xfrm>
            <a:off x="7132320" y="1645920"/>
            <a:ext cx="4510735" cy="4526280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33488" y="18288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1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181051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composition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209397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Endereços pertencem ao cliente: mesmo lock, ETag e draft.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33488" y="289179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2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287350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Associação filtrada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315696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_EnderecoPrincipal: o mesmo filho, só o principal (cardinalidade 0..1).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3348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3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393649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Foto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421995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largeObject com MIME aceitos e exibição inline: vira upload e imagem no Fiori.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33488" y="5017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4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499948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ZR_PC_ENDERECO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528294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association to parent ZR_PC_CLIENTE: o outro lado da composição.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CLIENTES · PROJEÇÃO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ZC_PC_CLIENTE_APP: virtual elements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76072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76072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74243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74243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C_PC_CLIENTE_APP.ddls.asddls"/>
          <p:cNvSpPr/>
          <p:nvPr/>
        </p:nvSpPr>
        <p:spPr>
          <a:xfrm>
            <a:off x="640080" y="1719072"/>
            <a:ext cx="249174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ZC_PC_CLIENTE_APP.ddls.asddls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49174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54406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@ObjectModel.semanticKey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'Cpf'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ZC_PC_CLIENTE_APP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transactional_query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ZR_PC_CLIENTE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@Search.defaultSearchElement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@ObjectModel.virtualElementCalculatedBy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'ABAP:ZCL_PC_VE_CLIENTE'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CpfFormatado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@ObjectModel.virtualElementCalculatedBy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'ABAP:ZCL_PC_VE_CLIENTE'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TelefoneFormatado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@Semantics.quantity.unitOfMeasure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'ScoreUnidade'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ScoreCliente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ScoreUnidade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abap.unit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ScoreCriticality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abap.int1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_EnderecoPrincipal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CidadePrincipal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_EnderecoPrincipal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UfPrincipal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_Endereco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redirected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ZC_PC_ENDERECO_APP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Editor"/>
          <p:cNvSpPr/>
          <p:nvPr/>
        </p:nvSpPr>
        <p:spPr>
          <a:xfrm>
            <a:off x="6583680" y="1645920"/>
            <a:ext cx="5059375" cy="3291840"/>
          </a:xfrm>
          <a:prstGeom prst="roundRect">
            <a:avLst>
              <a:gd name="adj" fmla="val 2778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Área do editor"/>
          <p:cNvSpPr/>
          <p:nvPr/>
        </p:nvSpPr>
        <p:spPr>
          <a:xfrm>
            <a:off x="6583680" y="1993392"/>
            <a:ext cx="5059375" cy="2944368"/>
          </a:xfrm>
          <a:prstGeom prst="roundRect">
            <a:avLst>
              <a:gd name="adj" fmla="val 3106"/>
            </a:avLst>
          </a:prstGeom>
          <a:solidFill>
            <a:srgbClr val="1F1F1F"/>
          </a:solidFill>
          <a:ln/>
        </p:spPr>
      </p:sp>
      <p:sp>
        <p:nvSpPr>
          <p:cNvPr id="14" name="Shape 11"/>
          <p:cNvSpPr/>
          <p:nvPr/>
        </p:nvSpPr>
        <p:spPr>
          <a:xfrm>
            <a:off x="6592824" y="1993392"/>
            <a:ext cx="5041087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5" name="Shape 12"/>
          <p:cNvSpPr/>
          <p:nvPr/>
        </p:nvSpPr>
        <p:spPr>
          <a:xfrm>
            <a:off x="6592824" y="1993392"/>
            <a:ext cx="5041087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6" name="Aba ZCL_PC_VE_CLIENTE.clas.abap"/>
          <p:cNvSpPr/>
          <p:nvPr/>
        </p:nvSpPr>
        <p:spPr>
          <a:xfrm>
            <a:off x="6675120" y="1719072"/>
            <a:ext cx="235458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ZCL_PC_VE_CLIENTE.clas.abap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75120" y="1719072"/>
            <a:ext cx="235458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8" name="Trecho de código"/>
          <p:cNvSpPr txBox="1"/>
          <p:nvPr/>
        </p:nvSpPr>
        <p:spPr>
          <a:xfrm>
            <a:off x="6766560" y="2103120"/>
            <a:ext cx="473933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if_sadl_exit_calc_element_read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lt_dados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ASSIGNING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FIELD-SYMBOL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&gt;).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CpfFormatado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zcl_pc_util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formatar_cpf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TelefoneFormatado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zcl_pc_util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formatar_telefone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ScoreUnidade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ScoreCriticality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ScoreCliente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ScoreCliente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</p:txBody>
      </p:sp>
      <p:sp>
        <p:nvSpPr>
          <p:cNvPr id="19" name="Cartão"/>
          <p:cNvSpPr/>
          <p:nvPr/>
        </p:nvSpPr>
        <p:spPr>
          <a:xfrm>
            <a:off x="6583680" y="5120640"/>
            <a:ext cx="5059375" cy="1051560"/>
          </a:xfrm>
          <a:prstGeom prst="roundRect">
            <a:avLst>
              <a:gd name="adj" fmla="val 10435"/>
            </a:avLst>
          </a:prstGeom>
          <a:solidFill>
            <a:srgbClr val="E1F4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766560" y="5166360"/>
            <a:ext cx="46936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D3E"/>
                </a:solidFill>
              </a:rPr>
              <a:t>get_calculation_info avisa quais campos reais cada virtual precisa (Cpf, Telefone, ScoreCliente), para o SADL lê-los mesmo fora do $select.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CLIENTES · METADATA EXTENSION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Header com foto e barra de score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39496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37667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37667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C_PC_CLIENTE_APP.ddlx.asddlxs"/>
          <p:cNvSpPr/>
          <p:nvPr/>
        </p:nvSpPr>
        <p:spPr>
          <a:xfrm>
            <a:off x="640080" y="1719072"/>
            <a:ext cx="25603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ZC_PC_CLIENTE_APP.ddlx.asddlxs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5603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50749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'Nome'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'CpfFormatado'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imageUrl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'FotoCliente'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'HeaderScore'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#HEADER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#DATAPOINT_REFERENCE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'DadosCliente'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#IDENTIFICATION_REFERENCE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'Enderecos'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targetElement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'_Endereco'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'Administrativo'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#FIELDGROUP_REFERENCE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@UI.dataPoint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#PROGRESS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'ScoreCriticality'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ScoreCliente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2" name="Moldura"/>
          <p:cNvSpPr/>
          <p:nvPr/>
        </p:nvSpPr>
        <p:spPr>
          <a:xfrm>
            <a:off x="6010351" y="1645920"/>
            <a:ext cx="5632704" cy="3422904"/>
          </a:xfrm>
          <a:prstGeom prst="roundRect">
            <a:avLst>
              <a:gd name="adj" fmla="val 32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pic>
        <p:nvPicPr>
          <p:cNvPr id="13" name="Image 0" descr="List Report da Gestão de Clie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503" y="1719072"/>
            <a:ext cx="5486400" cy="3276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083503" y="51785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Lista de clientes: foto, CPF formatado, cidade/UF do endereço principal e o botão Importar planilha.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CLIENTES · ENDEREÇO E VALUE HELPS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Endereço e as três value helps de cliente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12064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12064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10235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10235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C_PC_ENDERECO_APP"/>
          <p:cNvSpPr/>
          <p:nvPr/>
        </p:nvSpPr>
        <p:spPr>
          <a:xfrm>
            <a:off x="640080" y="1719072"/>
            <a:ext cx="173736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ZC_PC_ENDERECO_APP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73736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ZC_PC_ENDERECO_APP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ZC_PC_CEP_VH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480060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ZC_PC_ENDERECO_APP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ZR_PC_ENDERECO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@Consumption.valueHelpDefinition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'ZC_PC_CEP_VH'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'Cep'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_Cliente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redirected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ZC_PC_CLIENTE_APP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ZC_PC_CEP_VH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ZR_PC_ENDERECO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Logradouro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Logradouro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QtdeEnderecos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CepStatus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CepGeral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endParaRPr lang="en-US" sz="1000" dirty="0"/>
          </a:p>
        </p:txBody>
      </p:sp>
      <p:sp>
        <p:nvSpPr>
          <p:cNvPr id="13" name="Cartão"/>
          <p:cNvSpPr/>
          <p:nvPr/>
        </p:nvSpPr>
        <p:spPr>
          <a:xfrm>
            <a:off x="5943600" y="1645920"/>
            <a:ext cx="27354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126480" y="1783080"/>
            <a:ext cx="2369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ZC_PC_CLIENTE_VH</a:t>
            </a:r>
            <a:endParaRPr lang="en-US" sz="1100" dirty="0"/>
          </a:p>
        </p:txBody>
      </p:sp>
      <p:sp>
        <p:nvSpPr>
          <p:cNvPr id="15" name="Status pedido"/>
          <p:cNvSpPr/>
          <p:nvPr/>
        </p:nvSpPr>
        <p:spPr>
          <a:xfrm>
            <a:off x="6126480" y="2103120"/>
            <a:ext cx="667878" cy="23774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4D9"/>
                </a:solidFill>
              </a:rPr>
              <a:t>pedido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2423160"/>
            <a:ext cx="23696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where ClienteAtivo = 'X'. Mostra CPF, nome, e-mail, cidade e UF do endereço principal.</a:t>
            </a:r>
            <a:endParaRPr lang="en-US" sz="1100" dirty="0"/>
          </a:p>
        </p:txBody>
      </p:sp>
      <p:sp>
        <p:nvSpPr>
          <p:cNvPr id="17" name="Cartão"/>
          <p:cNvSpPr/>
          <p:nvPr/>
        </p:nvSpPr>
        <p:spPr>
          <a:xfrm>
            <a:off x="8907628" y="1645920"/>
            <a:ext cx="27354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9090508" y="1783080"/>
            <a:ext cx="2369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ZC_PC_ENDERECO_VH</a:t>
            </a:r>
            <a:endParaRPr lang="en-US" sz="1100" dirty="0"/>
          </a:p>
        </p:txBody>
      </p:sp>
      <p:sp>
        <p:nvSpPr>
          <p:cNvPr id="19" name="Status pedido"/>
          <p:cNvSpPr/>
          <p:nvPr/>
        </p:nvSpPr>
        <p:spPr>
          <a:xfrm>
            <a:off x="9090508" y="2103120"/>
            <a:ext cx="667878" cy="23774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4D9"/>
                </a:solidFill>
              </a:rPr>
              <a:t>pedido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9090508" y="2423160"/>
            <a:ext cx="23696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concat_with_space(Logradouro, Numero). Usada com additionalBinding em ClienteUUID.</a:t>
            </a:r>
            <a:endParaRPr lang="en-US" sz="1100" dirty="0"/>
          </a:p>
        </p:txBody>
      </p:sp>
      <p:sp>
        <p:nvSpPr>
          <p:cNvPr id="21" name="Cartão"/>
          <p:cNvSpPr/>
          <p:nvPr/>
        </p:nvSpPr>
        <p:spPr>
          <a:xfrm>
            <a:off x="5943600" y="4023360"/>
            <a:ext cx="27354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126480" y="4160520"/>
            <a:ext cx="2369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ZC_PC_CEP_VH</a:t>
            </a:r>
            <a:endParaRPr lang="en-US" sz="1100" dirty="0"/>
          </a:p>
        </p:txBody>
      </p:sp>
      <p:sp>
        <p:nvSpPr>
          <p:cNvPr id="23" name="Status endereço"/>
          <p:cNvSpPr/>
          <p:nvPr/>
        </p:nvSpPr>
        <p:spPr>
          <a:xfrm>
            <a:off x="6126480" y="4480560"/>
            <a:ext cx="792968" cy="237744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F3A"/>
                </a:solidFill>
              </a:rPr>
              <a:t>endereço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6126480" y="4800600"/>
            <a:ext cx="23696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Um CEP por linha (max + group by), só validados e sem CEP geral de município.</a:t>
            </a:r>
            <a:endParaRPr lang="en-US" sz="1100" dirty="0"/>
          </a:p>
        </p:txBody>
      </p:sp>
      <p:sp>
        <p:nvSpPr>
          <p:cNvPr id="25" name="Cartão"/>
          <p:cNvSpPr/>
          <p:nvPr/>
        </p:nvSpPr>
        <p:spPr>
          <a:xfrm>
            <a:off x="8907628" y="4023360"/>
            <a:ext cx="27354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9090508" y="4160520"/>
            <a:ext cx="2369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ZC_PC_GENERO_VH</a:t>
            </a:r>
            <a:endParaRPr lang="en-US" sz="1100" dirty="0"/>
          </a:p>
        </p:txBody>
      </p:sp>
      <p:sp>
        <p:nvSpPr>
          <p:cNvPr id="27" name="Status CodeList"/>
          <p:cNvSpPr/>
          <p:nvPr/>
        </p:nvSpPr>
        <p:spPr>
          <a:xfrm>
            <a:off x="9090508" y="4480560"/>
            <a:ext cx="792968" cy="23774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6B82"/>
                </a:solidFill>
              </a:rPr>
              <a:t>CodeList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9090508" y="4800600"/>
            <a:ext cx="23696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Lista GENERO, #XS: aparece como lista suspensa.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2 · ESTOQUE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Itens de estoque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view de BO do item, a projeção da app Gestão de Estoque com status colorido, e as value helps de item, categoria e status.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product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produ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2990088"/>
          </a:xfrm>
          <a:prstGeom prst="roundRect">
            <a:avLst>
              <a:gd name="adj" fmla="val 3670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root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ZC_PC_ITEM_APP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projeção + ddlx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ZC_PC_ITEM_VH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value help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ZC_PC_CATEGORIA_VH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value help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41071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ZC_PC_STATUSEST_VH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value help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379476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ZPC_A_QTDE_INPUT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abstract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ESTOQUE · VIEW E PROJEÇÃO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ZR_PC_ITEM e ZC_PC_ITEM_APP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630936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630936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629107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629107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R_PC_ITEM"/>
          <p:cNvSpPr/>
          <p:nvPr/>
        </p:nvSpPr>
        <p:spPr>
          <a:xfrm>
            <a:off x="640080" y="1719072"/>
            <a:ext cx="11887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ZR_PC_ITEM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1887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ZR_PC_ITEM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ZC_PC_ITEM_APP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98932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ZR_PC_CODELIST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_CategoriaTxt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_CategoriaTxt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'CATEGORIA'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ZR_PC_CODELIST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_StatusEstoqueTxt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_StatusEstoqueTxt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'STATUS_ESTOQUE'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@ObjectModel.semanticKey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'Sku'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ZC_PC_ITEM_APP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transactional_query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ItemUUID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@Search.defaultSearchElement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@ObjectModel.text.element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'StatusEstoqueTexto'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@UI.textArrangement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#TEXT_ONLY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_StatusEstoqueTxt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Descricao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StatusEstoqueTexto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_StatusEstoqueTxt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StatusEstoqueCriticality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@Consumption.valueHelpDefinition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'I_CurrencyStdVH'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'Currency'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Cartão"/>
          <p:cNvSpPr/>
          <p:nvPr/>
        </p:nvSpPr>
        <p:spPr>
          <a:xfrm>
            <a:off x="7132320" y="1645920"/>
            <a:ext cx="4510735" cy="4526280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33488" y="18288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1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181051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Duas CodeLists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209397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Categoria e status do estoque, cada uma com sua associação filtrada.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33488" y="289179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2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287350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Status com cor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315696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Texto e criticality vêm da CodeList; o .ddlx usa a criticality na lista e no header.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3348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3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393649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Value help padrão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421995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I_CurrencyStdVH é uma view liberada da SAP para moedas.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33488" y="5017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4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499948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Sem ações de estoque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528294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Reservar, liberar e baixar não aparecem na projeção: só o Pedido movimenta.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ESTOQUE · METADATA EXTENSION E VALUE HELPS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Gestão de Estoque e a value help do pedido</a:t>
            </a:r>
            <a:endParaRPr lang="en-US" sz="3000" dirty="0"/>
          </a:p>
        </p:txBody>
      </p:sp>
      <p:sp>
        <p:nvSpPr>
          <p:cNvPr id="5" name="Moldura"/>
          <p:cNvSpPr/>
          <p:nvPr/>
        </p:nvSpPr>
        <p:spPr>
          <a:xfrm>
            <a:off x="548640" y="1645920"/>
            <a:ext cx="5632704" cy="3422904"/>
          </a:xfrm>
          <a:prstGeom prst="roundRect">
            <a:avLst>
              <a:gd name="adj" fmla="val 32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pic>
        <p:nvPicPr>
          <p:cNvPr id="6" name="Image 0" descr="List Report da Gestão de Esto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19072"/>
            <a:ext cx="5486400" cy="3276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1785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Lista de itens com SKU, categoria, quantidades e status colorido.</a:t>
            </a:r>
            <a:endParaRPr lang="en-US" sz="1200" dirty="0"/>
          </a:p>
        </p:txBody>
      </p:sp>
      <p:sp>
        <p:nvSpPr>
          <p:cNvPr id="8" name="Cartão"/>
          <p:cNvSpPr/>
          <p:nvPr/>
        </p:nvSpPr>
        <p:spPr>
          <a:xfrm>
            <a:off x="6355080" y="1645920"/>
            <a:ext cx="252968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537960" y="1783080"/>
            <a:ext cx="216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ZC_PC_ITEM_VH</a:t>
            </a:r>
            <a:endParaRPr lang="en-US" sz="1050" dirty="0"/>
          </a:p>
        </p:txBody>
      </p:sp>
      <p:sp>
        <p:nvSpPr>
          <p:cNvPr id="10" name="Status pedido"/>
          <p:cNvSpPr/>
          <p:nvPr/>
        </p:nvSpPr>
        <p:spPr>
          <a:xfrm>
            <a:off x="6537960" y="2103120"/>
            <a:ext cx="667878" cy="23774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4D9"/>
                </a:solidFill>
              </a:rPr>
              <a:t>pedido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6537960" y="2423160"/>
            <a:ext cx="2163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where ItemAtivo = 'X'. SKU, nome, categoria, preço e qtde disponível.</a:t>
            </a:r>
            <a:endParaRPr lang="en-US" sz="1100" dirty="0"/>
          </a:p>
        </p:txBody>
      </p:sp>
      <p:sp>
        <p:nvSpPr>
          <p:cNvPr id="12" name="Cartão"/>
          <p:cNvSpPr/>
          <p:nvPr/>
        </p:nvSpPr>
        <p:spPr>
          <a:xfrm>
            <a:off x="9113368" y="1645920"/>
            <a:ext cx="252968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9296248" y="1783080"/>
            <a:ext cx="216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ZC_PC_CATEGORIA_VH</a:t>
            </a:r>
            <a:endParaRPr lang="en-US" sz="1050" dirty="0"/>
          </a:p>
        </p:txBody>
      </p:sp>
      <p:sp>
        <p:nvSpPr>
          <p:cNvPr id="14" name="Status CodeList"/>
          <p:cNvSpPr/>
          <p:nvPr/>
        </p:nvSpPr>
        <p:spPr>
          <a:xfrm>
            <a:off x="9296248" y="2103120"/>
            <a:ext cx="792968" cy="23774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6B82"/>
                </a:solidFill>
              </a:rPr>
              <a:t>CodeList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9296248" y="2423160"/>
            <a:ext cx="2163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Lista CATEGORIA, usada para validar a categoria.</a:t>
            </a:r>
            <a:endParaRPr lang="en-US" sz="1100" dirty="0"/>
          </a:p>
        </p:txBody>
      </p:sp>
      <p:sp>
        <p:nvSpPr>
          <p:cNvPr id="16" name="Cartão"/>
          <p:cNvSpPr/>
          <p:nvPr/>
        </p:nvSpPr>
        <p:spPr>
          <a:xfrm>
            <a:off x="6355080" y="4023360"/>
            <a:ext cx="252968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537960" y="4160520"/>
            <a:ext cx="216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ZC_PC_STATUSEST_VH</a:t>
            </a:r>
            <a:endParaRPr lang="en-US" sz="1050" dirty="0"/>
          </a:p>
        </p:txBody>
      </p:sp>
      <p:sp>
        <p:nvSpPr>
          <p:cNvPr id="18" name="Status CodeList"/>
          <p:cNvSpPr/>
          <p:nvPr/>
        </p:nvSpPr>
        <p:spPr>
          <a:xfrm>
            <a:off x="6537960" y="4480560"/>
            <a:ext cx="792968" cy="23774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6B82"/>
                </a:solidFill>
              </a:rPr>
              <a:t>CodeList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6537960" y="4800600"/>
            <a:ext cx="2163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Lista STATUS_ESTOQUE, para o filtro de status.</a:t>
            </a:r>
            <a:endParaRPr lang="en-US" sz="1100" dirty="0"/>
          </a:p>
        </p:txBody>
      </p:sp>
      <p:sp>
        <p:nvSpPr>
          <p:cNvPr id="20" name="Cartão"/>
          <p:cNvSpPr/>
          <p:nvPr/>
        </p:nvSpPr>
        <p:spPr>
          <a:xfrm>
            <a:off x="9113368" y="4023360"/>
            <a:ext cx="252968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9296248" y="4160520"/>
            <a:ext cx="216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ZPC_A_QTDE_INPUT</a:t>
            </a:r>
            <a:endParaRPr lang="en-US" sz="1050" dirty="0"/>
          </a:p>
        </p:txBody>
      </p:sp>
      <p:sp>
        <p:nvSpPr>
          <p:cNvPr id="22" name="Status abstract"/>
          <p:cNvSpPr/>
          <p:nvPr/>
        </p:nvSpPr>
        <p:spPr>
          <a:xfrm>
            <a:off x="9296248" y="4480560"/>
            <a:ext cx="792968" cy="237744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3E00"/>
                </a:solidFill>
              </a:rPr>
              <a:t>abstract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9296248" y="4800600"/>
            <a:ext cx="2163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Quantidade : abap.int4. Parâmetro de Reservar, Liberar e Baixar.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2 · PEDIDOS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Pedidos, itens, pagamento e histórico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Cinco views de BO, cinco projeções, as metadata extensions da Object Page dinâmica, três value helps de CodeList e três abstract entities de ações.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sales-order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sales-or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3758184"/>
          </a:xfrm>
          <a:prstGeom prst="roundRect">
            <a:avLst>
              <a:gd name="adj" fmla="val 3015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root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ZR_PC_ITEM_PEDIDO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filho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ZR_PC_PAGAMENTO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filho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ZR_PC_PED_CLI_SNAP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filho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41071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ZR_PC_PED_ITEM_SNAP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filho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379476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ZC_PC_*_APP (5)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projeções + ddlx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417880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ZC_PC_STATUSPED/PAG/METODOPAG_VH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VH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456285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ZPC_A_PAGAMENTO/CANCELAMENTO/RETOMADA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abstract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VIEW DE BO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ZR_PC_PEDIDO: o root com quatro composições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640080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640080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638251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638251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R_PC_PEDIDO.ddls.asddls"/>
          <p:cNvSpPr/>
          <p:nvPr/>
        </p:nvSpPr>
        <p:spPr>
          <a:xfrm>
            <a:off x="640080" y="1719072"/>
            <a:ext cx="214884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ZR_PC_PEDIDO.ddls.asddls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14884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ZAVBS_PC_PEDIDOS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ZR_PC_PEDIDO.ddls.asddls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608076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zta_pc_pedido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..*]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ZR_PC_ITEM_PEDIDO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_Itens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ZR_PC_PAGAMENTO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_Pagamento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ZR_PC_PED_CLI_SNAP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_ClienteSnapshot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..*]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ZR_PC_PED_ITEM_SNAP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_ItensSnapshot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ZR_PC_CLIENTE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_Cliente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_Cliente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ZR_PC_ENDERECO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_Endereco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_Endereco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EnderecoUUID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ZR_PC_CODELIST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_StatusPedidoTxt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_StatusPedidoTxt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'STATUS_PEDIDO'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_StatusPedidoTxt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numero_pedido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pedido_encerrado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PedidoEncerrado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'Currency'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valor_total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Cartão"/>
          <p:cNvSpPr/>
          <p:nvPr/>
        </p:nvSpPr>
        <p:spPr>
          <a:xfrm>
            <a:off x="7223760" y="1645920"/>
            <a:ext cx="4419295" cy="4526280"/>
          </a:xfrm>
          <a:prstGeom prst="roundRect">
            <a:avLst>
              <a:gd name="adj" fmla="val 24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24928" y="18288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1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1810512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[0..*] e [0..1]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093976"/>
            <a:ext cx="359633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Itens e snapshots de itens são N; pagamento e snapshot do cliente, no máximo um.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24928" y="289179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2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863840" y="2873502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Outros BOs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863840" y="3156966"/>
            <a:ext cx="359633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Cliente e endereço são associações: o pedido lê, mas não controla.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249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3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863840" y="3936492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Status com texto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0" y="4219956"/>
            <a:ext cx="359633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Duas associações para a CodeList: pedido e pagamento.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24928" y="5017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4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7863840" y="4999482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Flags físicos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0" y="5282946"/>
            <a:ext cx="359633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Os quatro xfeld vão direto para a projeção dirigir as seções.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VIEWS FILHAS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Os quatro filhos de composição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603504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603504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601675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601675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R_PC_ITEM_PEDIDO"/>
          <p:cNvSpPr/>
          <p:nvPr/>
        </p:nvSpPr>
        <p:spPr>
          <a:xfrm>
            <a:off x="640080" y="1719072"/>
            <a:ext cx="166878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ZR_PC_ITEM_PEDIDO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66878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ZR_PC_ITEM_PEDIDO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ZR_PC_PAGAMENTO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71500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ZR_PC_ITEM_PEDIDO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zta_pc_item_ped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_Pedido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PedidoUUID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_Item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ItemUUID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ZR_PC_PAGAMENTO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zta_pc_pagamento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_Pedido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PedidoUUID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ZR_PC_CODELIST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_MetodoTxt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_MetodoTxt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'METODO_PAGAMENTO'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ZR_PC_CODELIST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_StatusTxt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_StatusTxt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'STATUS_PAGAMENTO'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Cartão"/>
          <p:cNvSpPr/>
          <p:nvPr/>
        </p:nvSpPr>
        <p:spPr>
          <a:xfrm>
            <a:off x="6858000" y="1645920"/>
            <a:ext cx="478505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040880" y="178308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ZR_PC_ITEM_PEDIDO</a:t>
            </a:r>
            <a:endParaRPr lang="en-US" sz="1100" dirty="0"/>
          </a:p>
        </p:txBody>
      </p:sp>
      <p:sp>
        <p:nvSpPr>
          <p:cNvPr id="15" name="Status filho [0..*]"/>
          <p:cNvSpPr/>
          <p:nvPr/>
        </p:nvSpPr>
        <p:spPr>
          <a:xfrm>
            <a:off x="8602980" y="1801368"/>
            <a:ext cx="1043148" cy="23774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4D9"/>
                </a:solidFill>
              </a:rPr>
              <a:t>filho [0..*]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2121408"/>
            <a:ext cx="4419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Item, quantidade, preço congelado e total. _Item lê nome, SKU e disponível atuais.</a:t>
            </a:r>
            <a:endParaRPr lang="en-US" sz="1100" dirty="0"/>
          </a:p>
        </p:txBody>
      </p:sp>
      <p:sp>
        <p:nvSpPr>
          <p:cNvPr id="17" name="Cartão"/>
          <p:cNvSpPr/>
          <p:nvPr/>
        </p:nvSpPr>
        <p:spPr>
          <a:xfrm>
            <a:off x="6858000" y="2834640"/>
            <a:ext cx="478505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040880" y="297180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ZR_PC_PAGAMENTO</a:t>
            </a:r>
            <a:endParaRPr lang="en-US" sz="1100" dirty="0"/>
          </a:p>
        </p:txBody>
      </p:sp>
      <p:sp>
        <p:nvSpPr>
          <p:cNvPr id="19" name="Status filho [0..1]"/>
          <p:cNvSpPr/>
          <p:nvPr/>
        </p:nvSpPr>
        <p:spPr>
          <a:xfrm>
            <a:off x="8435340" y="2990088"/>
            <a:ext cx="1043148" cy="23774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4D9"/>
                </a:solidFill>
              </a:rPr>
              <a:t>filho [0..1]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3310128"/>
            <a:ext cx="4419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Última tentativa de pagamento, com textos de método e status.</a:t>
            </a:r>
            <a:endParaRPr lang="en-US" sz="1100" dirty="0"/>
          </a:p>
        </p:txBody>
      </p:sp>
      <p:sp>
        <p:nvSpPr>
          <p:cNvPr id="21" name="Cartão"/>
          <p:cNvSpPr/>
          <p:nvPr/>
        </p:nvSpPr>
        <p:spPr>
          <a:xfrm>
            <a:off x="6858000" y="4023360"/>
            <a:ext cx="478505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040880" y="416052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ZR_PC_PED_CLI_SNAP</a:t>
            </a:r>
            <a:endParaRPr lang="en-US" sz="1100" dirty="0"/>
          </a:p>
        </p:txBody>
      </p:sp>
      <p:sp>
        <p:nvSpPr>
          <p:cNvPr id="23" name="Status filho [0..1]"/>
          <p:cNvSpPr/>
          <p:nvPr/>
        </p:nvSpPr>
        <p:spPr>
          <a:xfrm>
            <a:off x="8686800" y="4178808"/>
            <a:ext cx="1043148" cy="237744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3E00"/>
                </a:solidFill>
              </a:rPr>
              <a:t>filho [0..1]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498848"/>
            <a:ext cx="4419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Cópia do cliente e do endereço no encerramento.</a:t>
            </a:r>
            <a:endParaRPr lang="en-US" sz="1100" dirty="0"/>
          </a:p>
        </p:txBody>
      </p:sp>
      <p:sp>
        <p:nvSpPr>
          <p:cNvPr id="25" name="Cartão"/>
          <p:cNvSpPr/>
          <p:nvPr/>
        </p:nvSpPr>
        <p:spPr>
          <a:xfrm>
            <a:off x="6858000" y="5212080"/>
            <a:ext cx="478505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040880" y="534924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ZR_PC_PED_ITEM_SNAP</a:t>
            </a:r>
            <a:endParaRPr lang="en-US" sz="1100" dirty="0"/>
          </a:p>
        </p:txBody>
      </p:sp>
      <p:sp>
        <p:nvSpPr>
          <p:cNvPr id="27" name="Status filho [0..*]"/>
          <p:cNvSpPr/>
          <p:nvPr/>
        </p:nvSpPr>
        <p:spPr>
          <a:xfrm>
            <a:off x="8770620" y="5367528"/>
            <a:ext cx="1043148" cy="237744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3E00"/>
                </a:solidFill>
              </a:rPr>
              <a:t>filho [0..*]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5687568"/>
            <a:ext cx="4419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Cópia dos itens vendidos no encerramento.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PROJEÇÃO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ZC_PC_PEDIDO_APP: o contrato com a app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603504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603504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601675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601675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C_PC_PEDIDO_APP.ddls.asddls"/>
          <p:cNvSpPr/>
          <p:nvPr/>
        </p:nvSpPr>
        <p:spPr>
          <a:xfrm>
            <a:off x="640080" y="1719072"/>
            <a:ext cx="242316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ZC_PC_PEDIDO_APP.ddls.asddls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42316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57150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ZC_PC_PEDIDO_APP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transactional_query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@Search.defaultSearchElement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@Consumption.semanticObject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'ZPCCliente'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@ObjectModel.text.element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'NomeCliente'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@Consumption.valueHelpDefinition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'ZC_PC_CLIENTE_VH'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'ClienteUUID'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useForValidation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@Consumption.valueHelpDefinition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'ZC_PC_ENDERECO_VH'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additionalBinding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localElement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'ClienteUUID'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'ClienteUUID'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#FILTER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_Cliente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NomeCliente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_Cliente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CpfCliente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Cartão"/>
          <p:cNvSpPr/>
          <p:nvPr/>
        </p:nvSpPr>
        <p:spPr>
          <a:xfrm>
            <a:off x="6858000" y="1645920"/>
            <a:ext cx="478505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1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181051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provider contract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2093976"/>
            <a:ext cx="3962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transactional_query: recebe a BDEF de projeção e pode ser exposta com draft.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59168" y="2679192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2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2660904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Texto no lugar do UUID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2944368"/>
            <a:ext cx="3962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text.element + textArrangement #TEXT_ONLY mostram o nome do cliente.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059168" y="3529584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3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3511296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Value help validada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0" y="3794760"/>
            <a:ext cx="3962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useForValidation recusa valores fora da lista.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59168" y="4379976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4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7498080" y="43616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additionalBinding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0" y="4645152"/>
            <a:ext cx="3962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Endereços filtrados pelo cliente escolhido (#FILTER).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059168" y="5230368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5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7498080" y="521208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Navegação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498080" y="5495544"/>
            <a:ext cx="3962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semanticObject 'ZPCCliente' transforma Cliente e CPF em links.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PROJEÇÕES FILHAS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Projeções dos filhos: links e só leitura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603504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603504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601675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601675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C_PC_ITEM_PEDIDO_APP.ddls.asddls"/>
          <p:cNvSpPr/>
          <p:nvPr/>
        </p:nvSpPr>
        <p:spPr>
          <a:xfrm>
            <a:off x="640080" y="1719072"/>
            <a:ext cx="276606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ZC_PC_ITEM_PEDIDO_APP.ddls.asddls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76606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57150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ZC_PC_ITEM_PEDIDO_APP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ZR_PC_ITEM_PEDIDO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ItemPedidoUUID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@Consumption.semanticObject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'ZPCItemEstoque'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@ObjectModel.text.element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'NomeItem'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@Consumption.valueHelpDefinition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'ZC_PC_ITEM_VH'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'ItemUUID'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useForValidation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@Consumption.semanticObject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'ZPCItemEstoque'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QtdeDisponivel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QtdeDisponivelAtual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QtdeItemPedido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PrecoUnitarioSnapshot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redirected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ZC_PC_PEDIDO_APP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Cartão"/>
          <p:cNvSpPr/>
          <p:nvPr/>
        </p:nvSpPr>
        <p:spPr>
          <a:xfrm>
            <a:off x="6858000" y="1645920"/>
            <a:ext cx="478505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040880" y="178308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ZC_PC_ITEM_PEDIDO_APP</a:t>
            </a:r>
            <a:endParaRPr lang="en-US" sz="1050" dirty="0"/>
          </a:p>
        </p:txBody>
      </p:sp>
      <p:sp>
        <p:nvSpPr>
          <p:cNvPr id="14" name="Status editável no rascunho"/>
          <p:cNvSpPr/>
          <p:nvPr/>
        </p:nvSpPr>
        <p:spPr>
          <a:xfrm>
            <a:off x="8858250" y="1801368"/>
            <a:ext cx="1543507" cy="23774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4D9"/>
                </a:solidFill>
              </a:rPr>
              <a:t>editável no rascunho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121408"/>
            <a:ext cx="4419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Criado inline na tabela de itens; link para Gestão de Estoque.</a:t>
            </a:r>
            <a:endParaRPr lang="en-US" sz="1100" dirty="0"/>
          </a:p>
        </p:txBody>
      </p:sp>
      <p:sp>
        <p:nvSpPr>
          <p:cNvPr id="16" name="Cartão"/>
          <p:cNvSpPr/>
          <p:nvPr/>
        </p:nvSpPr>
        <p:spPr>
          <a:xfrm>
            <a:off x="6858000" y="2834640"/>
            <a:ext cx="478505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040880" y="297180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ZC_PC_PAGAMENTO_APP</a:t>
            </a:r>
            <a:endParaRPr lang="en-US" sz="1050" dirty="0"/>
          </a:p>
        </p:txBody>
      </p:sp>
      <p:sp>
        <p:nvSpPr>
          <p:cNvPr id="18" name="Status somente leitura"/>
          <p:cNvSpPr/>
          <p:nvPr/>
        </p:nvSpPr>
        <p:spPr>
          <a:xfrm>
            <a:off x="8698230" y="2990088"/>
            <a:ext cx="1230782" cy="23774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6B82"/>
                </a:solidFill>
              </a:rPr>
              <a:t>somente leitura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3310128"/>
            <a:ext cx="4419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Método e status com texto e criticality; cartão mascarado.</a:t>
            </a:r>
            <a:endParaRPr lang="en-US" sz="1100" dirty="0"/>
          </a:p>
        </p:txBody>
      </p:sp>
      <p:sp>
        <p:nvSpPr>
          <p:cNvPr id="20" name="Cartão"/>
          <p:cNvSpPr/>
          <p:nvPr/>
        </p:nvSpPr>
        <p:spPr>
          <a:xfrm>
            <a:off x="6858000" y="4023360"/>
            <a:ext cx="478505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040880" y="416052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ZC_PC_PED_CLI_SNAP_APP</a:t>
            </a:r>
            <a:endParaRPr lang="en-US" sz="1050" dirty="0"/>
          </a:p>
        </p:txBody>
      </p:sp>
      <p:sp>
        <p:nvSpPr>
          <p:cNvPr id="22" name="Status somente leitura"/>
          <p:cNvSpPr/>
          <p:nvPr/>
        </p:nvSpPr>
        <p:spPr>
          <a:xfrm>
            <a:off x="8938260" y="4178808"/>
            <a:ext cx="1230782" cy="23774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6B82"/>
                </a:solidFill>
              </a:rPr>
              <a:t>somente leitura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498848"/>
            <a:ext cx="4419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Nome e CPF com semantic object ZPCCliente.</a:t>
            </a:r>
            <a:endParaRPr lang="en-US" sz="1100" dirty="0"/>
          </a:p>
        </p:txBody>
      </p:sp>
      <p:sp>
        <p:nvSpPr>
          <p:cNvPr id="24" name="Cartão"/>
          <p:cNvSpPr/>
          <p:nvPr/>
        </p:nvSpPr>
        <p:spPr>
          <a:xfrm>
            <a:off x="6858000" y="5212080"/>
            <a:ext cx="478505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040880" y="534924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ZC_PC_PED_ITEM_SNAP_APP</a:t>
            </a:r>
            <a:endParaRPr lang="en-US" sz="1050" dirty="0"/>
          </a:p>
        </p:txBody>
      </p:sp>
      <p:sp>
        <p:nvSpPr>
          <p:cNvPr id="26" name="Status somente leitura"/>
          <p:cNvSpPr/>
          <p:nvPr/>
        </p:nvSpPr>
        <p:spPr>
          <a:xfrm>
            <a:off x="9018270" y="5367528"/>
            <a:ext cx="1230782" cy="23774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6B82"/>
                </a:solidFill>
              </a:rPr>
              <a:t>somente leitura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5687568"/>
            <a:ext cx="4419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Nome e SKU com semantic object ZPCItemEstoque.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METADATA EXTENSION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Anotações @UI desenham a List Report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02920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02920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01091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01091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C_PC_PEDIDO_APP.ddlx.asddlxs"/>
          <p:cNvSpPr/>
          <p:nvPr/>
        </p:nvSpPr>
        <p:spPr>
          <a:xfrm>
            <a:off x="640080" y="1719072"/>
            <a:ext cx="249174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ZC_PC_PEDIDO_APP.ddlx.asddlxs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49174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47091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 do pedido'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'StatusPedidoCriticality'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selectionField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#FOR_ACTION_GROUP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actionGroupId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'AcoesPedido'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'Ações'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dataAction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'SimularPagamento'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'Efetuar Pagamento'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actionGroupId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'AcoesPedido'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2" name="Moldura"/>
          <p:cNvSpPr/>
          <p:nvPr/>
        </p:nvSpPr>
        <p:spPr>
          <a:xfrm>
            <a:off x="5916168" y="1645920"/>
            <a:ext cx="5724144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pic>
        <p:nvPicPr>
          <p:cNvPr id="13" name="Image 0" descr="List Report de Pedidos de Compr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719072"/>
            <a:ext cx="5577840" cy="332841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916168" y="5303520"/>
            <a:ext cx="5724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Resultado: List Report da app Pedidos de Compras, com filtros, status coloridos e menu de ações.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OBJECT PAGE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hidden: #(campo) torna a página dinâmica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02920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02920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01091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01091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C_PC_PEDIDO_APP.ddlx.asddlxs"/>
          <p:cNvSpPr/>
          <p:nvPr/>
        </p:nvSpPr>
        <p:spPr>
          <a:xfrm>
            <a:off x="640080" y="1719072"/>
            <a:ext cx="249174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ZC_PC_PEDIDO_APP.ddlx.asddlxs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49174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47091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'DadosCliente'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#STANDARD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#FIELDGROUP_REFERENCE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 do Cliente'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PedidoEncerrado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'DadosClienteSnap'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#STANDARD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#IDENTIFICATION_REFERENCE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 do Cliente'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targetElement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'_ClienteSnapshot'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PedidoAtivoSemHistorico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'Cancelamento'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#STANDARD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#FIELDGROUP_REFERENCE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'Cancelamento'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PedidoNaoCancelado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</p:txBody>
      </p:sp>
      <p:sp>
        <p:nvSpPr>
          <p:cNvPr id="12" name="Moldura"/>
          <p:cNvSpPr/>
          <p:nvPr/>
        </p:nvSpPr>
        <p:spPr>
          <a:xfrm>
            <a:off x="5916168" y="1645920"/>
            <a:ext cx="5724144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pic>
        <p:nvPicPr>
          <p:cNvPr id="13" name="Image 0" descr="Object Page de um pedido finaliz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719072"/>
            <a:ext cx="5577840" cy="3328416"/>
          </a:xfrm>
          <a:prstGeom prst="rect">
            <a:avLst/>
          </a:prstGeom>
        </p:spPr>
      </p:pic>
      <p:sp>
        <p:nvSpPr>
          <p:cNvPr id="14" name="Status #(Campo) aceito"/>
          <p:cNvSpPr/>
          <p:nvPr/>
        </p:nvSpPr>
        <p:spPr>
          <a:xfrm>
            <a:off x="5916168" y="5349240"/>
            <a:ext cx="1428293" cy="329184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F3A"/>
                </a:solidFill>
              </a:rPr>
              <a:t>#(Campo) aceito</a:t>
            </a:r>
            <a:endParaRPr lang="en-US" sz="1150" dirty="0"/>
          </a:p>
        </p:txBody>
      </p:sp>
      <p:sp>
        <p:nvSpPr>
          <p:cNvPr id="15" name="Status &amp;apos;Campo&amp;apos; rejeitado"/>
          <p:cNvSpPr/>
          <p:nvPr/>
        </p:nvSpPr>
        <p:spPr>
          <a:xfrm>
            <a:off x="7454189" y="5349240"/>
            <a:ext cx="1579717" cy="329184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A0808"/>
                </a:solidFill>
              </a:rPr>
              <a:t>'Campo' rejeitado</a:t>
            </a:r>
            <a:endParaRPr lang="en-US" sz="1150" dirty="0"/>
          </a:p>
        </p:txBody>
      </p:sp>
      <p:sp>
        <p:nvSpPr>
          <p:cNvPr id="16" name="Status [0..1] vira formulário"/>
          <p:cNvSpPr/>
          <p:nvPr/>
        </p:nvSpPr>
        <p:spPr>
          <a:xfrm>
            <a:off x="9143634" y="5349240"/>
            <a:ext cx="1958279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4D9"/>
                </a:solidFill>
              </a:rPr>
              <a:t>[0..1] vira formulário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5916168" y="5806440"/>
            <a:ext cx="5724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Pedido finalizado: seções de cliente e itens lidas dos snapshots.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ABSTRACT ENTITIES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Os diálogos das ações do pedido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76072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76072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74243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74243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PC_A_PAGAMENTO"/>
          <p:cNvSpPr/>
          <p:nvPr/>
        </p:nvSpPr>
        <p:spPr>
          <a:xfrm>
            <a:off x="640080" y="1719072"/>
            <a:ext cx="15316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ZPC_A_PAGAMENTO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5316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ZPC_A_PAGAMENTO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CANCELAMENTO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44068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ZPC_A_PAGAMENTO_INPUT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@Consumption.valueHelpDefinition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'ZC_PC_METODOPAG_VH'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'Codigo'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MetodoPagamento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NumeroCartao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Cvv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ZPC_A_CANCELAMENTO_INPUT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MotivoCancelamento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ZPC_A_RETOMADA_INPUT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StatusAnterior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Cartão"/>
          <p:cNvSpPr/>
          <p:nvPr/>
        </p:nvSpPr>
        <p:spPr>
          <a:xfrm>
            <a:off x="6583680" y="1645920"/>
            <a:ext cx="5059375" cy="1356360"/>
          </a:xfrm>
          <a:prstGeom prst="roundRect">
            <a:avLst>
              <a:gd name="adj" fmla="val 80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766560" y="1783080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SimularPagamento</a:t>
            </a:r>
            <a:endParaRPr lang="en-US" sz="1150" dirty="0"/>
          </a:p>
        </p:txBody>
      </p:sp>
      <p:sp>
        <p:nvSpPr>
          <p:cNvPr id="15" name="Status Efetuar Pagamento"/>
          <p:cNvSpPr/>
          <p:nvPr/>
        </p:nvSpPr>
        <p:spPr>
          <a:xfrm>
            <a:off x="6766560" y="2103120"/>
            <a:ext cx="1355872" cy="23774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4D9"/>
                </a:solidFill>
              </a:rPr>
              <a:t>Efetuar Pagamento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2423160"/>
            <a:ext cx="469361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Método com value help, número, validade MM/AA e CVV.</a:t>
            </a:r>
            <a:endParaRPr lang="en-US" sz="1150" dirty="0"/>
          </a:p>
        </p:txBody>
      </p:sp>
      <p:sp>
        <p:nvSpPr>
          <p:cNvPr id="17" name="Cartão"/>
          <p:cNvSpPr/>
          <p:nvPr/>
        </p:nvSpPr>
        <p:spPr>
          <a:xfrm>
            <a:off x="6583680" y="3230880"/>
            <a:ext cx="5059375" cy="1356360"/>
          </a:xfrm>
          <a:prstGeom prst="roundRect">
            <a:avLst>
              <a:gd name="adj" fmla="val 80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766560" y="3368040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CancelarPedido</a:t>
            </a:r>
            <a:endParaRPr lang="en-US" sz="1150" dirty="0"/>
          </a:p>
        </p:txBody>
      </p:sp>
      <p:sp>
        <p:nvSpPr>
          <p:cNvPr id="19" name="Status Cancelar"/>
          <p:cNvSpPr/>
          <p:nvPr/>
        </p:nvSpPr>
        <p:spPr>
          <a:xfrm>
            <a:off x="6766560" y="3688080"/>
            <a:ext cx="792968" cy="237744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A0808"/>
                </a:solidFill>
              </a:rPr>
              <a:t>Cancelar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4008120"/>
            <a:ext cx="469361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Motivo obrigatório; com pagamento aprovado abre reembolso.</a:t>
            </a:r>
            <a:endParaRPr lang="en-US" sz="1150" dirty="0"/>
          </a:p>
        </p:txBody>
      </p:sp>
      <p:sp>
        <p:nvSpPr>
          <p:cNvPr id="21" name="Cartão"/>
          <p:cNvSpPr/>
          <p:nvPr/>
        </p:nvSpPr>
        <p:spPr>
          <a:xfrm>
            <a:off x="6583680" y="4815840"/>
            <a:ext cx="5059375" cy="1356360"/>
          </a:xfrm>
          <a:prstGeom prst="roundRect">
            <a:avLst>
              <a:gd name="adj" fmla="val 80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766560" y="4953000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RetomarPedido</a:t>
            </a:r>
            <a:endParaRPr lang="en-US" sz="1150" dirty="0"/>
          </a:p>
        </p:txBody>
      </p:sp>
      <p:sp>
        <p:nvSpPr>
          <p:cNvPr id="23" name="Status interna"/>
          <p:cNvSpPr/>
          <p:nvPr/>
        </p:nvSpPr>
        <p:spPr>
          <a:xfrm>
            <a:off x="6766560" y="5273040"/>
            <a:ext cx="730423" cy="23774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6B82"/>
                </a:solidFill>
              </a:rPr>
              <a:t>interna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5593080"/>
            <a:ext cx="469361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Chamada pelo Reembolso ao rejeitar: devolve o status anterior.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2 · REEMBOLSOS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Solicitações de reembolso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Um root sem filhos, uma projeção com dois semantic objects e a abstract entity da decisão.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money-bills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money-bi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2221992"/>
          </a:xfrm>
          <a:prstGeom prst="roundRect">
            <a:avLst>
              <a:gd name="adj" fmla="val 4938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ZR_PC_REEMBOLSO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root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ZC_PC_REEMBOLSO_APP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projeção + ddlx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ZC_PC_STATUSREEMB_VH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value help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ZPC_A_REEMB_DECISAO_INPUT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abstract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REEMBOLSOS · VIEW E PROJEÇÃO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ZR_PC_REEMBOLSO e ZC_PC_REEMBOLSO_APP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630936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630936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629107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629107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R_PC_REEMBOLSO"/>
          <p:cNvSpPr/>
          <p:nvPr/>
        </p:nvSpPr>
        <p:spPr>
          <a:xfrm>
            <a:off x="640080" y="1719072"/>
            <a:ext cx="15316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ZR_PC_REEMBOLSO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5316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ZR_PC_REEMBOLSO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ZC_PC_REEMBOLSO_APP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98932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ZR_PC_REEMBOLSO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zta_pc_reembolso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_Pedido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PedidoUUID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_Pedido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PedidoUUID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ZR_PC_CLIENTE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_Cliente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_Cliente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ZR_PC_CODELIST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_StatusTxt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_StatusTxt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'STATUS_REEMBOLSO'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@ObjectModel.semanticKey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'NumeroPedido'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ZC_PC_REEMBOLSO_APP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transactional_query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ZR_PC_REEMBOLSO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ReembolsoUUID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@Consumption.semanticObject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'ZPCPedidoCompra'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@Consumption.semanticObject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'ZPCCliente'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@Consumption.semanticObjectMapping.additionalBinding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localElement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'CpfCliente'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'Cpf'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Cartão"/>
          <p:cNvSpPr/>
          <p:nvPr/>
        </p:nvSpPr>
        <p:spPr>
          <a:xfrm>
            <a:off x="7132320" y="1645920"/>
            <a:ext cx="4510735" cy="4526280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33488" y="18288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1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181051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Sem composição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209397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Root sem filhos e sem draft: a solicitação não é editada, só decidida.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33488" y="289179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2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287350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Dois links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315696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ZPCPedidoCompra no pedido e ZPCCliente no cliente e CPF.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3348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3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393649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semanticObjectMapping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421995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CpfCliente é enviado como Cpf, a chave semântica do cliente.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33488" y="5017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4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499948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Busca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528294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NumeroPedido como chave semântica e campo de busca.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REEMBOLSOS · METADATA EXTENSION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Botões de decisão e link direto ao pedido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39496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37667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37667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C_PC_REEMBOLSO_APP.ddlx"/>
          <p:cNvSpPr/>
          <p:nvPr/>
        </p:nvSpPr>
        <p:spPr>
          <a:xfrm>
            <a:off x="640080" y="1719072"/>
            <a:ext cx="214884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ZC_PC_REEMBOLSO_APP.ddlx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14884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ZC_PC_REEMBOLSO_APP.ddlx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ZPC_A_REEMB_DECISAO_INPUT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07492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dataAction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'AprovarReembolso'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'Aprovar'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dataAction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'RejeitarReembolso'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'Rejeitar'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#WITH_INTENT_BASED_NAVIGATION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semanticObjectAction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'manage'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'StatusReembolsoCriticality'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ZPC_A_REEMB_DECISAO_INPUT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MotivoDecisao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Moldura"/>
          <p:cNvSpPr/>
          <p:nvPr/>
        </p:nvSpPr>
        <p:spPr>
          <a:xfrm>
            <a:off x="6010351" y="1645920"/>
            <a:ext cx="5632704" cy="3422904"/>
          </a:xfrm>
          <a:prstGeom prst="roundRect">
            <a:avLst>
              <a:gd name="adj" fmla="val 32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pic>
        <p:nvPicPr>
          <p:cNvPr id="14" name="Image 0" descr="Lista da Gestão de Reembols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503" y="1719072"/>
            <a:ext cx="5486400" cy="3276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083503" y="51785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Gestão de Reembolsos: status colorido pela CodeList e as ações de decisão.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2 · ANALÍTICO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Camada analítica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Um cubo e uma consulta por domínio, todos somente leitura, publicados juntos no serviço ZUI_PC_ANALITICO.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bar-chart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bar-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2606040"/>
          </a:xfrm>
          <a:prstGeom prst="roundRect">
            <a:avLst>
              <a:gd name="adj" fmla="val 4211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ZI_PC_PEDIDO_CUBE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cubo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ZI_PC_CLIENTE_CUBE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cubo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ZI_PC_ITEM_CUBE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cubo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ZI_PC_REEMB_CUBE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cubo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41071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ZC_PC_*_ANALISE (4)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consultas + ddlx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ANALÍTICO · CUBO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Cubos com agregação padrão, prontos para $apply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630936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630936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629107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629107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I_PC_PEDIDO_CUBE.ddls.asddls"/>
          <p:cNvSpPr/>
          <p:nvPr/>
        </p:nvSpPr>
        <p:spPr>
          <a:xfrm>
            <a:off x="640080" y="1719072"/>
            <a:ext cx="249174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ZI_PC_PEDIDO_CUBE.ddls.asddls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49174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5989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@Analytics.dataCategory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#CUBE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@ObjectModel.modelingPattern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#ANALYTICAL_CUBE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@ObjectModel.supportedCapabilities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#ANALYTICAL_PROVIDER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ZI_PC_PEDIDO_CUBE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@ObjectModel.text.element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'StatusPedidoTexto'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_Cliente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_EnderecoPrincipal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@Semantics.calendar.yearMonth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MesCriacao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@Aggregation.default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#SUM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@Aggregation.default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#AVG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ValorMedio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@Aggregation.default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#SUM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abap.int4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QtdePedidos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Cartão"/>
          <p:cNvSpPr/>
          <p:nvPr/>
        </p:nvSpPr>
        <p:spPr>
          <a:xfrm>
            <a:off x="7132320" y="1645920"/>
            <a:ext cx="4510735" cy="4526280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33488" y="18288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1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181051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#CUBE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209397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Categoria analítica: dimensões e medidas.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33488" y="289179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2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287350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#SUM e #AVG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315696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Agregação padrão de cada medida; a média vira o ticket médio.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3348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3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0" y="393649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Contagem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421995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cast( 1 as abap.int4 ) somado = quantidade de pedidos.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33488" y="5017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4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0" y="499948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Dimensões derivadas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528294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UF do endereço principal e mês de criação (AAAAMM).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ANALÍTICO · CUBOS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Medidas e dimensões dos quatro cubos</a:t>
            </a:r>
            <a:endParaRPr lang="en-US" sz="3000" dirty="0"/>
          </a:p>
        </p:txBody>
      </p:sp>
      <p:sp>
        <p:nvSpPr>
          <p:cNvPr id="5" name="Fundo da tabela"/>
          <p:cNvSpPr/>
          <p:nvPr/>
        </p:nvSpPr>
        <p:spPr>
          <a:xfrm>
            <a:off x="548640" y="1645920"/>
            <a:ext cx="11094415" cy="3877056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55648"/>
          <a:ext cx="1082009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396209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Cubo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Dimensões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Medidas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ZI_PC_PEDIDO_CUBE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status do pedido, status do pagamento, UF, mês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ValorTotal (SUM), ValorMedio (AVG), QtdePedidos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ZI_PC_CLIENTE_CUBE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gênero, ativo, UF, faixa de score (BAIXO &lt;40, MEDIO ≤70, ALTO), mês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QtdeClientes (SUM), ScoreMedio (AVG)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ZI_PC_ITEM_CUBE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categoria, status do estoque, ativo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QtdeEstoque, QtdeReservada, QtdeDisponivel, ValorEstoque, QtdeItens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ZI_PC_REEMB_CUBE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status do reembolso, motivo, UF, mês da solicitação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ValorReembolso (SUM), QtdeReembolsos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5623560"/>
            <a:ext cx="11094415" cy="548640"/>
          </a:xfrm>
          <a:prstGeom prst="roundRect">
            <a:avLst>
              <a:gd name="adj" fmla="val 20000"/>
            </a:avLst>
          </a:prstGeom>
          <a:solidFill>
            <a:srgbClr val="F3ECFB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77240" y="562356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Cada consulta ZC_PC_*_ANALISE seleciona do cubo, repete as agregações e acrescenta busca e semantic objects.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ANALÍTICO · CONSULTA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Consultas com gráficos declarados em UI.Chart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603504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603504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601675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601675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C_PC_PEDIDO_ANALISE.ddlx.asddlxs"/>
          <p:cNvSpPr/>
          <p:nvPr/>
        </p:nvSpPr>
        <p:spPr>
          <a:xfrm>
            <a:off x="640080" y="1719072"/>
            <a:ext cx="276606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ZC_PC_PEDIDO_ANALISE.ddlx.asddlxs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76606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57150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@UI.chart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'ValorPorStatus'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#COLUMN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'StatusPedido'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'ValorTotal'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'PedidosPorPagamento'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#DONUT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'StatusPagamento'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'QtdePedidos'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'PedidosPorMes'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#COLUMN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'MesCriacao'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'QtdePedidos'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@UI.presentationVariant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'PedidosPorMes'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sortOrder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'MesCriacao'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#ASC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visualizations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#AS_CHART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'PedidosPorMes'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</p:txBody>
      </p:sp>
      <p:sp>
        <p:nvSpPr>
          <p:cNvPr id="12" name="Moldura"/>
          <p:cNvSpPr/>
          <p:nvPr/>
        </p:nvSpPr>
        <p:spPr>
          <a:xfrm>
            <a:off x="6876288" y="1645920"/>
            <a:ext cx="4766767" cy="2949435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pic>
        <p:nvPicPr>
          <p:cNvPr id="13" name="Image 0" descr="Painel da Análise de Pedidos de Reembols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719072"/>
            <a:ext cx="4620463" cy="280313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76288" y="4705083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Os mesmos cenários renderizados pela app de análise de reembolsos.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MÃO NA MASSA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Ordem de ativação e armadilhas desta etapa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56692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" y="2002536"/>
            <a:ext cx="475488" cy="475488"/>
          </a:xfrm>
          <a:prstGeom prst="ellipse">
            <a:avLst/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CDS base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02996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ZR_PC_CODELIST e value helps de CodeList → ZR_PC_CLIENTE + ZR_PC_ENDERECO (juntas) → ZR_PC_ITEM → views do pedido e ZR_PC_REEMBOLSO</a:t>
            </a:r>
            <a:endParaRPr lang="en-US" sz="1100" dirty="0"/>
          </a:p>
        </p:txBody>
      </p:sp>
      <p:sp>
        <p:nvSpPr>
          <p:cNvPr id="9" name="Cartão"/>
          <p:cNvSpPr/>
          <p:nvPr/>
        </p:nvSpPr>
        <p:spPr>
          <a:xfrm>
            <a:off x="548640" y="2971800"/>
            <a:ext cx="56692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9808" y="3145536"/>
            <a:ext cx="475488" cy="475488"/>
          </a:xfrm>
          <a:prstGeom prst="ellipse">
            <a:avLst/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3081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Abstract entities e value helps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3558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ZPC_A_* e ZC_PC_*_VH, inclusive ZC_PC_CEP_VH</a:t>
            </a:r>
            <a:endParaRPr lang="en-US" sz="1100" dirty="0"/>
          </a:p>
        </p:txBody>
      </p:sp>
      <p:sp>
        <p:nvSpPr>
          <p:cNvPr id="13" name="Cartão"/>
          <p:cNvSpPr/>
          <p:nvPr/>
        </p:nvSpPr>
        <p:spPr>
          <a:xfrm>
            <a:off x="548640" y="3931920"/>
            <a:ext cx="56692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9808" y="4105656"/>
            <a:ext cx="475488" cy="475488"/>
          </a:xfrm>
          <a:prstGeom prst="ellipse">
            <a:avLst/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4041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Projeções e metadata extensions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43159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ZC_*_APP ativadas por BO, junto com os .ddlx</a:t>
            </a:r>
            <a:endParaRPr lang="en-US" sz="1100" dirty="0"/>
          </a:p>
        </p:txBody>
      </p:sp>
      <p:sp>
        <p:nvSpPr>
          <p:cNvPr id="17" name="Cartão"/>
          <p:cNvSpPr/>
          <p:nvPr/>
        </p:nvSpPr>
        <p:spPr>
          <a:xfrm>
            <a:off x="548640" y="4892040"/>
            <a:ext cx="5669280" cy="1280160"/>
          </a:xfrm>
          <a:prstGeom prst="roundRect">
            <a:avLst>
              <a:gd name="adj" fmla="val 8571"/>
            </a:avLst>
          </a:prstGeom>
          <a:solidFill>
            <a:srgbClr val="E1F4FF"/>
          </a:solidFill>
          <a:ln/>
        </p:spPr>
      </p:sp>
      <p:pic>
        <p:nvPicPr>
          <p:cNvPr id="18" name="Image 0" descr="h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7492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325880" y="50292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Cliente e Endereço se referenciam (composição e associação de volta ao pai): ative as duas views juntas, selecionando ambas no ADT.</a:t>
            </a:r>
            <a:endParaRPr lang="en-US" sz="1250" dirty="0"/>
          </a:p>
        </p:txBody>
      </p:sp>
      <p:sp>
        <p:nvSpPr>
          <p:cNvPr id="20" name="Cartão"/>
          <p:cNvSpPr/>
          <p:nvPr/>
        </p:nvSpPr>
        <p:spPr>
          <a:xfrm>
            <a:off x="6492240" y="1645920"/>
            <a:ext cx="515081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Ícone status-negative"/>
          <p:cNvSpPr/>
          <p:nvPr/>
        </p:nvSpPr>
        <p:spPr>
          <a:xfrm>
            <a:off x="6720840" y="1874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22" name="Image 1" descr="status-negati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198424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360920" y="1847088"/>
            <a:ext cx="4053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hidden com CASE/CAST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7360920" y="2212848"/>
            <a:ext cx="4053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annotation hidden não aceita expressão calculada: use um campo persistido (xfeld).</a:t>
            </a:r>
            <a:endParaRPr lang="en-US" sz="1200" dirty="0"/>
          </a:p>
        </p:txBody>
      </p:sp>
      <p:sp>
        <p:nvSpPr>
          <p:cNvPr id="25" name="Cartão"/>
          <p:cNvSpPr/>
          <p:nvPr/>
        </p:nvSpPr>
        <p:spPr>
          <a:xfrm>
            <a:off x="6492240" y="3200400"/>
            <a:ext cx="515081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Ícone message-warning"/>
          <p:cNvSpPr/>
          <p:nvPr/>
        </p:nvSpPr>
        <p:spPr>
          <a:xfrm>
            <a:off x="6720840" y="34290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7" name="Image 2" descr="message-war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3538728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60920" y="3401568"/>
            <a:ext cx="4053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Composição [0..1] como tabela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7360920" y="3767328"/>
            <a:ext cx="4053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Fiori Elements V4 só monta tabela para cardinalidade N: use IDENTIFICATION_REFERENCE.</a:t>
            </a:r>
            <a:endParaRPr lang="en-US" sz="1200" dirty="0"/>
          </a:p>
        </p:txBody>
      </p:sp>
      <p:sp>
        <p:nvSpPr>
          <p:cNvPr id="30" name="Cartão"/>
          <p:cNvSpPr/>
          <p:nvPr/>
        </p:nvSpPr>
        <p:spPr>
          <a:xfrm>
            <a:off x="6492240" y="4754880"/>
            <a:ext cx="515081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1" name="Ícone message-information"/>
          <p:cNvSpPr/>
          <p:nvPr/>
        </p:nvSpPr>
        <p:spPr>
          <a:xfrm>
            <a:off x="6720840" y="4983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32" name="Image 3" descr="message-inform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5093208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360920" y="4956048"/>
            <a:ext cx="4053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UUID aparecendo na tela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7360920" y="5321808"/>
            <a:ext cx="4053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Combine text.element com textArrangement: #TEXT_ONLY para mostrar só o nome.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2 CONCLUÍDA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Modelo virtual pronto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Dez views de BO, nove projeções, treze metadata extensions, onze value helps, sete abstract entities e quatro cubos.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5266944"/>
            <a:ext cx="10131552" cy="0"/>
          </a:xfrm>
          <a:prstGeom prst="line">
            <a:avLst/>
          </a:prstGeom>
          <a:noFill/>
          <a:ln w="25400">
            <a:solidFill>
              <a:srgbClr val="3A4654"/>
            </a:solidFill>
            <a:prstDash val="solid"/>
          </a:ln>
        </p:spPr>
      </p:sp>
      <p:sp>
        <p:nvSpPr>
          <p:cNvPr id="8" name="Etapa 1"/>
          <p:cNvSpPr/>
          <p:nvPr/>
        </p:nvSpPr>
        <p:spPr>
          <a:xfrm>
            <a:off x="731520" y="5074920"/>
            <a:ext cx="384048" cy="384048"/>
          </a:xfrm>
          <a:prstGeom prst="ellipse">
            <a:avLst/>
          </a:prstGeom>
          <a:solidFill>
            <a:srgbClr val="1F4F86"/>
          </a:solidFill>
          <a:ln w="19050">
            <a:solidFill>
              <a:srgbClr val="1F4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2024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Modelagem de dados</a:t>
            </a:r>
            <a:endParaRPr lang="en-US" sz="1100" dirty="0"/>
          </a:p>
        </p:txBody>
      </p:sp>
      <p:sp>
        <p:nvSpPr>
          <p:cNvPr id="10" name="Etapa 2"/>
          <p:cNvSpPr/>
          <p:nvPr/>
        </p:nvSpPr>
        <p:spPr>
          <a:xfrm>
            <a:off x="3264408" y="5074920"/>
            <a:ext cx="384048" cy="384048"/>
          </a:xfrm>
          <a:prstGeom prst="ellipse">
            <a:avLst/>
          </a:prstGeom>
          <a:solidFill>
            <a:srgbClr val="1F4F86"/>
          </a:solidFill>
          <a:ln w="19050">
            <a:solidFill>
              <a:srgbClr val="1F4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Core Data Services</a:t>
            </a:r>
            <a:endParaRPr lang="en-US" sz="1100" dirty="0"/>
          </a:p>
        </p:txBody>
      </p:sp>
      <p:sp>
        <p:nvSpPr>
          <p:cNvPr id="12" name="Etapa 3"/>
          <p:cNvSpPr/>
          <p:nvPr/>
        </p:nvSpPr>
        <p:spPr>
          <a:xfrm>
            <a:off x="5797296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Comportamento RAP</a:t>
            </a:r>
            <a:endParaRPr lang="en-US" sz="1100" dirty="0"/>
          </a:p>
        </p:txBody>
      </p:sp>
      <p:sp>
        <p:nvSpPr>
          <p:cNvPr id="14" name="Etapa 4"/>
          <p:cNvSpPr/>
          <p:nvPr/>
        </p:nvSpPr>
        <p:spPr>
          <a:xfrm>
            <a:off x="8330184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Serviços OData</a:t>
            </a:r>
            <a:endParaRPr lang="en-US" sz="1100" dirty="0"/>
          </a:p>
        </p:txBody>
      </p:sp>
      <p:sp>
        <p:nvSpPr>
          <p:cNvPr id="16" name="Etapa 5"/>
          <p:cNvSpPr/>
          <p:nvPr/>
        </p:nvSpPr>
        <p:spPr>
          <a:xfrm>
            <a:off x="10863072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323576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Apps Fiori</a:t>
            </a:r>
            <a:endParaRPr lang="en-US" sz="1100" dirty="0"/>
          </a:p>
        </p:txBody>
      </p:sp>
      <p:sp>
        <p:nvSpPr>
          <p:cNvPr id="18" name="Próxima etapa"/>
          <p:cNvSpPr/>
          <p:nvPr/>
        </p:nvSpPr>
        <p:spPr>
          <a:xfrm>
            <a:off x="8183880" y="178308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1D23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PRÓXIMA ETAPA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286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Comportamento RAP: draft, regras e ações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 - Pedidos de Compras">
  <a:themeElements>
    <a:clrScheme name="SAP Horizon - Pedidos de Compras">
      <a:dk1>
        <a:srgbClr val="1D2D3E"/>
      </a:dk1>
      <a:lt1>
        <a:srgbClr val="FFFFFF"/>
      </a:lt1>
      <a:dk2>
        <a:srgbClr val="12171C"/>
      </a:dk2>
      <a:lt2>
        <a:srgbClr val="F5F6F7"/>
      </a:lt2>
      <a:accent1>
        <a:srgbClr val="0070F2"/>
      </a:accent1>
      <a:accent2>
        <a:srgbClr val="049F9A"/>
      </a:accent2>
      <a:accent3>
        <a:srgbClr val="8B47D7"/>
      </a:accent3>
      <a:accent4>
        <a:srgbClr val="C87B00"/>
      </a:accent4>
      <a:accent5>
        <a:srgbClr val="DF1278"/>
      </a:accent5>
      <a:accent6>
        <a:srgbClr val="256F3A"/>
      </a:accent6>
      <a:hlink>
        <a:srgbClr val="0064D9"/>
      </a:hlink>
      <a:folHlink>
        <a:srgbClr val="8B47D7"/>
      </a:folHlink>
    </a:clrScheme>
    <a:fontScheme name="SAP Horizon - Pedidos de Compra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Pedidos de Compras - SAP RAP / ABAP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2 - Core Data Services</dc:title>
  <dc:subject>Pedidos de Compras no SAP BTP ABAP Environment</dc:subject>
  <dc:creator>Adriano Bispo</dc:creator>
  <cp:lastModifiedBy>Adriano Bispo</cp:lastModifiedBy>
  <cp:revision>1</cp:revision>
  <dcterms:created xsi:type="dcterms:W3CDTF">2026-10-20T11:13:53Z</dcterms:created>
  <dcterms:modified xsi:type="dcterms:W3CDTF">2026-10-20T11:13:53Z</dcterms:modified>
</cp:coreProperties>
</file>