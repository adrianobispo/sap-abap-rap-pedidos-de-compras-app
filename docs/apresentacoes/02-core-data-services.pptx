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7d10bd3-a018-4b9e-8828-0421a18b77bc}">
          <p14:sldIdLst>
            <p14:sldId id="256"/>
            <p14:sldId id="257"/>
            <p14:sldId id="258"/>
          </p14:sldIdLst>
        </p14:section>
        <p14:section name="Business Objects" id="{a46b4c7e-f568-a04b-ac94-4e437ef4e1bc}">
          <p14:sldIdLst>
            <p14:sldId id="259"/>
            <p14:sldId id="260"/>
            <p14:sldId id="261"/>
            <p14:sldId id="262"/>
          </p14:sldIdLst>
        </p14:section>
        <p14:section name="Anotações de UI" id="{fe57caea-2a45-8c6e-73c3-b28240aa4d03}">
          <p14:sldIdLst>
            <p14:sldId id="263"/>
            <p14:sldId id="264"/>
            <p14:sldId id="265"/>
          </p14:sldIdLst>
        </p14:section>
        <p14:section name="Analítico" id="{7dd7392e-ad0e-659a-53bd-43b715cd0083}">
          <p14:sldIdLst>
            <p14:sldId id="266"/>
            <p14:sldId id="267"/>
          </p14:sldIdLst>
        </p14:section>
        <p14:section name="Encerramento" id="{d5196b54-990c-dcf9-64d0-90603141e17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etapa. Sobre as tabelas da etapa 1 construímos as CDS view entities: a camada ZR_ que define os BOs, as projeções ZC_*_APP consumidas pelas apps, as value helps e a camada analítica.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da esquerda para a direita. As views ZR_ são a única camada que lê as tabelas; tudo o que é consumido (projeções, value helps e cubos) é construído sobre elas, e cada linha termina em um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convenção de nomes segue o modelo virtual de dados (VDM) da SAP adaptado ao projeto. Em uma revisão de código, o prefixo já indica em qual camada o objeto está e quem pode consumi-lo.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root view do pedido lê a tabela, declara as composições (os filhos que pertencem ao BO e compartilham bloqueio e draft) e as associações para outros BOs e para os textos das CodeLists. Os campos ganham nomes CamelCase e semântica administrativa.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BO é uma árvore com um root. O Pedido é o mais rico, com quatro filhos; o Reembolso foi separado do Pedido na v2.1 e virou root próprio, sem draft, com app dedicada.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a app vê e acrescenta o que é de UI: busca, chave semântica, textos no lugar de UUIDs, value helps e os semantic objects que permitem navegar para a app de Clientes direto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value helps de CodeList filtram ZR_PC_CODELIST por lista e carregam criticality e ordem. A de CEP agrega os endereços já validados, um registro por CEP, para que a determination reaproveite os dados antes de chamar o ViaCEP.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de UI ficam em metadata extensions (.ddlx), separadas da projeção. lineItem define as colunas, selectionField os filtros, criticality a cor do status e FOR_ACTION_GROUP agrupa as ações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Itens existem em duas versões com o mesmo título: dados vivos enquanto o pedido está aberto e snapshots depois do encerramento. A expressão hidden: #(PedidoEncerrado) só funciona sobre um campo persistido; por isso os indicadores viraram colunas xfeld na etapa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abstract entity não tem tabela: descreve os parâmetros de uma action. O Fiori Elements monta o diálogo a partir dela, inclusive com value help. Para o upload de planilha, a entidade deep com @Semantics.largeObject vira um campo de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tem um cubo ZI_ sobre a view de BO e uma consulta ZC_*_ANALISE exposta no serviço ZUI_PC_ANALITICO. A agregação acontece no servidor: as apps de análise pedem groupby e aggregate e recebem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4, 5 e 7 da ordem de criação. A view de reembolso precisa estar ativa, com sua BDEF, antes da behavior pool do Pedido, que cria reembolsos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camadas: ZR_ define o BO, ZC_*_APP o contrato com a app, VH as listas, ddlx a UI e os cubos a análise. Na próxima etapa damos comportamento aos BOs com as behavior definitions.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2 de 5 — Core Data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Core Data Services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modelo virtual sobre as tabelas: views de BO, projeções, value helps, anotações de UI e cubos analíticos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ARQUITETURA DE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 tabela ao serviço, em quatro camadas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103120" cy="4434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table-view"/>
          <p:cNvSpPr/>
          <p:nvPr/>
        </p:nvSpPr>
        <p:spPr>
          <a:xfrm>
            <a:off x="731520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934139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8288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ZTA_PC_*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95728"/>
            <a:ext cx="17373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Tabelas ativas da etapa 1. Só a camada ZR_ lê estas tabelas.</a:t>
            </a:r>
            <a:endParaRPr lang="en-US" sz="1150" dirty="0"/>
          </a:p>
        </p:txBody>
      </p:sp>
      <p:sp>
        <p:nvSpPr>
          <p:cNvPr id="10" name="Cartão"/>
          <p:cNvSpPr/>
          <p:nvPr/>
        </p:nvSpPr>
        <p:spPr>
          <a:xfrm>
            <a:off x="3090672" y="1645920"/>
            <a:ext cx="2286000" cy="44348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business-objects-experience"/>
          <p:cNvSpPr/>
          <p:nvPr/>
        </p:nvSpPr>
        <p:spPr>
          <a:xfrm>
            <a:off x="3273552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business-objects-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891" y="1934139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22192" y="18288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273552" y="2395728"/>
            <a:ext cx="1920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Views de BO: root, filhos por composição, associações, semântica de campos e textos das CodeLists.</a:t>
            </a:r>
            <a:endParaRPr lang="en-US" sz="1150" dirty="0"/>
          </a:p>
        </p:txBody>
      </p:sp>
      <p:sp>
        <p:nvSpPr>
          <p:cNvPr id="15" name="Cartão"/>
          <p:cNvSpPr/>
          <p:nvPr/>
        </p:nvSpPr>
        <p:spPr>
          <a:xfrm>
            <a:off x="5815584" y="164592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5998464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803" y="193413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47104" y="182880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98464" y="23957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Projeções transacionais com busca, textos e navegação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5815584" y="315468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earch"/>
          <p:cNvSpPr/>
          <p:nvPr/>
        </p:nvSpPr>
        <p:spPr>
          <a:xfrm>
            <a:off x="5998464" y="33375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803" y="3442899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7104" y="333756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98464" y="3904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Value helps de clientes, itens, CEPs e CodeLists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815584" y="466344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bar-chart"/>
          <p:cNvSpPr/>
          <p:nvPr/>
        </p:nvSpPr>
        <p:spPr>
          <a:xfrm>
            <a:off x="5998464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803" y="4951659"/>
            <a:ext cx="228234" cy="22823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47104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ZI_*_CUBE → ZC_*_ANALISE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5998464" y="5413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Cubos e consultas analíticas, só leitura</a:t>
            </a:r>
            <a:endParaRPr lang="en-US" sz="1150" dirty="0"/>
          </a:p>
        </p:txBody>
      </p:sp>
      <p:sp>
        <p:nvSpPr>
          <p:cNvPr id="30" name="Cartão"/>
          <p:cNvSpPr/>
          <p:nvPr/>
        </p:nvSpPr>
        <p:spPr>
          <a:xfrm>
            <a:off x="9272016" y="1645920"/>
            <a:ext cx="2377440" cy="2926080"/>
          </a:xfrm>
          <a:prstGeom prst="roundRect">
            <a:avLst>
              <a:gd name="adj" fmla="val 4615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9454896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5" descr="chain-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0235" y="1934139"/>
            <a:ext cx="228234" cy="22823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003536" y="18288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9454896" y="2395728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Quatro serviços de gestão: Clientes, Estoque, Pedidos e Reembolsos.</a:t>
            </a:r>
            <a:endParaRPr lang="en-US" sz="1150" dirty="0"/>
          </a:p>
        </p:txBody>
      </p:sp>
      <p:sp>
        <p:nvSpPr>
          <p:cNvPr id="35" name="Cartão"/>
          <p:cNvSpPr/>
          <p:nvPr/>
        </p:nvSpPr>
        <p:spPr>
          <a:xfrm>
            <a:off x="9272016" y="46634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3ECFB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chain-link"/>
          <p:cNvSpPr/>
          <p:nvPr/>
        </p:nvSpPr>
        <p:spPr>
          <a:xfrm>
            <a:off x="9454896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7" name="Image 6" descr="chain-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0235" y="4951659"/>
            <a:ext cx="228234" cy="22823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0003536" y="484632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9454896" y="5413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serviço para as 4 apps de análise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2651760" y="3858768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1" name="Shape 31"/>
          <p:cNvSpPr/>
          <p:nvPr/>
        </p:nvSpPr>
        <p:spPr>
          <a:xfrm>
            <a:off x="5376672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2" name="Shape 32"/>
          <p:cNvSpPr/>
          <p:nvPr/>
        </p:nvSpPr>
        <p:spPr>
          <a:xfrm>
            <a:off x="5376672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8833104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8833104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8833104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CONVENÇÕES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prefixo diz o papel de cada objeto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697480"/>
                <a:gridCol w="640080"/>
                <a:gridCol w="33677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Prefixo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Qtde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Root / filhos do BO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Base de tudo; recebe a behavior definition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Projeção transacional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O que cada app enxerga; recebe a BDEF de projeção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Listas de seleção; CodeLists com criticality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Abstract entity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Parâmetros das actions (diálogos)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ZI_PC_*_CUBE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Cubo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Medidas com agregação padrão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Consulta analítica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Exposta no serviço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VIEWS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root view declara o formato do Business Object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694944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ZAVBS_PC_PEDIDOS/Core Data Services/ZR_PC_PEDIDO.ddls.asddls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649224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649224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$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@Semantics.systemDateTime.localInstanceLastChangedAt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Cartão"/>
          <p:cNvSpPr/>
          <p:nvPr/>
        </p:nvSpPr>
        <p:spPr>
          <a:xfrm>
            <a:off x="7772400" y="1645920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org-chart"/>
          <p:cNvSpPr/>
          <p:nvPr/>
        </p:nvSpPr>
        <p:spPr>
          <a:xfrm>
            <a:off x="795528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0" descr="org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08" y="193852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577072" y="17739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577072" y="20574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Filhos do mesmo BO: herdam lock, ETag e draft do root.</a:t>
            </a:r>
            <a:endParaRPr lang="en-US" sz="1100" dirty="0"/>
          </a:p>
        </p:txBody>
      </p:sp>
      <p:sp>
        <p:nvSpPr>
          <p:cNvPr id="14" name="Cartão"/>
          <p:cNvSpPr/>
          <p:nvPr/>
        </p:nvSpPr>
        <p:spPr>
          <a:xfrm>
            <a:off x="7772400" y="2807208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chain-link"/>
          <p:cNvSpPr/>
          <p:nvPr/>
        </p:nvSpPr>
        <p:spPr>
          <a:xfrm>
            <a:off x="7955280" y="2990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6" name="Image 1" descr="chain-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08" y="30998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77072" y="29352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577072" y="32186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Leitura de outro BO ou de textos, sem acoplar o ciclo de vida.</a:t>
            </a:r>
            <a:endParaRPr lang="en-US" sz="1100" dirty="0"/>
          </a:p>
        </p:txBody>
      </p:sp>
      <p:sp>
        <p:nvSpPr>
          <p:cNvPr id="19" name="Cartão"/>
          <p:cNvSpPr/>
          <p:nvPr/>
        </p:nvSpPr>
        <p:spPr>
          <a:xfrm>
            <a:off x="7772400" y="3968496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7955280" y="415137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426110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577072" y="4096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CodeList por associação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577072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Filtro fixo por Lista; o texto vira o @ObjectModel.text.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7772400" y="5129784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Ícone history"/>
          <p:cNvSpPr/>
          <p:nvPr/>
        </p:nvSpPr>
        <p:spPr>
          <a:xfrm>
            <a:off x="7955280" y="531266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6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5422392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577072" y="5257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577072" y="5541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Marca quem criou/alterou e o timestamp usado como ETag.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árvores de composição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468880" cy="45262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498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38528"/>
            <a:ext cx="237744" cy="237744"/>
          </a:xfrm>
          <a:prstGeom prst="rect">
            <a:avLst/>
          </a:prstGeom>
        </p:spPr>
      </p:pic>
      <p:sp>
        <p:nvSpPr>
          <p:cNvPr id="8" name="Status draft"/>
          <p:cNvSpPr/>
          <p:nvPr/>
        </p:nvSpPr>
        <p:spPr>
          <a:xfrm>
            <a:off x="13258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9" name="Status ViaCEP"/>
          <p:cNvSpPr/>
          <p:nvPr/>
        </p:nvSpPr>
        <p:spPr>
          <a:xfrm>
            <a:off x="2053742" y="1920240"/>
            <a:ext cx="72713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ViaCEP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49808" y="2514600"/>
            <a:ext cx="206654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326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15568" y="3063240"/>
            <a:ext cx="170078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49808" y="5120640"/>
            <a:ext cx="206654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5230368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com CEP, logradouro e indicador de principal.</a:t>
            </a:r>
            <a:endParaRPr lang="en-US" sz="1150" dirty="0"/>
          </a:p>
        </p:txBody>
      </p:sp>
      <p:sp>
        <p:nvSpPr>
          <p:cNvPr id="16" name="Cartão"/>
          <p:cNvSpPr/>
          <p:nvPr/>
        </p:nvSpPr>
        <p:spPr>
          <a:xfrm>
            <a:off x="3200400" y="1645920"/>
            <a:ext cx="21945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Ícone product"/>
          <p:cNvSpPr/>
          <p:nvPr/>
        </p:nvSpPr>
        <p:spPr>
          <a:xfrm>
            <a:off x="340156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38528"/>
            <a:ext cx="237744" cy="237744"/>
          </a:xfrm>
          <a:prstGeom prst="rect">
            <a:avLst/>
          </a:prstGeom>
        </p:spPr>
      </p:pic>
      <p:sp>
        <p:nvSpPr>
          <p:cNvPr id="19" name="Status draft"/>
          <p:cNvSpPr/>
          <p:nvPr/>
        </p:nvSpPr>
        <p:spPr>
          <a:xfrm>
            <a:off x="397764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0" name="Status SKU"/>
          <p:cNvSpPr/>
          <p:nvPr/>
        </p:nvSpPr>
        <p:spPr>
          <a:xfrm>
            <a:off x="4705502" y="192024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SKU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401568" y="2514600"/>
            <a:ext cx="17922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3401568" y="30632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401568" y="5120640"/>
            <a:ext cx="17922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01568" y="5230368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Estoque, reserva e disponível na própria entidade.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5778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les-order"/>
          <p:cNvSpPr/>
          <p:nvPr/>
        </p:nvSpPr>
        <p:spPr>
          <a:xfrm>
            <a:off x="57790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38528"/>
            <a:ext cx="237744" cy="237744"/>
          </a:xfrm>
          <a:prstGeom prst="rect">
            <a:avLst/>
          </a:prstGeom>
        </p:spPr>
      </p:pic>
      <p:sp>
        <p:nvSpPr>
          <p:cNvPr id="28" name="Status draft"/>
          <p:cNvSpPr/>
          <p:nvPr/>
        </p:nvSpPr>
        <p:spPr>
          <a:xfrm>
            <a:off x="63550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9" name="Status 4 filhos"/>
          <p:cNvSpPr/>
          <p:nvPr/>
        </p:nvSpPr>
        <p:spPr>
          <a:xfrm>
            <a:off x="7082942" y="1920240"/>
            <a:ext cx="87197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4 filhos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779008" y="2514600"/>
            <a:ext cx="31638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9618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9618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44768" y="306324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961888" y="322783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961888" y="375818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144768" y="356616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961888" y="373075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61888" y="426110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144768" y="406908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961888" y="423367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5961888" y="476402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144768" y="457200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779008" y="5120640"/>
            <a:ext cx="31638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5779008" y="523036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Pagamento e snapshots só são criados por actions internas.</a:t>
            </a:r>
            <a:endParaRPr lang="en-US" sz="1150" dirty="0"/>
          </a:p>
        </p:txBody>
      </p:sp>
      <p:sp>
        <p:nvSpPr>
          <p:cNvPr id="45" name="Cartão"/>
          <p:cNvSpPr/>
          <p:nvPr/>
        </p:nvSpPr>
        <p:spPr>
          <a:xfrm>
            <a:off x="9326880" y="1645920"/>
            <a:ext cx="2313432" cy="4526280"/>
          </a:xfrm>
          <a:prstGeom prst="roundRect">
            <a:avLst>
              <a:gd name="adj" fmla="val 47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money-bills"/>
          <p:cNvSpPr/>
          <p:nvPr/>
        </p:nvSpPr>
        <p:spPr>
          <a:xfrm>
            <a:off x="952804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7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1938528"/>
            <a:ext cx="237744" cy="237744"/>
          </a:xfrm>
          <a:prstGeom prst="rect">
            <a:avLst/>
          </a:prstGeom>
        </p:spPr>
      </p:pic>
      <p:sp>
        <p:nvSpPr>
          <p:cNvPr id="48" name="Status sem draft"/>
          <p:cNvSpPr/>
          <p:nvPr/>
        </p:nvSpPr>
        <p:spPr>
          <a:xfrm>
            <a:off x="10104120" y="1920240"/>
            <a:ext cx="94439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3E00"/>
                </a:solidFill>
              </a:rPr>
              <a:t>sem draft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9528048" y="2514600"/>
            <a:ext cx="1911096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1100" dirty="0"/>
          </a:p>
        </p:txBody>
      </p:sp>
      <p:sp>
        <p:nvSpPr>
          <p:cNvPr id="50" name="Text 43"/>
          <p:cNvSpPr txBox="1"/>
          <p:nvPr/>
        </p:nvSpPr>
        <p:spPr>
          <a:xfrm>
            <a:off x="9528048" y="3063240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9528048" y="5120640"/>
            <a:ext cx="1911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9528048" y="5230368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Criado pelo Pedido via EML; decidido na app de Reembolsos.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PROJEÇÕES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projeção é o contrato com a app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ZC_PC_PEDIDO_APP.ddls.asddls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557784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557784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'ZC_PC_CLIENTE_VH'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@Search.fuzzinessThreshold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Cartão"/>
          <p:cNvSpPr/>
          <p:nvPr/>
        </p:nvSpPr>
        <p:spPr>
          <a:xfrm>
            <a:off x="6858000" y="1645920"/>
            <a:ext cx="478505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086600" y="1856232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71232" y="18288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provider contract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571232" y="210312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transactional_query: a projeção pode receber a BDEF de projeção e ser exposta com draft.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86600" y="2706624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71232" y="267919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Busca e chave semântica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571232" y="295351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@Search.searchable e @ObjectModel.semanticKey: o usuário busca e vê o número, não o UUID.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86600" y="3557016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71232" y="352958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Texto no lugar do UUID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571232" y="3803904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@ObjectModel.text.element + @UI.textArrangement: #TEXT_ONLY mostram o nome do cliente.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86600" y="4407408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571232" y="437997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Value help validada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571232" y="4654296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useForValidation: valores digitados fora da lista são recusados pelo Fiori.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86600" y="5257800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71232" y="523036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 entre apps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571232" y="550468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@Consumption.semanticObject: 'ZPCCliente' transforma Cliente e CPF em links.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Onze value helps alimentam campos e filtros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5120640" cy="3657600"/>
          </a:xfrm>
          <a:prstGeom prst="roundRect">
            <a:avLst>
              <a:gd name="adj" fmla="val 250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ZC_PC_CEP_VH.ddls.asddls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466344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46634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* )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5532120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1F4FF"/>
          </a:solidFill>
          <a:ln/>
        </p:spPr>
      </p:sp>
      <p:pic>
        <p:nvPicPr>
          <p:cNvPr id="10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5321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max() com group by: um CEP por linha, sem CEP geral de município.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5989320" y="1645920"/>
            <a:ext cx="5653735" cy="1636776"/>
          </a:xfrm>
          <a:prstGeom prst="roundRect">
            <a:avLst>
              <a:gd name="adj" fmla="val 6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217920" y="182880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Entidades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Escolher registros de outro BO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2395728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19088" y="2304288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816188" y="2395728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9017356" y="2304288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217920" y="2779776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19088" y="2688336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816188" y="2779776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017356" y="2688336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50" dirty="0"/>
          </a:p>
        </p:txBody>
      </p:sp>
      <p:sp>
        <p:nvSpPr>
          <p:cNvPr id="22" name="Cartão"/>
          <p:cNvSpPr/>
          <p:nvPr/>
        </p:nvSpPr>
        <p:spPr>
          <a:xfrm>
            <a:off x="5989320" y="3511296"/>
            <a:ext cx="5653735" cy="2404872"/>
          </a:xfrm>
          <a:prstGeom prst="roundRect">
            <a:avLst>
              <a:gd name="adj" fmla="val 45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217920" y="3694176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CodeLists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Texto, criticality e ordem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4261104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19088" y="4169664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8816188" y="4261104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9017356" y="4169664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217920" y="4645152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19088" y="4553712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816188" y="4645152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9017356" y="4553712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217920" y="5029200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19088" y="4937760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8816188" y="5029200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9017356" y="4937760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217920" y="5413248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419088" y="5321808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METADATA EXTENSIONS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@UI desenham a List Report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ZC_PC_PEDIDO_APP.ddlx.asddlxs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457200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457200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do 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}] 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'Ações'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'SimularPagamento'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 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 ] 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9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0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16168" y="5303520"/>
            <a:ext cx="5724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Resultado: List Report da app Pedidos de Compras, com filtros, status coloridos e menu de 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Facets com hidden: #(campo) tornam a página dinâmica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ZC_PC_PEDIDO_APP.ddlx.asddlxs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457200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457200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'DadosClienteSnap'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'_ClienteSnapshot'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PedidoAtivoSemHistorico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PedidoNaoCancelado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} ]</a:t>
            </a:r>
            <a:endParaRPr lang="en-US" sz="1050" dirty="0"/>
          </a:p>
        </p:txBody>
      </p:sp>
      <p:sp>
        <p:nvSpPr>
          <p:cNvPr id="9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0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1" name="Status #(Campo) aceito"/>
          <p:cNvSpPr/>
          <p:nvPr/>
        </p:nvSpPr>
        <p:spPr>
          <a:xfrm>
            <a:off x="5916168" y="5349240"/>
            <a:ext cx="1428293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#(Campo) aceito</a:t>
            </a:r>
            <a:endParaRPr lang="en-US" sz="1150" dirty="0"/>
          </a:p>
        </p:txBody>
      </p:sp>
      <p:sp>
        <p:nvSpPr>
          <p:cNvPr id="12" name="Status &amp;apos;Campo&amp;apos; rejeitado"/>
          <p:cNvSpPr/>
          <p:nvPr/>
        </p:nvSpPr>
        <p:spPr>
          <a:xfrm>
            <a:off x="7454189" y="5349240"/>
            <a:ext cx="1579717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'Campo' rejeitado</a:t>
            </a:r>
            <a:endParaRPr lang="en-US" sz="1150" dirty="0"/>
          </a:p>
        </p:txBody>
      </p:sp>
      <p:sp>
        <p:nvSpPr>
          <p:cNvPr id="13" name="Status [0..1] vira formulário"/>
          <p:cNvSpPr/>
          <p:nvPr/>
        </p:nvSpPr>
        <p:spPr>
          <a:xfrm>
            <a:off x="9143634" y="5349240"/>
            <a:ext cx="195827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[0..1] vira formulário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5916168" y="580644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 finalizado: seções de cliente e itens lidas dos snapshots.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PARÂMETROS DE ACTIONS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Abstract entities viram os diálogos das ações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67512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008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05740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Entidade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Action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Conteúdo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Método, cartão, validade, CVV (só em memória)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ZPC_A_CANCELAMENTO_INPUT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Motivo do cancelamento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ZPC_A_RETOMADA_INPUT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RetomarPedido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Status anterior do pedido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ZPC_A_REEMB_DECISAO_INPUT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Aprovar/RejeitarReembolso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Motivo da decisão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ZPC_A_QTDE_INPUT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Reservar/Liberar/Baixar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Quantidade movimentada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ZPC_A_UPLOAD_INPUT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Raiz deep do upload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ZPC_A_FILE_STREAM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Arquivo .xlsx ou .csv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ódigo"/>
          <p:cNvSpPr/>
          <p:nvPr/>
        </p:nvSpPr>
        <p:spPr>
          <a:xfrm>
            <a:off x="7406640" y="1645920"/>
            <a:ext cx="4233672" cy="4526280"/>
          </a:xfrm>
          <a:prstGeom prst="roundRect">
            <a:avLst>
              <a:gd name="adj" fmla="val 216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635240" y="1755648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ZPC_A_FILE_STREAM.ddls.asddls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35240" y="2066544"/>
            <a:ext cx="3776472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10" name="Trecho de código"/>
          <p:cNvSpPr txBox="1"/>
          <p:nvPr/>
        </p:nvSpPr>
        <p:spPr>
          <a:xfrm>
            <a:off x="7635240" y="2157984"/>
            <a:ext cx="3776472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'MimeType'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'FileName'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StreamProperty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CAMADA ANALÍTICA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Cubos com agregação padrão, prontos para $apply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ZI_PC_PEDIDO_CUBE.ddls.asddls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557784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557784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@Analytics.dataCategory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@ObjectModel.modelingPattern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@ObjectModel.supportedCapabilities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'StatusPedidoTexto'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@Semantics.calendar.yearMonth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#AVG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Fundo da tabela"/>
          <p:cNvSpPr/>
          <p:nvPr/>
        </p:nvSpPr>
        <p:spPr>
          <a:xfrm>
            <a:off x="6858000" y="1645920"/>
            <a:ext cx="4782312" cy="2322576"/>
          </a:xfrm>
          <a:prstGeom prst="roundRect">
            <a:avLst>
              <a:gd name="adj" fmla="val 47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764792"/>
                <a:gridCol w="1691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artão"/>
          <p:cNvSpPr/>
          <p:nvPr/>
        </p:nvSpPr>
        <p:spPr>
          <a:xfrm>
            <a:off x="6858000" y="4069080"/>
            <a:ext cx="478505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bar-chart"/>
          <p:cNvSpPr/>
          <p:nvPr/>
        </p:nvSpPr>
        <p:spPr>
          <a:xfrm>
            <a:off x="7086600" y="42702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3" name="Image 0" descr="bar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6328" y="437997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26680" y="4270248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Medidas e dimensões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7086600" y="4846320"/>
            <a:ext cx="43278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#SUM para valores e contagens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#AVG para o ticket médio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Dimensões com texto: status, UF, mês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ativação e armadilhas desta etapa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6692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2002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CDS base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ZR_PC_CODELIST e value helps de CodeList → ZR_PC_CLIENTE + ZR_PC_ENDERECO (juntas) → ZR_PC_ITEM → views do pedido e ZR_PC_REEMBOLSO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297180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Abstract entities e value helps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3355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ZPC_A_* e ZC_PC_*_VH, inclusive ZC_PC_CEP_VH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410565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Projeções e metadata extensions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3159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ZC_*_APP ativadas por BO, junto com os .ddlx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48640" y="4892040"/>
            <a:ext cx="5669280" cy="1280160"/>
          </a:xfrm>
          <a:prstGeom prst="roundRect">
            <a:avLst>
              <a:gd name="adj" fmla="val 8571"/>
            </a:avLst>
          </a:prstGeom>
          <a:solidFill>
            <a:srgbClr val="E1F4FF"/>
          </a:solidFill>
          <a:ln/>
        </p:spPr>
      </p:sp>
      <p:pic>
        <p:nvPicPr>
          <p:cNvPr id="1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50292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Cliente e Endereço se referenciam (composição e associação de volta ao pai): ative as duas views juntas, selecionando ambas no ADT.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6492240" y="164592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tatus-negative"/>
          <p:cNvSpPr/>
          <p:nvPr/>
        </p:nvSpPr>
        <p:spPr>
          <a:xfrm>
            <a:off x="672084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8424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0920" y="184708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hidden com CASE/CAST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360920" y="221284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annotation hidden não aceita expressão calculada: use um campo persistido (xfeld).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492240" y="320040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message-warning"/>
          <p:cNvSpPr/>
          <p:nvPr/>
        </p:nvSpPr>
        <p:spPr>
          <a:xfrm>
            <a:off x="67208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7" name="Image 2" descr="message-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538728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60920" y="340156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Composição [0..1] como tabela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360920" y="376732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Fiori Elements V4 só monta tabela para cardinalidade N: use IDENTIFICATION_REFERENCE.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492240" y="475488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essage-information"/>
          <p:cNvSpPr/>
          <p:nvPr/>
        </p:nvSpPr>
        <p:spPr>
          <a:xfrm>
            <a:off x="6720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2" name="Image 3" descr="message-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09320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60920" y="495604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UUID aparecendo na tela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532180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Combine text.element com textArrangement: #TEXT_ONLY para mostrar só o nome.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Modelo virtual pronto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views de BO, nove projeções, onze value helps, sete abstract entities e quatro cubos analíticos.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Comportamento RAP: draft, regras e ações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Core Data Services</dc:title>
  <dc:subject>Pedidos de Compras no SAP BTP ABAP Environment</dc:subject>
  <dc:creator>Adriano Bispo</dc:creator>
  <cp:lastModifiedBy>Adriano Bispo</cp:lastModifiedBy>
  <cp:revision>1</cp:revision>
  <dcterms:created xsi:type="dcterms:W3CDTF">2026-10-20T02:23:55Z</dcterms:created>
  <dcterms:modified xsi:type="dcterms:W3CDTF">2026-10-20T02:23:55Z</dcterms:modified>
</cp:coreProperties>
</file>