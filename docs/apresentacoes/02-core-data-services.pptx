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9" r:id="rId40"/>
    <p:sldId id="290" r:id="rId41"/>
    <p:sldId id="291" r:id="rId42"/>
    <p:sldId id="292" r:id="rId43"/>
    <p:sldId id="293" r:id="rId44"/>
    <p:sldId id="261" r:id="rId7"/>
    <p:sldId id="262" r:id="rId8"/>
    <p:sldId id="263" r:id="rId9"/>
    <p:sldId id="294" r:id="rId45"/>
    <p:sldId id="295" r:id="rId46"/>
    <p:sldId id="264" r:id="rId10"/>
    <p:sldId id="265" r:id="rId11"/>
    <p:sldId id="266" r:id="rId12"/>
    <p:sldId id="267" r:id="rId13"/>
    <p:sldId id="268" r:id="rId14"/>
    <p:sldId id="296" r:id="rId47"/>
    <p:sldId id="297" r:id="rId48"/>
    <p:sldId id="298" r:id="rId49"/>
    <p:sldId id="269" r:id="rId15"/>
    <p:sldId id="270" r:id="rId16"/>
    <p:sldId id="271" r:id="rId17"/>
    <p:sldId id="299" r:id="rId50"/>
    <p:sldId id="300" r:id="rId51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301" r:id="rId52"/>
    <p:sldId id="302" r:id="rId53"/>
    <p:sldId id="303" r:id="rId54"/>
    <p:sldId id="280" r:id="rId26"/>
    <p:sldId id="281" r:id="rId27"/>
    <p:sldId id="282" r:id="rId28"/>
    <p:sldId id="304" r:id="rId55"/>
    <p:sldId id="305" r:id="rId56"/>
    <p:sldId id="283" r:id="rId29"/>
    <p:sldId id="284" r:id="rId30"/>
    <p:sldId id="285" r:id="rId31"/>
    <p:sldId id="286" r:id="rId32"/>
    <p:sldId id="306" r:id="rId57"/>
    <p:sldId id="307" r:id="rId58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62283a3-f49e-44a5-252d-e1721a1df9b2}">
          <p14:sldIdLst>
            <p14:sldId id="256"/>
            <p14:sldId id="257"/>
            <p14:sldId id="258"/>
            <p14:sldId id="259"/>
            <p14:sldId id="260"/>
            <p14:sldId id="289"/>
            <p14:sldId id="290"/>
            <p14:sldId id="291"/>
            <p14:sldId id="292"/>
            <p14:sldId id="293"/>
          </p14:sldIdLst>
        </p14:section>
        <p14:section name="Common" id="{703e1378-aa8b-4e1d-026f-1d46ad8d7279}">
          <p14:sldIdLst>
            <p14:sldId id="261"/>
            <p14:sldId id="262"/>
            <p14:sldId id="263"/>
            <p14:sldId id="294"/>
            <p14:sldId id="295"/>
          </p14:sldIdLst>
        </p14:section>
        <p14:section name="Clientes" id="{c6ec915c-a319-ea19-85e9-1fb9bf3f5355}">
          <p14:sldIdLst>
            <p14:sldId id="264"/>
            <p14:sldId id="265"/>
            <p14:sldId id="266"/>
            <p14:sldId id="267"/>
            <p14:sldId id="268"/>
            <p14:sldId id="296"/>
            <p14:sldId id="297"/>
            <p14:sldId id="298"/>
          </p14:sldIdLst>
        </p14:section>
        <p14:section name="Estoque" id="{adce605b-996d-2949-8277-0d6965331143}">
          <p14:sldIdLst>
            <p14:sldId id="269"/>
            <p14:sldId id="270"/>
            <p14:sldId id="271"/>
            <p14:sldId id="299"/>
            <p14:sldId id="300"/>
          </p14:sldIdLst>
        </p14:section>
        <p14:section name="Pedidos" id="{015204dc-c32e-7b9d-43b4-7f6f3d4bf59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301"/>
            <p14:sldId id="302"/>
            <p14:sldId id="303"/>
          </p14:sldIdLst>
        </p14:section>
        <p14:section name="Reembolsos" id="{f742af4a-7543-ee45-95f3-cf25d33793c2}">
          <p14:sldIdLst>
            <p14:sldId id="280"/>
            <p14:sldId id="281"/>
            <p14:sldId id="282"/>
            <p14:sldId id="304"/>
            <p14:sldId id="305"/>
          </p14:sldIdLst>
        </p14:section>
        <p14:section name="Analítico" id="{302a58a5-7d16-76e9-c5ea-a65b64d98f2f}">
          <p14:sldIdLst>
            <p14:sldId id="283"/>
            <p14:sldId id="284"/>
            <p14:sldId id="285"/>
            <p14:sldId id="286"/>
            <p14:sldId id="306"/>
            <p14:sldId id="307"/>
          </p14:sldIdLst>
        </p14:section>
        <p14:section name="Encerramento" id="{2046a87a-ed02-7972-5631-b174ef8f7691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  <Relationship Id="rId46" Type="http://schemas.openxmlformats.org/officeDocument/2006/relationships/slide" Target="slides/slide40.xml"/>
  <Relationship Id="rId47" Type="http://schemas.openxmlformats.org/officeDocument/2006/relationships/slide" Target="slides/slide41.xml"/>
  <Relationship Id="rId48" Type="http://schemas.openxmlformats.org/officeDocument/2006/relationships/slide" Target="slides/slide42.xml"/>
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etapa. Sobre as tabelas da etapa 1 construímos as CDS view entities. Depois da visão geral, cada seção percorre um BO: suas views de BO, projeções, metadata extensions, value helps e abstract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views CDS são idênticas no SAP BTP e no On-Premise: copie os fontes de abap/ sem alteração. Leia da esquerda para a direita. As views ZR_ são a única camada que lê as tabelas; tudo o que é consumido (projeções, value helps e cubos) é construído sobre elas, e cada linha termina em um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convenção de nomes segue o modelo virtual de dados (VDM) da SAP adaptado ao projeto. Em uma revisão de código, o prefixo já indica em qual camada o objeto está e quem pode consumi-lo.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código de cada BO, vale conhecer o cabeçalho padrão. As views de BO desligam a herança de anotações e não usam controle de acesso CDS (a autorização é feita no behavior); as projeções liberam extensões e busca.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BO é uma árvore com um root. O Pedido é o mais rico, com quatro filhos; o Reembolso foi separado do Pedido na v2.1 e virou root próprio, sem draft, com app dedicada.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ZR_PC_CODELIST expõe a tabela de listas. Cada value help de status filtra uma lista e esconde criticality e ordem; as views de BO associam a mesma CodeList para obter o texto e a cor de cada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estática ImportarPlanilha de Clientes, Estoque e Pedidos recebe um parâmetro deep: uma raiz abstrata com associação para a entidade do arquivo. @Semantics.largeObject transforma o campo em seletor de arquivo no diálogo do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cliente compõe os endereços e tem uma segunda associação para o mesmo filho, filtrada pelo endereço principal: é ela que alimenta cidade e UF na lista de clientes e o endereço de entrega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CPF e telefone ficam só com dígitos no banco. Para exibir formatados, a projeção declara elementos virtuais calculados em ABAP pela classe ZCL_PC_VE_CLIENTE, que também calcula a unidade (%) e a cor da barra de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 usa a foto como imagem do cabeçalho e o CPF formatado como descrição. O score aparece no header como dataPoint de progresso, colorido pelo virtual ScoreCriticality. Os endereços são uma tabela (LINEITEM_REFERENCE) da composição.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do endereço sugere CEPs já cadastrados. ZC_PC_CLIENTE_VH só oferece clientes ativos ao pedido; ZC_PC_ENDERECO_VH monta a descrição com concat e é filtrada pelo cliente; ZC_PC_CEP_VH agrega um registro por CEP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tem duas associações para a CodeList: categoria e status do estoque. A projeção traz o texto e a criticality do status, usa a value help padrão I_CurrencyStdVH para a moeda e define o SKU como chave semântica.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header mostra o status colorido; a seção Estoque agrupa quantidades. A value help ZC_PC_ITEM_VH oferece ao pedido só itens ativos, já com preço e disponível, e ZPC_A_QTDE_INPUT é o parâmetro das actions internas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pedido lê a tabela, declara as quatro composições (filhos que compartilham bloqueio e draft) e as associações para outros BOs e para os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filhos usam association to parent para voltar ao pedido. O item do pedido também associa o item de estoque; o pagamento associa a CodeList de método e status. Os snapshots não têm associações extras: são cópias autossuficientes.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a app vê e acrescenta o que é de UI: busca, textos no lugar de UUIDs, value helps e os semantic objects que permitem navegar para a app de Clientes direto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projeções filhas redirecionam a associação para o pai da projeção. O item do pedido e o snapshot de itens marcam Item e SKU com o semantic object ZPCItemEstoque; o pagamento e os snapshots são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de UI ficam no .ddlx, separadas da projeção. lineItem define as colunas, selectionField os filtros, criticality a cor do status e FOR_ACTION_GROUP agrupa as ações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Itens existem em duas versões com o mesmo título: dados vivos enquanto o pedido está ativo e snapshots depois do encerramento. A expressão hidden: #(PedidoEncerrado) só funciona sobre um campo persistido; por isso os indicadores viraram colunas xfeld.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action com parâmetro tem uma abstract entity. O Fiori Elements monta o diálogo a partir dela, inclusive com value help. Os dados do cartão só existem durante a action: a abstract entity não tem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reembolso associa o pedido, o cliente e a CodeList de status. A projeção transforma o pedido em link para a app Pedidos de Compras e o cliente/CPF em link para a Gestão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aparecem na lista e na Object Page (FOR_ACTION). O número do pedido usa WITH_INTENT_BASED_NAVIGATION: em vez do popover de links, o clique abre direto a Object Page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tem um cubo ZI_ sobre a view de BO. A agregação acontece no servidor: as apps de análise pedem groupby e aggregate e recebem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cubos derivam dimensões que não existem nas tabelas: faixa de score, mês de criação, UF do endereço principal e valor em estoque (preço × quantidade).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metadata extensions das consultas declaram cinco gráficos por domínio, cada um com qualifier, tipo, dimensão e medida, e uma presentationVariant de ordenação. Os qualifiers são os cenários das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4, 5 e 7 da ordem de criação. A view de reembolso precisa estar ativa, com sua BDEF, antes da behavior pool do Pedido, que cria reembolsos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camadas e o que cada BO ganhou nesta etapa. Na próxima etapa damos comportamento aos BOs com as behavior definitions e os behavior pools.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olhar BO por BO, vale separar os três tipos de relacionamento. Composição e association to parent são as duas pontas da mesma ligação e definem a árvore do BO: o filho segue o lock e o draft do root. Associação comum é só leitura: liga o pedido ao cliente ou um status à CodeList sem transferir controle.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junta os quatro BOs. Linhas azuis com losango são composições: tudo o que está pendurado no Pedido pertence a ele. As tracejadas são associações de leitura entre BOs: o pedido aponta para o cliente e o endereço, o item do pedido para o item de estoque, e o reembolso para o pedido e o cliente. Embaixo, a CodeList recebe oito associações, uma por lista de status ou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associação tem as mesmas peças: cardinalidade, entidade alvo, alias com sublinhado e a condição ON. $projection aponta para os nomes CamelCase da própria view. Na CodeList a chave é composta, por isso o ON fixa a lista com uma constante. Por fim, a associação precisa ser publicada na lista de elementos para que projeções e cubos possam navegar por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projeção, associações viram colunas por path expressions: o nome e o CPF do cliente aparecem no pedido sem copiar dados. O caminho pode ter mais de um salto, como o gênero do cliente vindo da CodeList. Só caminhos [0..1] são seguros na lista de campos; um [0..*] multiplicaria as linhas. As composições precisam ser redirecionadas para as projeções dos filhos.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matriz mostra onde cada família aparece. A view de BO descreve o significado dos dados com @Semantics; a projeção acrescenta busca, textos, value helps e navegação; a metadata extension concentra o layout @UI; as value helps se declaram como tal; e a camada analítica usa @Analytics e @Aggregation. Nas seções seguintes, cada BO tem uma tabela com as annotations que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CodeList é a entidade mais referenciada do projeto: oito associações, todas [0..1]. Cada uma fixa a lista no ON e liga o código ao campo de status do BO. É dela que vêm a descrição e a criticality exibidas nas apps, e as sete value helps de status são views sobre a mesma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seção Common, as annotations servem a duas coisas: transformar a CodeList em listas suspensas que mostram só a descrição, e transformar o parâmetro do upload num seletor de arquivo. sizeCategory #XS é o que troca o diálogo pela lista suspensa.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cliente liga-se ao endereço de duas formas. A composição _Endereco traz todos os endereços e coloca o endereço na árvore do cliente, com o caminho de volta _Cliente. A associação _EnderecoPrincipal aponta para o mesmo filho, mas filtrada pelo indicador de principal, e por ser [0..1] pode alimentar colunas como cidade e UF. Nas projeções as mesmas ligações são redirecionadas. Embaixo, quem consome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views do cliente as annotations dizem o que cada campo é: a foto é um large object, os campos administrativos são preenchidos pelo framework, o score tem unidade. A projeção acrescenta busca, chave semântica e quatro elementos virtuais calculados em ABAP.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metadata extension desenha as duas telas. Na List Report, selectionField cria os filtros, lineItem as colunas e o botão de ação, e presentationVariant a ordenação. Na Object Page, headerInfo monta o cabeçalho com foto, nome e CPF; o score é um dataPoint de progresso; e cada facet vira uma seção: identification para o formulário, lineItem da composição para a tabela de endereços e um fieldGroup para os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de estoque é um root sem filhos e só associa a CodeList, para categoria e status. Quem depende dele são os outros: o item do pedido associa o item para ler dados atuais, a value help e o cubo são construídos sobre a view, e o snapshot do pedido guarda uma cópia sem associação. É a diferença entre dado vivo e dado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reaproveita os padrões do cliente: foto como large object, textos e cores vindos da CodeList. A novidade está na value help ZC_PC_ITEM_VH, que se declara como value help, informa o perfil de uso e esconde a chave técnica para o pedido exibir o nome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BO mais rico. Para dentro, quatro composições: itens e snapshots de itens são N; pagamento e snapshot do cliente, no máximo um. Cada filho volta ao pedido por association to parent. Para fora, associações de leitura: cliente, endereço e dois status na CodeList. O item do pedido associa o item de estoque e o pagamento associa método e status. O reembolso aponta para o pedido, não o contrário.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do pedido concentra as annotations de consumo: textos no lugar de UUIDs, value helps com validação e filtro pelo cliente, e os semantic objects que ligam o pedido às apps de Clientes e Estoque. semanticObjectMapping resolve a diferença de nomes: aqui o campo é CpfCliente, lá é Cpf.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resume o .ddlx do pedido. O cabeçalho tem três dataPoints; as seções combinam fieldGroups, tabelas dos filhos N e formulários dos filhos 0..1, e o hidden: #(campo) alterna dados vivos e snapshots. Na lista, as ações ficam agrupadas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reembolso é um root sem filhos e sem draft. Ele associa o pedido, o cliente e a CodeList de status, mas não é composição do pedido: tem ciclo de vida próprio, é decidido em outra app e não deve compartilhar o lock do pedido. O pedido cria a solicitação via EML e o reembolso devolve a decisão chamando RetomarPedido.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reembolso as annotations giram em torno da navegação e da decisão. Dois semantic objects ligam a solicitação ao pedido e ao cliente; o WITH_INTENT_BASED_NAVIGATION cria um botão que abre o pedido direto; e as ações Aprovar e Rejeitar aparecem na lista e na Object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cubos não declaram associações novas: leem as da view de BO por path expressions. O texto de cada status vem da CodeList e a UF chega pelo endereço principal do cliente, em até dois saltos. Como todos os caminhos são [0..1], cada linha do cubo continua sendo um pedido, cliente, item ou reembolso, e as agregações ficam corretas.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analítica tem três grupos de annotations. No cubo e na consulta, a categoria analítica e a agregação padrão de cada medida. Na semântica, mês e moeda. E no .ddlx da consulta, os gráficos: cada UI.chart tem uma presentationVariant com o mesmo qualifier, que define ordem e limite.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2 de 5 — Core Data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image-3-hint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100" Type="http://schemas.openxmlformats.org/officeDocument/2006/relationships/image" Target="../media/cap-33-rId100.png"/><Relationship Id="rId101" Type="http://schemas.openxmlformats.org/officeDocument/2006/relationships/image" Target="../media/cap-33-rId101.png"/><Relationship Id="rId102" Type="http://schemas.openxmlformats.org/officeDocument/2006/relationships/image" Target="../media/cap-33-rId102.png"/><Relationship Id="rId103" Type="http://schemas.openxmlformats.org/officeDocument/2006/relationships/image" Target="../media/cap-33-rId103.png"/><Relationship Id="rId104" Type="http://schemas.openxmlformats.org/officeDocument/2006/relationships/image" Target="../media/cap-33-rId104.png"/><Relationship Id="rId105" Type="http://schemas.openxmlformats.org/officeDocument/2006/relationships/image" Target="../media/cap-33-rId105.png"/><Relationship Id="rId106" Type="http://schemas.openxmlformats.org/officeDocument/2006/relationships/image" Target="../media/cap-33-rId106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Core Data Services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 modelo virtual sobre as tabelas: views de BO, projeções, value helps, anotações de UI e cubos, BO por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re Data Services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ARQUITETURA DE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 tabela ao serviço, em quatro camadas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103120" cy="4434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table-view"/>
          <p:cNvSpPr/>
          <p:nvPr/>
        </p:nvSpPr>
        <p:spPr>
          <a:xfrm>
            <a:off x="731520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934139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8288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ZTA_PC_*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95728"/>
            <a:ext cx="17373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Tabelas ativas da etapa 1. Só a camada ZR_ lê estas tabelas.</a:t>
            </a:r>
            <a:endParaRPr lang="en-US" sz="1150" dirty="0"/>
          </a:p>
        </p:txBody>
      </p:sp>
      <p:sp>
        <p:nvSpPr>
          <p:cNvPr id="10" name="Cartão"/>
          <p:cNvSpPr/>
          <p:nvPr/>
        </p:nvSpPr>
        <p:spPr>
          <a:xfrm>
            <a:off x="3090672" y="1645920"/>
            <a:ext cx="2286000" cy="44348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business-objects-experience"/>
          <p:cNvSpPr/>
          <p:nvPr/>
        </p:nvSpPr>
        <p:spPr>
          <a:xfrm>
            <a:off x="3273552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business-objects-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891" y="1934139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22192" y="18288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273552" y="2395728"/>
            <a:ext cx="1920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Views de BO: root, filhos por composição, associações, semântica de campos e textos das CodeLists.</a:t>
            </a:r>
            <a:endParaRPr lang="en-US" sz="1150" dirty="0"/>
          </a:p>
        </p:txBody>
      </p:sp>
      <p:sp>
        <p:nvSpPr>
          <p:cNvPr id="15" name="Cartão"/>
          <p:cNvSpPr/>
          <p:nvPr/>
        </p:nvSpPr>
        <p:spPr>
          <a:xfrm>
            <a:off x="5815584" y="164592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5998464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803" y="193413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47104" y="182880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98464" y="23957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Projeções transacionais com busca, textos e navegação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5815584" y="315468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earch"/>
          <p:cNvSpPr/>
          <p:nvPr/>
        </p:nvSpPr>
        <p:spPr>
          <a:xfrm>
            <a:off x="5998464" y="33375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803" y="3442899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7104" y="333756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98464" y="3904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Value helps de clientes, itens, CEPs e CodeLists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815584" y="466344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bar-chart"/>
          <p:cNvSpPr/>
          <p:nvPr/>
        </p:nvSpPr>
        <p:spPr>
          <a:xfrm>
            <a:off x="5998464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803" y="4951659"/>
            <a:ext cx="228234" cy="22823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47104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ZI_*_CUBE → ZC_*_ANALISE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5998464" y="5413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Cubos e consultas analíticas, só leitura</a:t>
            </a:r>
            <a:endParaRPr lang="en-US" sz="1150" dirty="0"/>
          </a:p>
        </p:txBody>
      </p:sp>
      <p:sp>
        <p:nvSpPr>
          <p:cNvPr id="30" name="Cartão"/>
          <p:cNvSpPr/>
          <p:nvPr/>
        </p:nvSpPr>
        <p:spPr>
          <a:xfrm>
            <a:off x="9272016" y="1645920"/>
            <a:ext cx="2377440" cy="2926080"/>
          </a:xfrm>
          <a:prstGeom prst="roundRect">
            <a:avLst>
              <a:gd name="adj" fmla="val 4615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9454896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5" descr="chain-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0235" y="1934139"/>
            <a:ext cx="228234" cy="22823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003536" y="18288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9454896" y="2395728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Quatro serviços de gestão: Clientes, Estoque, Pedidos e Reembolsos.</a:t>
            </a:r>
            <a:endParaRPr lang="en-US" sz="1150" dirty="0"/>
          </a:p>
        </p:txBody>
      </p:sp>
      <p:sp>
        <p:nvSpPr>
          <p:cNvPr id="35" name="Cartão"/>
          <p:cNvSpPr/>
          <p:nvPr/>
        </p:nvSpPr>
        <p:spPr>
          <a:xfrm>
            <a:off x="9272016" y="46634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3ECFB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chain-link"/>
          <p:cNvSpPr/>
          <p:nvPr/>
        </p:nvSpPr>
        <p:spPr>
          <a:xfrm>
            <a:off x="9454896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7" name="Image 6" descr="chain-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0235" y="4951659"/>
            <a:ext cx="228234" cy="22823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0003536" y="484632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9454896" y="5413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serviço para as 4 apps de análise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2651760" y="3858768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1" name="Shape 31"/>
          <p:cNvSpPr/>
          <p:nvPr/>
        </p:nvSpPr>
        <p:spPr>
          <a:xfrm>
            <a:off x="5376672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2" name="Shape 32"/>
          <p:cNvSpPr/>
          <p:nvPr/>
        </p:nvSpPr>
        <p:spPr>
          <a:xfrm>
            <a:off x="5376672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8833104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8833104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8833104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CONVENÇÕES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prefixo diz o papel de cada objeto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611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697480"/>
                <a:gridCol w="640080"/>
                <a:gridCol w="3367735"/>
              </a:tblGrid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Prefixo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Qtde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Root / filhos do BO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Base de tudo; recebe a behavior definition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Projeção transacional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O que cada app enxerga; recebe a BDEF de projeção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Listas de seleção; CodeLists com criticality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Abstract entity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Parâmetros das actions (diálogos)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ZI_PC_*_CUBE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Cubo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Medidas com agregação padrão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Consulta analítica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Exposta no serviço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60070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39496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Os prefixos são convenções deste projeto. Os pacotes usam ZAVBS, as iniciais do nome do autor, e o prefixo é opcional: no seu projeto, use os que preferir (sugestão genérica para os pacotes: ZPK, como em ZPK_PC_PEDIDOS).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ANATOMIA DE UMA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que toda view do projeto repete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 Root View'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@Metadata.ignorePropagatedAnnotations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@Semantics.user.createdBy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@Semantics.systemDateTime.localInstanceLastChangedAt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projeções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@Search.searchable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authorizationCheck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#NOT_REQUIRED: sem DCL; o acesso é controlado pelo RAP (ver tutorial DCL).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ignorePropagated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view de BO não herda anotações das tabelas: tudo é declarado explicitamente.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CamelCase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snake_case da tabela vira CamelCase da entidade (cliente_uuid → ClienteUUID).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Projeções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allowExtensions libera o .ddlx; searchable e semanticKey preparam a busca e a chave exibida.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árvores de composição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468880" cy="45262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498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38528"/>
            <a:ext cx="237744" cy="237744"/>
          </a:xfrm>
          <a:prstGeom prst="rect">
            <a:avLst/>
          </a:prstGeom>
        </p:spPr>
      </p:pic>
      <p:sp>
        <p:nvSpPr>
          <p:cNvPr id="8" name="Status draft"/>
          <p:cNvSpPr/>
          <p:nvPr/>
        </p:nvSpPr>
        <p:spPr>
          <a:xfrm>
            <a:off x="13258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9" name="Status ViaCEP"/>
          <p:cNvSpPr/>
          <p:nvPr/>
        </p:nvSpPr>
        <p:spPr>
          <a:xfrm>
            <a:off x="2053742" y="1920240"/>
            <a:ext cx="72713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ViaCEP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49808" y="2514600"/>
            <a:ext cx="206654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326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15568" y="3063240"/>
            <a:ext cx="170078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49808" y="5120640"/>
            <a:ext cx="206654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5230368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com CEP, logradouro e indicador de principal.</a:t>
            </a:r>
            <a:endParaRPr lang="en-US" sz="1150" dirty="0"/>
          </a:p>
        </p:txBody>
      </p:sp>
      <p:sp>
        <p:nvSpPr>
          <p:cNvPr id="16" name="Cartão"/>
          <p:cNvSpPr/>
          <p:nvPr/>
        </p:nvSpPr>
        <p:spPr>
          <a:xfrm>
            <a:off x="3200400" y="1645920"/>
            <a:ext cx="21945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Ícone product"/>
          <p:cNvSpPr/>
          <p:nvPr/>
        </p:nvSpPr>
        <p:spPr>
          <a:xfrm>
            <a:off x="340156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38528"/>
            <a:ext cx="237744" cy="237744"/>
          </a:xfrm>
          <a:prstGeom prst="rect">
            <a:avLst/>
          </a:prstGeom>
        </p:spPr>
      </p:pic>
      <p:sp>
        <p:nvSpPr>
          <p:cNvPr id="19" name="Status draft"/>
          <p:cNvSpPr/>
          <p:nvPr/>
        </p:nvSpPr>
        <p:spPr>
          <a:xfrm>
            <a:off x="397764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0" name="Status SKU"/>
          <p:cNvSpPr/>
          <p:nvPr/>
        </p:nvSpPr>
        <p:spPr>
          <a:xfrm>
            <a:off x="4705502" y="192024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SKU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401568" y="2514600"/>
            <a:ext cx="17922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3401568" y="30632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401568" y="5120640"/>
            <a:ext cx="17922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01568" y="5230368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Estoque, reserva e disponível na própria entidade.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5778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les-order"/>
          <p:cNvSpPr/>
          <p:nvPr/>
        </p:nvSpPr>
        <p:spPr>
          <a:xfrm>
            <a:off x="57790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38528"/>
            <a:ext cx="237744" cy="237744"/>
          </a:xfrm>
          <a:prstGeom prst="rect">
            <a:avLst/>
          </a:prstGeom>
        </p:spPr>
      </p:pic>
      <p:sp>
        <p:nvSpPr>
          <p:cNvPr id="28" name="Status draft"/>
          <p:cNvSpPr/>
          <p:nvPr/>
        </p:nvSpPr>
        <p:spPr>
          <a:xfrm>
            <a:off x="63550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9" name="Status 4 filhos"/>
          <p:cNvSpPr/>
          <p:nvPr/>
        </p:nvSpPr>
        <p:spPr>
          <a:xfrm>
            <a:off x="7082942" y="1920240"/>
            <a:ext cx="87197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4 filhos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779008" y="2514600"/>
            <a:ext cx="31638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9618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9618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44768" y="306324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961888" y="322783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961888" y="375818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144768" y="356616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961888" y="373075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61888" y="426110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144768" y="406908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961888" y="423367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5961888" y="476402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144768" y="457200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779008" y="5120640"/>
            <a:ext cx="31638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5779008" y="523036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Pagamento e snapshots só são criados por actions internas.</a:t>
            </a:r>
            <a:endParaRPr lang="en-US" sz="1150" dirty="0"/>
          </a:p>
        </p:txBody>
      </p:sp>
      <p:sp>
        <p:nvSpPr>
          <p:cNvPr id="45" name="Cartão"/>
          <p:cNvSpPr/>
          <p:nvPr/>
        </p:nvSpPr>
        <p:spPr>
          <a:xfrm>
            <a:off x="9326880" y="1645920"/>
            <a:ext cx="2313432" cy="4526280"/>
          </a:xfrm>
          <a:prstGeom prst="roundRect">
            <a:avLst>
              <a:gd name="adj" fmla="val 47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money-bills"/>
          <p:cNvSpPr/>
          <p:nvPr/>
        </p:nvSpPr>
        <p:spPr>
          <a:xfrm>
            <a:off x="952804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7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1938528"/>
            <a:ext cx="237744" cy="237744"/>
          </a:xfrm>
          <a:prstGeom prst="rect">
            <a:avLst/>
          </a:prstGeom>
        </p:spPr>
      </p:pic>
      <p:sp>
        <p:nvSpPr>
          <p:cNvPr id="48" name="Status sem draft"/>
          <p:cNvSpPr/>
          <p:nvPr/>
        </p:nvSpPr>
        <p:spPr>
          <a:xfrm>
            <a:off x="10104120" y="1920240"/>
            <a:ext cx="94439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3E00"/>
                </a:solidFill>
              </a:rPr>
              <a:t>sem draft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9528048" y="2514600"/>
            <a:ext cx="1911096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1100" dirty="0"/>
          </a:p>
        </p:txBody>
      </p:sp>
      <p:sp>
        <p:nvSpPr>
          <p:cNvPr id="50" name="Text 43"/>
          <p:cNvSpPr txBox="1"/>
          <p:nvPr/>
        </p:nvSpPr>
        <p:spPr>
          <a:xfrm>
            <a:off x="9528048" y="3063240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9528048" y="5120640"/>
            <a:ext cx="1911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9528048" y="5230368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Criado pelo Pedido via EML; decidido na app de Reembolsos.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CodeLists e parâmetros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CodeList que todas as value helps de status usam e as abstract entities do upload de planilhas, compartilhadas pelos três BOs que importam dados.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view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 (7)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helps de CodeList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Uma view de CodeList, sete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ODELIST"/>
          <p:cNvSpPr/>
          <p:nvPr/>
        </p:nvSpPr>
        <p:spPr>
          <a:xfrm>
            <a:off x="64008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ZR_PC_CODELIST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ZR_PC_CODELIST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ZC_PC_GENERO_VH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@ObjectModel.resultSet.sizeCategory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#XS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@Semantics.text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583680" y="1645920"/>
            <a:ext cx="505937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755648"/>
          <a:ext cx="47850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45920"/>
                <a:gridCol w="9902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Lista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STATUS_PEDIDO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ZC_PC_METODOPAG_VH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STATUS_REEMBOLSO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583680" y="553212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766560" y="5532120"/>
            <a:ext cx="4693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sizeCategory #XS: o Fiori mostra uma lista suspensa em vez do diálogo de busca.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Upload de planilha: um parâmetro deep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UPLOAD_INPUT.ddls.asddl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ZPC_A_UPLOAD_INPUT.ddls.asddls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_StreamProperties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PC_A_FILE_STREAM.ddls.asddls"/>
          <p:cNvSpPr/>
          <p:nvPr/>
        </p:nvSpPr>
        <p:spPr>
          <a:xfrm>
            <a:off x="626364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ZPC_A_FILE_STREAM.ddls.asddls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'MimeType'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'FileName'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StreamProperty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22960" y="4224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Como é usada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90288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BDEF: static action ImportarPlanilha deep parameter ZPC_A_UPLOAD_INPUT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Cada abstract tem uma BDEF própria (with hierarchy) que declara a associação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No behavior pool: %param-_StreamProperties-StreamProperty traz o arquivo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Views de BO, projeções com virtual elements, as metadata extensions da app Gestão de Clientes e três value helps.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VIEWS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ZR_PC_CLIENTE: composição e associação filtrada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ZR_PC_CLIENTE.ddls.asddls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'FotoMimeType'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'FotoFileName'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acceptableMimeTypes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'image/jpeg'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'image/png'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'image/webp'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composition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pertencem ao cliente: mesmo lock, ETag e draft.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Associação filtrada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_EnderecoPrincipal: o mesmo filho, só o principal (cardinalidade 0..1).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largeObject com MIME aceitos e exibição inline: vira upload e imagem no Fiori.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ZR_PC_ENDERECO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association to parent ZR_PC_CLIENTE: o outro lado da composição.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ZC_PC_CLIENTE_APP: virtual elements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4406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'ScoreUnidade'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abap.unit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583680" y="1645920"/>
            <a:ext cx="5059375" cy="3291840"/>
          </a:xfrm>
          <a:prstGeom prst="roundRect">
            <a:avLst>
              <a:gd name="adj" fmla="val 2778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583680" y="1993392"/>
            <a:ext cx="5059375" cy="2944368"/>
          </a:xfrm>
          <a:prstGeom prst="roundRect">
            <a:avLst>
              <a:gd name="adj" fmla="val 3106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VE_CLIENTE.clas.abap"/>
          <p:cNvSpPr/>
          <p:nvPr/>
        </p:nvSpPr>
        <p:spPr>
          <a:xfrm>
            <a:off x="667512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ZCL_PC_VE_CLIENTE.clas.abap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7512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766560" y="2103120"/>
            <a:ext cx="47393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if_sadl_exit_calc_element_read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lt_dados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583680" y="5120640"/>
            <a:ext cx="5059375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766560" y="516636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get_calculation_info avisa quais campos reais cada virtual precisa (Cpf, Telefone, ScoreCliente), para o SADL lê-los mesmo fora do $select.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Header com foto e barra de score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x.asddlx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@UI.headerInfo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'CpfFormatado'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'HeaderScore'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#HEADER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#DATAPOINT_REFERENCE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'Enderecos'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'_Endereco'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'Administrativo'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#PROGRESS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'ScoreCriticality'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12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clientes: foto, CPF formatado, cidade/UF do endereço principal e o botão Importar planilha.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Endereço e as três value helps de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ENDERECO_AP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ZC_PC_ENDERECO_APP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ZC_PC_ENDERECO_APP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ZC_PC_CEP_VH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800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'ZC_PC_CEP_VH'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5943600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126480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en-US" sz="1100" dirty="0"/>
          </a:p>
        </p:txBody>
      </p:sp>
      <p:sp>
        <p:nvSpPr>
          <p:cNvPr id="15" name="Status pedido"/>
          <p:cNvSpPr/>
          <p:nvPr/>
        </p:nvSpPr>
        <p:spPr>
          <a:xfrm>
            <a:off x="612648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ClienteAtivo = 'X'. Mostra CPF, nome, e-mail, cidade e UF do endereço principal.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8907628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090508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endParaRPr lang="en-US" sz="1100" dirty="0"/>
          </a:p>
        </p:txBody>
      </p:sp>
      <p:sp>
        <p:nvSpPr>
          <p:cNvPr id="19" name="Status pedido"/>
          <p:cNvSpPr/>
          <p:nvPr/>
        </p:nvSpPr>
        <p:spPr>
          <a:xfrm>
            <a:off x="9090508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090508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concat_with_space(Logradouro, Numero). Usada com additionalBinding em ClienteUUID.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5943600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126480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00" dirty="0"/>
          </a:p>
        </p:txBody>
      </p:sp>
      <p:sp>
        <p:nvSpPr>
          <p:cNvPr id="23" name="Status endereço"/>
          <p:cNvSpPr/>
          <p:nvPr/>
        </p:nvSpPr>
        <p:spPr>
          <a:xfrm>
            <a:off x="612648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endereço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126480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CEP por linha (max + group by), só validados e sem CEP geral de município.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8907628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090508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100" dirty="0"/>
          </a:p>
        </p:txBody>
      </p:sp>
      <p:sp>
        <p:nvSpPr>
          <p:cNvPr id="27" name="Status CodeList"/>
          <p:cNvSpPr/>
          <p:nvPr/>
        </p:nvSpPr>
        <p:spPr>
          <a:xfrm>
            <a:off x="909050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090508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GENERO, #XS: aparece como lista suspensa.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BO do item, a projeção da app Gestão de Estoque com status colorido, e as value helps de item, categoria e status.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ZR_PC_ITEM e ZC_PC_ITEM_APP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"/>
          <p:cNvSpPr/>
          <p:nvPr/>
        </p:nvSpPr>
        <p:spPr>
          <a:xfrm>
            <a:off x="640080" y="1719072"/>
            <a:ext cx="11887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1887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ZC_PC_ITEM_APP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'STATUS_ESTOQUE'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'StatusEstoqueTexto'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StatusEstoqueTexto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'I_CurrencyStdVH'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Duas CodeLists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e status do estoque, cada uma com sua associação filtrada.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cor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Texto e criticality vêm da CodeList; o .ddlx usa a criticality na lista e no header.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padrão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I_CurrencyStdVH é uma view liberada da SAP para moedas.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ações de estoque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Reservar, liberar e baixar não aparecem na projeção: só o Pedido movimenta.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METADATA EXTENSION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 e a value help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486400" cy="3276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178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itens com SKU, categoria, quantidades e status colorido.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355080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6537960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en-US" sz="1050" dirty="0"/>
          </a:p>
        </p:txBody>
      </p:sp>
      <p:sp>
        <p:nvSpPr>
          <p:cNvPr id="10" name="Status pedido"/>
          <p:cNvSpPr/>
          <p:nvPr/>
        </p:nvSpPr>
        <p:spPr>
          <a:xfrm>
            <a:off x="653796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ItemAtivo = 'X'. SKU, nome, categoria, preço e qtde disponível.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9113368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9296248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endParaRPr lang="en-US" sz="1050" dirty="0"/>
          </a:p>
        </p:txBody>
      </p:sp>
      <p:sp>
        <p:nvSpPr>
          <p:cNvPr id="14" name="Status CodeList"/>
          <p:cNvSpPr/>
          <p:nvPr/>
        </p:nvSpPr>
        <p:spPr>
          <a:xfrm>
            <a:off x="9296248" y="210312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9296248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CATEGORIA, usada para validar a categoria.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355080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537960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endParaRPr lang="en-US" sz="1050" dirty="0"/>
          </a:p>
        </p:txBody>
      </p:sp>
      <p:sp>
        <p:nvSpPr>
          <p:cNvPr id="18" name="Status CodeList"/>
          <p:cNvSpPr/>
          <p:nvPr/>
        </p:nvSpPr>
        <p:spPr>
          <a:xfrm>
            <a:off x="653796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537960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STATUS_ESTOQUE, para o filtro de status.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9113368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96248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endParaRPr lang="en-US" sz="1050" dirty="0"/>
          </a:p>
        </p:txBody>
      </p:sp>
      <p:sp>
        <p:nvSpPr>
          <p:cNvPr id="22" name="Status abstract"/>
          <p:cNvSpPr/>
          <p:nvPr/>
        </p:nvSpPr>
        <p:spPr>
          <a:xfrm>
            <a:off x="929624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abstract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9296248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Quantidade : abap.int4. Parâmetro de Reservar, Liberar e Baixar.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views de BO, cinco projeções, as metadata extensions da Object Page dinâmica, três value helps de CodeList e três abstract entities de ações.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 (5)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projeções + ddlx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ZC_PC_STATUSPED/PAG/METODOPAG_VH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VH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ZPC_A_PAGAMENTO/CANCELAMENTO/RETOMADA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ZR_PC_PEDIDO: o root com quatro composições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ddls.asddls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ZR_PC_PEDIDO.ddls.asddls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[0..*] e [0..1]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e snapshots de itens são N; pagamento e snapshot do cliente, no máximo um.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Outros BOs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endereço são associações: o pedido lê, mas não controla.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texto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Duas associações para a CodeList: pedido e pagamento.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Flags físicos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Os quatro xfeld vão direto para a projeção dirigir as seções.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quatro filhos de composição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_PEDIDO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ZR_PC_PAGAMENTO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'METODO_PAGAMENTO'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100" dirty="0"/>
          </a:p>
        </p:txBody>
      </p:sp>
      <p:sp>
        <p:nvSpPr>
          <p:cNvPr id="15" name="Status filho [0..*]"/>
          <p:cNvSpPr/>
          <p:nvPr/>
        </p:nvSpPr>
        <p:spPr>
          <a:xfrm>
            <a:off x="8602980" y="180136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Item, quantidade, preço congelado e total. _Item lê nome, SKU e disponível atuais.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100" dirty="0"/>
          </a:p>
        </p:txBody>
      </p:sp>
      <p:sp>
        <p:nvSpPr>
          <p:cNvPr id="19" name="Status filho [0..1]"/>
          <p:cNvSpPr/>
          <p:nvPr/>
        </p:nvSpPr>
        <p:spPr>
          <a:xfrm>
            <a:off x="8435340" y="299008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Última tentativa de pagamento, com textos de método e status.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100" dirty="0"/>
          </a:p>
        </p:txBody>
      </p:sp>
      <p:sp>
        <p:nvSpPr>
          <p:cNvPr id="23" name="Status filho [0..1]"/>
          <p:cNvSpPr/>
          <p:nvPr/>
        </p:nvSpPr>
        <p:spPr>
          <a:xfrm>
            <a:off x="8686800" y="417880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 cliente e do endereço no encerramento.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100" dirty="0"/>
          </a:p>
        </p:txBody>
      </p:sp>
      <p:sp>
        <p:nvSpPr>
          <p:cNvPr id="27" name="Status filho [0..*]"/>
          <p:cNvSpPr/>
          <p:nvPr/>
        </p:nvSpPr>
        <p:spPr>
          <a:xfrm>
            <a:off x="8770620" y="536752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dos itens vendidos no encerramento.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ZC_PC_PEDIDO_APP: o contrato com a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s.asddls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'ZC_PC_CLIENTE_VH'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'ZC_PC_ENDERECO_VH'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#FILTER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05916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181051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provider contract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093976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transactional_query: recebe a BDEF de projeção e pode ser exposta com draft.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5916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2660904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no lugar do UUID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2944368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text.element + textArrangement #TEXT_ONLY mostram o nome do cliente.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5916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3511296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validada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3794760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useForValidation recusa valores fora da lista.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5916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3616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additionalBinding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0" y="4645152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filtrados pelo cliente escolhido (#FILTER).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05916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498080" y="5212080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Navegação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495544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semanticObject 'ZPCCliente' transforma Cliente e CPF em links.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PROJEÇÕES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Projeções dos filhos: links e só leitura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ITEM_PEDIDO_APP.ddls.asddl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ZC_PC_ITEM_PEDIDO_APP.ddls.asddls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'NomeItem'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'ZC_PC_ITEM_VH'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QtdeDisponivelAtual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50" dirty="0"/>
          </a:p>
        </p:txBody>
      </p:sp>
      <p:sp>
        <p:nvSpPr>
          <p:cNvPr id="14" name="Status editável no rascunho"/>
          <p:cNvSpPr/>
          <p:nvPr/>
        </p:nvSpPr>
        <p:spPr>
          <a:xfrm>
            <a:off x="8858250" y="1801368"/>
            <a:ext cx="1543507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editável no rascunho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Criado inline na tabela de itens; link para Gestão de Estoque.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endParaRPr lang="en-US" sz="1050" dirty="0"/>
          </a:p>
        </p:txBody>
      </p:sp>
      <p:sp>
        <p:nvSpPr>
          <p:cNvPr id="18" name="Status somente leitura"/>
          <p:cNvSpPr/>
          <p:nvPr/>
        </p:nvSpPr>
        <p:spPr>
          <a:xfrm>
            <a:off x="8698230" y="299008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Método e status com texto e criticality; cartão mascarado.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endParaRPr lang="en-US" sz="1050" dirty="0"/>
          </a:p>
        </p:txBody>
      </p:sp>
      <p:sp>
        <p:nvSpPr>
          <p:cNvPr id="22" name="Status somente leitura"/>
          <p:cNvSpPr/>
          <p:nvPr/>
        </p:nvSpPr>
        <p:spPr>
          <a:xfrm>
            <a:off x="8938260" y="417880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CPF com semantic object ZPCCliente.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endParaRPr lang="en-US" sz="1050" dirty="0"/>
          </a:p>
        </p:txBody>
      </p:sp>
      <p:sp>
        <p:nvSpPr>
          <p:cNvPr id="26" name="Status somente leitura"/>
          <p:cNvSpPr/>
          <p:nvPr/>
        </p:nvSpPr>
        <p:spPr>
          <a:xfrm>
            <a:off x="9018270" y="536752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SKU com semantic object ZPCItemEstoque.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@UI desenham a List Report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do 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'Ações'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'SimularPagamento'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 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916168" y="5303520"/>
            <a:ext cx="5724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Resultado: List Report da app Pedidos de Compras, com filtros, status coloridos e menu de 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hidden: #(campo) torna a página dinâmica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'DadosClienteSnap'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'_ClienteSnapshot'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PedidoAtivoSemHistorico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PedidoNaoCancelado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Status #(Campo) aceito"/>
          <p:cNvSpPr/>
          <p:nvPr/>
        </p:nvSpPr>
        <p:spPr>
          <a:xfrm>
            <a:off x="5916168" y="5349240"/>
            <a:ext cx="1428293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#(Campo) aceito</a:t>
            </a:r>
            <a:endParaRPr lang="en-US" sz="1150" dirty="0"/>
          </a:p>
        </p:txBody>
      </p:sp>
      <p:sp>
        <p:nvSpPr>
          <p:cNvPr id="15" name="Status &amp;apos;Campo&amp;apos; rejeitado"/>
          <p:cNvSpPr/>
          <p:nvPr/>
        </p:nvSpPr>
        <p:spPr>
          <a:xfrm>
            <a:off x="7454189" y="5349240"/>
            <a:ext cx="1579717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'Campo' rejeitado</a:t>
            </a:r>
            <a:endParaRPr lang="en-US" sz="1150" dirty="0"/>
          </a:p>
        </p:txBody>
      </p:sp>
      <p:sp>
        <p:nvSpPr>
          <p:cNvPr id="16" name="Status [0..1] vira formulário"/>
          <p:cNvSpPr/>
          <p:nvPr/>
        </p:nvSpPr>
        <p:spPr>
          <a:xfrm>
            <a:off x="9143634" y="5349240"/>
            <a:ext cx="195827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[0..1] vira formulário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916168" y="580644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 finalizado: seções de cliente e itens lidas dos snapshots.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diálogos das ações do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PAGAMENT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'ZC_PC_METODOPAG_VH'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'Codigo'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ZPC_A_RETOMADA_INPUT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583680" y="164592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66560" y="178308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en-US" sz="1150" dirty="0"/>
          </a:p>
        </p:txBody>
      </p:sp>
      <p:sp>
        <p:nvSpPr>
          <p:cNvPr id="15" name="Status Efetuar Pagamento"/>
          <p:cNvSpPr/>
          <p:nvPr/>
        </p:nvSpPr>
        <p:spPr>
          <a:xfrm>
            <a:off x="6766560" y="2103120"/>
            <a:ext cx="135587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Efetuar Pagamento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42316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Método com value help, número, validade MM/AA e CVV.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6583680" y="323088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66560" y="336804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150" dirty="0"/>
          </a:p>
        </p:txBody>
      </p:sp>
      <p:sp>
        <p:nvSpPr>
          <p:cNvPr id="19" name="Status Cancelar"/>
          <p:cNvSpPr/>
          <p:nvPr/>
        </p:nvSpPr>
        <p:spPr>
          <a:xfrm>
            <a:off x="6766560" y="368808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Cancelar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00812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Motivo obrigatório; com pagamento aprovado abre reembolso.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583680" y="481584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766560" y="495300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1150" dirty="0"/>
          </a:p>
        </p:txBody>
      </p:sp>
      <p:sp>
        <p:nvSpPr>
          <p:cNvPr id="23" name="Status interna"/>
          <p:cNvSpPr/>
          <p:nvPr/>
        </p:nvSpPr>
        <p:spPr>
          <a:xfrm>
            <a:off x="6766560" y="5273040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interna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59308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Chamada pelo Reembolso ao rejeitar: devolve o status anterior.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root sem filhos, uma projeção com dois semantic objects e a abstract entity da decisão.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ZR_PC_REEMBOLSO e ZC_PC_REEMBOLSO_APP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ZR_PC_REEMBOLSO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'STATUS_REEMBOLSO'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'ZPCPedidoCompra'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@Consumption.semanticObjectMapping.additionalBinding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'CpfCliente'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composição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Root sem filhos e sem draft: a solicitação não é editada, só decidida.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Dois links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ZPCPedidoCompra no pedido e ZPCCliente no cliente e CPF.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semanticObjectMapping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CpfCliente é enviado como Cpf, a chave semântica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Busca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como chave semântica e campo de busca.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Botões de decisão e link direto ao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REEMBOLSO_APP.ddlx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ZC_PC_REEMBOLSO_APP.ddlx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ZC_PC_REEMBOLSO_APP.ddlx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ZPC_A_REEMB_DECISAO_INPUT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0749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#WITH_INTENT_BASED_NAVIGATION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'manage'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'StatusReembolsoCriticality'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4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Gestão de Reembolsos: status colorido pela CodeList e as ações de decisão.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ANALÍTICO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Camada analítica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cubo e uma consulta por domínio, todos somente leitura, publicados juntos no serviço ZUI_PC_ANALITICO.</a:t>
            </a:r>
            <a:endParaRPr lang="en-US" sz="1800" dirty="0"/>
          </a:p>
        </p:txBody>
      </p:sp>
      <p:sp>
        <p:nvSpPr>
          <p:cNvPr id="7" name="Ícone bar-char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bar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ZI_PC_CLIENTE_CUBE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ZI_PC_ITEM_CUBE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ZI_PC_REEMB_CUBE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ZC_PC_*_ANALISE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consultas + ddlx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Cubos com agregação padrão, prontos para $apply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_PC_PEDIDO_CUBE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ZI_PC_PEDIDO_CUBE.ddls.asddls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@Analytics.dataCategory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@ObjectModel.modelingPattern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@ObjectModel.supportedCapabilities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'StatusPedidoTexto'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@Semantics.calendar.yearMonth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#AVG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#CUBE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analítica: dimensões e medidas.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#SUM e #AVG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Agregação padrão de cada medida; a média vira o ticket médio.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Contagem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cast( 1 as abap.int4 ) somado = quantidade de pedidos.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Dimensões derivadas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UF do endereço principal e mês de criação (AAAAMM).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Medidas e dimensões dos quatro cubos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396209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Dimensões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Medidas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pedido, status do pagamento, UF,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ValorTotal (SUM), ValorMedio (AVG), QtdePedidos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gênero, ativo, UF, faixa de score (BAIXO &lt;40, MEDIO ≤70, ALTO),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QtdeClientes (SUM), ScoreMedio (AVG)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categoria, status do estoque, ativo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QtdeEstoque, QtdeReservada, QtdeDisponivel, ValorEstoque, QtdeItens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reembolso, motivo, UF, mês da solicitação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ValorReembolso (SUM), QtdeReembolsos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Cada consulta ZC_PC_*_ANALISE seleciona do cubo, repete as agregações e acrescenta busca e semantic objects.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CONSULTA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Consultas com gráficos declarados em UI.Chart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NALISE.ddlx.asddlx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ZC_PC_PEDIDO_ANALISE.ddlx.asddlxs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'ValorPorStatus'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#DONUT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@UI.presentationVariant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sortOrder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#AS_CHART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6876288" y="1645920"/>
            <a:ext cx="4766767" cy="2949435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Painel da 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19072"/>
            <a:ext cx="4620463" cy="280313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76288" y="4705083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mesmos cenários renderizados pela app de análise de reembolsos.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ativação e armadilhas desta etapa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6692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2002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CDS base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ZR_PC_CODELIST e value helps de CodeList → ZR_PC_CLIENTE + ZR_PC_ENDERECO (juntas) → ZR_PC_ITEM → views do pedido e ZR_PC_REEMBOLSO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297180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Abstract entities e value helps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3355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ZPC_A_* e ZC_PC_*_VH, inclusive ZC_PC_CEP_VH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410565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Projeções e metadata extensions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3159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ZC_*_APP ativadas por BO, junto com os .ddlx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48640" y="4892040"/>
            <a:ext cx="5669280" cy="1280160"/>
          </a:xfrm>
          <a:prstGeom prst="roundRect">
            <a:avLst>
              <a:gd name="adj" fmla="val 8571"/>
            </a:avLst>
          </a:prstGeom>
          <a:solidFill>
            <a:srgbClr val="E1F4FF"/>
          </a:solidFill>
          <a:ln/>
        </p:spPr>
      </p:sp>
      <p:pic>
        <p:nvPicPr>
          <p:cNvPr id="1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50292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Cliente e Endereço se referenciam (composição e associação de volta ao pai): ative as duas views juntas, selecionando ambas no ADT.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6492240" y="164592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tatus-negative"/>
          <p:cNvSpPr/>
          <p:nvPr/>
        </p:nvSpPr>
        <p:spPr>
          <a:xfrm>
            <a:off x="672084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8424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0920" y="184708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hidden com CASE/CAST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360920" y="221284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annotation hidden não aceita expressão calculada: use um campo persistido (xfeld).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492240" y="320040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message-warning"/>
          <p:cNvSpPr/>
          <p:nvPr/>
        </p:nvSpPr>
        <p:spPr>
          <a:xfrm>
            <a:off x="67208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7" name="Image 2" descr="message-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538728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60920" y="340156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Composição [0..1] como tabela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360920" y="376732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Fiori Elements V4 só monta tabela para cardinalidade N: use IDENTIFICATION_REFERENCE.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492240" y="475488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essage-information"/>
          <p:cNvSpPr/>
          <p:nvPr/>
        </p:nvSpPr>
        <p:spPr>
          <a:xfrm>
            <a:off x="6720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2" name="Image 3" descr="message-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09320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60920" y="495604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UUID aparecendo na tela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532180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Combine text.element com textArrangement: #TEXT_ONLY para mostrar só o nome.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views de BO ZR_PC_* com composições e associações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Nove projeções ZC_PC_*_APP com busca, textos e navegação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Treze metadata extensions: a UI anotada no backend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Onze value helps de clientes, itens, CEPs e CodeLists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Sete abstract entities para parâmetros de actions e upload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cubos e consultas analíticas, iguais no BTP e On-Premise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Comportamento RAP: draft, regras e ações.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2 de 5 — Core Data Services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Três formas de ligar entidades em CDS</a:t>
            </a:r>
            <a:endParaRPr lang="pt-BR" sz="3000" dirty="0"/>
          </a:p>
        </p:txBody>
      </p:sp>
      <p:sp>
        <p:nvSpPr>
          <p:cNvPr id="3" name="Cartão"/>
          <p:cNvSpPr/>
          <p:nvPr/>
        </p:nvSpPr>
        <p:spPr>
          <a:xfrm>
            <a:off x="548640" y="1645920"/>
            <a:ext cx="3593592" cy="45262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" name="Status composition"/>
          <p:cNvSpPr/>
          <p:nvPr/>
        </p:nvSpPr>
        <p:spPr>
          <a:xfrm>
            <a:off x="749808" y="1847088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endParaRPr lang="pt-BR" sz="1000" dirty="0"/>
          </a:p>
        </p:txBody>
      </p:sp>
      <p:sp>
        <p:nvSpPr>
          <p:cNvPr id="5" name="Sintaxe"/>
          <p:cNvSpPr/>
          <p:nvPr/>
        </p:nvSpPr>
        <p:spPr>
          <a:xfrm>
            <a:off x="749808" y="2286000"/>
            <a:ext cx="3191256" cy="841248"/>
          </a:xfrm>
          <a:prstGeom prst="roundRect">
            <a:avLst>
              <a:gd name="adj" fmla="val 8695"/>
            </a:avLst>
          </a:prstGeom>
          <a:solidFill>
            <a:srgbClr val="1F1F1F"/>
          </a:solidFill>
          <a:ln/>
        </p:spPr>
        <p:txBody>
          <a:bodyPr wrap="square" lIns="128016" tIns="0" rIns="128016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 [0..*] of ZR_PC_ENDERECO</a:t>
            </a:r>
            <a:endParaRPr lang="pt-BR" sz="8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as _Endereco</a:t>
            </a:r>
            <a:endParaRPr lang="pt-BR" sz="850" dirty="0"/>
          </a:p>
        </p:txBody>
      </p:sp>
      <p:sp>
        <p:nvSpPr>
          <p:cNvPr id="6" name="Texto"/>
          <p:cNvSpPr txBox="1"/>
          <p:nvPr/>
        </p:nvSpPr>
        <p:spPr>
          <a:xfrm>
            <a:off x="749808" y="3310128"/>
            <a:ext cx="319125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Pai e filho formam um só BO: o filho nasce, muda e é apagado com o pai.</a:t>
            </a:r>
            <a:endParaRPr lang="pt-BR" sz="1150" dirty="0"/>
          </a:p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O filho segue o lock e o draft do root (lock dependent by, na BDEF).</a:t>
            </a:r>
            <a:endParaRPr lang="pt-BR" sz="1150" dirty="0"/>
          </a:p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Exige o caminho de volta no filho: association to parent.</a:t>
            </a:r>
            <a:endParaRPr lang="pt-BR" sz="1150" dirty="0"/>
          </a:p>
        </p:txBody>
      </p:sp>
      <p:cxnSp>
        <p:nvCxnSpPr>
          <p:cNvPr id="7" name="Conector"/>
          <p:cNvCxnSpPr/>
          <p:nvPr/>
        </p:nvCxnSpPr>
        <p:spPr>
          <a:xfrm>
            <a:off x="749808" y="4983480"/>
            <a:ext cx="3191256" cy="0"/>
          </a:xfrm>
          <a:prstGeom prst="straightConnector1">
            <a:avLst/>
          </a:prstGeom>
          <a:ln w="9525">
            <a:solidFill>
              <a:srgbClr val="E5E5E5"/>
            </a:solidFill>
          </a:ln>
        </p:spPr>
      </p:cxnSp>
      <p:sp>
        <p:nvSpPr>
          <p:cNvPr id="8" name="Texto"/>
          <p:cNvSpPr txBox="1"/>
          <p:nvPr/>
        </p:nvSpPr>
        <p:spPr>
          <a:xfrm>
            <a:off x="749808" y="5093208"/>
            <a:ext cx="3191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 xml:space="preserve">No projeto  </a:t>
            </a:r>
            <a:r>
              <a:rPr lang="pt-BR" sz="1050" dirty="0">
                <a:solidFill>
                  <a:srgbClr val="556B82"/>
                </a:solidFill>
              </a:rPr>
              <a:t>5 composições: Cliente → Endereço e Pedido → Itens, Pagamento e dois snapshots.</a:t>
            </a:r>
            <a:endParaRPr lang="pt-BR" sz="1050" dirty="0"/>
          </a:p>
        </p:txBody>
      </p:sp>
      <p:sp>
        <p:nvSpPr>
          <p:cNvPr id="9" name="Cartão"/>
          <p:cNvSpPr/>
          <p:nvPr/>
        </p:nvSpPr>
        <p:spPr>
          <a:xfrm>
            <a:off x="4297680" y="1645920"/>
            <a:ext cx="3593592" cy="45262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Status association to parent"/>
          <p:cNvSpPr/>
          <p:nvPr/>
        </p:nvSpPr>
        <p:spPr>
          <a:xfrm>
            <a:off x="4498848" y="1847088"/>
            <a:ext cx="191109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 to parent</a:t>
            </a:r>
            <a:endParaRPr lang="pt-BR" sz="1000" dirty="0"/>
          </a:p>
        </p:txBody>
      </p:sp>
      <p:sp>
        <p:nvSpPr>
          <p:cNvPr id="11" name="Sintaxe"/>
          <p:cNvSpPr/>
          <p:nvPr/>
        </p:nvSpPr>
        <p:spPr>
          <a:xfrm>
            <a:off x="4498848" y="2286000"/>
            <a:ext cx="3191256" cy="841248"/>
          </a:xfrm>
          <a:prstGeom prst="roundRect">
            <a:avLst>
              <a:gd name="adj" fmla="val 8695"/>
            </a:avLst>
          </a:prstGeom>
          <a:solidFill>
            <a:srgbClr val="1F1F1F"/>
          </a:solidFill>
          <a:ln/>
        </p:spPr>
        <p:txBody>
          <a:bodyPr wrap="square" lIns="128016" tIns="0" rIns="128016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 to parent ZR_PC_CLIENTE</a:t>
            </a:r>
            <a:endParaRPr lang="pt-BR" sz="8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as _Cliente on $projection.ClienteUUID</a:t>
            </a:r>
            <a:endParaRPr lang="pt-BR" sz="8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= _Cliente.ClienteUUID</a:t>
            </a:r>
            <a:endParaRPr lang="pt-BR" sz="850" dirty="0"/>
          </a:p>
        </p:txBody>
      </p:sp>
      <p:sp>
        <p:nvSpPr>
          <p:cNvPr id="12" name="Texto"/>
          <p:cNvSpPr txBox="1"/>
          <p:nvPr/>
        </p:nvSpPr>
        <p:spPr>
          <a:xfrm>
            <a:off x="4498848" y="3310128"/>
            <a:ext cx="319125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O lado do filho na composição; a cardinalidade é implícita: sempre um pai.</a:t>
            </a:r>
            <a:endParaRPr lang="pt-BR" sz="1150" dirty="0"/>
          </a:p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Sem ela a composição não ativa: é o que coloca o filho na árvore.</a:t>
            </a:r>
            <a:endParaRPr lang="pt-BR" sz="1150" dirty="0"/>
          </a:p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O ON usa a chave estrangeira do filho (ClienteUUID, PedidoUUID).</a:t>
            </a:r>
            <a:endParaRPr lang="pt-BR" sz="1150" dirty="0"/>
          </a:p>
        </p:txBody>
      </p:sp>
      <p:cxnSp>
        <p:nvCxnSpPr>
          <p:cNvPr id="13" name="Conector"/>
          <p:cNvCxnSpPr/>
          <p:nvPr/>
        </p:nvCxnSpPr>
        <p:spPr>
          <a:xfrm>
            <a:off x="4498848" y="4983480"/>
            <a:ext cx="3191256" cy="0"/>
          </a:xfrm>
          <a:prstGeom prst="straightConnector1">
            <a:avLst/>
          </a:prstGeom>
          <a:ln w="9525">
            <a:solidFill>
              <a:srgbClr val="E5E5E5"/>
            </a:solidFill>
          </a:ln>
        </p:spPr>
      </p:cxnSp>
      <p:sp>
        <p:nvSpPr>
          <p:cNvPr id="14" name="Texto"/>
          <p:cNvSpPr txBox="1"/>
          <p:nvPr/>
        </p:nvSpPr>
        <p:spPr>
          <a:xfrm>
            <a:off x="4498848" y="5093208"/>
            <a:ext cx="3191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 xml:space="preserve">No projeto  </a:t>
            </a:r>
            <a:r>
              <a:rPr lang="pt-BR" sz="1050" dirty="0">
                <a:solidFill>
                  <a:srgbClr val="556B82"/>
                </a:solidFill>
              </a:rPr>
              <a:t>5, uma em cada filho de composição.</a:t>
            </a:r>
            <a:endParaRPr lang="pt-BR" sz="1050" dirty="0"/>
          </a:p>
        </p:txBody>
      </p:sp>
      <p:sp>
        <p:nvSpPr>
          <p:cNvPr id="15" name="Cartão"/>
          <p:cNvSpPr/>
          <p:nvPr/>
        </p:nvSpPr>
        <p:spPr>
          <a:xfrm>
            <a:off x="8046720" y="1645920"/>
            <a:ext cx="3593592" cy="45262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Status association"/>
          <p:cNvSpPr/>
          <p:nvPr/>
        </p:nvSpPr>
        <p:spPr>
          <a:xfrm>
            <a:off x="8247888" y="1847088"/>
            <a:ext cx="112471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endParaRPr lang="pt-BR" sz="1000" dirty="0"/>
          </a:p>
        </p:txBody>
      </p:sp>
      <p:sp>
        <p:nvSpPr>
          <p:cNvPr id="17" name="Sintaxe"/>
          <p:cNvSpPr/>
          <p:nvPr/>
        </p:nvSpPr>
        <p:spPr>
          <a:xfrm>
            <a:off x="8247888" y="2286000"/>
            <a:ext cx="3191256" cy="841248"/>
          </a:xfrm>
          <a:prstGeom prst="roundRect">
            <a:avLst>
              <a:gd name="adj" fmla="val 8695"/>
            </a:avLst>
          </a:prstGeom>
          <a:solidFill>
            <a:srgbClr val="1F1F1F"/>
          </a:solidFill>
          <a:ln/>
        </p:spPr>
        <p:txBody>
          <a:bodyPr wrap="square" lIns="128016" tIns="0" rIns="128016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 [0..1] to ZR_PC_CLIENTE</a:t>
            </a:r>
            <a:endParaRPr lang="pt-BR" sz="8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as _Cliente on $projection.ClienteUUID</a:t>
            </a:r>
            <a:endParaRPr lang="pt-BR" sz="8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= _Cliente.ClienteUUID</a:t>
            </a:r>
            <a:endParaRPr lang="pt-BR" sz="850" dirty="0"/>
          </a:p>
        </p:txBody>
      </p:sp>
      <p:sp>
        <p:nvSpPr>
          <p:cNvPr id="18" name="Texto"/>
          <p:cNvSpPr txBox="1"/>
          <p:nvPr/>
        </p:nvSpPr>
        <p:spPr>
          <a:xfrm>
            <a:off x="8247888" y="3310128"/>
            <a:ext cx="319125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Ligação de leitura para outra entidade: outro BO ou uma CodeList.</a:t>
            </a:r>
            <a:endParaRPr lang="pt-BR" sz="1150" dirty="0"/>
          </a:p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Não leva lock nem ciclo de vida: o pedido lê o cliente, não o controla.</a:t>
            </a:r>
            <a:endParaRPr lang="pt-BR" sz="1150" dirty="0"/>
          </a:p>
          <a:p>
            <a:pPr algn="l" indent="0" marL="0">
              <a:spcAft>
                <a:spcPts val="900"/>
              </a:spcAft>
              <a:buNone/>
            </a:pPr>
            <a:r>
              <a:rPr lang="pt-BR" sz="1150" dirty="0">
                <a:solidFill>
                  <a:srgbClr val="556B82"/>
                </a:solidFill>
              </a:rPr>
              <a:t>O join só acontece quando um caminho é usado (_Cliente.Nome).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8247888" y="4983480"/>
            <a:ext cx="3191256" cy="0"/>
          </a:xfrm>
          <a:prstGeom prst="straightConnector1">
            <a:avLst/>
          </a:prstGeom>
          <a:ln w="9525">
            <a:solidFill>
              <a:srgbClr val="E5E5E5"/>
            </a:solidFill>
          </a:ln>
        </p:spPr>
      </p:cxnSp>
      <p:sp>
        <p:nvSpPr>
          <p:cNvPr id="20" name="Texto"/>
          <p:cNvSpPr txBox="1"/>
          <p:nvPr/>
        </p:nvSpPr>
        <p:spPr>
          <a:xfrm>
            <a:off x="8247888" y="5093208"/>
            <a:ext cx="3191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 xml:space="preserve">No projeto  </a:t>
            </a:r>
            <a:r>
              <a:rPr lang="pt-BR" sz="1050" dirty="0">
                <a:solidFill>
                  <a:srgbClr val="556B82"/>
                </a:solidFill>
              </a:rPr>
              <a:t>14: 6 entre entidades de BO e 8 para a CodeList.</a:t>
            </a:r>
            <a:endParaRPr lang="pt-BR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RELACIONAMENTOS · MAPA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aponta para quem entre os BOs</a:t>
            </a:r>
            <a:endParaRPr lang="pt-BR" sz="3000" dirty="0"/>
          </a:p>
        </p:txBody>
      </p:sp>
      <p:sp>
        <p:nvSpPr>
          <p:cNvPr id="3" name="ZR_PC_CLIENTE"/>
          <p:cNvSpPr/>
          <p:nvPr/>
        </p:nvSpPr>
        <p:spPr>
          <a:xfrm>
            <a:off x="548640" y="1828800"/>
            <a:ext cx="2286000" cy="384048"/>
          </a:xfrm>
          <a:prstGeom prst="roundRect">
            <a:avLst>
              <a:gd name="adj" fmla="val 19047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pt-BR" sz="1050" dirty="0"/>
          </a:p>
        </p:txBody>
      </p:sp>
      <p:sp>
        <p:nvSpPr>
          <p:cNvPr id="4" name="ZR_PC_ENDERECO"/>
          <p:cNvSpPr/>
          <p:nvPr/>
        </p:nvSpPr>
        <p:spPr>
          <a:xfrm>
            <a:off x="914400" y="3291840"/>
            <a:ext cx="1920240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pt-BR" sz="1050" dirty="0"/>
          </a:p>
        </p:txBody>
      </p:sp>
      <p:cxnSp>
        <p:nvCxnSpPr>
          <p:cNvPr id="5" name="Conector"/>
          <p:cNvCxnSpPr/>
          <p:nvPr/>
        </p:nvCxnSpPr>
        <p:spPr>
          <a:xfrm>
            <a:off x="731520" y="2212848"/>
            <a:ext cx="0" cy="1271016"/>
          </a:xfrm>
          <a:prstGeom prst="straightConnector1">
            <a:avLst/>
          </a:prstGeom>
          <a:ln w="25400">
            <a:solidFill>
              <a:srgbClr val="0070F2"/>
            </a:solidFill>
            <a:headEnd type="diamond" w="med" len="med"/>
          </a:ln>
        </p:spPr>
      </p:cxnSp>
      <p:cxnSp>
        <p:nvCxnSpPr>
          <p:cNvPr id="6" name="Conector"/>
          <p:cNvCxnSpPr/>
          <p:nvPr/>
        </p:nvCxnSpPr>
        <p:spPr>
          <a:xfrm>
            <a:off x="731520" y="3483864"/>
            <a:ext cx="182880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sp>
        <p:nvSpPr>
          <p:cNvPr id="7" name="Texto"/>
          <p:cNvSpPr txBox="1"/>
          <p:nvPr/>
        </p:nvSpPr>
        <p:spPr>
          <a:xfrm>
            <a:off x="841248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9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pt-BR" sz="900" dirty="0"/>
          </a:p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composition [0..*]</a:t>
            </a:r>
            <a:endParaRPr lang="pt-BR" sz="900" dirty="0"/>
          </a:p>
        </p:txBody>
      </p:sp>
      <p:cxnSp>
        <p:nvCxnSpPr>
          <p:cNvPr id="8" name="Conector"/>
          <p:cNvCxnSpPr/>
          <p:nvPr/>
        </p:nvCxnSpPr>
        <p:spPr>
          <a:xfrm>
            <a:off x="2606040" y="2212848"/>
            <a:ext cx="0" cy="1078992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9" name="Texto"/>
          <p:cNvSpPr txBox="1"/>
          <p:nvPr/>
        </p:nvSpPr>
        <p:spPr>
          <a:xfrm>
            <a:off x="841248" y="27432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endParaRPr lang="pt-BR" sz="900" dirty="0"/>
          </a:p>
          <a:p>
            <a:pPr algn="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[0..1] · principal = 'X'</a:t>
            </a:r>
            <a:endParaRPr lang="pt-BR" sz="900" dirty="0"/>
          </a:p>
        </p:txBody>
      </p:sp>
      <p:sp>
        <p:nvSpPr>
          <p:cNvPr id="10" name="ZR_PC_PEDIDO"/>
          <p:cNvSpPr/>
          <p:nvPr/>
        </p:nvSpPr>
        <p:spPr>
          <a:xfrm>
            <a:off x="4160520" y="1828800"/>
            <a:ext cx="2743200" cy="384048"/>
          </a:xfrm>
          <a:prstGeom prst="roundRect">
            <a:avLst>
              <a:gd name="adj" fmla="val 19047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050" dirty="0"/>
          </a:p>
        </p:txBody>
      </p:sp>
      <p:sp>
        <p:nvSpPr>
          <p:cNvPr id="11" name="ZR_PC_ITEM_PEDIDO"/>
          <p:cNvSpPr/>
          <p:nvPr/>
        </p:nvSpPr>
        <p:spPr>
          <a:xfrm>
            <a:off x="4526280" y="2514600"/>
            <a:ext cx="2377440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pt-BR" sz="1050" dirty="0"/>
          </a:p>
        </p:txBody>
      </p:sp>
      <p:cxnSp>
        <p:nvCxnSpPr>
          <p:cNvPr id="12" name="Conector"/>
          <p:cNvCxnSpPr/>
          <p:nvPr/>
        </p:nvCxnSpPr>
        <p:spPr>
          <a:xfrm>
            <a:off x="4343400" y="2706624"/>
            <a:ext cx="182880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sp>
        <p:nvSpPr>
          <p:cNvPr id="13" name="Texto"/>
          <p:cNvSpPr txBox="1"/>
          <p:nvPr/>
        </p:nvSpPr>
        <p:spPr>
          <a:xfrm>
            <a:off x="6263640" y="251460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8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[0..*]</a:t>
            </a:r>
            <a:endParaRPr lang="pt-BR" sz="850" dirty="0"/>
          </a:p>
        </p:txBody>
      </p:sp>
      <p:sp>
        <p:nvSpPr>
          <p:cNvPr id="14" name="ZR_PC_PAGAMENTO"/>
          <p:cNvSpPr/>
          <p:nvPr/>
        </p:nvSpPr>
        <p:spPr>
          <a:xfrm>
            <a:off x="4526280" y="3017520"/>
            <a:ext cx="2377440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pt-BR" sz="1050" dirty="0"/>
          </a:p>
        </p:txBody>
      </p:sp>
      <p:cxnSp>
        <p:nvCxnSpPr>
          <p:cNvPr id="15" name="Conector"/>
          <p:cNvCxnSpPr/>
          <p:nvPr/>
        </p:nvCxnSpPr>
        <p:spPr>
          <a:xfrm>
            <a:off x="4343400" y="3209544"/>
            <a:ext cx="182880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sp>
        <p:nvSpPr>
          <p:cNvPr id="16" name="Texto"/>
          <p:cNvSpPr txBox="1"/>
          <p:nvPr/>
        </p:nvSpPr>
        <p:spPr>
          <a:xfrm>
            <a:off x="6263640" y="30175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8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[0..1]</a:t>
            </a:r>
            <a:endParaRPr lang="pt-BR" sz="850" dirty="0"/>
          </a:p>
        </p:txBody>
      </p:sp>
      <p:sp>
        <p:nvSpPr>
          <p:cNvPr id="17" name="ZR_PC_PED_CLI_SNAP"/>
          <p:cNvSpPr/>
          <p:nvPr/>
        </p:nvSpPr>
        <p:spPr>
          <a:xfrm>
            <a:off x="4526280" y="3520440"/>
            <a:ext cx="2377440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343400" y="3712464"/>
            <a:ext cx="182880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sp>
        <p:nvSpPr>
          <p:cNvPr id="19" name="Texto"/>
          <p:cNvSpPr txBox="1"/>
          <p:nvPr/>
        </p:nvSpPr>
        <p:spPr>
          <a:xfrm>
            <a:off x="6263640" y="35204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8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[0..1]</a:t>
            </a:r>
            <a:endParaRPr lang="pt-BR" sz="850" dirty="0"/>
          </a:p>
        </p:txBody>
      </p:sp>
      <p:sp>
        <p:nvSpPr>
          <p:cNvPr id="20" name="ZR_PC_PED_ITEM_SNAP"/>
          <p:cNvSpPr/>
          <p:nvPr/>
        </p:nvSpPr>
        <p:spPr>
          <a:xfrm>
            <a:off x="4526280" y="4023360"/>
            <a:ext cx="2377440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pt-BR" sz="1050" dirty="0"/>
          </a:p>
        </p:txBody>
      </p:sp>
      <p:cxnSp>
        <p:nvCxnSpPr>
          <p:cNvPr id="21" name="Conector"/>
          <p:cNvCxnSpPr/>
          <p:nvPr/>
        </p:nvCxnSpPr>
        <p:spPr>
          <a:xfrm>
            <a:off x="4343400" y="4215384"/>
            <a:ext cx="182880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sp>
        <p:nvSpPr>
          <p:cNvPr id="22" name="Texto"/>
          <p:cNvSpPr txBox="1"/>
          <p:nvPr/>
        </p:nvSpPr>
        <p:spPr>
          <a:xfrm>
            <a:off x="6263640" y="40233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8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[0..*]</a:t>
            </a:r>
            <a:endParaRPr lang="pt-BR" sz="850" dirty="0"/>
          </a:p>
        </p:txBody>
      </p:sp>
      <p:cxnSp>
        <p:nvCxnSpPr>
          <p:cNvPr id="23" name="Conector"/>
          <p:cNvCxnSpPr/>
          <p:nvPr/>
        </p:nvCxnSpPr>
        <p:spPr>
          <a:xfrm>
            <a:off x="4343400" y="2212848"/>
            <a:ext cx="0" cy="2002536"/>
          </a:xfrm>
          <a:prstGeom prst="straightConnector1">
            <a:avLst/>
          </a:prstGeom>
          <a:ln w="25400">
            <a:solidFill>
              <a:srgbClr val="0070F2"/>
            </a:solidFill>
            <a:headEnd type="diamond" w="med" len="med"/>
          </a:ln>
        </p:spPr>
      </p:cxnSp>
      <p:cxnSp>
        <p:nvCxnSpPr>
          <p:cNvPr id="24" name="Conector"/>
          <p:cNvCxnSpPr/>
          <p:nvPr/>
        </p:nvCxnSpPr>
        <p:spPr>
          <a:xfrm flipH="1">
            <a:off x="2834640" y="1938528"/>
            <a:ext cx="132588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25" name="Texto"/>
          <p:cNvSpPr txBox="1"/>
          <p:nvPr/>
        </p:nvSpPr>
        <p:spPr>
          <a:xfrm>
            <a:off x="2852928" y="17190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pt-BR" sz="900" dirty="0"/>
          </a:p>
        </p:txBody>
      </p:sp>
      <p:cxnSp>
        <p:nvCxnSpPr>
          <p:cNvPr id="26" name="Conector"/>
          <p:cNvCxnSpPr/>
          <p:nvPr/>
        </p:nvCxnSpPr>
        <p:spPr>
          <a:xfrm flipH="1">
            <a:off x="3611880" y="2121408"/>
            <a:ext cx="54864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27" name="Conector"/>
          <p:cNvCxnSpPr/>
          <p:nvPr/>
        </p:nvCxnSpPr>
        <p:spPr>
          <a:xfrm>
            <a:off x="3611880" y="2121408"/>
            <a:ext cx="0" cy="1362456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28" name="Conector"/>
          <p:cNvCxnSpPr/>
          <p:nvPr/>
        </p:nvCxnSpPr>
        <p:spPr>
          <a:xfrm flipH="1">
            <a:off x="2834640" y="3483864"/>
            <a:ext cx="77724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29" name="Texto"/>
          <p:cNvSpPr txBox="1"/>
          <p:nvPr/>
        </p:nvSpPr>
        <p:spPr>
          <a:xfrm>
            <a:off x="2880360" y="2743200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pt-BR" sz="850" dirty="0"/>
          </a:p>
          <a:p>
            <a:pPr algn="r" indent="0" marL="0">
              <a:buNone/>
            </a:pPr>
            <a:r>
              <a:rPr lang="pt-BR" sz="850" dirty="0">
                <a:solidFill>
                  <a:srgbClr val="556B82"/>
                </a:solidFill>
              </a:rPr>
              <a:t>[0..1]</a:t>
            </a:r>
            <a:endParaRPr lang="pt-BR" sz="850" dirty="0"/>
          </a:p>
        </p:txBody>
      </p:sp>
      <p:sp>
        <p:nvSpPr>
          <p:cNvPr id="30" name="ZR_PC_REEMBOLSO"/>
          <p:cNvSpPr/>
          <p:nvPr/>
        </p:nvSpPr>
        <p:spPr>
          <a:xfrm>
            <a:off x="9052560" y="1828800"/>
            <a:ext cx="2587752" cy="384048"/>
          </a:xfrm>
          <a:prstGeom prst="roundRect">
            <a:avLst>
              <a:gd name="adj" fmla="val 19047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pt-BR" sz="1050" dirty="0"/>
          </a:p>
        </p:txBody>
      </p:sp>
      <p:sp>
        <p:nvSpPr>
          <p:cNvPr id="31" name="ZR_PC_ITEM"/>
          <p:cNvSpPr/>
          <p:nvPr/>
        </p:nvSpPr>
        <p:spPr>
          <a:xfrm>
            <a:off x="9052560" y="2514600"/>
            <a:ext cx="2587752" cy="384048"/>
          </a:xfrm>
          <a:prstGeom prst="roundRect">
            <a:avLst>
              <a:gd name="adj" fmla="val 19047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 flipH="1">
            <a:off x="6903720" y="2020824"/>
            <a:ext cx="214884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33" name="Texto"/>
          <p:cNvSpPr txBox="1"/>
          <p:nvPr/>
        </p:nvSpPr>
        <p:spPr>
          <a:xfrm>
            <a:off x="7086600" y="18013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 [0..1]</a:t>
            </a:r>
            <a:endParaRPr lang="pt-BR" sz="900" dirty="0"/>
          </a:p>
        </p:txBody>
      </p:sp>
      <p:cxnSp>
        <p:nvCxnSpPr>
          <p:cNvPr id="34" name="Conector"/>
          <p:cNvCxnSpPr/>
          <p:nvPr/>
        </p:nvCxnSpPr>
        <p:spPr>
          <a:xfrm>
            <a:off x="6903720" y="2706624"/>
            <a:ext cx="214884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35" name="Texto"/>
          <p:cNvSpPr txBox="1"/>
          <p:nvPr/>
        </p:nvSpPr>
        <p:spPr>
          <a:xfrm>
            <a:off x="7086600" y="2487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 [0..1]</a:t>
            </a:r>
            <a:endParaRPr lang="pt-BR" sz="900" dirty="0"/>
          </a:p>
        </p:txBody>
      </p:sp>
      <p:cxnSp>
        <p:nvCxnSpPr>
          <p:cNvPr id="36" name="Conector"/>
          <p:cNvCxnSpPr/>
          <p:nvPr/>
        </p:nvCxnSpPr>
        <p:spPr>
          <a:xfrm flipV="1">
            <a:off x="10881360" y="1591056"/>
            <a:ext cx="0" cy="237744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37" name="Conector"/>
          <p:cNvCxnSpPr/>
          <p:nvPr/>
        </p:nvCxnSpPr>
        <p:spPr>
          <a:xfrm flipH="1">
            <a:off x="1691640" y="1591056"/>
            <a:ext cx="918972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38" name="Conector"/>
          <p:cNvCxnSpPr/>
          <p:nvPr/>
        </p:nvCxnSpPr>
        <p:spPr>
          <a:xfrm>
            <a:off x="1691640" y="1591056"/>
            <a:ext cx="0" cy="237744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39" name="Rótulo"/>
          <p:cNvSpPr/>
          <p:nvPr/>
        </p:nvSpPr>
        <p:spPr>
          <a:xfrm>
            <a:off x="4892040" y="1490472"/>
            <a:ext cx="2011680" cy="20116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 [0..1] do reembolso</a:t>
            </a:r>
            <a:endParaRPr lang="pt-BR" sz="850" dirty="0"/>
          </a:p>
        </p:txBody>
      </p:sp>
      <p:sp>
        <p:nvSpPr>
          <p:cNvPr id="40" name="Cartão"/>
          <p:cNvSpPr/>
          <p:nvPr/>
        </p:nvSpPr>
        <p:spPr>
          <a:xfrm>
            <a:off x="9052560" y="3200400"/>
            <a:ext cx="2587752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cxnSp>
        <p:nvCxnSpPr>
          <p:cNvPr id="41" name="Conector"/>
          <p:cNvCxnSpPr/>
          <p:nvPr/>
        </p:nvCxnSpPr>
        <p:spPr>
          <a:xfrm>
            <a:off x="9217152" y="3456432"/>
            <a:ext cx="502920" cy="0"/>
          </a:xfrm>
          <a:prstGeom prst="straightConnector1">
            <a:avLst/>
          </a:prstGeom>
          <a:ln w="25400">
            <a:solidFill>
              <a:srgbClr val="0070F2"/>
            </a:solidFill>
            <a:headEnd type="diamond" w="med" len="med"/>
          </a:ln>
        </p:spPr>
      </p:cxnSp>
      <p:sp>
        <p:nvSpPr>
          <p:cNvPr id="42" name="Texto"/>
          <p:cNvSpPr txBox="1"/>
          <p:nvPr/>
        </p:nvSpPr>
        <p:spPr>
          <a:xfrm>
            <a:off x="9857232" y="333756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composição</a:t>
            </a:r>
            <a:endParaRPr lang="pt-BR" sz="1000" dirty="0"/>
          </a:p>
        </p:txBody>
      </p:sp>
      <p:cxnSp>
        <p:nvCxnSpPr>
          <p:cNvPr id="43" name="Conector"/>
          <p:cNvCxnSpPr/>
          <p:nvPr/>
        </p:nvCxnSpPr>
        <p:spPr>
          <a:xfrm>
            <a:off x="9217152" y="3785616"/>
            <a:ext cx="50292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44" name="Texto"/>
          <p:cNvSpPr txBox="1"/>
          <p:nvPr/>
        </p:nvSpPr>
        <p:spPr>
          <a:xfrm>
            <a:off x="9857232" y="366674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associação (leitura)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9217152" y="3986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900" i="1" dirty="0">
                <a:solidFill>
                  <a:srgbClr val="556B82"/>
                </a:solidFill>
              </a:rPr>
              <a:t>Snapshots não associam nada: são cópias.</a:t>
            </a:r>
            <a:endParaRPr lang="pt-BR" sz="900" dirty="0"/>
          </a:p>
        </p:txBody>
      </p:sp>
      <p:sp>
        <p:nvSpPr>
          <p:cNvPr id="46" name="Cartão"/>
          <p:cNvSpPr/>
          <p:nvPr/>
        </p:nvSpPr>
        <p:spPr>
          <a:xfrm>
            <a:off x="548640" y="4681728"/>
            <a:ext cx="11091672" cy="1490472"/>
          </a:xfrm>
          <a:prstGeom prst="roundRect">
            <a:avLst>
              <a:gd name="adj" fmla="val 73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Texto"/>
          <p:cNvSpPr txBox="1"/>
          <p:nvPr/>
        </p:nvSpPr>
        <p:spPr>
          <a:xfrm>
            <a:off x="777240" y="4809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1100" dirty="0"/>
          </a:p>
        </p:txBody>
      </p:sp>
      <p:sp>
        <p:nvSpPr>
          <p:cNvPr id="48" name="Status 8 associações [0..1], uma por lista"/>
          <p:cNvSpPr/>
          <p:nvPr/>
        </p:nvSpPr>
        <p:spPr>
          <a:xfrm>
            <a:off x="2514600" y="4828032"/>
            <a:ext cx="262432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50" b="1" dirty="0">
                <a:solidFill>
                  <a:srgbClr val="556B82"/>
                </a:solidFill>
              </a:rPr>
              <a:t>8 associações [0..1], uma por lista</a:t>
            </a:r>
            <a:endParaRPr lang="pt-BR" sz="950" dirty="0"/>
          </a:p>
        </p:txBody>
      </p:sp>
      <p:sp>
        <p:nvSpPr>
          <p:cNvPr id="49" name="Texto"/>
          <p:cNvSpPr txBox="1"/>
          <p:nvPr/>
        </p:nvSpPr>
        <p:spPr>
          <a:xfrm>
            <a:off x="5669280" y="48097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 xml:space="preserve">ON fixa a lista e liga o código:  </a:t>
            </a: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_StatusTxt.Lista = 'STATUS_REEMBOLSO'</a:t>
            </a:r>
            <a:endParaRPr lang="pt-BR" sz="1000" dirty="0"/>
          </a:p>
        </p:txBody>
      </p:sp>
      <p:sp>
        <p:nvSpPr>
          <p:cNvPr id="50" name="Associação"/>
          <p:cNvSpPr/>
          <p:nvPr/>
        </p:nvSpPr>
        <p:spPr>
          <a:xfrm>
            <a:off x="777240" y="5212080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· _GeneroTxt</a:t>
            </a:r>
            <a:endParaRPr lang="pt-BR" sz="900" dirty="0"/>
          </a:p>
        </p:txBody>
      </p:sp>
      <p:sp>
        <p:nvSpPr>
          <p:cNvPr id="51" name="Associação"/>
          <p:cNvSpPr/>
          <p:nvPr/>
        </p:nvSpPr>
        <p:spPr>
          <a:xfrm>
            <a:off x="3470148" y="5212080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· _CategoriaTxt</a:t>
            </a:r>
            <a:endParaRPr lang="pt-BR" sz="900" dirty="0"/>
          </a:p>
        </p:txBody>
      </p:sp>
      <p:sp>
        <p:nvSpPr>
          <p:cNvPr id="52" name="Associação"/>
          <p:cNvSpPr/>
          <p:nvPr/>
        </p:nvSpPr>
        <p:spPr>
          <a:xfrm>
            <a:off x="6163056" y="5212080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· _StatusEstoqueTxt</a:t>
            </a:r>
            <a:endParaRPr lang="pt-BR" sz="900" dirty="0"/>
          </a:p>
        </p:txBody>
      </p:sp>
      <p:sp>
        <p:nvSpPr>
          <p:cNvPr id="53" name="Associação"/>
          <p:cNvSpPr/>
          <p:nvPr/>
        </p:nvSpPr>
        <p:spPr>
          <a:xfrm>
            <a:off x="8855964" y="5212080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 · _StatusPedidoTxt</a:t>
            </a:r>
            <a:endParaRPr lang="pt-BR" sz="900" dirty="0"/>
          </a:p>
        </p:txBody>
      </p:sp>
      <p:sp>
        <p:nvSpPr>
          <p:cNvPr id="54" name="Associação"/>
          <p:cNvSpPr/>
          <p:nvPr/>
        </p:nvSpPr>
        <p:spPr>
          <a:xfrm>
            <a:off x="777240" y="5641848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 · _StatusPagamentoTxt</a:t>
            </a:r>
            <a:endParaRPr lang="pt-BR" sz="900" dirty="0"/>
          </a:p>
        </p:txBody>
      </p:sp>
      <p:sp>
        <p:nvSpPr>
          <p:cNvPr id="55" name="Associação"/>
          <p:cNvSpPr/>
          <p:nvPr/>
        </p:nvSpPr>
        <p:spPr>
          <a:xfrm>
            <a:off x="3470148" y="5641848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 · _MetodoTxt</a:t>
            </a:r>
            <a:endParaRPr lang="pt-BR" sz="900" dirty="0"/>
          </a:p>
        </p:txBody>
      </p:sp>
      <p:sp>
        <p:nvSpPr>
          <p:cNvPr id="56" name="Associação"/>
          <p:cNvSpPr/>
          <p:nvPr/>
        </p:nvSpPr>
        <p:spPr>
          <a:xfrm>
            <a:off x="6163056" y="5641848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 · _StatusTxt</a:t>
            </a:r>
            <a:endParaRPr lang="pt-BR" sz="900" dirty="0"/>
          </a:p>
        </p:txBody>
      </p:sp>
      <p:sp>
        <p:nvSpPr>
          <p:cNvPr id="57" name="Associação"/>
          <p:cNvSpPr/>
          <p:nvPr/>
        </p:nvSpPr>
        <p:spPr>
          <a:xfrm>
            <a:off x="8855964" y="5641848"/>
            <a:ext cx="2555748" cy="329184"/>
          </a:xfrm>
          <a:prstGeom prst="roundRect">
            <a:avLst>
              <a:gd name="adj" fmla="val 22222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 · _StatusTxt</a:t>
            </a:r>
            <a:endParaRPr lang="pt-BR" sz="900" dirty="0"/>
          </a:p>
        </p:txBody>
      </p:sp>
      <p:sp>
        <p:nvSpPr>
          <p:cNvPr id="5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RELACIONAMENTOS · ANATOMIA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Anatomia de uma associação</a:t>
            </a:r>
            <a:endParaRPr lang="pt-BR" sz="3000" dirty="0"/>
          </a:p>
        </p:txBody>
      </p:sp>
      <p:sp>
        <p:nvSpPr>
          <p:cNvPr id="3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5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cxnSp>
        <p:nvCxnSpPr>
          <p:cNvPr id="6" name="Shape 5"/>
          <p:cNvCxnSpPr/>
          <p:nvPr/>
        </p:nvCxnSpPr>
        <p:spPr>
          <a:xfrm>
            <a:off x="557784" y="1993392"/>
            <a:ext cx="6291072" cy="0"/>
          </a:xfrm>
          <a:prstGeom prst="straightConnector1">
            <a:avLst/>
          </a:prstGeom>
          <a:ln w="9525">
            <a:solidFill>
              <a:srgbClr val="2B2B2B"/>
            </a:solidFill>
          </a:ln>
        </p:spPr>
      </p:cxnSp>
      <p:sp>
        <p:nvSpPr>
          <p:cNvPr id="7" name="Aba ZR_PC_PEDIDO.ddls.asddls"/>
          <p:cNvSpPr/>
          <p:nvPr/>
        </p:nvSpPr>
        <p:spPr>
          <a:xfrm>
            <a:off x="640080" y="1719072"/>
            <a:ext cx="19202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ZR_PC_PEDIDO.ddls.asddls</a:t>
            </a:r>
            <a:endParaRPr lang="pt-BR" sz="1000" dirty="0"/>
          </a:p>
        </p:txBody>
      </p:sp>
      <p:cxnSp>
        <p:nvCxnSpPr>
          <p:cNvPr id="8" name="Shape 7"/>
          <p:cNvCxnSpPr/>
          <p:nvPr/>
        </p:nvCxnSpPr>
        <p:spPr>
          <a:xfrm>
            <a:off x="640080" y="1719072"/>
            <a:ext cx="1920240" cy="0"/>
          </a:xfrm>
          <a:prstGeom prst="straightConnector1">
            <a:avLst/>
          </a:prstGeom>
          <a:ln w="19050">
            <a:solidFill>
              <a:srgbClr val="0078D4"/>
            </a:solidFill>
          </a:ln>
        </p:spPr>
      </p:cxnSp>
      <p:sp>
        <p:nvSpPr>
          <p:cNvPr id="9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ZAVBS_PC_PEDIDOS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ZR_PC_PEDIDO.ddls.asddls</a:t>
            </a:r>
            <a:endParaRPr lang="pt-BR" sz="900" dirty="0"/>
          </a:p>
        </p:txBody>
      </p:sp>
      <p:sp>
        <p:nvSpPr>
          <p:cNvPr id="10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[</a:t>
            </a:r>
            <a:r>
              <a:rPr lang="pt-BR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r>
              <a:rPr lang="pt-BR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]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_Cliente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.ClienteUUID = _Cliente.ClienteUUID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[</a:t>
            </a:r>
            <a:r>
              <a:rPr lang="pt-BR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r>
              <a:rPr lang="pt-BR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]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_StatusPedidoTxt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_StatusPedidoTxt.Lista  = </a:t>
            </a:r>
            <a:r>
              <a:rPr lang="pt-BR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_StatusPedidoTxt.Codigo =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.StatusPedido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pedido_uuid 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PedidoUUID,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cliente_uuid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ClienteUUID,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status_pedido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StatusPedido,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...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r>
              <a:rPr lang="pt-BR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Associações */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_Cliente,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_StatusPedidoTxt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pt-BR" sz="1000" dirty="0"/>
          </a:p>
        </p:txBody>
      </p:sp>
      <p:sp>
        <p:nvSpPr>
          <p:cNvPr id="11" name="Cartão"/>
          <p:cNvSpPr/>
          <p:nvPr/>
        </p:nvSpPr>
        <p:spPr>
          <a:xfrm>
            <a:off x="7132320" y="1645920"/>
            <a:ext cx="4507992" cy="4526280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Número 1"/>
          <p:cNvSpPr/>
          <p:nvPr/>
        </p:nvSpPr>
        <p:spPr>
          <a:xfrm>
            <a:off x="7333488" y="184708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1</a:t>
            </a:r>
            <a:endParaRPr lang="pt-BR" sz="1150" dirty="0"/>
          </a:p>
        </p:txBody>
      </p:sp>
      <p:sp>
        <p:nvSpPr>
          <p:cNvPr id="13" name="Texto"/>
          <p:cNvSpPr txBox="1"/>
          <p:nvPr/>
        </p:nvSpPr>
        <p:spPr>
          <a:xfrm>
            <a:off x="7772400" y="1828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Cardinalidade [mín..máx]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7772400" y="2112264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[0..1]: no máximo um registro do outro lado; [0..*]: vários. Sem colchetes, vale [0..1].</a:t>
            </a:r>
            <a:endParaRPr lang="pt-BR" sz="1100" dirty="0"/>
          </a:p>
        </p:txBody>
      </p:sp>
      <p:sp>
        <p:nvSpPr>
          <p:cNvPr id="15" name="Número 2"/>
          <p:cNvSpPr/>
          <p:nvPr/>
        </p:nvSpPr>
        <p:spPr>
          <a:xfrm>
            <a:off x="7333488" y="29077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2</a:t>
            </a:r>
            <a:endParaRPr lang="pt-BR" sz="1150" dirty="0"/>
          </a:p>
        </p:txBody>
      </p:sp>
      <p:sp>
        <p:nvSpPr>
          <p:cNvPr id="16" name="Texto"/>
          <p:cNvSpPr txBox="1"/>
          <p:nvPr/>
        </p:nvSpPr>
        <p:spPr>
          <a:xfrm>
            <a:off x="7772400" y="288950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$projection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7772400" y="3172968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Usa o nome do elemento na view (ClienteUUID), não o campo da tabela (cliente_uuid).</a:t>
            </a:r>
            <a:endParaRPr lang="pt-BR" sz="1100" dirty="0"/>
          </a:p>
        </p:txBody>
      </p:sp>
      <p:sp>
        <p:nvSpPr>
          <p:cNvPr id="18" name="Número 3"/>
          <p:cNvSpPr/>
          <p:nvPr/>
        </p:nvSpPr>
        <p:spPr>
          <a:xfrm>
            <a:off x="7333488" y="396849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3</a:t>
            </a:r>
            <a:endParaRPr lang="pt-BR" sz="1150" dirty="0"/>
          </a:p>
        </p:txBody>
      </p:sp>
      <p:sp>
        <p:nvSpPr>
          <p:cNvPr id="19" name="Texto"/>
          <p:cNvSpPr txBox="1"/>
          <p:nvPr/>
        </p:nvSpPr>
        <p:spPr>
          <a:xfrm>
            <a:off x="7772400" y="39502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Constantes no ON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7772400" y="4233672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Lista = 'STATUS_PEDIDO' escolhe a lista da CodeList; com o código, sobra uma linha.</a:t>
            </a:r>
            <a:endParaRPr lang="pt-BR" sz="1100" dirty="0"/>
          </a:p>
        </p:txBody>
      </p:sp>
      <p:sp>
        <p:nvSpPr>
          <p:cNvPr id="21" name="Número 4"/>
          <p:cNvSpPr/>
          <p:nvPr/>
        </p:nvSpPr>
        <p:spPr>
          <a:xfrm>
            <a:off x="7333488" y="50292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4</a:t>
            </a:r>
            <a:endParaRPr lang="pt-BR" sz="1150" dirty="0"/>
          </a:p>
        </p:txBody>
      </p:sp>
      <p:sp>
        <p:nvSpPr>
          <p:cNvPr id="22" name="Texto"/>
          <p:cNvSpPr txBox="1"/>
          <p:nvPr/>
        </p:nvSpPr>
        <p:spPr>
          <a:xfrm>
            <a:off x="7772400" y="501091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Exposição</a:t>
            </a:r>
            <a:endParaRPr lang="pt-BR" sz="1300" dirty="0"/>
          </a:p>
        </p:txBody>
      </p:sp>
      <p:sp>
        <p:nvSpPr>
          <p:cNvPr id="23" name="Texto"/>
          <p:cNvSpPr txBox="1"/>
          <p:nvPr/>
        </p:nvSpPr>
        <p:spPr>
          <a:xfrm>
            <a:off x="7772400" y="5294376"/>
            <a:ext cx="3703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Só as associações listadas entre chaves chegam às projeções, aos cubos e ao OData.</a:t>
            </a:r>
            <a:endParaRPr lang="pt-BR" sz="11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RELACIONAMENTOS · CAMINHOS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Path expressions e redirected to na projeção</a:t>
            </a:r>
            <a:endParaRPr lang="pt-BR" sz="3000" dirty="0"/>
          </a:p>
        </p:txBody>
      </p:sp>
      <p:sp>
        <p:nvSpPr>
          <p:cNvPr id="3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5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cxnSp>
        <p:nvCxnSpPr>
          <p:cNvPr id="6" name="Shape 5"/>
          <p:cNvCxnSpPr/>
          <p:nvPr/>
        </p:nvCxnSpPr>
        <p:spPr>
          <a:xfrm>
            <a:off x="557784" y="1993392"/>
            <a:ext cx="6016752" cy="0"/>
          </a:xfrm>
          <a:prstGeom prst="straightConnector1">
            <a:avLst/>
          </a:prstGeom>
          <a:ln w="9525">
            <a:solidFill>
              <a:srgbClr val="2B2B2B"/>
            </a:solidFill>
          </a:ln>
        </p:spPr>
      </p:cxnSp>
      <p:sp>
        <p:nvSpPr>
          <p:cNvPr id="7" name="Aba ZC_PC_PEDIDO_APP.ddls.asddls"/>
          <p:cNvSpPr/>
          <p:nvPr/>
        </p:nvSpPr>
        <p:spPr>
          <a:xfrm>
            <a:off x="640080" y="1719072"/>
            <a:ext cx="2194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ZC_PC_PEDIDO_APP.ddls.asddls</a:t>
            </a:r>
            <a:endParaRPr lang="pt-BR" sz="1000" dirty="0"/>
          </a:p>
        </p:txBody>
      </p:sp>
      <p:cxnSp>
        <p:nvCxnSpPr>
          <p:cNvPr id="8" name="Shape 7"/>
          <p:cNvCxnSpPr/>
          <p:nvPr/>
        </p:nvCxnSpPr>
        <p:spPr>
          <a:xfrm>
            <a:off x="640080" y="1719072"/>
            <a:ext cx="2194560" cy="0"/>
          </a:xfrm>
          <a:prstGeom prst="straightConnector1">
            <a:avLst/>
          </a:prstGeom>
          <a:ln w="19050">
            <a:solidFill>
              <a:srgbClr val="0078D4"/>
            </a:solidFill>
          </a:ln>
        </p:spPr>
      </p:cxnSp>
      <p:sp>
        <p:nvSpPr>
          <p:cNvPr id="9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ZC_PC_PEDIDO_APP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ZC_PC_ITEM_PEDIDO_APP</a:t>
            </a:r>
            <a:endParaRPr lang="pt-BR" sz="900" dirty="0"/>
          </a:p>
        </p:txBody>
      </p:sp>
      <p:sp>
        <p:nvSpPr>
          <p:cNvPr id="10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PedidoUUID,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ClienteUUID,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_Cliente.Nome               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NomeCliente,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_Cliente.Cpf                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CpfCliente,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_Cliente._GeneroTxt.Descricao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GeneroCliente,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_StatusPedidoTxt.Criticality 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StatusPedidoCriticality,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...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_Itens     :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   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_Pagamento :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r>
              <a:rPr lang="pt-BR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    </a:t>
            </a:r>
            <a:r>
              <a:rPr lang="pt-BR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endParaRPr lang="pt-BR" sz="1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pt-BR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r>
              <a:rPr lang="pt-BR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pt-BR" sz="1000" dirty="0"/>
          </a:p>
        </p:txBody>
      </p:sp>
      <p:sp>
        <p:nvSpPr>
          <p:cNvPr id="11" name="Cartão"/>
          <p:cNvSpPr/>
          <p:nvPr/>
        </p:nvSpPr>
        <p:spPr>
          <a:xfrm>
            <a:off x="6858000" y="1645920"/>
            <a:ext cx="478231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o"/>
          <p:cNvSpPr txBox="1"/>
          <p:nvPr/>
        </p:nvSpPr>
        <p:spPr>
          <a:xfrm>
            <a:off x="70408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>Path expression</a:t>
            </a:r>
            <a:endParaRPr lang="pt-BR" sz="1150" dirty="0"/>
          </a:p>
        </p:txBody>
      </p:sp>
      <p:sp>
        <p:nvSpPr>
          <p:cNvPr id="13" name="Status _Cliente.Nome"/>
          <p:cNvSpPr/>
          <p:nvPr/>
        </p:nvSpPr>
        <p:spPr>
          <a:xfrm>
            <a:off x="8732520" y="1801368"/>
            <a:ext cx="1179576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_Cliente.Nome</a:t>
            </a:r>
            <a:endParaRPr lang="pt-BR" sz="900" dirty="0"/>
          </a:p>
        </p:txBody>
      </p:sp>
      <p:sp>
        <p:nvSpPr>
          <p:cNvPr id="14" name="Texto"/>
          <p:cNvSpPr txBox="1"/>
          <p:nvPr/>
        </p:nvSpPr>
        <p:spPr>
          <a:xfrm>
            <a:off x="7040880" y="2103120"/>
            <a:ext cx="4416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Lê um campo da entidade associada. O compilador gera um LEFT OUTER JOIN só para os caminhos usados.</a:t>
            </a:r>
            <a:endParaRPr lang="pt-BR" sz="1050" dirty="0"/>
          </a:p>
        </p:txBody>
      </p:sp>
      <p:sp>
        <p:nvSpPr>
          <p:cNvPr id="15" name="Cartão"/>
          <p:cNvSpPr/>
          <p:nvPr/>
        </p:nvSpPr>
        <p:spPr>
          <a:xfrm>
            <a:off x="6858000" y="2834640"/>
            <a:ext cx="478231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o"/>
          <p:cNvSpPr txBox="1"/>
          <p:nvPr/>
        </p:nvSpPr>
        <p:spPr>
          <a:xfrm>
            <a:off x="70408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>Dois saltos</a:t>
            </a:r>
            <a:endParaRPr lang="pt-BR" sz="1150" dirty="0"/>
          </a:p>
        </p:txBody>
      </p:sp>
      <p:sp>
        <p:nvSpPr>
          <p:cNvPr id="17" name="Status _Cliente._GeneroTxt"/>
          <p:cNvSpPr/>
          <p:nvPr/>
        </p:nvSpPr>
        <p:spPr>
          <a:xfrm>
            <a:off x="8732520" y="2990088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_Cliente._GeneroTxt</a:t>
            </a:r>
            <a:endParaRPr lang="pt-BR" sz="900" dirty="0"/>
          </a:p>
        </p:txBody>
      </p:sp>
      <p:sp>
        <p:nvSpPr>
          <p:cNvPr id="18" name="Texto"/>
          <p:cNvSpPr txBox="1"/>
          <p:nvPr/>
        </p:nvSpPr>
        <p:spPr>
          <a:xfrm>
            <a:off x="7040880" y="3291840"/>
            <a:ext cx="4416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→ Cliente → CodeList: o texto do gênero chega ao pedido sem associação nova.</a:t>
            </a:r>
            <a:endParaRPr lang="pt-BR" sz="1050" dirty="0"/>
          </a:p>
        </p:txBody>
      </p:sp>
      <p:sp>
        <p:nvSpPr>
          <p:cNvPr id="19" name="Cartão"/>
          <p:cNvSpPr/>
          <p:nvPr/>
        </p:nvSpPr>
        <p:spPr>
          <a:xfrm>
            <a:off x="6858000" y="4023360"/>
            <a:ext cx="478231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o"/>
          <p:cNvSpPr txBox="1"/>
          <p:nvPr/>
        </p:nvSpPr>
        <p:spPr>
          <a:xfrm>
            <a:off x="704088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>Cuidado com [0..*]</a:t>
            </a:r>
            <a:endParaRPr lang="pt-BR" sz="1150" dirty="0"/>
          </a:p>
        </p:txBody>
      </p:sp>
      <p:sp>
        <p:nvSpPr>
          <p:cNvPr id="21" name="Status _Endereco.Cidade"/>
          <p:cNvSpPr/>
          <p:nvPr/>
        </p:nvSpPr>
        <p:spPr>
          <a:xfrm>
            <a:off x="8732520" y="4178808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_Endereco.Cidade</a:t>
            </a:r>
            <a:endParaRPr lang="pt-BR" sz="900" dirty="0"/>
          </a:p>
        </p:txBody>
      </p:sp>
      <p:sp>
        <p:nvSpPr>
          <p:cNvPr id="22" name="Texto"/>
          <p:cNvSpPr txBox="1"/>
          <p:nvPr/>
        </p:nvSpPr>
        <p:spPr>
          <a:xfrm>
            <a:off x="7040880" y="4480560"/>
            <a:ext cx="4416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Repetiria o cliente para cada endereço. Por isso existe _EnderecoPrincipal [0..1].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6858000" y="5212080"/>
            <a:ext cx="478231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o"/>
          <p:cNvSpPr txBox="1"/>
          <p:nvPr/>
        </p:nvSpPr>
        <p:spPr>
          <a:xfrm>
            <a:off x="7040880" y="5349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>redirected to</a:t>
            </a:r>
            <a:endParaRPr lang="pt-BR" sz="1150" dirty="0"/>
          </a:p>
        </p:txBody>
      </p:sp>
      <p:sp>
        <p:nvSpPr>
          <p:cNvPr id="25" name="Status composition child / parent"/>
          <p:cNvSpPr/>
          <p:nvPr/>
        </p:nvSpPr>
        <p:spPr>
          <a:xfrm>
            <a:off x="8732520" y="5367528"/>
            <a:ext cx="2093976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 child / parent</a:t>
            </a:r>
            <a:endParaRPr lang="pt-BR" sz="900" dirty="0"/>
          </a:p>
        </p:txBody>
      </p:sp>
      <p:sp>
        <p:nvSpPr>
          <p:cNvPr id="26" name="Texto"/>
          <p:cNvSpPr txBox="1"/>
          <p:nvPr/>
        </p:nvSpPr>
        <p:spPr>
          <a:xfrm>
            <a:off x="7040880" y="5669280"/>
            <a:ext cx="4416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 projeção, o pai aponta para a projeção do filho, e o filho declara _Pedido: redirected to parent.</a:t>
            </a:r>
            <a:endParaRPr lang="pt-BR" sz="10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ANNOTATIONS · CAMADAS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Cada camada usa a sua família de annotations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3803904"/>
          </a:xfrm>
          <a:prstGeom prst="roundRect">
            <a:avLst>
              <a:gd name="adj" fmla="val 28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3584448"/>
        </p:xfrm>
        <a:graphic>
          <a:graphicData uri="http://schemas.openxmlformats.org/drawingml/2006/table">
            <a:tbl>
              <a:tblPr/>
              <a:tblGrid>
                <a:gridCol w="1600200"/>
                <a:gridCol w="1920240"/>
                <a:gridCol w="2011680"/>
                <a:gridCol w="2057400"/>
                <a:gridCol w="1691640"/>
                <a:gridCol w="1600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Família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ZR_ (view de BO)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ZC_*_APP (projeção)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.ddlx (metadata ext.)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ZC_*_VH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Cubos e consultas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@Metadata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ignorePropagated­Annotations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allowExtensions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layer: #CORE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ignorePropagated­Annotations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allowExtensions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user, systemDateTime, amount, largeObject, mimeType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quantity.unitOfMeasure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text, amount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calendar.yearMonth, amount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@Search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searchable, defaultSearchElement, fuzzinessThreshold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searchable, defaultSearchElement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semanticKey, text.element, virtualElement­CalculatedBy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dataCategory, usageType, resultSet.sizeCategory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modelingPattern, supported­Capabilities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valueHelpDefinition, semanticObject, semanticObjectMapping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textArrangement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headerInfo, facet, lineItem, identification, fieldGroup, selectionField, dataPoint, hidden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hidden, textArrangement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chart, presentation­Variant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@Analytics @Aggregation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A8B3BD"/>
                          </a:solidFill>
                        </a:rPr>
                        <a:t>—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556B82"/>
                          </a:solidFill>
                        </a:rPr>
                        <a:t>dataCategory: #CUBE, default: #SUM / #AVG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a"/>
          <p:cNvSpPr/>
          <p:nvPr/>
        </p:nvSpPr>
        <p:spPr>
          <a:xfrm>
            <a:off x="548640" y="5641848"/>
            <a:ext cx="11091672" cy="530352"/>
          </a:xfrm>
          <a:prstGeom prst="roundRect">
            <a:avLst>
              <a:gd name="adj" fmla="val 20689"/>
            </a:avLst>
          </a:prstGeom>
          <a:solidFill>
            <a:srgbClr val="E1F4FF"/>
          </a:solidFill>
          <a:ln/>
        </p:spPr>
      </p:sp>
      <p:sp>
        <p:nvSpPr>
          <p:cNvPr id="6" name="Texto da nota"/>
          <p:cNvSpPr txBox="1"/>
          <p:nvPr/>
        </p:nvSpPr>
        <p:spPr>
          <a:xfrm>
            <a:off x="777240" y="5641848"/>
            <a:ext cx="10634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Em todas as camadas: </a:t>
            </a: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pt-BR" sz="1150" dirty="0">
                <a:solidFill>
                  <a:srgbClr val="1D2D3E"/>
                </a:solidFill>
              </a:rPr>
              <a:t xml:space="preserve"> e </a:t>
            </a: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pt-BR" sz="1150" dirty="0">
                <a:solidFill>
                  <a:srgbClr val="1D2D3E"/>
                </a:solidFill>
              </a:rPr>
              <a:t>. As seções a seguir detalham cada BO.</a:t>
            </a:r>
            <a:endParaRPr lang="pt-BR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COMMON · 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Uma CodeList, oito associações filtradas</a:t>
            </a:r>
            <a:endParaRPr lang="pt-BR" sz="3000" dirty="0"/>
          </a:p>
        </p:txBody>
      </p:sp>
      <p:sp>
        <p:nvSpPr>
          <p:cNvPr id="3" name="Cartão"/>
          <p:cNvSpPr/>
          <p:nvPr/>
        </p:nvSpPr>
        <p:spPr>
          <a:xfrm>
            <a:off x="548640" y="1645920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" name="Texto"/>
          <p:cNvSpPr txBox="1"/>
          <p:nvPr/>
        </p:nvSpPr>
        <p:spPr>
          <a:xfrm>
            <a:off x="731520" y="17556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pt-BR" sz="1000" dirty="0"/>
          </a:p>
        </p:txBody>
      </p:sp>
      <p:sp>
        <p:nvSpPr>
          <p:cNvPr id="5" name="Texto"/>
          <p:cNvSpPr txBox="1"/>
          <p:nvPr/>
        </p:nvSpPr>
        <p:spPr>
          <a:xfrm>
            <a:off x="731520" y="20116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" y="22585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pt-BR" sz="950" dirty="0"/>
          </a:p>
        </p:txBody>
      </p:sp>
      <p:cxnSp>
        <p:nvCxnSpPr>
          <p:cNvPr id="7" name="Conector"/>
          <p:cNvCxnSpPr/>
          <p:nvPr/>
        </p:nvCxnSpPr>
        <p:spPr>
          <a:xfrm>
            <a:off x="3794760" y="2112264"/>
            <a:ext cx="841248" cy="813816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8" name="Cartão"/>
          <p:cNvSpPr/>
          <p:nvPr/>
        </p:nvSpPr>
        <p:spPr>
          <a:xfrm>
            <a:off x="548640" y="2816352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31520" y="2926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318211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31520" y="342900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endParaRPr lang="pt-BR" sz="950" dirty="0"/>
          </a:p>
        </p:txBody>
      </p:sp>
      <p:cxnSp>
        <p:nvCxnSpPr>
          <p:cNvPr id="12" name="Conector"/>
          <p:cNvCxnSpPr/>
          <p:nvPr/>
        </p:nvCxnSpPr>
        <p:spPr>
          <a:xfrm>
            <a:off x="3794760" y="3282696"/>
            <a:ext cx="841248" cy="36576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3" name="Cartão"/>
          <p:cNvSpPr/>
          <p:nvPr/>
        </p:nvSpPr>
        <p:spPr>
          <a:xfrm>
            <a:off x="548640" y="3986784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o"/>
          <p:cNvSpPr txBox="1"/>
          <p:nvPr/>
        </p:nvSpPr>
        <p:spPr>
          <a:xfrm>
            <a:off x="731520" y="40965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731520" y="4352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731520" y="459943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'STATUS_ESTOQUE'</a:t>
            </a:r>
            <a:endParaRPr lang="pt-BR" sz="950" dirty="0"/>
          </a:p>
        </p:txBody>
      </p:sp>
      <p:cxnSp>
        <p:nvCxnSpPr>
          <p:cNvPr id="17" name="Conector"/>
          <p:cNvCxnSpPr/>
          <p:nvPr/>
        </p:nvCxnSpPr>
        <p:spPr>
          <a:xfrm flipV="1">
            <a:off x="3794760" y="3712464"/>
            <a:ext cx="841248" cy="740664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8" name="Cartão"/>
          <p:cNvSpPr/>
          <p:nvPr/>
        </p:nvSpPr>
        <p:spPr>
          <a:xfrm>
            <a:off x="548640" y="5157216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o"/>
          <p:cNvSpPr txBox="1"/>
          <p:nvPr/>
        </p:nvSpPr>
        <p:spPr>
          <a:xfrm>
            <a:off x="731520" y="526694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000" dirty="0"/>
          </a:p>
        </p:txBody>
      </p:sp>
      <p:sp>
        <p:nvSpPr>
          <p:cNvPr id="20" name="Texto"/>
          <p:cNvSpPr txBox="1"/>
          <p:nvPr/>
        </p:nvSpPr>
        <p:spPr>
          <a:xfrm>
            <a:off x="731520" y="552297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731520" y="576986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pt-BR" sz="950" dirty="0"/>
          </a:p>
        </p:txBody>
      </p:sp>
      <p:cxnSp>
        <p:nvCxnSpPr>
          <p:cNvPr id="22" name="Conector"/>
          <p:cNvCxnSpPr/>
          <p:nvPr/>
        </p:nvCxnSpPr>
        <p:spPr>
          <a:xfrm flipV="1">
            <a:off x="3794760" y="4105656"/>
            <a:ext cx="841248" cy="1517904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23" name="Cartão"/>
          <p:cNvSpPr/>
          <p:nvPr/>
        </p:nvSpPr>
        <p:spPr>
          <a:xfrm>
            <a:off x="8394192" y="1645920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o"/>
          <p:cNvSpPr txBox="1"/>
          <p:nvPr/>
        </p:nvSpPr>
        <p:spPr>
          <a:xfrm>
            <a:off x="8577072" y="175564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000" dirty="0"/>
          </a:p>
        </p:txBody>
      </p:sp>
      <p:sp>
        <p:nvSpPr>
          <p:cNvPr id="25" name="Texto"/>
          <p:cNvSpPr txBox="1"/>
          <p:nvPr/>
        </p:nvSpPr>
        <p:spPr>
          <a:xfrm>
            <a:off x="8577072" y="20116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_StatusPagamentoTxt</a:t>
            </a:r>
            <a:endParaRPr lang="pt-BR" sz="1000" dirty="0"/>
          </a:p>
        </p:txBody>
      </p:sp>
      <p:sp>
        <p:nvSpPr>
          <p:cNvPr id="26" name="Texto"/>
          <p:cNvSpPr txBox="1"/>
          <p:nvPr/>
        </p:nvSpPr>
        <p:spPr>
          <a:xfrm>
            <a:off x="8577072" y="225856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'STATUS_PAGAMENTO'</a:t>
            </a:r>
            <a:endParaRPr lang="pt-BR" sz="950" dirty="0"/>
          </a:p>
        </p:txBody>
      </p:sp>
      <p:cxnSp>
        <p:nvCxnSpPr>
          <p:cNvPr id="27" name="Conector"/>
          <p:cNvCxnSpPr/>
          <p:nvPr/>
        </p:nvCxnSpPr>
        <p:spPr>
          <a:xfrm flipH="1">
            <a:off x="7562088" y="2112264"/>
            <a:ext cx="832104" cy="813816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28" name="Cartão"/>
          <p:cNvSpPr/>
          <p:nvPr/>
        </p:nvSpPr>
        <p:spPr>
          <a:xfrm>
            <a:off x="8394192" y="2816352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o"/>
          <p:cNvSpPr txBox="1"/>
          <p:nvPr/>
        </p:nvSpPr>
        <p:spPr>
          <a:xfrm>
            <a:off x="8577072" y="2926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8577072" y="318211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endParaRPr lang="pt-BR" sz="1000" dirty="0"/>
          </a:p>
        </p:txBody>
      </p:sp>
      <p:sp>
        <p:nvSpPr>
          <p:cNvPr id="31" name="Texto"/>
          <p:cNvSpPr txBox="1"/>
          <p:nvPr/>
        </p:nvSpPr>
        <p:spPr>
          <a:xfrm>
            <a:off x="8577072" y="342900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'METODO_PAGAMENTO'</a:t>
            </a:r>
            <a:endParaRPr lang="pt-BR" sz="950" dirty="0"/>
          </a:p>
        </p:txBody>
      </p:sp>
      <p:cxnSp>
        <p:nvCxnSpPr>
          <p:cNvPr id="32" name="Conector"/>
          <p:cNvCxnSpPr/>
          <p:nvPr/>
        </p:nvCxnSpPr>
        <p:spPr>
          <a:xfrm flipH="1">
            <a:off x="7562088" y="3282696"/>
            <a:ext cx="832104" cy="36576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33" name="Cartão"/>
          <p:cNvSpPr/>
          <p:nvPr/>
        </p:nvSpPr>
        <p:spPr>
          <a:xfrm>
            <a:off x="8394192" y="3986784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Texto"/>
          <p:cNvSpPr txBox="1"/>
          <p:nvPr/>
        </p:nvSpPr>
        <p:spPr>
          <a:xfrm>
            <a:off x="8577072" y="40965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pt-BR" sz="1000" dirty="0"/>
          </a:p>
        </p:txBody>
      </p:sp>
      <p:sp>
        <p:nvSpPr>
          <p:cNvPr id="35" name="Texto"/>
          <p:cNvSpPr txBox="1"/>
          <p:nvPr/>
        </p:nvSpPr>
        <p:spPr>
          <a:xfrm>
            <a:off x="8577072" y="4352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pt-BR" sz="1000" dirty="0"/>
          </a:p>
        </p:txBody>
      </p:sp>
      <p:sp>
        <p:nvSpPr>
          <p:cNvPr id="36" name="Texto"/>
          <p:cNvSpPr txBox="1"/>
          <p:nvPr/>
        </p:nvSpPr>
        <p:spPr>
          <a:xfrm>
            <a:off x="8577072" y="4599432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'STATUS_PAGAMENTO'</a:t>
            </a:r>
            <a:endParaRPr lang="pt-BR" sz="950" dirty="0"/>
          </a:p>
        </p:txBody>
      </p:sp>
      <p:cxnSp>
        <p:nvCxnSpPr>
          <p:cNvPr id="37" name="Conector"/>
          <p:cNvCxnSpPr/>
          <p:nvPr/>
        </p:nvCxnSpPr>
        <p:spPr>
          <a:xfrm flipH="1" flipV="1">
            <a:off x="7562088" y="3712464"/>
            <a:ext cx="832104" cy="740664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38" name="Cartão"/>
          <p:cNvSpPr/>
          <p:nvPr/>
        </p:nvSpPr>
        <p:spPr>
          <a:xfrm>
            <a:off x="8394192" y="5157216"/>
            <a:ext cx="3246120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Texto"/>
          <p:cNvSpPr txBox="1"/>
          <p:nvPr/>
        </p:nvSpPr>
        <p:spPr>
          <a:xfrm>
            <a:off x="8577072" y="526694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pt-BR" sz="1000" dirty="0"/>
          </a:p>
        </p:txBody>
      </p:sp>
      <p:sp>
        <p:nvSpPr>
          <p:cNvPr id="40" name="Texto"/>
          <p:cNvSpPr txBox="1"/>
          <p:nvPr/>
        </p:nvSpPr>
        <p:spPr>
          <a:xfrm>
            <a:off x="8577072" y="5522976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8577072" y="576986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 xml:space="preserve">Lista = </a:t>
            </a: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'STATUS_REEMBOLSO'</a:t>
            </a:r>
            <a:endParaRPr lang="pt-BR" sz="950" dirty="0"/>
          </a:p>
        </p:txBody>
      </p:sp>
      <p:cxnSp>
        <p:nvCxnSpPr>
          <p:cNvPr id="42" name="Conector"/>
          <p:cNvCxnSpPr/>
          <p:nvPr/>
        </p:nvCxnSpPr>
        <p:spPr>
          <a:xfrm flipH="1" flipV="1">
            <a:off x="7562088" y="4105656"/>
            <a:ext cx="832104" cy="1517904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43" name="ZR_PC_CODELIST"/>
          <p:cNvSpPr/>
          <p:nvPr/>
        </p:nvSpPr>
        <p:spPr>
          <a:xfrm>
            <a:off x="4636008" y="2514600"/>
            <a:ext cx="2926080" cy="2011680"/>
          </a:xfrm>
          <a:prstGeom prst="roundRect">
            <a:avLst>
              <a:gd name="adj" fmla="val 5454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pt-BR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1150" dirty="0"/>
          </a:p>
          <a:p>
            <a:pPr algn="ctr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Lista</a:t>
            </a:r>
            <a:endParaRPr lang="pt-BR" sz="1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Codigo</a:t>
            </a:r>
            <a:endParaRPr lang="pt-BR" sz="1000" dirty="0"/>
          </a:p>
          <a:p>
            <a:pPr algn="ctr" indent="0" marL="0">
              <a:buNone/>
            </a:pPr>
            <a:r>
              <a:rPr lang="pt-BR" sz="9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endParaRPr lang="pt-BR" sz="950" dirty="0"/>
          </a:p>
          <a:p>
            <a:pPr algn="ctr" indent="0" marL="0">
              <a:buNone/>
            </a:pPr>
            <a:r>
              <a:rPr lang="pt-BR" sz="9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· Ordem</a:t>
            </a:r>
            <a:endParaRPr lang="pt-BR" sz="950" dirty="0"/>
          </a:p>
        </p:txBody>
      </p:sp>
      <p:sp>
        <p:nvSpPr>
          <p:cNvPr id="44" name="Texto"/>
          <p:cNvSpPr txBox="1"/>
          <p:nvPr/>
        </p:nvSpPr>
        <p:spPr>
          <a:xfrm>
            <a:off x="4544568" y="46634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 xml:space="preserve">Chave composta: a constante fixa a </a:t>
            </a:r>
            <a:r>
              <a:rPr lang="pt-BR" sz="9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r>
              <a:rPr lang="pt-BR" sz="1050" dirty="0">
                <a:solidFill>
                  <a:srgbClr val="556B82"/>
                </a:solidFill>
              </a:rPr>
              <a:t xml:space="preserve"> e o </a:t>
            </a:r>
            <a:r>
              <a:rPr lang="pt-BR" sz="9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r>
              <a:rPr lang="pt-BR" sz="1050" dirty="0">
                <a:solidFill>
                  <a:srgbClr val="556B82"/>
                </a:solidFill>
              </a:rPr>
              <a:t xml:space="preserve"> casa com o campo do BO. Resultado: no máximo uma linha, </a:t>
            </a:r>
            <a:r>
              <a:rPr lang="pt-BR" sz="9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[0..1]</a:t>
            </a:r>
            <a:r>
              <a:rPr lang="pt-BR" sz="1050" dirty="0">
                <a:solidFill>
                  <a:srgbClr val="556B82"/>
                </a:solidFill>
              </a:rPr>
              <a:t>.</a:t>
            </a:r>
            <a:endParaRPr lang="pt-BR" sz="10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COMMON · ANNOTATIONS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As annotations das CodeLists e do upload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393192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10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10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10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@ObjectModel.resultSet.sizeCategory: #XS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7 value helps de CodeList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Lista suspensa em vez do diálogo de busca.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@ObjectModel.text.element: ['Descricao']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chave Codigo das value helps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Liga o código ao campo de texto.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@UI.textArrangement: #TEXT_ONLY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chave Codigo das value helps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Mostra só a descrição, sem o código.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@Semantics.text: true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Descricao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Marca o campo como o texto da entidade.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@UI.hidden: true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Criticality, Ordem; Dummy, MimeType, FileName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Some do diálogo, mas continua disponível ao backend.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@AbapCatalog.viewEnhancementCategory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STATUSPAG, METODOPAG e STATUSREEMB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[#NONE]: a view não aceita extensões.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@Semantics.largeObject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ZPC_A_FILE_STREAM.StreamProperty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Seletor de arquivo no diálogo Importar planilha; mimeType e fileName apontam os campos.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@EndUserText.label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value helps e abstract entities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Rótulo do campo no diálogo e nas colunas.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@Metadata.ignorePropagatedAnnotations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1D2D3E"/>
                          </a:solidFill>
                        </a:rPr>
                        <a:t>ZR_PC_CODELIST e value helps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dirty="0">
                          <a:solidFill>
                            <a:srgbClr val="556B82"/>
                          </a:solidFill>
                        </a:rPr>
                        <a:t>Não herda annotations da tabela ou da view base.</a:t>
                      </a:r>
                      <a:endParaRPr lang="pt-BR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Cliente e Endereço: duas ligações para o mesmo filho</a:t>
            </a:r>
            <a:endParaRPr lang="pt-BR" sz="3000" dirty="0"/>
          </a:p>
        </p:txBody>
      </p:sp>
      <p:sp>
        <p:nvSpPr>
          <p:cNvPr id="3" name="Texto"/>
          <p:cNvSpPr txBox="1"/>
          <p:nvPr/>
        </p:nvSpPr>
        <p:spPr>
          <a:xfrm>
            <a:off x="548640" y="16093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b="1" spc="100" dirty="0">
                <a:solidFill>
                  <a:srgbClr val="556B82"/>
                </a:solidFill>
              </a:rPr>
              <a:t>VIEWS DE BO</a:t>
            </a:r>
            <a:endParaRPr lang="pt-BR" sz="900" dirty="0"/>
          </a:p>
        </p:txBody>
      </p:sp>
      <p:sp>
        <p:nvSpPr>
          <p:cNvPr id="4" name="ZR_PC_CODELIST"/>
          <p:cNvSpPr/>
          <p:nvPr/>
        </p:nvSpPr>
        <p:spPr>
          <a:xfrm>
            <a:off x="548640" y="1874520"/>
            <a:ext cx="1783080" cy="109728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9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950" dirty="0"/>
          </a:p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lista GENERO</a:t>
            </a:r>
            <a:endParaRPr lang="pt-BR" sz="900" dirty="0"/>
          </a:p>
        </p:txBody>
      </p:sp>
      <p:sp>
        <p:nvSpPr>
          <p:cNvPr id="5" name="ZR_PC_CLIENTE"/>
          <p:cNvSpPr/>
          <p:nvPr/>
        </p:nvSpPr>
        <p:spPr>
          <a:xfrm>
            <a:off x="3154680" y="1874520"/>
            <a:ext cx="2651760" cy="1097280"/>
          </a:xfrm>
          <a:prstGeom prst="roundRect">
            <a:avLst>
              <a:gd name="adj" fmla="val 6666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pt-BR" sz="1050" dirty="0"/>
          </a:p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root · draft</a:t>
            </a:r>
            <a:endParaRPr lang="pt-BR" sz="900" dirty="0"/>
          </a:p>
        </p:txBody>
      </p:sp>
      <p:sp>
        <p:nvSpPr>
          <p:cNvPr id="6" name="ZR_PC_ENDERECO"/>
          <p:cNvSpPr/>
          <p:nvPr/>
        </p:nvSpPr>
        <p:spPr>
          <a:xfrm>
            <a:off x="8732520" y="1874520"/>
            <a:ext cx="2907792" cy="109728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pt-BR" sz="1050" dirty="0"/>
          </a:p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filho de composição</a:t>
            </a:r>
            <a:endParaRPr lang="pt-BR" sz="900" dirty="0"/>
          </a:p>
        </p:txBody>
      </p:sp>
      <p:cxnSp>
        <p:nvCxnSpPr>
          <p:cNvPr id="7" name="Conector"/>
          <p:cNvCxnSpPr/>
          <p:nvPr/>
        </p:nvCxnSpPr>
        <p:spPr>
          <a:xfrm flipH="1">
            <a:off x="2331720" y="2423160"/>
            <a:ext cx="82296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8" name="Texto"/>
          <p:cNvSpPr txBox="1"/>
          <p:nvPr/>
        </p:nvSpPr>
        <p:spPr>
          <a:xfrm>
            <a:off x="2331720" y="20848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pt-BR" sz="800" dirty="0"/>
          </a:p>
        </p:txBody>
      </p:sp>
      <p:cxnSp>
        <p:nvCxnSpPr>
          <p:cNvPr id="9" name="Conector"/>
          <p:cNvCxnSpPr/>
          <p:nvPr/>
        </p:nvCxnSpPr>
        <p:spPr>
          <a:xfrm>
            <a:off x="5806440" y="2103120"/>
            <a:ext cx="2926080" cy="0"/>
          </a:xfrm>
          <a:prstGeom prst="straightConnector1">
            <a:avLst/>
          </a:prstGeom>
          <a:ln w="25400">
            <a:solidFill>
              <a:srgbClr val="0070F2"/>
            </a:solidFill>
            <a:headEnd type="diamond" w="med" len="med"/>
            <a:tailEnd type="triangle" w="med" len="med"/>
          </a:ln>
        </p:spPr>
      </p:cxnSp>
      <p:sp>
        <p:nvSpPr>
          <p:cNvPr id="10" name="Status composition [0..*] · _Endereco"/>
          <p:cNvSpPr/>
          <p:nvPr/>
        </p:nvSpPr>
        <p:spPr>
          <a:xfrm>
            <a:off x="5989320" y="1984248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 [0..*] · _Endereco</a:t>
            </a:r>
            <a:endParaRPr lang="pt-BR" sz="850" dirty="0"/>
          </a:p>
        </p:txBody>
      </p:sp>
      <p:cxnSp>
        <p:nvCxnSpPr>
          <p:cNvPr id="11" name="Conector"/>
          <p:cNvCxnSpPr/>
          <p:nvPr/>
        </p:nvCxnSpPr>
        <p:spPr>
          <a:xfrm flipH="1">
            <a:off x="5806440" y="2423160"/>
            <a:ext cx="2926080" cy="0"/>
          </a:xfrm>
          <a:prstGeom prst="straightConnector1">
            <a:avLst/>
          </a:prstGeom>
          <a:ln w="19050">
            <a:solidFill>
              <a:srgbClr val="5D9E3A"/>
            </a:solidFill>
            <a:tailEnd type="triangle" w="med" len="med"/>
          </a:ln>
        </p:spPr>
      </p:cxnSp>
      <p:sp>
        <p:nvSpPr>
          <p:cNvPr id="12" name="Status to parent · _Cliente"/>
          <p:cNvSpPr/>
          <p:nvPr/>
        </p:nvSpPr>
        <p:spPr>
          <a:xfrm>
            <a:off x="5989320" y="2304288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parent · _Cliente</a:t>
            </a:r>
            <a:endParaRPr lang="pt-BR" sz="850" dirty="0"/>
          </a:p>
        </p:txBody>
      </p:sp>
      <p:cxnSp>
        <p:nvCxnSpPr>
          <p:cNvPr id="13" name="Conector"/>
          <p:cNvCxnSpPr/>
          <p:nvPr/>
        </p:nvCxnSpPr>
        <p:spPr>
          <a:xfrm>
            <a:off x="5806440" y="2743200"/>
            <a:ext cx="292608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4" name="Status [0..1] · _EnderecoPrincipal"/>
          <p:cNvSpPr/>
          <p:nvPr/>
        </p:nvSpPr>
        <p:spPr>
          <a:xfrm>
            <a:off x="5989320" y="2624328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[0..1] · _EnderecoPrincipal</a:t>
            </a:r>
            <a:endParaRPr lang="pt-BR" sz="850" dirty="0"/>
          </a:p>
        </p:txBody>
      </p:sp>
      <p:sp>
        <p:nvSpPr>
          <p:cNvPr id="15" name="Texto"/>
          <p:cNvSpPr txBox="1"/>
          <p:nvPr/>
        </p:nvSpPr>
        <p:spPr>
          <a:xfrm>
            <a:off x="5897880" y="2990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 xml:space="preserve">ON com </a:t>
            </a: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 = 'X'</a:t>
            </a:r>
            <a:r>
              <a:rPr lang="pt-BR" sz="900" dirty="0">
                <a:solidFill>
                  <a:srgbClr val="556B82"/>
                </a:solidFill>
              </a:rPr>
              <a:t>: o mesmo filho, só o principal.</a:t>
            </a:r>
            <a:endParaRPr lang="pt-BR" sz="900" dirty="0"/>
          </a:p>
        </p:txBody>
      </p:sp>
      <p:sp>
        <p:nvSpPr>
          <p:cNvPr id="16" name="Texto"/>
          <p:cNvSpPr txBox="1"/>
          <p:nvPr/>
        </p:nvSpPr>
        <p:spPr>
          <a:xfrm>
            <a:off x="548640" y="32918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b="1" spc="100" dirty="0">
                <a:solidFill>
                  <a:srgbClr val="556B82"/>
                </a:solidFill>
              </a:rPr>
              <a:t>PROJEÇÕES</a:t>
            </a:r>
            <a:endParaRPr lang="pt-BR" sz="900" dirty="0"/>
          </a:p>
        </p:txBody>
      </p:sp>
      <p:sp>
        <p:nvSpPr>
          <p:cNvPr id="17" name="ZC_PC_CLIENTE_APP"/>
          <p:cNvSpPr/>
          <p:nvPr/>
        </p:nvSpPr>
        <p:spPr>
          <a:xfrm>
            <a:off x="3154680" y="3611880"/>
            <a:ext cx="2651760" cy="640080"/>
          </a:xfrm>
          <a:prstGeom prst="roundRect">
            <a:avLst>
              <a:gd name="adj" fmla="val 11428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pt-BR" sz="1050" dirty="0"/>
          </a:p>
        </p:txBody>
      </p:sp>
      <p:sp>
        <p:nvSpPr>
          <p:cNvPr id="18" name="ZC_PC_ENDERECO_APP"/>
          <p:cNvSpPr/>
          <p:nvPr/>
        </p:nvSpPr>
        <p:spPr>
          <a:xfrm>
            <a:off x="8732520" y="3611880"/>
            <a:ext cx="2907792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4480560" y="2971800"/>
            <a:ext cx="0" cy="640080"/>
          </a:xfrm>
          <a:prstGeom prst="straightConnector1">
            <a:avLst/>
          </a:prstGeom>
          <a:ln w="12700">
            <a:solidFill>
              <a:srgbClr val="A8B3BD"/>
            </a:solidFill>
            <a:headEnd type="triangle" w="med" len="med"/>
          </a:ln>
        </p:spPr>
      </p:cxnSp>
      <p:cxnSp>
        <p:nvCxnSpPr>
          <p:cNvPr id="20" name="Conector"/>
          <p:cNvCxnSpPr/>
          <p:nvPr/>
        </p:nvCxnSpPr>
        <p:spPr>
          <a:xfrm>
            <a:off x="10186416" y="2971800"/>
            <a:ext cx="0" cy="640080"/>
          </a:xfrm>
          <a:prstGeom prst="straightConnector1">
            <a:avLst/>
          </a:prstGeom>
          <a:ln w="12700">
            <a:solidFill>
              <a:srgbClr val="A8B3BD"/>
            </a:solidFill>
            <a:headEnd type="triangle" w="med" len="med"/>
          </a:ln>
        </p:spPr>
      </p:cxnSp>
      <p:sp>
        <p:nvSpPr>
          <p:cNvPr id="21" name="Texto"/>
          <p:cNvSpPr txBox="1"/>
          <p:nvPr/>
        </p:nvSpPr>
        <p:spPr>
          <a:xfrm>
            <a:off x="4553712" y="3108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50" i="1" dirty="0">
                <a:solidFill>
                  <a:srgbClr val="556B82"/>
                </a:solidFill>
              </a:rPr>
              <a:t>as projection on</a:t>
            </a:r>
            <a:endParaRPr lang="pt-BR" sz="850" dirty="0"/>
          </a:p>
        </p:txBody>
      </p:sp>
      <p:cxnSp>
        <p:nvCxnSpPr>
          <p:cNvPr id="22" name="Conector"/>
          <p:cNvCxnSpPr/>
          <p:nvPr/>
        </p:nvCxnSpPr>
        <p:spPr>
          <a:xfrm>
            <a:off x="5806440" y="3794760"/>
            <a:ext cx="2926080" cy="0"/>
          </a:xfrm>
          <a:prstGeom prst="straightConnector1">
            <a:avLst/>
          </a:prstGeom>
          <a:ln w="19050">
            <a:solidFill>
              <a:srgbClr val="0070F2"/>
            </a:solidFill>
            <a:tailEnd type="triangle" w="med" len="med"/>
          </a:ln>
        </p:spPr>
      </p:cxnSp>
      <p:sp>
        <p:nvSpPr>
          <p:cNvPr id="23" name="Texto"/>
          <p:cNvSpPr txBox="1"/>
          <p:nvPr/>
        </p:nvSpPr>
        <p:spPr>
          <a:xfrm>
            <a:off x="5852160" y="35753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 to composition child</a:t>
            </a:r>
            <a:endParaRPr lang="pt-BR" sz="800" dirty="0"/>
          </a:p>
        </p:txBody>
      </p:sp>
      <p:cxnSp>
        <p:nvCxnSpPr>
          <p:cNvPr id="24" name="Conector"/>
          <p:cNvCxnSpPr/>
          <p:nvPr/>
        </p:nvCxnSpPr>
        <p:spPr>
          <a:xfrm flipH="1">
            <a:off x="5806440" y="4069080"/>
            <a:ext cx="2926080" cy="0"/>
          </a:xfrm>
          <a:prstGeom prst="straightConnector1">
            <a:avLst/>
          </a:prstGeom>
          <a:ln w="19050">
            <a:solidFill>
              <a:srgbClr val="5D9E3A"/>
            </a:solidFill>
            <a:tailEnd type="triangle" w="med" len="med"/>
          </a:ln>
        </p:spPr>
      </p:cxnSp>
      <p:sp>
        <p:nvSpPr>
          <p:cNvPr id="25" name="Texto"/>
          <p:cNvSpPr txBox="1"/>
          <p:nvPr/>
        </p:nvSpPr>
        <p:spPr>
          <a:xfrm>
            <a:off x="5852160" y="40873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 to parent</a:t>
            </a:r>
            <a:endParaRPr lang="pt-BR" sz="800" dirty="0"/>
          </a:p>
        </p:txBody>
      </p:sp>
      <p:sp>
        <p:nvSpPr>
          <p:cNvPr id="26" name="Texto"/>
          <p:cNvSpPr txBox="1"/>
          <p:nvPr/>
        </p:nvSpPr>
        <p:spPr>
          <a:xfrm>
            <a:off x="548640" y="36118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dirty="0">
                <a:solidFill>
                  <a:srgbClr val="556B82"/>
                </a:solidFill>
              </a:rPr>
              <a:t>Na projeção a árvore se repete, agora entre as ZC_.</a:t>
            </a:r>
            <a:endParaRPr lang="pt-BR" sz="950" dirty="0"/>
          </a:p>
        </p:txBody>
      </p:sp>
      <p:sp>
        <p:nvSpPr>
          <p:cNvPr id="27" name="Texto"/>
          <p:cNvSpPr txBox="1"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b="1" spc="100" dirty="0">
                <a:solidFill>
                  <a:srgbClr val="556B82"/>
                </a:solidFill>
              </a:rPr>
              <a:t>QUEM LÊ O CLIENTE</a:t>
            </a:r>
            <a:endParaRPr lang="pt-BR" sz="900" dirty="0"/>
          </a:p>
        </p:txBody>
      </p:sp>
      <p:sp>
        <p:nvSpPr>
          <p:cNvPr id="28" name="Cartão"/>
          <p:cNvSpPr/>
          <p:nvPr/>
        </p:nvSpPr>
        <p:spPr>
          <a:xfrm>
            <a:off x="548640" y="4800600"/>
            <a:ext cx="265633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o"/>
          <p:cNvSpPr txBox="1"/>
          <p:nvPr/>
        </p:nvSpPr>
        <p:spPr>
          <a:xfrm>
            <a:off x="713232" y="4919472"/>
            <a:ext cx="232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pt-BR" sz="950" dirty="0"/>
          </a:p>
        </p:txBody>
      </p:sp>
      <p:sp>
        <p:nvSpPr>
          <p:cNvPr id="30" name="Texto"/>
          <p:cNvSpPr txBox="1"/>
          <p:nvPr/>
        </p:nvSpPr>
        <p:spPr>
          <a:xfrm>
            <a:off x="713232" y="5230368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select from ZR_PC_CLIENTE; cidade e UF por _EnderecoPrincipal.</a:t>
            </a:r>
            <a:endParaRPr lang="pt-BR" sz="1050" dirty="0"/>
          </a:p>
        </p:txBody>
      </p:sp>
      <p:sp>
        <p:nvSpPr>
          <p:cNvPr id="31" name="Cartão"/>
          <p:cNvSpPr/>
          <p:nvPr/>
        </p:nvSpPr>
        <p:spPr>
          <a:xfrm>
            <a:off x="3360420" y="4800600"/>
            <a:ext cx="265633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o"/>
          <p:cNvSpPr txBox="1"/>
          <p:nvPr/>
        </p:nvSpPr>
        <p:spPr>
          <a:xfrm>
            <a:off x="3525012" y="4919472"/>
            <a:ext cx="232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 · CEP_VH</a:t>
            </a:r>
            <a:endParaRPr lang="pt-BR" sz="950" dirty="0"/>
          </a:p>
        </p:txBody>
      </p:sp>
      <p:sp>
        <p:nvSpPr>
          <p:cNvPr id="33" name="Texto"/>
          <p:cNvSpPr txBox="1"/>
          <p:nvPr/>
        </p:nvSpPr>
        <p:spPr>
          <a:xfrm>
            <a:off x="3525012" y="5230368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select from ZR_PC_ENDERECO, filtrada pelo cliente ou agrupada por CEP.</a:t>
            </a:r>
            <a:endParaRPr lang="pt-BR" sz="1050" dirty="0"/>
          </a:p>
        </p:txBody>
      </p:sp>
      <p:sp>
        <p:nvSpPr>
          <p:cNvPr id="34" name="Cartão"/>
          <p:cNvSpPr/>
          <p:nvPr/>
        </p:nvSpPr>
        <p:spPr>
          <a:xfrm>
            <a:off x="6172200" y="4800600"/>
            <a:ext cx="265633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Texto"/>
          <p:cNvSpPr txBox="1"/>
          <p:nvPr/>
        </p:nvSpPr>
        <p:spPr>
          <a:xfrm>
            <a:off x="6336792" y="4919472"/>
            <a:ext cx="232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950" dirty="0"/>
          </a:p>
        </p:txBody>
      </p:sp>
      <p:sp>
        <p:nvSpPr>
          <p:cNvPr id="36" name="Texto"/>
          <p:cNvSpPr txBox="1"/>
          <p:nvPr/>
        </p:nvSpPr>
        <p:spPr>
          <a:xfrm>
            <a:off x="6336792" y="5230368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_Cliente e _Endereco [0..1]: o pedido lê, não controla.</a:t>
            </a:r>
            <a:endParaRPr lang="pt-BR" sz="1050" dirty="0"/>
          </a:p>
        </p:txBody>
      </p:sp>
      <p:sp>
        <p:nvSpPr>
          <p:cNvPr id="37" name="Cartão"/>
          <p:cNvSpPr/>
          <p:nvPr/>
        </p:nvSpPr>
        <p:spPr>
          <a:xfrm>
            <a:off x="8983980" y="4800600"/>
            <a:ext cx="2656332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o"/>
          <p:cNvSpPr txBox="1"/>
          <p:nvPr/>
        </p:nvSpPr>
        <p:spPr>
          <a:xfrm>
            <a:off x="9148572" y="4919472"/>
            <a:ext cx="232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 · cubos</a:t>
            </a:r>
            <a:endParaRPr lang="pt-BR" sz="950" dirty="0"/>
          </a:p>
        </p:txBody>
      </p:sp>
      <p:sp>
        <p:nvSpPr>
          <p:cNvPr id="39" name="Texto"/>
          <p:cNvSpPr txBox="1"/>
          <p:nvPr/>
        </p:nvSpPr>
        <p:spPr>
          <a:xfrm>
            <a:off x="9148572" y="5230368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_Cliente._EnderecoPrincipal.Uf: dois saltos até a UF.</a:t>
            </a:r>
            <a:endParaRPr lang="pt-BR" sz="10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ANNOTATIONS NAS VIEWS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Semântica, busca e campos calculados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4069080"/>
                <a:gridCol w="3246120"/>
                <a:gridCol w="3566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@Semantics.largeObject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ZR_PC_CLIENTE.FotoCliente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Upload só de JPEG, PNG ou WEBP e foto exibida inline (#INLINE).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@Semantics.mimeType: true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FotoMimeType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Guarda o tipo do arquivo enviado.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@Semantics.user.* / .systemDateTime.*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campos administrativos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RAP preenche autor e data; LocalLastChangedAt serve de ETag.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@Search.searchable / defaultSearchElement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projeção: Cpf, Nome, Email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campo Pesquisar da List Report procura nesses campos.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@Search.fuzzinessThreshold: 0.8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Nome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Busca tolerante a erros de digitação.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@ObjectModel.semanticKey: ['Cpf']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ZC_PC_CLIENTE_APP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CPF identifica o cliente na tela e na navegação.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@ObjectModel.virtualElementCalculatedBy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CpfFormatado, TelefoneFormatado, ScoreUnidade, ScoreCriticality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Calculados em ABAP por ZCL_PC_VE_CLIENTE a cada leitura.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@Semantics.quantity.unitOfMeasure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ScoreCliente → ScoreUnidade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Exibe o score com a unidade %.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@ObjectModel.text.element + textArrangement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Genero → GeneroTexto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Mostra a descrição da CodeList no lugar do código.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@Consumption.valueHelpDefinition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Genero (useForValidation), Cep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Gênero só aceita valores da lista; CEP apenas sugere os já cadastrados.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ANNOTATIONS DE UI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.ddlx para a tela: onde cada @UI aparece</a:t>
            </a:r>
            <a:endParaRPr lang="pt-BR" sz="3000" dirty="0"/>
          </a:p>
        </p:txBody>
      </p:sp>
      <p:sp>
        <p:nvSpPr>
          <p:cNvPr id="3" name="Cartão"/>
          <p:cNvSpPr/>
          <p:nvPr/>
        </p:nvSpPr>
        <p:spPr>
          <a:xfrm>
            <a:off x="548640" y="164592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" name="Texto"/>
          <p:cNvSpPr txBox="1"/>
          <p:nvPr/>
        </p:nvSpPr>
        <p:spPr>
          <a:xfrm>
            <a:off x="749808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>List Report</a:t>
            </a:r>
            <a:endParaRPr lang="pt-BR" sz="1150" dirty="0"/>
          </a:p>
        </p:txBody>
      </p:sp>
      <p:sp>
        <p:nvSpPr>
          <p:cNvPr id="5" name="Status presentationVariant: Nome ↑"/>
          <p:cNvSpPr/>
          <p:nvPr/>
        </p:nvSpPr>
        <p:spPr>
          <a:xfrm>
            <a:off x="2788920" y="1783080"/>
            <a:ext cx="2066544" cy="21945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presentationVariant: Nome ↑</a:t>
            </a:r>
            <a:endParaRPr lang="pt-BR" sz="850" dirty="0"/>
          </a:p>
        </p:txBody>
      </p:sp>
      <p:sp>
        <p:nvSpPr>
          <p:cNvPr id="6" name="Texto"/>
          <p:cNvSpPr txBox="1"/>
          <p:nvPr/>
        </p:nvSpPr>
        <p:spPr>
          <a:xfrm>
            <a:off x="74980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dirty="0">
                <a:solidFill>
                  <a:srgbClr val="556B82"/>
                </a:solidFill>
              </a:rPr>
              <a:t>Nome</a:t>
            </a:r>
            <a:endParaRPr lang="pt-BR" sz="800" dirty="0"/>
          </a:p>
        </p:txBody>
      </p:sp>
      <p:sp>
        <p:nvSpPr>
          <p:cNvPr id="7" name="Filtro"/>
          <p:cNvSpPr/>
          <p:nvPr/>
        </p:nvSpPr>
        <p:spPr>
          <a:xfrm>
            <a:off x="749808" y="233172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o"/>
          <p:cNvSpPr txBox="1"/>
          <p:nvPr/>
        </p:nvSpPr>
        <p:spPr>
          <a:xfrm>
            <a:off x="198424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dirty="0">
                <a:solidFill>
                  <a:srgbClr val="556B82"/>
                </a:solidFill>
              </a:rPr>
              <a:t>CPF</a:t>
            </a:r>
            <a:endParaRPr lang="pt-BR" sz="800" dirty="0"/>
          </a:p>
        </p:txBody>
      </p:sp>
      <p:sp>
        <p:nvSpPr>
          <p:cNvPr id="9" name="Filtro"/>
          <p:cNvSpPr/>
          <p:nvPr/>
        </p:nvSpPr>
        <p:spPr>
          <a:xfrm>
            <a:off x="1984248" y="233172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o"/>
          <p:cNvSpPr txBox="1"/>
          <p:nvPr/>
        </p:nvSpPr>
        <p:spPr>
          <a:xfrm>
            <a:off x="321868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dirty="0">
                <a:solidFill>
                  <a:srgbClr val="556B82"/>
                </a:solidFill>
              </a:rPr>
              <a:t>E-mail</a:t>
            </a:r>
            <a:endParaRPr lang="pt-BR" sz="800" dirty="0"/>
          </a:p>
        </p:txBody>
      </p:sp>
      <p:sp>
        <p:nvSpPr>
          <p:cNvPr id="11" name="Filtro"/>
          <p:cNvSpPr/>
          <p:nvPr/>
        </p:nvSpPr>
        <p:spPr>
          <a:xfrm>
            <a:off x="3218688" y="233172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o"/>
          <p:cNvSpPr txBox="1"/>
          <p:nvPr/>
        </p:nvSpPr>
        <p:spPr>
          <a:xfrm>
            <a:off x="4453128" y="21488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dirty="0">
                <a:solidFill>
                  <a:srgbClr val="556B82"/>
                </a:solidFill>
              </a:rPr>
              <a:t>Ativo</a:t>
            </a:r>
            <a:endParaRPr lang="pt-BR" sz="800" dirty="0"/>
          </a:p>
        </p:txBody>
      </p:sp>
      <p:sp>
        <p:nvSpPr>
          <p:cNvPr id="13" name="Filtro"/>
          <p:cNvSpPr/>
          <p:nvPr/>
        </p:nvSpPr>
        <p:spPr>
          <a:xfrm>
            <a:off x="4453128" y="2331720"/>
            <a:ext cx="1097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Status @UI.selectionField"/>
          <p:cNvSpPr/>
          <p:nvPr/>
        </p:nvSpPr>
        <p:spPr>
          <a:xfrm>
            <a:off x="749808" y="2697480"/>
            <a:ext cx="1463040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pt-BR" sz="850" dirty="0"/>
          </a:p>
        </p:txBody>
      </p:sp>
      <p:sp>
        <p:nvSpPr>
          <p:cNvPr id="15" name="Botão"/>
          <p:cNvSpPr/>
          <p:nvPr/>
        </p:nvSpPr>
        <p:spPr>
          <a:xfrm>
            <a:off x="4526280" y="301752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70F2"/>
                </a:solidFill>
              </a:rPr>
              <a:t>Importar planilha</a:t>
            </a:r>
            <a:endParaRPr lang="pt-BR" sz="850" dirty="0"/>
          </a:p>
        </p:txBody>
      </p:sp>
      <p:sp>
        <p:nvSpPr>
          <p:cNvPr id="16" name="Status lineItem #FOR_ACTION"/>
          <p:cNvSpPr/>
          <p:nvPr/>
        </p:nvSpPr>
        <p:spPr>
          <a:xfrm>
            <a:off x="2514600" y="3044952"/>
            <a:ext cx="1591056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 #FOR_ACTION</a:t>
            </a:r>
            <a:endParaRPr lang="pt-BR" sz="850" dirty="0"/>
          </a:p>
        </p:txBody>
      </p:sp>
      <p:sp>
        <p:nvSpPr>
          <p:cNvPr id="17" name="Cabeçalho da tabela"/>
          <p:cNvSpPr/>
          <p:nvPr/>
        </p:nvSpPr>
        <p:spPr>
          <a:xfrm>
            <a:off x="749808" y="3429000"/>
            <a:ext cx="5038344" cy="292608"/>
          </a:xfrm>
          <a:prstGeom prst="rect">
            <a:avLst/>
          </a:prstGeom>
          <a:solidFill>
            <a:srgbClr val="F5F6F7"/>
          </a:solidFill>
          <a:ln/>
        </p:spPr>
      </p:sp>
      <p:sp>
        <p:nvSpPr>
          <p:cNvPr id="18" name="Texto"/>
          <p:cNvSpPr txBox="1"/>
          <p:nvPr/>
        </p:nvSpPr>
        <p:spPr>
          <a:xfrm>
            <a:off x="822960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Foto</a:t>
            </a:r>
            <a:endParaRPr lang="pt-BR" sz="800" dirty="0"/>
          </a:p>
        </p:txBody>
      </p:sp>
      <p:sp>
        <p:nvSpPr>
          <p:cNvPr id="19" name="Texto"/>
          <p:cNvSpPr txBox="1"/>
          <p:nvPr/>
        </p:nvSpPr>
        <p:spPr>
          <a:xfrm>
            <a:off x="1536192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CPF</a:t>
            </a:r>
            <a:endParaRPr lang="pt-BR" sz="800" dirty="0"/>
          </a:p>
        </p:txBody>
      </p:sp>
      <p:sp>
        <p:nvSpPr>
          <p:cNvPr id="20" name="Texto"/>
          <p:cNvSpPr txBox="1"/>
          <p:nvPr/>
        </p:nvSpPr>
        <p:spPr>
          <a:xfrm>
            <a:off x="2249424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Nome</a:t>
            </a:r>
            <a:endParaRPr lang="pt-BR" sz="800" dirty="0"/>
          </a:p>
        </p:txBody>
      </p:sp>
      <p:sp>
        <p:nvSpPr>
          <p:cNvPr id="21" name="Texto"/>
          <p:cNvSpPr txBox="1"/>
          <p:nvPr/>
        </p:nvSpPr>
        <p:spPr>
          <a:xfrm>
            <a:off x="2962656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E-mail</a:t>
            </a:r>
            <a:endParaRPr lang="pt-BR" sz="800" dirty="0"/>
          </a:p>
        </p:txBody>
      </p:sp>
      <p:sp>
        <p:nvSpPr>
          <p:cNvPr id="22" name="Texto"/>
          <p:cNvSpPr txBox="1"/>
          <p:nvPr/>
        </p:nvSpPr>
        <p:spPr>
          <a:xfrm>
            <a:off x="3675888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Telefone</a:t>
            </a:r>
            <a:endParaRPr lang="pt-BR" sz="800" dirty="0"/>
          </a:p>
        </p:txBody>
      </p:sp>
      <p:sp>
        <p:nvSpPr>
          <p:cNvPr id="23" name="Texto"/>
          <p:cNvSpPr txBox="1"/>
          <p:nvPr/>
        </p:nvSpPr>
        <p:spPr>
          <a:xfrm>
            <a:off x="4389120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Ativo</a:t>
            </a:r>
            <a:endParaRPr lang="pt-BR" sz="800" dirty="0"/>
          </a:p>
        </p:txBody>
      </p:sp>
      <p:sp>
        <p:nvSpPr>
          <p:cNvPr id="24" name="Texto"/>
          <p:cNvSpPr txBox="1"/>
          <p:nvPr/>
        </p:nvSpPr>
        <p:spPr>
          <a:xfrm>
            <a:off x="5102352" y="342900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b="1" dirty="0">
                <a:solidFill>
                  <a:srgbClr val="1D2D3E"/>
                </a:solidFill>
              </a:rPr>
              <a:t>Cidade</a:t>
            </a:r>
            <a:endParaRPr lang="pt-BR" sz="800" dirty="0"/>
          </a:p>
        </p:txBody>
      </p:sp>
      <p:sp>
        <p:nvSpPr>
          <p:cNvPr id="25" name="Foto"/>
          <p:cNvSpPr/>
          <p:nvPr/>
        </p:nvSpPr>
        <p:spPr>
          <a:xfrm>
            <a:off x="822960" y="3877056"/>
            <a:ext cx="237744" cy="237744"/>
          </a:xfrm>
          <a:prstGeom prst="ellipse">
            <a:avLst/>
          </a:prstGeom>
          <a:solidFill>
            <a:srgbClr val="E9EDF1"/>
          </a:solidFill>
          <a:ln/>
        </p:spPr>
      </p:sp>
      <p:sp>
        <p:nvSpPr>
          <p:cNvPr id="26" name="Placeholder"/>
          <p:cNvSpPr/>
          <p:nvPr/>
        </p:nvSpPr>
        <p:spPr>
          <a:xfrm>
            <a:off x="1536192" y="395935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27" name="Placeholder"/>
          <p:cNvSpPr/>
          <p:nvPr/>
        </p:nvSpPr>
        <p:spPr>
          <a:xfrm>
            <a:off x="2249424" y="395935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28" name="Placeholder"/>
          <p:cNvSpPr/>
          <p:nvPr/>
        </p:nvSpPr>
        <p:spPr>
          <a:xfrm>
            <a:off x="2962656" y="395935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29" name="Placeholder"/>
          <p:cNvSpPr/>
          <p:nvPr/>
        </p:nvSpPr>
        <p:spPr>
          <a:xfrm>
            <a:off x="3675888" y="395935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0" name="Placeholder"/>
          <p:cNvSpPr/>
          <p:nvPr/>
        </p:nvSpPr>
        <p:spPr>
          <a:xfrm>
            <a:off x="4389120" y="395935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1" name="Placeholder"/>
          <p:cNvSpPr/>
          <p:nvPr/>
        </p:nvSpPr>
        <p:spPr>
          <a:xfrm>
            <a:off x="5102352" y="395935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cxnSp>
        <p:nvCxnSpPr>
          <p:cNvPr id="32" name="Conector"/>
          <p:cNvCxnSpPr/>
          <p:nvPr/>
        </p:nvCxnSpPr>
        <p:spPr>
          <a:xfrm>
            <a:off x="749808" y="4187952"/>
            <a:ext cx="5038344" cy="0"/>
          </a:xfrm>
          <a:prstGeom prst="straightConnector1">
            <a:avLst/>
          </a:prstGeom>
          <a:ln w="6350">
            <a:solidFill>
              <a:srgbClr val="E5E5E5"/>
            </a:solidFill>
          </a:ln>
        </p:spPr>
      </p:cxnSp>
      <p:sp>
        <p:nvSpPr>
          <p:cNvPr id="33" name="Foto"/>
          <p:cNvSpPr/>
          <p:nvPr/>
        </p:nvSpPr>
        <p:spPr>
          <a:xfrm>
            <a:off x="822960" y="4261104"/>
            <a:ext cx="237744" cy="237744"/>
          </a:xfrm>
          <a:prstGeom prst="ellipse">
            <a:avLst/>
          </a:prstGeom>
          <a:solidFill>
            <a:srgbClr val="E9EDF1"/>
          </a:solidFill>
          <a:ln/>
        </p:spPr>
      </p:sp>
      <p:sp>
        <p:nvSpPr>
          <p:cNvPr id="34" name="Placeholder"/>
          <p:cNvSpPr/>
          <p:nvPr/>
        </p:nvSpPr>
        <p:spPr>
          <a:xfrm>
            <a:off x="1536192" y="434340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5" name="Placeholder"/>
          <p:cNvSpPr/>
          <p:nvPr/>
        </p:nvSpPr>
        <p:spPr>
          <a:xfrm>
            <a:off x="2249424" y="434340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6" name="Placeholder"/>
          <p:cNvSpPr/>
          <p:nvPr/>
        </p:nvSpPr>
        <p:spPr>
          <a:xfrm>
            <a:off x="2962656" y="434340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7" name="Placeholder"/>
          <p:cNvSpPr/>
          <p:nvPr/>
        </p:nvSpPr>
        <p:spPr>
          <a:xfrm>
            <a:off x="3675888" y="434340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8" name="Placeholder"/>
          <p:cNvSpPr/>
          <p:nvPr/>
        </p:nvSpPr>
        <p:spPr>
          <a:xfrm>
            <a:off x="4389120" y="434340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39" name="Placeholder"/>
          <p:cNvSpPr/>
          <p:nvPr/>
        </p:nvSpPr>
        <p:spPr>
          <a:xfrm>
            <a:off x="5102352" y="4343400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cxnSp>
        <p:nvCxnSpPr>
          <p:cNvPr id="40" name="Conector"/>
          <p:cNvCxnSpPr/>
          <p:nvPr/>
        </p:nvCxnSpPr>
        <p:spPr>
          <a:xfrm>
            <a:off x="749808" y="4572000"/>
            <a:ext cx="5038344" cy="0"/>
          </a:xfrm>
          <a:prstGeom prst="straightConnector1">
            <a:avLst/>
          </a:prstGeom>
          <a:ln w="6350">
            <a:solidFill>
              <a:srgbClr val="E5E5E5"/>
            </a:solidFill>
          </a:ln>
        </p:spPr>
      </p:cxnSp>
      <p:sp>
        <p:nvSpPr>
          <p:cNvPr id="41" name="Foto"/>
          <p:cNvSpPr/>
          <p:nvPr/>
        </p:nvSpPr>
        <p:spPr>
          <a:xfrm>
            <a:off x="822960" y="4645152"/>
            <a:ext cx="237744" cy="237744"/>
          </a:xfrm>
          <a:prstGeom prst="ellipse">
            <a:avLst/>
          </a:prstGeom>
          <a:solidFill>
            <a:srgbClr val="E9EDF1"/>
          </a:solidFill>
          <a:ln/>
        </p:spPr>
      </p:sp>
      <p:sp>
        <p:nvSpPr>
          <p:cNvPr id="42" name="Placeholder"/>
          <p:cNvSpPr/>
          <p:nvPr/>
        </p:nvSpPr>
        <p:spPr>
          <a:xfrm>
            <a:off x="1536192" y="4727448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43" name="Placeholder"/>
          <p:cNvSpPr/>
          <p:nvPr/>
        </p:nvSpPr>
        <p:spPr>
          <a:xfrm>
            <a:off x="2249424" y="4727448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44" name="Placeholder"/>
          <p:cNvSpPr/>
          <p:nvPr/>
        </p:nvSpPr>
        <p:spPr>
          <a:xfrm>
            <a:off x="2962656" y="4727448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45" name="Placeholder"/>
          <p:cNvSpPr/>
          <p:nvPr/>
        </p:nvSpPr>
        <p:spPr>
          <a:xfrm>
            <a:off x="3675888" y="4727448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46" name="Placeholder"/>
          <p:cNvSpPr/>
          <p:nvPr/>
        </p:nvSpPr>
        <p:spPr>
          <a:xfrm>
            <a:off x="4389120" y="4727448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47" name="Placeholder"/>
          <p:cNvSpPr/>
          <p:nvPr/>
        </p:nvSpPr>
        <p:spPr>
          <a:xfrm>
            <a:off x="5102352" y="4727448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cxnSp>
        <p:nvCxnSpPr>
          <p:cNvPr id="48" name="Conector"/>
          <p:cNvCxnSpPr/>
          <p:nvPr/>
        </p:nvCxnSpPr>
        <p:spPr>
          <a:xfrm>
            <a:off x="749808" y="4956048"/>
            <a:ext cx="5038344" cy="0"/>
          </a:xfrm>
          <a:prstGeom prst="straightConnector1">
            <a:avLst/>
          </a:prstGeom>
          <a:ln w="6350">
            <a:solidFill>
              <a:srgbClr val="E5E5E5"/>
            </a:solidFill>
          </a:ln>
        </p:spPr>
      </p:cxnSp>
      <p:sp>
        <p:nvSpPr>
          <p:cNvPr id="49" name="Foto"/>
          <p:cNvSpPr/>
          <p:nvPr/>
        </p:nvSpPr>
        <p:spPr>
          <a:xfrm>
            <a:off x="822960" y="5029200"/>
            <a:ext cx="237744" cy="237744"/>
          </a:xfrm>
          <a:prstGeom prst="ellipse">
            <a:avLst/>
          </a:prstGeom>
          <a:solidFill>
            <a:srgbClr val="E9EDF1"/>
          </a:solidFill>
          <a:ln/>
        </p:spPr>
      </p:sp>
      <p:sp>
        <p:nvSpPr>
          <p:cNvPr id="50" name="Placeholder"/>
          <p:cNvSpPr/>
          <p:nvPr/>
        </p:nvSpPr>
        <p:spPr>
          <a:xfrm>
            <a:off x="1536192" y="5111496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51" name="Placeholder"/>
          <p:cNvSpPr/>
          <p:nvPr/>
        </p:nvSpPr>
        <p:spPr>
          <a:xfrm>
            <a:off x="2249424" y="5111496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52" name="Placeholder"/>
          <p:cNvSpPr/>
          <p:nvPr/>
        </p:nvSpPr>
        <p:spPr>
          <a:xfrm>
            <a:off x="2962656" y="5111496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53" name="Placeholder"/>
          <p:cNvSpPr/>
          <p:nvPr/>
        </p:nvSpPr>
        <p:spPr>
          <a:xfrm>
            <a:off x="3675888" y="5111496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54" name="Placeholder"/>
          <p:cNvSpPr/>
          <p:nvPr/>
        </p:nvSpPr>
        <p:spPr>
          <a:xfrm>
            <a:off x="4389120" y="5111496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55" name="Placeholder"/>
          <p:cNvSpPr/>
          <p:nvPr/>
        </p:nvSpPr>
        <p:spPr>
          <a:xfrm>
            <a:off x="5102352" y="5111496"/>
            <a:ext cx="54864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cxnSp>
        <p:nvCxnSpPr>
          <p:cNvPr id="56" name="Conector"/>
          <p:cNvCxnSpPr/>
          <p:nvPr/>
        </p:nvCxnSpPr>
        <p:spPr>
          <a:xfrm>
            <a:off x="749808" y="5340096"/>
            <a:ext cx="5038344" cy="0"/>
          </a:xfrm>
          <a:prstGeom prst="straightConnector1">
            <a:avLst/>
          </a:prstGeom>
          <a:ln w="6350">
            <a:solidFill>
              <a:srgbClr val="E5E5E5"/>
            </a:solidFill>
          </a:ln>
        </p:spPr>
      </p:cxnSp>
      <p:sp>
        <p:nvSpPr>
          <p:cNvPr id="57" name="Status @UI.lineItem (position, importance)"/>
          <p:cNvSpPr/>
          <p:nvPr/>
        </p:nvSpPr>
        <p:spPr>
          <a:xfrm>
            <a:off x="749808" y="5440680"/>
            <a:ext cx="2596896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 (position, importance)</a:t>
            </a:r>
            <a:endParaRPr lang="pt-BR" sz="850" dirty="0"/>
          </a:p>
        </p:txBody>
      </p:sp>
      <p:sp>
        <p:nvSpPr>
          <p:cNvPr id="58" name="Status @UI.hidden: UUID, MIME"/>
          <p:cNvSpPr/>
          <p:nvPr/>
        </p:nvSpPr>
        <p:spPr>
          <a:xfrm>
            <a:off x="3566160" y="5440680"/>
            <a:ext cx="1728216" cy="21945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@UI.hidden: UUID, MIME</a:t>
            </a:r>
            <a:endParaRPr lang="pt-BR" sz="850" dirty="0"/>
          </a:p>
        </p:txBody>
      </p:sp>
      <p:sp>
        <p:nvSpPr>
          <p:cNvPr id="59" name="Texto"/>
          <p:cNvSpPr txBox="1"/>
          <p:nvPr/>
        </p:nvSpPr>
        <p:spPr>
          <a:xfrm>
            <a:off x="749808" y="5760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Colunas na ordem de position; #HIGH fica visível em telas estreitas.</a:t>
            </a:r>
            <a:endParaRPr lang="pt-BR" sz="900" dirty="0"/>
          </a:p>
        </p:txBody>
      </p:sp>
      <p:sp>
        <p:nvSpPr>
          <p:cNvPr id="60" name="Cartão"/>
          <p:cNvSpPr/>
          <p:nvPr/>
        </p:nvSpPr>
        <p:spPr>
          <a:xfrm>
            <a:off x="6199632" y="164592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Texto"/>
          <p:cNvSpPr txBox="1"/>
          <p:nvPr/>
        </p:nvSpPr>
        <p:spPr>
          <a:xfrm>
            <a:off x="640080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>Object Page</a:t>
            </a:r>
            <a:endParaRPr lang="pt-BR" sz="1150" dirty="0"/>
          </a:p>
        </p:txBody>
      </p:sp>
      <p:sp>
        <p:nvSpPr>
          <p:cNvPr id="62" name="Foto do cliente"/>
          <p:cNvSpPr/>
          <p:nvPr/>
        </p:nvSpPr>
        <p:spPr>
          <a:xfrm>
            <a:off x="6400800" y="2148840"/>
            <a:ext cx="566928" cy="566928"/>
          </a:xfrm>
          <a:prstGeom prst="ellipse">
            <a:avLst/>
          </a:prstGeom>
          <a:solidFill>
            <a:srgbClr val="E9EDF1"/>
          </a:solidFill>
          <a:ln/>
        </p:spPr>
      </p:sp>
      <p:sp>
        <p:nvSpPr>
          <p:cNvPr id="63" name="Texto"/>
          <p:cNvSpPr txBox="1"/>
          <p:nvPr/>
        </p:nvSpPr>
        <p:spPr>
          <a:xfrm>
            <a:off x="7095744" y="21305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</a:rPr>
              <a:t>Nome do cliente</a:t>
            </a:r>
            <a:endParaRPr lang="pt-BR" sz="1100" dirty="0"/>
          </a:p>
        </p:txBody>
      </p:sp>
      <p:sp>
        <p:nvSpPr>
          <p:cNvPr id="64" name="Texto"/>
          <p:cNvSpPr txBox="1"/>
          <p:nvPr/>
        </p:nvSpPr>
        <p:spPr>
          <a:xfrm>
            <a:off x="7095744" y="239572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123.456.789-09</a:t>
            </a:r>
            <a:endParaRPr lang="pt-BR" sz="900" dirty="0"/>
          </a:p>
        </p:txBody>
      </p:sp>
      <p:sp>
        <p:nvSpPr>
          <p:cNvPr id="65" name="Texto"/>
          <p:cNvSpPr txBox="1"/>
          <p:nvPr/>
        </p:nvSpPr>
        <p:spPr>
          <a:xfrm>
            <a:off x="9537192" y="2130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50" dirty="0">
                <a:solidFill>
                  <a:srgbClr val="1D2D3E"/>
                </a:solidFill>
              </a:rPr>
              <a:t>Score do cliente</a:t>
            </a:r>
            <a:endParaRPr lang="pt-BR" sz="850" dirty="0"/>
          </a:p>
        </p:txBody>
      </p:sp>
      <p:sp>
        <p:nvSpPr>
          <p:cNvPr id="66" name="Placeholder"/>
          <p:cNvSpPr/>
          <p:nvPr/>
        </p:nvSpPr>
        <p:spPr>
          <a:xfrm>
            <a:off x="9537192" y="2395728"/>
            <a:ext cx="1828800" cy="109728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67" name="Placeholder"/>
          <p:cNvSpPr/>
          <p:nvPr/>
        </p:nvSpPr>
        <p:spPr>
          <a:xfrm>
            <a:off x="9537192" y="2395728"/>
            <a:ext cx="1325880" cy="109728"/>
          </a:xfrm>
          <a:prstGeom prst="roundRect">
            <a:avLst>
              <a:gd name="adj" fmla="val 50000"/>
            </a:avLst>
          </a:prstGeom>
          <a:solidFill>
            <a:srgbClr val="36A41D"/>
          </a:solidFill>
          <a:ln/>
        </p:spPr>
      </p:sp>
      <p:sp>
        <p:nvSpPr>
          <p:cNvPr id="68" name="Status headerInfo: title, description, imageUrl"/>
          <p:cNvSpPr/>
          <p:nvPr/>
        </p:nvSpPr>
        <p:spPr>
          <a:xfrm>
            <a:off x="6400800" y="2816352"/>
            <a:ext cx="2935224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headerInfo: title, description, imageUrl</a:t>
            </a:r>
            <a:endParaRPr lang="pt-BR" sz="850" dirty="0"/>
          </a:p>
        </p:txBody>
      </p:sp>
      <p:sp>
        <p:nvSpPr>
          <p:cNvPr id="69" name="Status dataPoint #PROGRESS"/>
          <p:cNvSpPr/>
          <p:nvPr/>
        </p:nvSpPr>
        <p:spPr>
          <a:xfrm>
            <a:off x="9537192" y="2560320"/>
            <a:ext cx="1527048" cy="21945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dataPoint #PROGRESS</a:t>
            </a:r>
            <a:endParaRPr lang="pt-BR" sz="850" dirty="0"/>
          </a:p>
        </p:txBody>
      </p:sp>
      <p:sp>
        <p:nvSpPr>
          <p:cNvPr id="70" name="Texto"/>
          <p:cNvSpPr txBox="1"/>
          <p:nvPr/>
        </p:nvSpPr>
        <p:spPr>
          <a:xfrm>
            <a:off x="6400800" y="3154680"/>
            <a:ext cx="108630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b="1" dirty="0">
                <a:solidFill>
                  <a:srgbClr val="0070F2"/>
                </a:solidFill>
              </a:rPr>
              <a:t>Dados do cliente</a:t>
            </a:r>
            <a:endParaRPr lang="pt-BR" sz="900" dirty="0"/>
          </a:p>
        </p:txBody>
      </p:sp>
      <p:cxnSp>
        <p:nvCxnSpPr>
          <p:cNvPr id="71" name="Conector"/>
          <p:cNvCxnSpPr/>
          <p:nvPr/>
        </p:nvCxnSpPr>
        <p:spPr>
          <a:xfrm>
            <a:off x="6400800" y="3401568"/>
            <a:ext cx="1086307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sp>
        <p:nvSpPr>
          <p:cNvPr id="72" name="Texto"/>
          <p:cNvSpPr txBox="1"/>
          <p:nvPr/>
        </p:nvSpPr>
        <p:spPr>
          <a:xfrm>
            <a:off x="7688275" y="3154680"/>
            <a:ext cx="6510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Endereços</a:t>
            </a:r>
            <a:endParaRPr lang="pt-BR" sz="900" dirty="0"/>
          </a:p>
        </p:txBody>
      </p:sp>
      <p:sp>
        <p:nvSpPr>
          <p:cNvPr id="73" name="Texto"/>
          <p:cNvSpPr txBox="1"/>
          <p:nvPr/>
        </p:nvSpPr>
        <p:spPr>
          <a:xfrm>
            <a:off x="8540496" y="3154680"/>
            <a:ext cx="13972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Dados administrativos</a:t>
            </a:r>
            <a:endParaRPr lang="pt-BR" sz="900" dirty="0"/>
          </a:p>
        </p:txBody>
      </p:sp>
      <p:cxnSp>
        <p:nvCxnSpPr>
          <p:cNvPr id="74" name="Conector"/>
          <p:cNvCxnSpPr/>
          <p:nvPr/>
        </p:nvCxnSpPr>
        <p:spPr>
          <a:xfrm>
            <a:off x="6400800" y="3419856"/>
            <a:ext cx="5038344" cy="0"/>
          </a:xfrm>
          <a:prstGeom prst="straightConnector1">
            <a:avLst/>
          </a:prstGeom>
          <a:ln w="6350">
            <a:solidFill>
              <a:srgbClr val="E5E5E5"/>
            </a:solidFill>
          </a:ln>
        </p:spPr>
      </p:cxnSp>
      <p:sp>
        <p:nvSpPr>
          <p:cNvPr id="75" name="Status @UI.facet"/>
          <p:cNvSpPr/>
          <p:nvPr/>
        </p:nvSpPr>
        <p:spPr>
          <a:xfrm>
            <a:off x="10222992" y="3163824"/>
            <a:ext cx="859536" cy="21945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endParaRPr lang="pt-BR" sz="850" dirty="0"/>
          </a:p>
        </p:txBody>
      </p:sp>
      <p:sp>
        <p:nvSpPr>
          <p:cNvPr id="76" name="Placeholder"/>
          <p:cNvSpPr/>
          <p:nvPr/>
        </p:nvSpPr>
        <p:spPr>
          <a:xfrm>
            <a:off x="6400800" y="3611880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77" name="Placeholder"/>
          <p:cNvSpPr/>
          <p:nvPr/>
        </p:nvSpPr>
        <p:spPr>
          <a:xfrm>
            <a:off x="7342632" y="3611880"/>
            <a:ext cx="1463040" cy="91440"/>
          </a:xfrm>
          <a:prstGeom prst="roundRect">
            <a:avLst>
              <a:gd name="adj" fmla="val 50000"/>
            </a:avLst>
          </a:prstGeom>
          <a:solidFill>
            <a:srgbClr val="DDE3E8"/>
          </a:solidFill>
          <a:ln/>
        </p:spPr>
      </p:sp>
      <p:sp>
        <p:nvSpPr>
          <p:cNvPr id="78" name="Placeholder"/>
          <p:cNvSpPr/>
          <p:nvPr/>
        </p:nvSpPr>
        <p:spPr>
          <a:xfrm>
            <a:off x="6400800" y="3813048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79" name="Placeholder"/>
          <p:cNvSpPr/>
          <p:nvPr/>
        </p:nvSpPr>
        <p:spPr>
          <a:xfrm>
            <a:off x="7342632" y="3813048"/>
            <a:ext cx="1463040" cy="91440"/>
          </a:xfrm>
          <a:prstGeom prst="roundRect">
            <a:avLst>
              <a:gd name="adj" fmla="val 50000"/>
            </a:avLst>
          </a:prstGeom>
          <a:solidFill>
            <a:srgbClr val="DDE3E8"/>
          </a:solidFill>
          <a:ln/>
        </p:spPr>
      </p:sp>
      <p:sp>
        <p:nvSpPr>
          <p:cNvPr id="80" name="Placeholder"/>
          <p:cNvSpPr/>
          <p:nvPr/>
        </p:nvSpPr>
        <p:spPr>
          <a:xfrm>
            <a:off x="6400800" y="401421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81" name="Placeholder"/>
          <p:cNvSpPr/>
          <p:nvPr/>
        </p:nvSpPr>
        <p:spPr>
          <a:xfrm>
            <a:off x="7342632" y="4014216"/>
            <a:ext cx="1463040" cy="91440"/>
          </a:xfrm>
          <a:prstGeom prst="roundRect">
            <a:avLst>
              <a:gd name="adj" fmla="val 50000"/>
            </a:avLst>
          </a:prstGeom>
          <a:solidFill>
            <a:srgbClr val="DDE3E8"/>
          </a:solidFill>
          <a:ln/>
        </p:spPr>
      </p:sp>
      <p:sp>
        <p:nvSpPr>
          <p:cNvPr id="82" name="Status #IDENTIFICATION_REFERENCE"/>
          <p:cNvSpPr/>
          <p:nvPr/>
        </p:nvSpPr>
        <p:spPr>
          <a:xfrm>
            <a:off x="9034272" y="3712464"/>
            <a:ext cx="1929384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endParaRPr lang="pt-BR" sz="850" dirty="0"/>
          </a:p>
        </p:txBody>
      </p:sp>
      <p:sp>
        <p:nvSpPr>
          <p:cNvPr id="83" name="Cabeçalho endereços"/>
          <p:cNvSpPr/>
          <p:nvPr/>
        </p:nvSpPr>
        <p:spPr>
          <a:xfrm>
            <a:off x="6400800" y="4343400"/>
            <a:ext cx="2743200" cy="219456"/>
          </a:xfrm>
          <a:prstGeom prst="rect">
            <a:avLst/>
          </a:prstGeom>
          <a:solidFill>
            <a:srgbClr val="F5F6F7"/>
          </a:solidFill>
          <a:ln/>
        </p:spPr>
      </p:sp>
      <p:sp>
        <p:nvSpPr>
          <p:cNvPr id="84" name="Placeholder"/>
          <p:cNvSpPr/>
          <p:nvPr/>
        </p:nvSpPr>
        <p:spPr>
          <a:xfrm>
            <a:off x="6473952" y="466344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85" name="Placeholder"/>
          <p:cNvSpPr/>
          <p:nvPr/>
        </p:nvSpPr>
        <p:spPr>
          <a:xfrm>
            <a:off x="6473952" y="4882896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86" name="Status #LINEITEM_REFERENCE → _Endereco"/>
          <p:cNvSpPr/>
          <p:nvPr/>
        </p:nvSpPr>
        <p:spPr>
          <a:xfrm>
            <a:off x="9034272" y="4434840"/>
            <a:ext cx="2331720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 → _Endereco</a:t>
            </a:r>
            <a:endParaRPr lang="pt-BR" sz="850" dirty="0"/>
          </a:p>
        </p:txBody>
      </p:sp>
      <p:sp>
        <p:nvSpPr>
          <p:cNvPr id="87" name="Placeholder"/>
          <p:cNvSpPr/>
          <p:nvPr/>
        </p:nvSpPr>
        <p:spPr>
          <a:xfrm>
            <a:off x="6400800" y="5257800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88" name="Placeholder"/>
          <p:cNvSpPr/>
          <p:nvPr/>
        </p:nvSpPr>
        <p:spPr>
          <a:xfrm>
            <a:off x="7342632" y="5257800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DDE3E8"/>
          </a:solidFill>
          <a:ln/>
        </p:spPr>
      </p:sp>
      <p:sp>
        <p:nvSpPr>
          <p:cNvPr id="89" name="Placeholder"/>
          <p:cNvSpPr/>
          <p:nvPr/>
        </p:nvSpPr>
        <p:spPr>
          <a:xfrm>
            <a:off x="6400800" y="5458968"/>
            <a:ext cx="822960" cy="91440"/>
          </a:xfrm>
          <a:prstGeom prst="roundRect">
            <a:avLst>
              <a:gd name="adj" fmla="val 50000"/>
            </a:avLst>
          </a:prstGeom>
          <a:solidFill>
            <a:srgbClr val="E9EDF1"/>
          </a:solidFill>
          <a:ln/>
        </p:spPr>
      </p:sp>
      <p:sp>
        <p:nvSpPr>
          <p:cNvPr id="90" name="Placeholder"/>
          <p:cNvSpPr/>
          <p:nvPr/>
        </p:nvSpPr>
        <p:spPr>
          <a:xfrm>
            <a:off x="7342632" y="5458968"/>
            <a:ext cx="1097280" cy="91440"/>
          </a:xfrm>
          <a:prstGeom prst="roundRect">
            <a:avLst>
              <a:gd name="adj" fmla="val 50000"/>
            </a:avLst>
          </a:prstGeom>
          <a:solidFill>
            <a:srgbClr val="DDE3E8"/>
          </a:solidFill>
          <a:ln/>
        </p:spPr>
      </p:sp>
      <p:sp>
        <p:nvSpPr>
          <p:cNvPr id="91" name="Status #FIELDGROUP_REFERENCE 'Admin'"/>
          <p:cNvSpPr/>
          <p:nvPr/>
        </p:nvSpPr>
        <p:spPr>
          <a:xfrm>
            <a:off x="9034272" y="5321808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 'Admin'</a:t>
            </a:r>
            <a:endParaRPr lang="pt-BR" sz="850" dirty="0"/>
          </a:p>
        </p:txBody>
      </p:sp>
      <p:sp>
        <p:nvSpPr>
          <p:cNvPr id="92" name="Texto"/>
          <p:cNvSpPr txBox="1"/>
          <p:nvPr/>
        </p:nvSpPr>
        <p:spPr>
          <a:xfrm>
            <a:off x="6400800" y="5760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Cada facet aponta para identification, lineItem do filho ou um fieldGroup.</a:t>
            </a:r>
            <a:endParaRPr lang="pt-BR" sz="900" dirty="0"/>
          </a:p>
        </p:txBody>
      </p:sp>
      <p:sp>
        <p:nvSpPr>
          <p:cNvPr id="9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item não depende de outro BO: os outros leem o item</a:t>
            </a:r>
            <a:endParaRPr lang="pt-BR" sz="3000" dirty="0"/>
          </a:p>
        </p:txBody>
      </p:sp>
      <p:sp>
        <p:nvSpPr>
          <p:cNvPr id="3" name="ZR_PC_ITEM"/>
          <p:cNvSpPr/>
          <p:nvPr/>
        </p:nvSpPr>
        <p:spPr>
          <a:xfrm>
            <a:off x="4526280" y="2377440"/>
            <a:ext cx="3017520" cy="1188720"/>
          </a:xfrm>
          <a:prstGeom prst="roundRect">
            <a:avLst>
              <a:gd name="adj" fmla="val 6153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pt-BR" sz="1150" dirty="0"/>
          </a:p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root · draft · sem filhos</a:t>
            </a:r>
            <a:endParaRPr lang="pt-BR" sz="900" dirty="0"/>
          </a:p>
        </p:txBody>
      </p:sp>
      <p:sp>
        <p:nvSpPr>
          <p:cNvPr id="4" name="ZR_PC_CODELIST"/>
          <p:cNvSpPr/>
          <p:nvPr/>
        </p:nvSpPr>
        <p:spPr>
          <a:xfrm>
            <a:off x="9372600" y="2377440"/>
            <a:ext cx="2267712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1000" dirty="0"/>
          </a:p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CATEGORIA · STATUS_ESTOQUE</a:t>
            </a:r>
            <a:endParaRPr lang="pt-BR" sz="900" dirty="0"/>
          </a:p>
        </p:txBody>
      </p:sp>
      <p:cxnSp>
        <p:nvCxnSpPr>
          <p:cNvPr id="5" name="Conector"/>
          <p:cNvCxnSpPr/>
          <p:nvPr/>
        </p:nvCxnSpPr>
        <p:spPr>
          <a:xfrm>
            <a:off x="7543800" y="2697480"/>
            <a:ext cx="182880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6" name="Texto"/>
          <p:cNvSpPr txBox="1"/>
          <p:nvPr/>
        </p:nvSpPr>
        <p:spPr>
          <a:xfrm>
            <a:off x="7589520" y="24688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pt-BR" sz="900" dirty="0"/>
          </a:p>
        </p:txBody>
      </p:sp>
      <p:cxnSp>
        <p:nvCxnSpPr>
          <p:cNvPr id="7" name="Conector"/>
          <p:cNvCxnSpPr/>
          <p:nvPr/>
        </p:nvCxnSpPr>
        <p:spPr>
          <a:xfrm>
            <a:off x="7543800" y="3246120"/>
            <a:ext cx="182880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8" name="Texto"/>
          <p:cNvSpPr txBox="1"/>
          <p:nvPr/>
        </p:nvSpPr>
        <p:spPr>
          <a:xfrm>
            <a:off x="7589520" y="30175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endParaRPr lang="pt-BR" sz="900" dirty="0"/>
          </a:p>
        </p:txBody>
      </p:sp>
      <p:sp>
        <p:nvSpPr>
          <p:cNvPr id="9" name="Cartão"/>
          <p:cNvSpPr/>
          <p:nvPr/>
        </p:nvSpPr>
        <p:spPr>
          <a:xfrm>
            <a:off x="548640" y="1645920"/>
            <a:ext cx="333756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o"/>
          <p:cNvSpPr txBox="1"/>
          <p:nvPr/>
        </p:nvSpPr>
        <p:spPr>
          <a:xfrm>
            <a:off x="731520" y="17556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3152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association [0..1] _Item: Sku, Nome e disponível atuais.</a:t>
            </a:r>
            <a:endParaRPr lang="pt-BR" sz="1000" dirty="0"/>
          </a:p>
        </p:txBody>
      </p:sp>
      <p:cxnSp>
        <p:nvCxnSpPr>
          <p:cNvPr id="12" name="Conector"/>
          <p:cNvCxnSpPr/>
          <p:nvPr/>
        </p:nvCxnSpPr>
        <p:spPr>
          <a:xfrm>
            <a:off x="3886200" y="2121408"/>
            <a:ext cx="640080" cy="438912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3" name="Cartão"/>
          <p:cNvSpPr/>
          <p:nvPr/>
        </p:nvSpPr>
        <p:spPr>
          <a:xfrm>
            <a:off x="548640" y="2788920"/>
            <a:ext cx="333756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o"/>
          <p:cNvSpPr txBox="1"/>
          <p:nvPr/>
        </p:nvSpPr>
        <p:spPr>
          <a:xfrm>
            <a:off x="731520" y="28986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731520" y="3200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select from, where ItemAtivo = 'X': só itens ativos.</a:t>
            </a:r>
            <a:endParaRPr lang="pt-BR" sz="1000" dirty="0"/>
          </a:p>
        </p:txBody>
      </p:sp>
      <p:cxnSp>
        <p:nvCxnSpPr>
          <p:cNvPr id="16" name="Conector"/>
          <p:cNvCxnSpPr/>
          <p:nvPr/>
        </p:nvCxnSpPr>
        <p:spPr>
          <a:xfrm flipV="1">
            <a:off x="3886200" y="2834640"/>
            <a:ext cx="640080" cy="429768"/>
          </a:xfrm>
          <a:prstGeom prst="straightConnector1">
            <a:avLst/>
          </a:prstGeom>
          <a:ln w="12700">
            <a:solidFill>
              <a:srgbClr val="A8B3BD"/>
            </a:solidFill>
            <a:tailEnd type="triangle" w="med" len="med"/>
          </a:ln>
        </p:spPr>
      </p:cxnSp>
      <p:sp>
        <p:nvSpPr>
          <p:cNvPr id="17" name="Cartão"/>
          <p:cNvSpPr/>
          <p:nvPr/>
        </p:nvSpPr>
        <p:spPr>
          <a:xfrm>
            <a:off x="548640" y="3931920"/>
            <a:ext cx="333756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o"/>
          <p:cNvSpPr txBox="1"/>
          <p:nvPr/>
        </p:nvSpPr>
        <p:spPr>
          <a:xfrm>
            <a:off x="731520" y="40416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ZI_PC_ITEM_CUBE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731520" y="4343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select from: quantidades e valor em estoque.</a:t>
            </a:r>
            <a:endParaRPr lang="pt-BR" sz="1000" dirty="0"/>
          </a:p>
        </p:txBody>
      </p:sp>
      <p:cxnSp>
        <p:nvCxnSpPr>
          <p:cNvPr id="20" name="Conector"/>
          <p:cNvCxnSpPr/>
          <p:nvPr/>
        </p:nvCxnSpPr>
        <p:spPr>
          <a:xfrm flipV="1">
            <a:off x="3886200" y="3108960"/>
            <a:ext cx="640080" cy="1298448"/>
          </a:xfrm>
          <a:prstGeom prst="straightConnector1">
            <a:avLst/>
          </a:prstGeom>
          <a:ln w="12700">
            <a:solidFill>
              <a:srgbClr val="A8B3BD"/>
            </a:solidFill>
            <a:tailEnd type="triangle" w="med" len="med"/>
          </a:ln>
        </p:spPr>
      </p:cxnSp>
      <p:sp>
        <p:nvSpPr>
          <p:cNvPr id="21" name="Cartão"/>
          <p:cNvSpPr/>
          <p:nvPr/>
        </p:nvSpPr>
        <p:spPr>
          <a:xfrm>
            <a:off x="548640" y="5074920"/>
            <a:ext cx="3337560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o"/>
          <p:cNvSpPr txBox="1"/>
          <p:nvPr/>
        </p:nvSpPr>
        <p:spPr>
          <a:xfrm>
            <a:off x="731520" y="51846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731520" y="5486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Sem associação: guarda ItemUUID, Sku e Nome copiados.</a:t>
            </a:r>
            <a:endParaRPr lang="pt-BR" sz="1000" dirty="0"/>
          </a:p>
        </p:txBody>
      </p:sp>
      <p:cxnSp>
        <p:nvCxnSpPr>
          <p:cNvPr id="24" name="Conector"/>
          <p:cNvCxnSpPr/>
          <p:nvPr/>
        </p:nvCxnSpPr>
        <p:spPr>
          <a:xfrm flipV="1">
            <a:off x="3886200" y="3383280"/>
            <a:ext cx="640080" cy="2167128"/>
          </a:xfrm>
          <a:prstGeom prst="straightConnector1">
            <a:avLst/>
          </a:prstGeom>
          <a:ln w="15875">
            <a:solidFill>
              <a:srgbClr val="A8B3BD"/>
            </a:solidFill>
            <a:prstDash val="sysDot"/>
          </a:ln>
        </p:spPr>
      </p:cxnSp>
      <p:sp>
        <p:nvSpPr>
          <p:cNvPr id="25" name="Cartão"/>
          <p:cNvSpPr/>
          <p:nvPr/>
        </p:nvSpPr>
        <p:spPr>
          <a:xfrm>
            <a:off x="4526280" y="3931920"/>
            <a:ext cx="7114032" cy="93268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cxnSp>
        <p:nvCxnSpPr>
          <p:cNvPr id="26" name="Conector"/>
          <p:cNvCxnSpPr/>
          <p:nvPr/>
        </p:nvCxnSpPr>
        <p:spPr>
          <a:xfrm>
            <a:off x="4709160" y="4187952"/>
            <a:ext cx="50292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27" name="Texto"/>
          <p:cNvSpPr txBox="1"/>
          <p:nvPr/>
        </p:nvSpPr>
        <p:spPr>
          <a:xfrm>
            <a:off x="5349240" y="4069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associação: dado vivo, lido na hora</a:t>
            </a:r>
            <a:endParaRPr lang="pt-BR" sz="1000" dirty="0"/>
          </a:p>
        </p:txBody>
      </p:sp>
      <p:cxnSp>
        <p:nvCxnSpPr>
          <p:cNvPr id="28" name="Conector"/>
          <p:cNvCxnSpPr/>
          <p:nvPr/>
        </p:nvCxnSpPr>
        <p:spPr>
          <a:xfrm>
            <a:off x="4709160" y="4590288"/>
            <a:ext cx="502920" cy="0"/>
          </a:xfrm>
          <a:prstGeom prst="straightConnector1">
            <a:avLst/>
          </a:prstGeom>
          <a:ln w="12700">
            <a:solidFill>
              <a:srgbClr val="A8B3BD"/>
            </a:solidFill>
            <a:tailEnd type="triangle" w="med" len="med"/>
          </a:ln>
        </p:spPr>
      </p:cxnSp>
      <p:sp>
        <p:nvSpPr>
          <p:cNvPr id="29" name="Texto"/>
          <p:cNvSpPr txBox="1"/>
          <p:nvPr/>
        </p:nvSpPr>
        <p:spPr>
          <a:xfrm>
            <a:off x="5349240" y="447141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select from: view construída sobre o item</a:t>
            </a:r>
            <a:endParaRPr lang="pt-BR" sz="1000" dirty="0"/>
          </a:p>
        </p:txBody>
      </p:sp>
      <p:cxnSp>
        <p:nvCxnSpPr>
          <p:cNvPr id="30" name="Conector"/>
          <p:cNvCxnSpPr/>
          <p:nvPr/>
        </p:nvCxnSpPr>
        <p:spPr>
          <a:xfrm>
            <a:off x="8229600" y="4187952"/>
            <a:ext cx="502920" cy="0"/>
          </a:xfrm>
          <a:prstGeom prst="straightConnector1">
            <a:avLst/>
          </a:prstGeom>
          <a:ln w="15875">
            <a:solidFill>
              <a:srgbClr val="A8B3BD"/>
            </a:solidFill>
            <a:prstDash val="sysDot"/>
          </a:ln>
        </p:spPr>
      </p:cxnSp>
      <p:sp>
        <p:nvSpPr>
          <p:cNvPr id="31" name="Texto"/>
          <p:cNvSpPr txBox="1"/>
          <p:nvPr/>
        </p:nvSpPr>
        <p:spPr>
          <a:xfrm>
            <a:off x="8869680" y="4069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cópia: sem ligação, congelada</a:t>
            </a:r>
            <a:endParaRPr lang="pt-BR" sz="1000" dirty="0"/>
          </a:p>
        </p:txBody>
      </p:sp>
      <p:sp>
        <p:nvSpPr>
          <p:cNvPr id="32" name="Nota"/>
          <p:cNvSpPr/>
          <p:nvPr/>
        </p:nvSpPr>
        <p:spPr>
          <a:xfrm>
            <a:off x="4526280" y="5074920"/>
            <a:ext cx="7114032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</p:spPr>
      </p:sp>
      <p:sp>
        <p:nvSpPr>
          <p:cNvPr id="33" name="Texto da nota"/>
          <p:cNvSpPr txBox="1"/>
          <p:nvPr/>
        </p:nvSpPr>
        <p:spPr>
          <a:xfrm>
            <a:off x="4754880" y="5074920"/>
            <a:ext cx="6656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Associação ou cópia? </a:t>
            </a:r>
            <a:r>
              <a:rPr lang="pt-BR" sz="1150" dirty="0">
                <a:solidFill>
                  <a:srgbClr val="1D2D3E"/>
                </a:solidFill>
              </a:rPr>
              <a:t xml:space="preserve">No item do pedido, </a:t>
            </a:r>
            <a:r>
              <a:rPr lang="pt-BR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_Item.QtdeDisponivel</a:t>
            </a:r>
            <a:r>
              <a:rPr lang="pt-BR" sz="1150" dirty="0">
                <a:solidFill>
                  <a:srgbClr val="1D2D3E"/>
                </a:solidFill>
              </a:rPr>
              <a:t xml:space="preserve"> mostra o disponível de agora. No encerramento, o snapshot congela nome, SKU e preço: o histórico não muda se o item mudar.</a:t>
            </a:r>
            <a:endParaRPr lang="pt-BR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ANNOTATIONS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Annotations do item e da value help do pedido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4069080"/>
                <a:gridCol w="3337560"/>
                <a:gridCol w="3474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@Semantics.largeObject / .mimeType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FotoItem, FotoMimeType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Foto do item com upload e exibição inline.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@Semantics.amount.currencyCode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PrecoUnitario → Currency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Preço formatado com a moeda.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@Consumption.valueHelpDefinition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Currency → I_CurrencyStdVH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Value help liberada da SAP; useForValidation recusa moeda inválida.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@ObjectModel.text.element + textArrangement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Categoria, StatusEstoque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Descrição da CodeList no lugar do código.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@UI.dataPoint + facet #HEADER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StatusEstoque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Status no cabeçalho da Object Page.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criticality: 'StatusEstoqueCriticality'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lineItem, fieldGroup, dataPoint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A mesma cor na lista, na seção Estoque e no cabeçalho.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@UI.fieldGroup qualifier 'Estoque'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QtdeEstoque, QtdeReservada, QtdeDisponivel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Agrupa as quantidades numa seção; Descricao usa multiLineText.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@ObjectModel.dataCategory: #VALUE_HELP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ZC_PC_ITEM_VH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Declara a view como value help reutilizável.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@ObjectModel.usageType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ZC_PC_ITEM_VH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serviceQuality #A, sizeCategory #M, dataClass #MASTER: perfil de uso.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@UI.hidden + text.element na chave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ItemUUID → Nome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No pedido aparece o nome; o UUID fica oculto.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Composição para dentro, associação para fora</a:t>
            </a:r>
            <a:endParaRPr lang="pt-BR" sz="3000" dirty="0"/>
          </a:p>
        </p:txBody>
      </p:sp>
      <p:sp>
        <p:nvSpPr>
          <p:cNvPr id="3" name="ZR_PC_PEDIDO"/>
          <p:cNvSpPr/>
          <p:nvPr/>
        </p:nvSpPr>
        <p:spPr>
          <a:xfrm>
            <a:off x="4480560" y="1783080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150" dirty="0"/>
          </a:p>
        </p:txBody>
      </p:sp>
      <p:sp>
        <p:nvSpPr>
          <p:cNvPr id="4" name="ZR_PC_CLIENTE"/>
          <p:cNvSpPr/>
          <p:nvPr/>
        </p:nvSpPr>
        <p:spPr>
          <a:xfrm>
            <a:off x="548640" y="17830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pt-BR" sz="1050" dirty="0"/>
          </a:p>
        </p:txBody>
      </p:sp>
      <p:sp>
        <p:nvSpPr>
          <p:cNvPr id="5" name="ZR_PC_ENDERECO"/>
          <p:cNvSpPr/>
          <p:nvPr/>
        </p:nvSpPr>
        <p:spPr>
          <a:xfrm>
            <a:off x="548640" y="260604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pt-BR" sz="1050" dirty="0"/>
          </a:p>
        </p:txBody>
      </p:sp>
      <p:sp>
        <p:nvSpPr>
          <p:cNvPr id="6" name="ZR_PC_REEMBOLSO"/>
          <p:cNvSpPr/>
          <p:nvPr/>
        </p:nvSpPr>
        <p:spPr>
          <a:xfrm>
            <a:off x="9079992" y="17830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pt-BR" sz="1050" dirty="0"/>
          </a:p>
        </p:txBody>
      </p:sp>
      <p:sp>
        <p:nvSpPr>
          <p:cNvPr id="7" name="ZR_PC_CODELIST"/>
          <p:cNvSpPr/>
          <p:nvPr/>
        </p:nvSpPr>
        <p:spPr>
          <a:xfrm>
            <a:off x="9079992" y="260604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1050" dirty="0"/>
          </a:p>
        </p:txBody>
      </p:sp>
      <p:cxnSp>
        <p:nvCxnSpPr>
          <p:cNvPr id="8" name="Conector"/>
          <p:cNvCxnSpPr/>
          <p:nvPr/>
        </p:nvCxnSpPr>
        <p:spPr>
          <a:xfrm flipH="1">
            <a:off x="3108960" y="1920240"/>
            <a:ext cx="137160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9" name="Texto"/>
          <p:cNvSpPr txBox="1"/>
          <p:nvPr/>
        </p:nvSpPr>
        <p:spPr>
          <a:xfrm>
            <a:off x="3154680" y="17007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 [0..1]</a:t>
            </a:r>
            <a:endParaRPr lang="pt-BR" sz="900" dirty="0"/>
          </a:p>
        </p:txBody>
      </p:sp>
      <p:cxnSp>
        <p:nvCxnSpPr>
          <p:cNvPr id="10" name="Conector"/>
          <p:cNvCxnSpPr/>
          <p:nvPr/>
        </p:nvCxnSpPr>
        <p:spPr>
          <a:xfrm flipH="1">
            <a:off x="3886200" y="2121408"/>
            <a:ext cx="59436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11" name="Conector"/>
          <p:cNvCxnSpPr/>
          <p:nvPr/>
        </p:nvCxnSpPr>
        <p:spPr>
          <a:xfrm>
            <a:off x="3886200" y="2121408"/>
            <a:ext cx="0" cy="713232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12" name="Conector"/>
          <p:cNvCxnSpPr/>
          <p:nvPr/>
        </p:nvCxnSpPr>
        <p:spPr>
          <a:xfrm flipH="1">
            <a:off x="3108960" y="2834640"/>
            <a:ext cx="77724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3" name="Texto"/>
          <p:cNvSpPr txBox="1"/>
          <p:nvPr/>
        </p:nvSpPr>
        <p:spPr>
          <a:xfrm>
            <a:off x="2743200" y="30906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 [0..1]</a:t>
            </a:r>
            <a:endParaRPr lang="pt-BR" sz="900" dirty="0"/>
          </a:p>
        </p:txBody>
      </p:sp>
      <p:cxnSp>
        <p:nvCxnSpPr>
          <p:cNvPr id="14" name="Conector"/>
          <p:cNvCxnSpPr/>
          <p:nvPr/>
        </p:nvCxnSpPr>
        <p:spPr>
          <a:xfrm flipH="1">
            <a:off x="7680960" y="1920240"/>
            <a:ext cx="1399032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5" name="Texto"/>
          <p:cNvSpPr txBox="1"/>
          <p:nvPr/>
        </p:nvSpPr>
        <p:spPr>
          <a:xfrm>
            <a:off x="7726680" y="170078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 [0..1]</a:t>
            </a:r>
            <a:endParaRPr lang="pt-BR" sz="900" dirty="0"/>
          </a:p>
        </p:txBody>
      </p:sp>
      <p:cxnSp>
        <p:nvCxnSpPr>
          <p:cNvPr id="16" name="Conector"/>
          <p:cNvCxnSpPr/>
          <p:nvPr/>
        </p:nvCxnSpPr>
        <p:spPr>
          <a:xfrm>
            <a:off x="7680960" y="2121408"/>
            <a:ext cx="59436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17" name="Conector"/>
          <p:cNvCxnSpPr/>
          <p:nvPr/>
        </p:nvCxnSpPr>
        <p:spPr>
          <a:xfrm>
            <a:off x="8275320" y="2121408"/>
            <a:ext cx="0" cy="713232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</a:ln>
        </p:spPr>
      </p:cxnSp>
      <p:cxnSp>
        <p:nvCxnSpPr>
          <p:cNvPr id="18" name="Conector"/>
          <p:cNvCxnSpPr/>
          <p:nvPr/>
        </p:nvCxnSpPr>
        <p:spPr>
          <a:xfrm>
            <a:off x="8275320" y="2834640"/>
            <a:ext cx="804672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9" name="Texto"/>
          <p:cNvSpPr txBox="1"/>
          <p:nvPr/>
        </p:nvSpPr>
        <p:spPr>
          <a:xfrm>
            <a:off x="9079992" y="3108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pt-BR" sz="850" dirty="0"/>
          </a:p>
          <a:p>
            <a:pPr algn="r" indent="0" marL="0">
              <a:buNone/>
            </a:pP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_StatusPagamentoTxt</a:t>
            </a:r>
            <a:endParaRPr lang="pt-BR" sz="850" dirty="0"/>
          </a:p>
        </p:txBody>
      </p:sp>
      <p:cxnSp>
        <p:nvCxnSpPr>
          <p:cNvPr id="20" name="Conector"/>
          <p:cNvCxnSpPr/>
          <p:nvPr/>
        </p:nvCxnSpPr>
        <p:spPr>
          <a:xfrm>
            <a:off x="6080760" y="2240280"/>
            <a:ext cx="0" cy="1344168"/>
          </a:xfrm>
          <a:prstGeom prst="straightConnector1">
            <a:avLst/>
          </a:prstGeom>
          <a:ln w="25400">
            <a:solidFill>
              <a:srgbClr val="0070F2"/>
            </a:solidFill>
            <a:headEnd type="diamond" w="med" len="med"/>
          </a:ln>
        </p:spPr>
      </p:cxnSp>
      <p:cxnSp>
        <p:nvCxnSpPr>
          <p:cNvPr id="21" name="Conector"/>
          <p:cNvCxnSpPr/>
          <p:nvPr/>
        </p:nvCxnSpPr>
        <p:spPr>
          <a:xfrm>
            <a:off x="1876806" y="3584448"/>
            <a:ext cx="8435340" cy="0"/>
          </a:xfrm>
          <a:prstGeom prst="straightConnector1">
            <a:avLst/>
          </a:prstGeom>
          <a:ln w="25400">
            <a:solidFill>
              <a:srgbClr val="0070F2"/>
            </a:solidFill>
          </a:ln>
        </p:spPr>
      </p:cxnSp>
      <p:cxnSp>
        <p:nvCxnSpPr>
          <p:cNvPr id="22" name="Conector"/>
          <p:cNvCxnSpPr/>
          <p:nvPr/>
        </p:nvCxnSpPr>
        <p:spPr>
          <a:xfrm>
            <a:off x="1876806" y="3584448"/>
            <a:ext cx="0" cy="256032"/>
          </a:xfrm>
          <a:prstGeom prst="straightConnector1">
            <a:avLst/>
          </a:prstGeom>
          <a:ln w="25400">
            <a:solidFill>
              <a:srgbClr val="0070F2"/>
            </a:solidFill>
            <a:tailEnd type="triangle" w="med" len="med"/>
          </a:ln>
        </p:spPr>
      </p:cxnSp>
      <p:sp>
        <p:nvSpPr>
          <p:cNvPr id="23" name="Cartão"/>
          <p:cNvSpPr/>
          <p:nvPr/>
        </p:nvSpPr>
        <p:spPr>
          <a:xfrm>
            <a:off x="548640" y="3840480"/>
            <a:ext cx="2656332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o"/>
          <p:cNvSpPr txBox="1"/>
          <p:nvPr/>
        </p:nvSpPr>
        <p:spPr>
          <a:xfrm>
            <a:off x="713232" y="393192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pt-BR" sz="1000" dirty="0"/>
          </a:p>
        </p:txBody>
      </p:sp>
      <p:sp>
        <p:nvSpPr>
          <p:cNvPr id="25" name="Status _Itens [0..*]"/>
          <p:cNvSpPr/>
          <p:nvPr/>
        </p:nvSpPr>
        <p:spPr>
          <a:xfrm>
            <a:off x="713232" y="4224528"/>
            <a:ext cx="112471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 [0..*]</a:t>
            </a:r>
            <a:endParaRPr lang="pt-BR" sz="850" dirty="0"/>
          </a:p>
        </p:txBody>
      </p:sp>
      <p:sp>
        <p:nvSpPr>
          <p:cNvPr id="26" name="Texto"/>
          <p:cNvSpPr txBox="1"/>
          <p:nvPr/>
        </p:nvSpPr>
        <p:spPr>
          <a:xfrm>
            <a:off x="713232" y="4507992"/>
            <a:ext cx="23271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 xml:space="preserve">to parent </a:t>
            </a: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pt-BR" sz="900" dirty="0"/>
          </a:p>
        </p:txBody>
      </p:sp>
      <p:cxnSp>
        <p:nvCxnSpPr>
          <p:cNvPr id="27" name="Conector"/>
          <p:cNvCxnSpPr/>
          <p:nvPr/>
        </p:nvCxnSpPr>
        <p:spPr>
          <a:xfrm>
            <a:off x="4688586" y="3584448"/>
            <a:ext cx="0" cy="256032"/>
          </a:xfrm>
          <a:prstGeom prst="straightConnector1">
            <a:avLst/>
          </a:prstGeom>
          <a:ln w="25400">
            <a:solidFill>
              <a:srgbClr val="0070F2"/>
            </a:solidFill>
            <a:tailEnd type="triangle" w="med" len="med"/>
          </a:ln>
        </p:spPr>
      </p:cxnSp>
      <p:sp>
        <p:nvSpPr>
          <p:cNvPr id="28" name="Cartão"/>
          <p:cNvSpPr/>
          <p:nvPr/>
        </p:nvSpPr>
        <p:spPr>
          <a:xfrm>
            <a:off x="3360420" y="3840480"/>
            <a:ext cx="2656332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o"/>
          <p:cNvSpPr txBox="1"/>
          <p:nvPr/>
        </p:nvSpPr>
        <p:spPr>
          <a:xfrm>
            <a:off x="3525012" y="393192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pt-BR" sz="1000" dirty="0"/>
          </a:p>
        </p:txBody>
      </p:sp>
      <p:sp>
        <p:nvSpPr>
          <p:cNvPr id="30" name="Status _Pagamento [0..1]"/>
          <p:cNvSpPr/>
          <p:nvPr/>
        </p:nvSpPr>
        <p:spPr>
          <a:xfrm>
            <a:off x="3525012" y="4224528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 [0..1]</a:t>
            </a:r>
            <a:endParaRPr lang="pt-BR" sz="850" dirty="0"/>
          </a:p>
        </p:txBody>
      </p:sp>
      <p:sp>
        <p:nvSpPr>
          <p:cNvPr id="31" name="Texto"/>
          <p:cNvSpPr txBox="1"/>
          <p:nvPr/>
        </p:nvSpPr>
        <p:spPr>
          <a:xfrm>
            <a:off x="3525012" y="4507992"/>
            <a:ext cx="23271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 xml:space="preserve">to parent </a:t>
            </a: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pt-BR" sz="900" dirty="0"/>
          </a:p>
        </p:txBody>
      </p:sp>
      <p:cxnSp>
        <p:nvCxnSpPr>
          <p:cNvPr id="32" name="Conector"/>
          <p:cNvCxnSpPr/>
          <p:nvPr/>
        </p:nvCxnSpPr>
        <p:spPr>
          <a:xfrm>
            <a:off x="7500366" y="3584448"/>
            <a:ext cx="0" cy="256032"/>
          </a:xfrm>
          <a:prstGeom prst="straightConnector1">
            <a:avLst/>
          </a:prstGeom>
          <a:ln w="25400">
            <a:solidFill>
              <a:srgbClr val="0070F2"/>
            </a:solidFill>
            <a:tailEnd type="triangle" w="med" len="med"/>
          </a:ln>
        </p:spPr>
      </p:cxnSp>
      <p:sp>
        <p:nvSpPr>
          <p:cNvPr id="33" name="Cartão"/>
          <p:cNvSpPr/>
          <p:nvPr/>
        </p:nvSpPr>
        <p:spPr>
          <a:xfrm>
            <a:off x="6172200" y="3840480"/>
            <a:ext cx="2656332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Texto"/>
          <p:cNvSpPr txBox="1"/>
          <p:nvPr/>
        </p:nvSpPr>
        <p:spPr>
          <a:xfrm>
            <a:off x="6336792" y="393192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pt-BR" sz="1000" dirty="0"/>
          </a:p>
        </p:txBody>
      </p:sp>
      <p:sp>
        <p:nvSpPr>
          <p:cNvPr id="35" name="Status _ClienteSnapshot [0..1]"/>
          <p:cNvSpPr/>
          <p:nvPr/>
        </p:nvSpPr>
        <p:spPr>
          <a:xfrm>
            <a:off x="6336792" y="4224528"/>
            <a:ext cx="1792224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 [0..1]</a:t>
            </a:r>
            <a:endParaRPr lang="pt-BR" sz="850" dirty="0"/>
          </a:p>
        </p:txBody>
      </p:sp>
      <p:sp>
        <p:nvSpPr>
          <p:cNvPr id="36" name="Texto"/>
          <p:cNvSpPr txBox="1"/>
          <p:nvPr/>
        </p:nvSpPr>
        <p:spPr>
          <a:xfrm>
            <a:off x="6336792" y="4507992"/>
            <a:ext cx="23271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 xml:space="preserve">to parent </a:t>
            </a: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pt-BR" sz="900" dirty="0"/>
          </a:p>
        </p:txBody>
      </p:sp>
      <p:cxnSp>
        <p:nvCxnSpPr>
          <p:cNvPr id="37" name="Conector"/>
          <p:cNvCxnSpPr/>
          <p:nvPr/>
        </p:nvCxnSpPr>
        <p:spPr>
          <a:xfrm>
            <a:off x="10312146" y="3584448"/>
            <a:ext cx="0" cy="256032"/>
          </a:xfrm>
          <a:prstGeom prst="straightConnector1">
            <a:avLst/>
          </a:prstGeom>
          <a:ln w="25400">
            <a:solidFill>
              <a:srgbClr val="0070F2"/>
            </a:solidFill>
            <a:tailEnd type="triangle" w="med" len="med"/>
          </a:ln>
        </p:spPr>
      </p:cxnSp>
      <p:sp>
        <p:nvSpPr>
          <p:cNvPr id="38" name="Cartão"/>
          <p:cNvSpPr/>
          <p:nvPr/>
        </p:nvSpPr>
        <p:spPr>
          <a:xfrm>
            <a:off x="8983980" y="3840480"/>
            <a:ext cx="2656332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Texto"/>
          <p:cNvSpPr txBox="1"/>
          <p:nvPr/>
        </p:nvSpPr>
        <p:spPr>
          <a:xfrm>
            <a:off x="9148572" y="393192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pt-BR" sz="1000" dirty="0"/>
          </a:p>
        </p:txBody>
      </p:sp>
      <p:sp>
        <p:nvSpPr>
          <p:cNvPr id="40" name="Status _ItensSnapshot [0..*]"/>
          <p:cNvSpPr/>
          <p:nvPr/>
        </p:nvSpPr>
        <p:spPr>
          <a:xfrm>
            <a:off x="9148572" y="4224528"/>
            <a:ext cx="166420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 [0..*]</a:t>
            </a:r>
            <a:endParaRPr lang="pt-BR" sz="850" dirty="0"/>
          </a:p>
        </p:txBody>
      </p:sp>
      <p:sp>
        <p:nvSpPr>
          <p:cNvPr id="41" name="Texto"/>
          <p:cNvSpPr txBox="1"/>
          <p:nvPr/>
        </p:nvSpPr>
        <p:spPr>
          <a:xfrm>
            <a:off x="9148572" y="4507992"/>
            <a:ext cx="23271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 xml:space="preserve">to parent </a:t>
            </a: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pt-BR" sz="900" dirty="0"/>
          </a:p>
        </p:txBody>
      </p:sp>
      <p:cxnSp>
        <p:nvCxnSpPr>
          <p:cNvPr id="42" name="Conector"/>
          <p:cNvCxnSpPr/>
          <p:nvPr/>
        </p:nvCxnSpPr>
        <p:spPr>
          <a:xfrm>
            <a:off x="1876806" y="4800600"/>
            <a:ext cx="0" cy="54864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43" name="Texto"/>
          <p:cNvSpPr txBox="1"/>
          <p:nvPr/>
        </p:nvSpPr>
        <p:spPr>
          <a:xfrm>
            <a:off x="1949958" y="4965192"/>
            <a:ext cx="12367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 [0..1]</a:t>
            </a:r>
            <a:endParaRPr lang="pt-BR" sz="800" dirty="0"/>
          </a:p>
        </p:txBody>
      </p:sp>
      <p:sp>
        <p:nvSpPr>
          <p:cNvPr id="44" name="ZR_PC_ITEM"/>
          <p:cNvSpPr/>
          <p:nvPr/>
        </p:nvSpPr>
        <p:spPr>
          <a:xfrm>
            <a:off x="548640" y="5349240"/>
            <a:ext cx="26563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pt-BR" sz="1000" dirty="0"/>
          </a:p>
        </p:txBody>
      </p:sp>
      <p:cxnSp>
        <p:nvCxnSpPr>
          <p:cNvPr id="45" name="Conector"/>
          <p:cNvCxnSpPr/>
          <p:nvPr/>
        </p:nvCxnSpPr>
        <p:spPr>
          <a:xfrm>
            <a:off x="4688586" y="4800600"/>
            <a:ext cx="0" cy="54864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46" name="Texto"/>
          <p:cNvSpPr txBox="1"/>
          <p:nvPr/>
        </p:nvSpPr>
        <p:spPr>
          <a:xfrm>
            <a:off x="4761738" y="4965192"/>
            <a:ext cx="12367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8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 · _StatusTxt</a:t>
            </a:r>
            <a:endParaRPr lang="pt-BR" sz="800" dirty="0"/>
          </a:p>
        </p:txBody>
      </p:sp>
      <p:sp>
        <p:nvSpPr>
          <p:cNvPr id="47" name="ZR_PC_CODELIST"/>
          <p:cNvSpPr/>
          <p:nvPr/>
        </p:nvSpPr>
        <p:spPr>
          <a:xfrm>
            <a:off x="3360420" y="5349240"/>
            <a:ext cx="26563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1000" dirty="0"/>
          </a:p>
        </p:txBody>
      </p:sp>
      <p:sp>
        <p:nvSpPr>
          <p:cNvPr id="48" name="Nota"/>
          <p:cNvSpPr/>
          <p:nvPr/>
        </p:nvSpPr>
        <p:spPr>
          <a:xfrm>
            <a:off x="6172200" y="5074920"/>
            <a:ext cx="5468112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49" name="Texto da nota"/>
          <p:cNvSpPr txBox="1"/>
          <p:nvPr/>
        </p:nvSpPr>
        <p:spPr>
          <a:xfrm>
            <a:off x="6400800" y="5074920"/>
            <a:ext cx="5010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</a:rPr>
              <a:t xml:space="preserve">Snapshots sem associação de saída: </a:t>
            </a:r>
            <a:r>
              <a:rPr lang="pt-BR" sz="1100" dirty="0">
                <a:solidFill>
                  <a:srgbClr val="1D2D3E"/>
                </a:solidFill>
              </a:rPr>
              <a:t>guardam cópias do cliente, do endereço e dos itens no encerramento.</a:t>
            </a:r>
            <a:endParaRPr lang="pt-BR" sz="120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ANNOTATIONS NA PROJEÇÃO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Textos, value helps e links da projeção do pedido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3931920"/>
                <a:gridCol w="365760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@ObjectModel.semanticKey: ['NumeroPedido']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ZC_PC_PEDIDO_APP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número identifica o pedido na tela e na navegação.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@Search.defaultSearchElement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NumeroPedido, NomeCliente, CpfCliente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Busca por número, nome (com fuzziness) e CPF.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@ObjectModel.text.element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ClienteUUID, EnderecoUUID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Nome do cliente e endereço completo no lugar dos UUIDs.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@Consumption.valueHelpDefinition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ClienteUUID, ItemUUID (useForValidation)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Só aceita clientes e itens ativos das value helps.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additionalBinding usage: #FILTER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EnderecoUUID ← ClienteUUID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Endereços filtrados pelo cliente escolhido.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@Consumption.semanticObject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Cliente, CPF: 'ZPCCliente'; Item, SKU: 'ZPCItemEstoque'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Campos viram links para outras apps do launchpad.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@Consumption.semanticObjectMapping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CpfCliente → Cpf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Envia o CPF com o nome que a app de destino espera.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@UI.textArrangement: #TEXT_ONLY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StatusPedido, StatusPagamento, MetodoPagamento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Só a descrição da CodeList.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@Semantics.amount.currencyCode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ValorTotal, PrecoUnitarioSnapshot (ZR_)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Valores formatados com a moeda.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ANNOTATIONS DE UI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.ddlx do pedido, seção por seção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@UI.headerInfo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title NumeroPedido, description NomeCliente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Título e subtítulo da Object Page.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@UI.facet #HEADER + #DATAPOINT_REFERENCE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StatusPedido, StatusPagamento, ValorTotal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Três indicadores no cabeçalho.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@UI.dataPoint (criticality)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os mesmos três campos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Valor com a cor da CodeList.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@UI.facet #FIELDGROUP_REFERENCE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Cliente, Finalização, Cancelamento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Seções; hidden: #(campo) mostra conforme o status.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@UI.facet #LINEITEM_REFERENCE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_Itens, _ItensSnapshot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Tabelas dos filhos [0..*].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@UI.facet #IDENTIFICATION_REFERENCE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_Pagamento, _ClienteSnapshot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Filhos [0..1] como formulário.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@UI.lineItem #FOR_ACTION_GROUP / #FOR_ACTION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NumeroPedido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Menu Ações: Efetuar Pagamento, Aprovar e Cancelar.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@UI.lineItem criticality + importance #HIGH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StatusPedido, ValorTotal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Cor do status; coluna mantida em telas estreitas.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@UI.selectionField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Cliente, CPF, status, data, total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Filtros da List Report.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@UI.presentationVariant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sortOrder CreatedAt #DESC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Pedidos mais recentes primeiro.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root que só associa</a:t>
            </a:r>
            <a:endParaRPr lang="pt-BR" sz="3000" dirty="0"/>
          </a:p>
        </p:txBody>
      </p:sp>
      <p:sp>
        <p:nvSpPr>
          <p:cNvPr id="3" name="ZR_PC_REEMBOLSO"/>
          <p:cNvSpPr/>
          <p:nvPr/>
        </p:nvSpPr>
        <p:spPr>
          <a:xfrm>
            <a:off x="548640" y="292608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1F4FF"/>
          </a:solidFill>
          <a:ln/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pt-BR" sz="1100" dirty="0"/>
          </a:p>
          <a:p>
            <a:pPr algn="ctr" indent="0" marL="0">
              <a:buNone/>
            </a:pPr>
            <a:r>
              <a:rPr lang="pt-BR" sz="900" dirty="0">
                <a:solidFill>
                  <a:srgbClr val="556B82"/>
                </a:solidFill>
              </a:rPr>
              <a:t>root · sem draft · sem filhos</a:t>
            </a:r>
            <a:endParaRPr lang="pt-BR" sz="900" dirty="0"/>
          </a:p>
        </p:txBody>
      </p:sp>
      <p:sp>
        <p:nvSpPr>
          <p:cNvPr id="4" name="ZR_PC_PEDIDO"/>
          <p:cNvSpPr/>
          <p:nvPr/>
        </p:nvSpPr>
        <p:spPr>
          <a:xfrm>
            <a:off x="4892040" y="1737360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pt-BR" sz="1050" dirty="0"/>
          </a:p>
        </p:txBody>
      </p:sp>
      <p:cxnSp>
        <p:nvCxnSpPr>
          <p:cNvPr id="5" name="Conector"/>
          <p:cNvCxnSpPr/>
          <p:nvPr/>
        </p:nvCxnSpPr>
        <p:spPr>
          <a:xfrm flipV="1">
            <a:off x="3200400" y="1965960"/>
            <a:ext cx="1691640" cy="118872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6" name="Rótulo"/>
          <p:cNvSpPr/>
          <p:nvPr/>
        </p:nvSpPr>
        <p:spPr>
          <a:xfrm>
            <a:off x="3401568" y="2450592"/>
            <a:ext cx="1298448" cy="21945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 [0..1]</a:t>
            </a:r>
            <a:endParaRPr lang="pt-BR" sz="800" dirty="0"/>
          </a:p>
        </p:txBody>
      </p:sp>
      <p:sp>
        <p:nvSpPr>
          <p:cNvPr id="7" name="ZR_PC_CLIENTE"/>
          <p:cNvSpPr/>
          <p:nvPr/>
        </p:nvSpPr>
        <p:spPr>
          <a:xfrm>
            <a:off x="4892040" y="3154680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pt-BR" sz="1050" dirty="0"/>
          </a:p>
        </p:txBody>
      </p:sp>
      <p:cxnSp>
        <p:nvCxnSpPr>
          <p:cNvPr id="8" name="Conector"/>
          <p:cNvCxnSpPr/>
          <p:nvPr/>
        </p:nvCxnSpPr>
        <p:spPr>
          <a:xfrm>
            <a:off x="3200400" y="3383280"/>
            <a:ext cx="1691640" cy="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9" name="Rótulo"/>
          <p:cNvSpPr/>
          <p:nvPr/>
        </p:nvSpPr>
        <p:spPr>
          <a:xfrm>
            <a:off x="3401568" y="3273552"/>
            <a:ext cx="1298448" cy="21945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 [0..1]</a:t>
            </a:r>
            <a:endParaRPr lang="pt-BR" sz="800" dirty="0"/>
          </a:p>
        </p:txBody>
      </p:sp>
      <p:sp>
        <p:nvSpPr>
          <p:cNvPr id="10" name="ZR_PC_CODELIST"/>
          <p:cNvSpPr/>
          <p:nvPr/>
        </p:nvSpPr>
        <p:spPr>
          <a:xfrm>
            <a:off x="4892040" y="4572000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lIns="109728" tIns="0" rIns="109728" bIns="0" rtlCol="0" anchor="ctr"/>
          <a:lstStyle/>
          <a:p>
            <a:pPr algn="ctr" indent="0" marL="0">
              <a:buNone/>
            </a:pPr>
            <a:r>
              <a:rPr lang="pt-BR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3200400" y="3611880"/>
            <a:ext cx="1691640" cy="1188720"/>
          </a:xfrm>
          <a:prstGeom prst="straightConnector1">
            <a:avLst/>
          </a:prstGeom>
          <a:ln w="19050">
            <a:solidFill>
              <a:srgbClr val="8396A8"/>
            </a:solidFill>
            <a:prstDash val="dash"/>
            <a:tailEnd type="triangle" w="med" len="med"/>
          </a:ln>
        </p:spPr>
      </p:cxnSp>
      <p:sp>
        <p:nvSpPr>
          <p:cNvPr id="12" name="Rótulo"/>
          <p:cNvSpPr/>
          <p:nvPr/>
        </p:nvSpPr>
        <p:spPr>
          <a:xfrm>
            <a:off x="3401568" y="4096512"/>
            <a:ext cx="1298448" cy="21945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 [0..1]</a:t>
            </a:r>
            <a:endParaRPr lang="pt-BR" sz="800" dirty="0"/>
          </a:p>
        </p:txBody>
      </p:sp>
      <p:sp>
        <p:nvSpPr>
          <p:cNvPr id="13" name="Texto"/>
          <p:cNvSpPr txBox="1"/>
          <p:nvPr/>
        </p:nvSpPr>
        <p:spPr>
          <a:xfrm>
            <a:off x="48920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i="1" dirty="0">
                <a:solidFill>
                  <a:srgbClr val="556B82"/>
                </a:solidFill>
              </a:rPr>
              <a:t>ZPCPedidoCompra no link</a:t>
            </a:r>
            <a:endParaRPr lang="pt-BR" sz="900" dirty="0"/>
          </a:p>
        </p:txBody>
      </p:sp>
      <p:sp>
        <p:nvSpPr>
          <p:cNvPr id="14" name="Texto"/>
          <p:cNvSpPr txBox="1"/>
          <p:nvPr/>
        </p:nvSpPr>
        <p:spPr>
          <a:xfrm>
            <a:off x="4892040" y="3630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i="1" dirty="0">
                <a:solidFill>
                  <a:srgbClr val="556B82"/>
                </a:solidFill>
              </a:rPr>
              <a:t>Nome e CPF por path expression</a:t>
            </a:r>
            <a:endParaRPr lang="pt-BR" sz="900" dirty="0"/>
          </a:p>
        </p:txBody>
      </p:sp>
      <p:sp>
        <p:nvSpPr>
          <p:cNvPr id="15" name="Texto"/>
          <p:cNvSpPr txBox="1"/>
          <p:nvPr/>
        </p:nvSpPr>
        <p:spPr>
          <a:xfrm>
            <a:off x="4892040" y="5047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i="1" dirty="0">
                <a:solidFill>
                  <a:srgbClr val="556B82"/>
                </a:solidFill>
              </a:rPr>
              <a:t>lista STATUS_REEMBOLSO</a:t>
            </a:r>
            <a:endParaRPr lang="pt-BR" sz="900" dirty="0"/>
          </a:p>
        </p:txBody>
      </p:sp>
      <p:sp>
        <p:nvSpPr>
          <p:cNvPr id="16" name="Cartão"/>
          <p:cNvSpPr/>
          <p:nvPr/>
        </p:nvSpPr>
        <p:spPr>
          <a:xfrm>
            <a:off x="548640" y="4160520"/>
            <a:ext cx="265176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o"/>
          <p:cNvSpPr txBox="1"/>
          <p:nvPr/>
        </p:nvSpPr>
        <p:spPr>
          <a:xfrm>
            <a:off x="731520" y="4270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endParaRPr lang="pt-BR" sz="1000" dirty="0"/>
          </a:p>
        </p:txBody>
      </p:sp>
      <p:sp>
        <p:nvSpPr>
          <p:cNvPr id="18" name="Texto"/>
          <p:cNvSpPr txBox="1"/>
          <p:nvPr/>
        </p:nvSpPr>
        <p:spPr>
          <a:xfrm>
            <a:off x="731520" y="457200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pt-BR" sz="1000" dirty="0">
                <a:solidFill>
                  <a:srgbClr val="556B82"/>
                </a:solidFill>
              </a:rPr>
              <a:t xml:space="preserve">Expõe </a:t>
            </a: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r>
              <a:rPr lang="pt-BR" sz="1000" dirty="0">
                <a:solidFill>
                  <a:srgbClr val="556B82"/>
                </a:solidFill>
              </a:rPr>
              <a:t xml:space="preserve"> e </a:t>
            </a:r>
            <a:r>
              <a:rPr lang="pt-BR" sz="9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r>
              <a:rPr lang="pt-BR" sz="1000" dirty="0">
                <a:solidFill>
                  <a:srgbClr val="556B82"/>
                </a:solidFill>
              </a:rPr>
              <a:t xml:space="preserve"> sem redirected to: são associações de leitura, não filhos.</a:t>
            </a:r>
            <a:endParaRPr lang="pt-BR" sz="1000" dirty="0"/>
          </a:p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 xml:space="preserve">No cubo, </a:t>
            </a:r>
            <a:r>
              <a:rPr lang="pt-BR" sz="8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_Cliente._Endereco­Principal.Uf</a:t>
            </a:r>
            <a:r>
              <a:rPr lang="pt-BR" sz="1000" dirty="0">
                <a:solidFill>
                  <a:srgbClr val="556B82"/>
                </a:solidFill>
              </a:rPr>
              <a:t xml:space="preserve"> leva a UF em dois saltos.</a:t>
            </a:r>
            <a:endParaRPr lang="pt-BR" sz="1000" dirty="0"/>
          </a:p>
        </p:txBody>
      </p:sp>
      <p:sp>
        <p:nvSpPr>
          <p:cNvPr id="19" name="Cartão"/>
          <p:cNvSpPr/>
          <p:nvPr/>
        </p:nvSpPr>
        <p:spPr>
          <a:xfrm>
            <a:off x="7680960" y="1645920"/>
            <a:ext cx="3959352" cy="4526280"/>
          </a:xfrm>
          <a:prstGeom prst="roundRect">
            <a:avLst>
              <a:gd name="adj" fmla="val 27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o"/>
          <p:cNvSpPr txBox="1"/>
          <p:nvPr/>
        </p:nvSpPr>
        <p:spPr>
          <a:xfrm>
            <a:off x="7882128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Por que não é filho do pedido?</a:t>
            </a:r>
            <a:endParaRPr lang="pt-BR" sz="1300" dirty="0"/>
          </a:p>
        </p:txBody>
      </p:sp>
      <p:sp>
        <p:nvSpPr>
          <p:cNvPr id="21" name="Número 1"/>
          <p:cNvSpPr/>
          <p:nvPr/>
        </p:nvSpPr>
        <p:spPr>
          <a:xfrm>
            <a:off x="7882128" y="230428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1</a:t>
            </a:r>
            <a:endParaRPr lang="pt-BR" sz="1150" dirty="0"/>
          </a:p>
        </p:txBody>
      </p:sp>
      <p:sp>
        <p:nvSpPr>
          <p:cNvPr id="22" name="Texto"/>
          <p:cNvSpPr txBox="1"/>
          <p:nvPr/>
        </p:nvSpPr>
        <p:spPr>
          <a:xfrm>
            <a:off x="8321040" y="2286000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Ciclo de vida próprio</a:t>
            </a:r>
            <a:endParaRPr lang="pt-BR" sz="1300" dirty="0"/>
          </a:p>
        </p:txBody>
      </p:sp>
      <p:sp>
        <p:nvSpPr>
          <p:cNvPr id="23" name="Texto"/>
          <p:cNvSpPr txBox="1"/>
          <p:nvPr/>
        </p:nvSpPr>
        <p:spPr>
          <a:xfrm>
            <a:off x="8321040" y="2569464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pedido fica Processando reembolso; a solicitação segue até a decisão.</a:t>
            </a:r>
            <a:endParaRPr lang="pt-BR" sz="1100" dirty="0"/>
          </a:p>
        </p:txBody>
      </p:sp>
      <p:sp>
        <p:nvSpPr>
          <p:cNvPr id="24" name="Número 2"/>
          <p:cNvSpPr/>
          <p:nvPr/>
        </p:nvSpPr>
        <p:spPr>
          <a:xfrm>
            <a:off x="7882128" y="32461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2</a:t>
            </a:r>
            <a:endParaRPr lang="pt-BR" sz="1150" dirty="0"/>
          </a:p>
        </p:txBody>
      </p:sp>
      <p:sp>
        <p:nvSpPr>
          <p:cNvPr id="25" name="Texto"/>
          <p:cNvSpPr txBox="1"/>
          <p:nvPr/>
        </p:nvSpPr>
        <p:spPr>
          <a:xfrm>
            <a:off x="8321040" y="3227832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Sem draft, app própria</a:t>
            </a:r>
            <a:endParaRPr lang="pt-BR" sz="1300" dirty="0"/>
          </a:p>
        </p:txBody>
      </p:sp>
      <p:sp>
        <p:nvSpPr>
          <p:cNvPr id="26" name="Texto"/>
          <p:cNvSpPr txBox="1"/>
          <p:nvPr/>
        </p:nvSpPr>
        <p:spPr>
          <a:xfrm>
            <a:off x="8321040" y="3511296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É decidida na Gestão de Reembolsos, não editada no pedido.</a:t>
            </a:r>
            <a:endParaRPr lang="pt-BR" sz="1100" dirty="0"/>
          </a:p>
        </p:txBody>
      </p:sp>
      <p:sp>
        <p:nvSpPr>
          <p:cNvPr id="27" name="Número 3"/>
          <p:cNvSpPr/>
          <p:nvPr/>
        </p:nvSpPr>
        <p:spPr>
          <a:xfrm>
            <a:off x="7882128" y="418795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3</a:t>
            </a:r>
            <a:endParaRPr lang="pt-BR" sz="1150" dirty="0"/>
          </a:p>
        </p:txBody>
      </p:sp>
      <p:sp>
        <p:nvSpPr>
          <p:cNvPr id="28" name="Texto"/>
          <p:cNvSpPr txBox="1"/>
          <p:nvPr/>
        </p:nvSpPr>
        <p:spPr>
          <a:xfrm>
            <a:off x="8321040" y="41696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Criado por EML</a:t>
            </a:r>
            <a:endParaRPr lang="pt-BR" sz="1300" dirty="0"/>
          </a:p>
        </p:txBody>
      </p:sp>
      <p:sp>
        <p:nvSpPr>
          <p:cNvPr id="29" name="Texto"/>
          <p:cNvSpPr txBox="1"/>
          <p:nvPr/>
        </p:nvSpPr>
        <p:spPr>
          <a:xfrm>
            <a:off x="8321040" y="4453128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CancelarPedido cria o reembolso; Rejeitar chama RetomarPedido de volta.</a:t>
            </a:r>
            <a:endParaRPr lang="pt-BR" sz="1100" dirty="0"/>
          </a:p>
        </p:txBody>
      </p:sp>
      <p:sp>
        <p:nvSpPr>
          <p:cNvPr id="30" name="Número 4"/>
          <p:cNvSpPr/>
          <p:nvPr/>
        </p:nvSpPr>
        <p:spPr>
          <a:xfrm>
            <a:off x="7882128" y="51297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50" b="1" dirty="0">
                <a:solidFill>
                  <a:srgbClr val="0070F2"/>
                </a:solidFill>
              </a:rPr>
              <a:t>4</a:t>
            </a:r>
            <a:endParaRPr lang="pt-BR" sz="1150" dirty="0"/>
          </a:p>
        </p:txBody>
      </p:sp>
      <p:sp>
        <p:nvSpPr>
          <p:cNvPr id="31" name="Texto"/>
          <p:cNvSpPr txBox="1"/>
          <p:nvPr/>
        </p:nvSpPr>
        <p:spPr>
          <a:xfrm>
            <a:off x="8321040" y="51114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Lock separado</a:t>
            </a:r>
            <a:endParaRPr lang="pt-BR" sz="1300" dirty="0"/>
          </a:p>
        </p:txBody>
      </p:sp>
      <p:sp>
        <p:nvSpPr>
          <p:cNvPr id="32" name="Texto"/>
          <p:cNvSpPr txBox="1"/>
          <p:nvPr/>
        </p:nvSpPr>
        <p:spPr>
          <a:xfrm>
            <a:off x="8321040" y="5394960"/>
            <a:ext cx="31272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Como filho, travaria junto com o pedido a cada decisão.</a:t>
            </a:r>
            <a:endParaRPr lang="pt-BR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ANNOTATIONS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Links, decisão e status no reembolso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4206240"/>
                <a:gridCol w="3429000"/>
                <a:gridCol w="32461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@ObjectModel.semanticKey: ['NumeroPedido']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ZC_PC_REEMBOLSO_APP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número do pedido identifica a solicitação.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@Consumption.semanticObject: 'ZPCPedidoCompra'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PedidoUUID, NumeroPedido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Link para a app Pedidos de Compras.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@Consumption.semanticObject: 'ZPCCliente'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ClienteUUID, NomeCliente, CpfCliente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Link para a Gestão de Clientes; o mapping envia CpfCliente como Cpf.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#WITH_INTENT_BASED_NAVIGATION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lineItem e identification de NumeroPedido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semanticObjectAction 'manage': abre a Object Page do pedido, sem popover.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@UI.lineItem / identification #FOR_ACTION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AprovarReembolso, RejeitarReembolso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Botões na lista e na Object Page.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importance: #HIGH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ações, cliente, CPF e status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Mantidos visíveis em telas estreitas.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criticality: 'StatusReembolsoCriticality'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StatusReembolso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Status colorido pela CodeList.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@UI.multiLineText: true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MotivoSolicitacao, MotivoDecisao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Motivos exibidos em várias linhas.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@UI.presentationVariant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sortOrder DataSolicitacao #DESC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Solicitações mais recentes primeiro.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@EndUserText.label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ZPC_A_REEMB_DECISAO_INPUT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Rótulo Motivo da decisão no diálogo.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ANALÍTICO · RELACIONAMENTOS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Os cubos transformam associações em dimensões</a:t>
            </a:r>
            <a:endParaRPr lang="pt-BR" sz="3000" dirty="0"/>
          </a:p>
        </p:txBody>
      </p:sp>
      <p:sp>
        <p:nvSpPr>
          <p:cNvPr id="3" name="ZR_PC_*"/>
          <p:cNvSpPr/>
          <p:nvPr/>
        </p:nvSpPr>
        <p:spPr>
          <a:xfrm>
            <a:off x="548640" y="164592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r>
              <a:rPr lang="pt-BR" sz="900" dirty="0">
                <a:solidFill>
                  <a:srgbClr val="556B82"/>
                </a:solidFill>
              </a:rPr>
              <a:t xml:space="preserve">  view de BO</a:t>
            </a:r>
            <a:endParaRPr lang="pt-BR" sz="1000" dirty="0"/>
          </a:p>
        </p:txBody>
      </p:sp>
      <p:sp>
        <p:nvSpPr>
          <p:cNvPr id="4" name="ZI_PC_*_CUBE"/>
          <p:cNvSpPr/>
          <p:nvPr/>
        </p:nvSpPr>
        <p:spPr>
          <a:xfrm>
            <a:off x="3453384" y="164592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ZI_PC_*_CUBE</a:t>
            </a:r>
            <a:r>
              <a:rPr lang="pt-BR" sz="900" dirty="0">
                <a:solidFill>
                  <a:srgbClr val="556B82"/>
                </a:solidFill>
              </a:rPr>
              <a:t xml:space="preserve">  cubo</a:t>
            </a:r>
            <a:endParaRPr lang="pt-BR" sz="1000" dirty="0"/>
          </a:p>
        </p:txBody>
      </p:sp>
      <p:cxnSp>
        <p:nvCxnSpPr>
          <p:cNvPr id="5" name="Conector"/>
          <p:cNvCxnSpPr/>
          <p:nvPr/>
        </p:nvCxnSpPr>
        <p:spPr>
          <a:xfrm>
            <a:off x="2971800" y="1874520"/>
            <a:ext cx="435864" cy="0"/>
          </a:xfrm>
          <a:prstGeom prst="straightConnector1">
            <a:avLst/>
          </a:prstGeom>
          <a:ln w="15875">
            <a:solidFill>
              <a:srgbClr val="A8B3BD"/>
            </a:solidFill>
            <a:tailEnd type="triangle" w="med" len="med"/>
          </a:ln>
        </p:spPr>
      </p:cxnSp>
      <p:sp>
        <p:nvSpPr>
          <p:cNvPr id="6" name="ZC_PC_*_ANALISE"/>
          <p:cNvSpPr/>
          <p:nvPr/>
        </p:nvSpPr>
        <p:spPr>
          <a:xfrm>
            <a:off x="6358128" y="164592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ZC_PC_*_ANALISE</a:t>
            </a:r>
            <a:r>
              <a:rPr lang="pt-BR" sz="900" dirty="0">
                <a:solidFill>
                  <a:srgbClr val="556B82"/>
                </a:solidFill>
              </a:rPr>
              <a:t xml:space="preserve">  consulta</a:t>
            </a:r>
            <a:endParaRPr lang="pt-BR" sz="1000" dirty="0"/>
          </a:p>
        </p:txBody>
      </p:sp>
      <p:cxnSp>
        <p:nvCxnSpPr>
          <p:cNvPr id="7" name="Conector"/>
          <p:cNvCxnSpPr/>
          <p:nvPr/>
        </p:nvCxnSpPr>
        <p:spPr>
          <a:xfrm>
            <a:off x="5876544" y="1874520"/>
            <a:ext cx="435864" cy="0"/>
          </a:xfrm>
          <a:prstGeom prst="straightConnector1">
            <a:avLst/>
          </a:prstGeom>
          <a:ln w="15875">
            <a:solidFill>
              <a:srgbClr val="A8B3BD"/>
            </a:solidFill>
            <a:tailEnd type="triangle" w="med" len="med"/>
          </a:ln>
        </p:spPr>
      </p:cxnSp>
      <p:sp>
        <p:nvSpPr>
          <p:cNvPr id="8" name="ZUI_PC_ANALITICO"/>
          <p:cNvSpPr/>
          <p:nvPr/>
        </p:nvSpPr>
        <p:spPr>
          <a:xfrm>
            <a:off x="9262872" y="1645920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r>
              <a:rPr lang="pt-BR" sz="900" dirty="0">
                <a:solidFill>
                  <a:srgbClr val="556B82"/>
                </a:solidFill>
              </a:rPr>
              <a:t xml:space="preserve">  serviço</a:t>
            </a:r>
            <a:endParaRPr lang="pt-BR" sz="1000" dirty="0"/>
          </a:p>
        </p:txBody>
      </p:sp>
      <p:cxnSp>
        <p:nvCxnSpPr>
          <p:cNvPr id="9" name="Conector"/>
          <p:cNvCxnSpPr/>
          <p:nvPr/>
        </p:nvCxnSpPr>
        <p:spPr>
          <a:xfrm>
            <a:off x="8781288" y="1874520"/>
            <a:ext cx="435864" cy="0"/>
          </a:xfrm>
          <a:prstGeom prst="straightConnector1">
            <a:avLst/>
          </a:prstGeom>
          <a:ln w="15875">
            <a:solidFill>
              <a:srgbClr val="A8B3BD"/>
            </a:solidFill>
            <a:tailEnd type="triangle" w="med" len="med"/>
          </a:ln>
        </p:spPr>
      </p:cxnSp>
      <p:sp>
        <p:nvSpPr>
          <p:cNvPr id="10" name="Fundo da tabela"/>
          <p:cNvSpPr/>
          <p:nvPr/>
        </p:nvSpPr>
        <p:spPr>
          <a:xfrm>
            <a:off x="548640" y="2331720"/>
            <a:ext cx="11100816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ela"/>
          <p:cNvGraphicFramePr>
            <a:graphicFrameLocks noGrp="1"/>
          </p:cNvGraphicFramePr>
          <p:nvPr/>
        </p:nvGraphicFramePr>
        <p:xfrm>
          <a:off x="658368" y="2441448"/>
          <a:ext cx="10881360" cy="2706624"/>
        </p:xfrm>
        <a:graphic>
          <a:graphicData uri="http://schemas.openxmlformats.org/drawingml/2006/table">
            <a:tbl>
              <a:tblPr/>
              <a:tblGrid>
                <a:gridCol w="2423160"/>
                <a:gridCol w="2148840"/>
                <a:gridCol w="352044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as select from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Caminho de associação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Vira a dimensão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ZR_PC_PEDIDO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_StatusPedidoTxt.Descricao</a:t>
                      </a:r>
                      <a:endParaRPr lang="pt-BR" sz="1000" dirty="0"/>
                    </a:p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_StatusPagamentoTxt.Descricao</a:t>
                      </a:r>
                      <a:endParaRPr lang="pt-BR" sz="1000" dirty="0"/>
                    </a:p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_Cliente._EnderecoPrincipal.Uf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StatusPedidoTexto, StatusPagamentoTexto, Uf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ZR_PC_CLIENTE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_GeneroTxt.Descricao</a:t>
                      </a:r>
                      <a:endParaRPr lang="pt-BR" sz="1000" dirty="0"/>
                    </a:p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_EnderecoPrincipal.Uf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GeneroTexto, Uf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ZR_PC_ITEM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_CategoriaTxt.Descricao</a:t>
                      </a:r>
                      <a:endParaRPr lang="pt-BR" sz="1000" dirty="0"/>
                    </a:p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_StatusEstoqueTxt.Descricao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CategoriaTexto, StatusEstoqueTexto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ZR_PC_REEMBOLSO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_StatusTxt.Descricao</a:t>
                      </a:r>
                      <a:endParaRPr lang="pt-BR" sz="1000" dirty="0"/>
                    </a:p>
                    <a:p>
                      <a:pPr algn="l" indent="0" marL="0">
                        <a:buNone/>
                      </a:pPr>
                      <a:r>
                        <a:rPr lang="pt-BR" sz="9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_Cliente._EnderecoPrincipal.Uf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StatusReembolsoTexto, Uf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Nota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ECFB"/>
          </a:solidFill>
          <a:ln/>
        </p:spPr>
      </p:sp>
      <p:sp>
        <p:nvSpPr>
          <p:cNvPr id="13" name="Texto da nota"/>
          <p:cNvSpPr txBox="1"/>
          <p:nvPr/>
        </p:nvSpPr>
        <p:spPr>
          <a:xfrm>
            <a:off x="777240" y="544068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Só caminhos [0..1]: </a:t>
            </a:r>
            <a:r>
              <a:rPr lang="pt-BR" sz="1150" dirty="0">
                <a:solidFill>
                  <a:srgbClr val="1D2D3E"/>
                </a:solidFill>
              </a:rPr>
              <a:t>um pedido tem um cliente, que tem um endereço principal. Um caminho [0..*] repetiria linhas e distorceria SUM e AVG.</a:t>
            </a:r>
            <a:endParaRPr lang="pt-BR" sz="12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ANALÍTICO · ANNOTATIONS</a:t>
            </a:r>
            <a:endParaRPr lang="pt-BR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Annotations do cubo, da consulta e dos gráficos</a:t>
            </a:r>
            <a:endParaRPr lang="pt-BR" sz="3000" dirty="0"/>
          </a:p>
        </p:txBody>
      </p:sp>
      <p:sp>
        <p:nvSpPr>
          <p:cNvPr id="3" name="Fundo da tabela"/>
          <p:cNvSpPr/>
          <p:nvPr/>
        </p:nvSpPr>
        <p:spPr>
          <a:xfrm>
            <a:off x="548640" y="1645920"/>
            <a:ext cx="11100816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ela"/>
          <p:cNvGraphicFramePr>
            <a:graphicFrameLocks noGrp="1"/>
          </p:cNvGraphicFramePr>
          <p:nvPr/>
        </p:nvGraphicFramePr>
        <p:xfrm>
          <a:off x="658368" y="1755648"/>
          <a:ext cx="10881360" cy="4306824"/>
        </p:xfrm>
        <a:graphic>
          <a:graphicData uri="http://schemas.openxmlformats.org/drawingml/2006/table">
            <a:tbl>
              <a:tblPr/>
              <a:tblGrid>
                <a:gridCol w="4297680"/>
                <a:gridCol w="3520440"/>
                <a:gridCol w="3063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Annotation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Onde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@Analytics.dataCategory: #CUBE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cubos e consultas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Declara a view como fonte analítica com dimensões e medidas.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@ObjectModel.modelingPattern: #ANALYTICAL_CUBE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cubos e consultas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Padrão de modelagem analítico da view.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@ObjectModel.supportedCapabilities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[#ANALYTICAL_PROVIDER]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Habilita groupby e aggregate ($apply) no OData V4.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@Aggregation.default: #SUM / #AVG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medidas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Como a medida é agregada ao agrupar.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@Semantics.calendar.yearMonth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MesCriacao, MesCadastro, MesSolicitacao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Mês AAAAMM tratado como período.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@Semantics.amount.currencyCode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ValorTotal, ValorMedio, ValorReembolso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Valores agregados com a moeda.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@ObjectModel.text.element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status, categoria, gênero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gráfico rotula com o texto, não com o código.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@UI.chart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qualifier, chartType, dimensions, measures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Cinco gráficos por domínio: #COLUMN, #BAR, #DONUT.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dimensionAttributes / measureAttributes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role #CATEGORY, role #AXIS_1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 papel de cada campo no gráfico.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22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@UI.presentationVariant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qualifier, sortOrder, maxItems, #AS_CHART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556B82"/>
                          </a:solidFill>
                        </a:rPr>
                        <a:t>Ordem de cada cenário; maxItems: 10 faz o top 10.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Core Data Services</dc:title>
  <dc:subject>Pedidos de Compras no SAP BTP ABAP Environment</dc:subject>
  <dc:creator>Adriano Bispo</dc:creator>
  <cp:lastModifiedBy>Adriano Bispo</cp:lastModifiedBy>
  <cp:revision>1</cp:revision>
  <dcterms:created xsi:type="dcterms:W3CDTF">2026-10-20T11:13:53Z</dcterms:created>
  <dcterms:modified xsi:type="dcterms:W3CDTF">2026-10-20T11:13:53Z</dcterms:modified>
</cp:coreProperties>
</file>