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9" r:id="rId5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  <Relationship Id="rId50" Type="http://schemas.openxmlformats.org/officeDocument/2006/relationships/slide" Target="slides/slide44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classes locais em ZBP_R_PC_CLIENTE. Validações: o rascunho padrão é válido e cada teste altera um campo para provar a validation. Endereço: CEPs já validados ficam no double, então a determination reaproveita o CEP sem chamar o ViaCEP. Exclusão: o precheck recusa cliente com pedido ativo ou em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204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19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24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17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CLIENTE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Cliente: do CPF à exclusão, 19 cenários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customer" descr="custo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49F9A"/>
                </a:solidFill>
              </a:rPr>
              <a:t>19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Validations conferidas pelo Activate do rascunho. CEPs já validados no double: nenhum teste chama o ViaCEP.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cliente_validacoes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cliente_validacoes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ltcl_cliente_validacoes</a:t>
            </a:r>
            <a:endParaRPr lang="pt-BR" sz="1050" dirty="0"/>
          </a:p>
        </p:txBody>
      </p:sp>
      <p:sp>
        <p:nvSpPr>
          <p:cNvPr id="25" name="Total ltcl_cliente_validacoes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11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válido passa no Prepare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com score de 0 a 100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Normaliza telefone e e-mail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com dígito verificador errado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já cadastrado em outro cliente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E-mail sem @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Telefone com 9 dígitos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Data de nascimento no futuro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fora da CodeList</a:t>
            </a:r>
            <a:endParaRPr lang="pt-BR" sz="1100" dirty="0"/>
          </a:p>
        </p:txBody>
      </p:sp>
      <p:sp>
        <p:nvSpPr>
          <p:cNvPr id="45" name="Aceit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506577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da CodeList é aceito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37667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GIF: só JPEG, PNG e WEBP</a:t>
            </a:r>
            <a:endParaRPr lang="pt-BR" sz="1100" dirty="0"/>
          </a:p>
        </p:txBody>
      </p:sp>
      <p:sp>
        <p:nvSpPr>
          <p:cNvPr id="49" name="Cartão ltcl_cliente_endereco"/>
          <p:cNvSpPr/>
          <p:nvPr/>
        </p:nvSpPr>
        <p:spPr>
          <a:xfrm>
            <a:off x="7421728" y="1645920"/>
            <a:ext cx="4221328" cy="24597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Classe ltcl_cliente_endereco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ltcl_cliente_endereco</a:t>
            </a:r>
            <a:endParaRPr lang="pt-BR" sz="1050" dirty="0"/>
          </a:p>
        </p:txBody>
      </p:sp>
      <p:sp>
        <p:nvSpPr>
          <p:cNvPr id="51" name="Total ltcl_cliente_enderec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5</a:t>
            </a:r>
            <a:endParaRPr lang="pt-BR" sz="105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Aceit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4" name="Cenário"/>
          <p:cNvSpPr txBox="1"/>
          <p:nvPr/>
        </p:nvSpPr>
        <p:spPr>
          <a:xfrm>
            <a:off x="7915504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conhecido preenche rua, cidade e UF</a:t>
            </a:r>
            <a:endParaRPr lang="pt-BR" sz="1100" dirty="0"/>
          </a:p>
        </p:txBody>
      </p:sp>
      <p:sp>
        <p:nvSpPr>
          <p:cNvPr id="55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6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Um único endereço principal</a:t>
            </a:r>
            <a:endParaRPr lang="pt-BR" sz="1100" dirty="0"/>
          </a:p>
        </p:txBody>
      </p:sp>
      <p:sp>
        <p:nvSpPr>
          <p:cNvPr id="57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incompleto fica inválido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repetido no mesmo cliente</a:t>
            </a:r>
            <a:endParaRPr lang="pt-BR" sz="1100" dirty="0"/>
          </a:p>
        </p:txBody>
      </p:sp>
      <p:sp>
        <p:nvSpPr>
          <p:cNvPr id="61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Endereço sem número</a:t>
            </a:r>
            <a:endParaRPr lang="pt-BR" sz="1100" dirty="0"/>
          </a:p>
        </p:txBody>
      </p:sp>
      <p:sp>
        <p:nvSpPr>
          <p:cNvPr id="63" name="Cartão ltcl_cliente_exclusao"/>
          <p:cNvSpPr/>
          <p:nvPr/>
        </p:nvSpPr>
        <p:spPr>
          <a:xfrm>
            <a:off x="7421728" y="4334256"/>
            <a:ext cx="4221328" cy="1837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Classe ltcl_cliente_exclusao"/>
          <p:cNvSpPr txBox="1"/>
          <p:nvPr/>
        </p:nvSpPr>
        <p:spPr>
          <a:xfrm>
            <a:off x="7604608" y="4480560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ltcl_cliente_exclusao</a:t>
            </a:r>
            <a:endParaRPr lang="pt-BR" sz="1050" dirty="0"/>
          </a:p>
        </p:txBody>
      </p:sp>
      <p:sp>
        <p:nvSpPr>
          <p:cNvPr id="65" name="Total ltcl_cliente_exclusao"/>
          <p:cNvSpPr/>
          <p:nvPr/>
        </p:nvSpPr>
        <p:spPr>
          <a:xfrm>
            <a:off x="11048695" y="4498848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3</a:t>
            </a:r>
            <a:endParaRPr lang="pt-BR" sz="1050" dirty="0"/>
          </a:p>
        </p:txBody>
      </p:sp>
      <p:cxnSp>
        <p:nvCxnSpPr>
          <p:cNvPr id="66" name="Separador"/>
          <p:cNvCxnSpPr/>
          <p:nvPr/>
        </p:nvCxnSpPr>
        <p:spPr>
          <a:xfrm>
            <a:off x="7604608" y="4864608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67" name="Aceita"/>
          <p:cNvSpPr/>
          <p:nvPr/>
        </p:nvSpPr>
        <p:spPr>
          <a:xfrm>
            <a:off x="7604608" y="501091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8" name="Cenário"/>
          <p:cNvSpPr txBox="1"/>
          <p:nvPr/>
        </p:nvSpPr>
        <p:spPr>
          <a:xfrm>
            <a:off x="7915504" y="495604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pedido é excluído</a:t>
            </a:r>
            <a:endParaRPr lang="pt-BR" sz="1100" dirty="0"/>
          </a:p>
        </p:txBody>
      </p:sp>
      <p:sp>
        <p:nvSpPr>
          <p:cNvPr id="69" name="Recusa"/>
          <p:cNvSpPr/>
          <p:nvPr/>
        </p:nvSpPr>
        <p:spPr>
          <a:xfrm>
            <a:off x="7604608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0" name="Cenário"/>
          <p:cNvSpPr txBox="1"/>
          <p:nvPr/>
        </p:nvSpPr>
        <p:spPr>
          <a:xfrm>
            <a:off x="7915504" y="526694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ativo</a:t>
            </a:r>
            <a:endParaRPr lang="pt-BR" sz="1100" dirty="0"/>
          </a:p>
        </p:txBody>
      </p:sp>
      <p:sp>
        <p:nvSpPr>
          <p:cNvPr id="71" name="Recusa"/>
          <p:cNvSpPr/>
          <p:nvPr/>
        </p:nvSpPr>
        <p:spPr>
          <a:xfrm>
            <a:off x="7604608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2" name="Cenário"/>
          <p:cNvSpPr txBox="1"/>
          <p:nvPr/>
        </p:nvSpPr>
        <p:spPr>
          <a:xfrm>
            <a:off x="7915504" y="557784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em rascunho</a:t>
            </a:r>
            <a:endParaRPr lang="pt-BR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