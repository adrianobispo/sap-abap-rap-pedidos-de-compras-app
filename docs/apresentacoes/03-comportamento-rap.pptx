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ad9e9fb-2d6e-163a-d369-fa1f34b27a93}">
          <p14:sldIdLst>
            <p14:sldId id="256"/>
            <p14:sldId id="257"/>
            <p14:sldId id="258"/>
          </p14:sldIdLst>
        </p14:section>
        <p14:section name="Draft e regras" id="{33a01279-f201-9a54-0aeb-520d6314d20a}">
          <p14:sldIdLst>
            <p14:sldId id="259"/>
            <p14:sldId id="260"/>
            <p14:sldId id="261"/>
            <p14:sldId id="262"/>
          </p14:sldIdLst>
        </p14:section>
        <p14:section name="Integração entre BOs" id="{e3b3d2a7-3da3-77ce-e21a-29dc83863eea}">
          <p14:sldIdLst>
            <p14:sldId id="263"/>
            <p14:sldId id="264"/>
            <p14:sldId id="265"/>
          </p14:sldIdLst>
        </p14:section>
        <p14:section name="Segurança e dados" id="{9db8519b-b040-23cd-b5b9-d85422475c3f}">
          <p14:sldIdLst>
            <p14:sldId id="266"/>
            <p14:sldId id="267"/>
            <p14:sldId id="268"/>
          </p14:sldIdLst>
        </p14:section>
        <p14:section name="Encerramento" id="{87d74d36-b929-6e90-4af2-c5901969785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etapa. As views de BO ganham comportamento: o que pode ser criado e alterado, quando cada regra roda, quais ações existem e como os BOs conversam entre si por EML.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cabeçalho da BDEF escolhe o tipo de implementação (managed: o framework grava as tabelas), a versão estrita da sintaxe e o draft. Cada entidade declara tabela, ETag, bloqueio e autorização; o código das regras fica na classe ZBP_R_PC_PEDIDO.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concentra a maior parte da lógica: sete determinations, ações de ciclo de vida e a orquestração dos outros BOs. O Reembolso é o mais enxuto: só duas ações de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Criar ou editar gera uma instância draft. Ao salvar, o Prepare roda as validations; se passarem, o Activate copia o rascunho para a tabela ativa. No Pedido, o Activate tem implementação adicional: é ali que o estoque é reservado.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Determinations on modify rodam na fase de interação, a cada alteração; on save, logo antes de gravar. Validations sempre rodam no save (ou no Prepare do draft) e só reportam erros. A numeração do pedido foi para on modify para não violar a fase de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get_instance_features calcula, por instância, quais operações estão habilitadas. Disponibilidade por status é feature control, não autorização: o botão simplesmente fica desabilitado.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feliz na linha de cima: salvar, pagar e aprovar. Cancelar um pedido com pagamento aprovado não cancela direto: abre um reembolso, que pode ser aprovado (cancela e devolve) ou rejeitado (o pedido volta ao status anterior).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não grava a tabela de estoque: executa as actions ReservarEstoque, LiberarReserva e BaixarEstoque do BO Item por EML. Se o item estiver em edição por outro usuário, a chamada falha e o pedido recebe ITEM_ESTOQUE_CONCORRENTE. O Reembolso, por sua vez, chama CancelarPorReembolso e RetomarPedido no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CEP é um campo comum do Fiori Elements. A determination PreencherEnderecoViaCep reaproveita CEPs já cadastrados e só chama o ViaCEP para CEPs novos; os side effects recarregam os campos na tela. No save, ValidarCep e ValidarCepUnico decidem.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effects dizem ao Fiori Elements o que recarregar depois de uma alteração ou ação, sem o usuário atualizar a página. O precheck da associação _Itens barra a inclusão de um item sem estoque antes de qualquer determination rodar.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autorização é global (por operação, não por instância). ZCL_PC_AUTH concentra os AUTHORITY-CHECK; no trial compartilhado, c_modo_trial = abap_true libera tudo porque não é possível manter Business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action estática ImportarPlanilha, com parâmetro deep, recebe um .xlsx ou .csv e cria instâncias ativas por EML. Valem todas as determinations e validations: CPF único, ViaCEP, numeração, reserva de estoque. Se uma linha falhar, nada é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classes de teste ficam no sistema e no repositório. Os testes de integração semeiam os próprios dados por INSERT (o ABAP Unit desfaz) e os de persistência usam test doubles de CDS e de SQL para poder executar COMMIT ENTITIES.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Recapitule: BDEF declara e behavior pool implementa; draft com Prepare e Activate; determinations calculam e validations barram; o status habilita as ações; EML integra os BOs. Na próxima etapa os BOs viram serviços OData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Pedidos de Compras · SAP RAP / ABAP Cloud  ·  Etapa 3 de 5 — Comportamento RAP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9B4B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3 DE 5 · PEDIDOS DE COMPRAS NO SAP BTP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Comportamento RAP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Behavior definitions, draft, determinations, validations, actions e EML: as regras de negócio dos quatro BOs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BEHAVIOR DEFINITION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BDEF declara; a behavior pool implementa</a:t>
            </a:r>
            <a:endParaRPr lang="en-US" sz="3000" dirty="0"/>
          </a:p>
        </p:txBody>
      </p:sp>
      <p:sp>
        <p:nvSpPr>
          <p:cNvPr id="5" name="Código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2020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ZR_PC_PEDIDO.bdef.asbdef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2066544"/>
            <a:ext cx="5943600" cy="0"/>
          </a:xfrm>
          <a:prstGeom prst="line">
            <a:avLst/>
          </a:prstGeom>
          <a:noFill/>
          <a:ln w="12700">
            <a:solidFill>
              <a:srgbClr val="2E3A46"/>
            </a:solidFill>
            <a:prstDash val="solid"/>
          </a:ln>
        </p:spPr>
      </p:sp>
      <p:sp>
        <p:nvSpPr>
          <p:cNvPr id="8" name="Trecho de código"/>
          <p:cNvSpPr txBox="1"/>
          <p:nvPr/>
        </p:nvSpPr>
        <p:spPr>
          <a:xfrm>
            <a:off x="777240" y="2157984"/>
            <a:ext cx="594360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9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zta_pc_pedido_d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precheck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artão"/>
          <p:cNvSpPr/>
          <p:nvPr/>
        </p:nvSpPr>
        <p:spPr>
          <a:xfrm>
            <a:off x="7223760" y="1645920"/>
            <a:ext cx="4419295" cy="4526280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184708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139696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RAP faz o CRUD nas tabelas; o código cuida só das regras.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69748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( 2 )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2990088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Checagens mais rígidas de sintaxe e boas práticas do ABAP Cloud.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54787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draft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84048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Rascunhos persistidos em ZTA_*_D até o usuário salvar.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439826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 / lock master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4690872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Concorrência otimista (ETag) e bloqueio do BO inteiro pelo root.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524865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: instance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5541264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Disponibilidade calculada por instância (feature control).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BUSINESS OBJECTS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BOs, quatro perfis de comportamento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602154" cy="45262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customer"/>
          <p:cNvSpPr/>
          <p:nvPr/>
        </p:nvSpPr>
        <p:spPr>
          <a:xfrm>
            <a:off x="77724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6032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Cliente + Endereço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880360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ZBP_R_PC_CLIENTE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9F9A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33756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determinations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9F9A"/>
                </a:solidFill>
              </a:rPr>
              <a:t>10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84048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validations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343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9F9A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434340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actions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937760"/>
            <a:ext cx="214495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5047488"/>
            <a:ext cx="21449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ViaCEP, CPF, e-mail, telefone, foto, CEP único, endereço principal</a:t>
            </a:r>
            <a:endParaRPr lang="en-US" sz="1150" dirty="0"/>
          </a:p>
        </p:txBody>
      </p:sp>
      <p:sp>
        <p:nvSpPr>
          <p:cNvPr id="18" name="Cartão"/>
          <p:cNvSpPr/>
          <p:nvPr/>
        </p:nvSpPr>
        <p:spPr>
          <a:xfrm>
            <a:off x="3379394" y="1645920"/>
            <a:ext cx="2602154" cy="45262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9" name="Ícone product"/>
          <p:cNvSpPr/>
          <p:nvPr/>
        </p:nvSpPr>
        <p:spPr>
          <a:xfrm>
            <a:off x="3607994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0" name="Image 1" descr="produ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67" y="200619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607994" y="256032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Item de estoque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607994" y="2880360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ZBP_R_PC_ITEM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607994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B00"/>
                </a:solidFill>
              </a:rPr>
              <a:t>3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4156634" y="333756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determinations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3607994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B00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4156634" y="384048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validations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3607994" y="4343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B00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4156634" y="434340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actions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607994" y="4937760"/>
            <a:ext cx="214495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07994" y="5047488"/>
            <a:ext cx="21449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SKU no save, status do estoque, reservar, liberar e baixar</a:t>
            </a:r>
            <a:endParaRPr lang="en-US" sz="1150" dirty="0"/>
          </a:p>
        </p:txBody>
      </p:sp>
      <p:sp>
        <p:nvSpPr>
          <p:cNvPr id="31" name="Cartão"/>
          <p:cNvSpPr/>
          <p:nvPr/>
        </p:nvSpPr>
        <p:spPr>
          <a:xfrm>
            <a:off x="6210148" y="1645920"/>
            <a:ext cx="2602154" cy="45262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2" name="Ícone sales-order"/>
          <p:cNvSpPr/>
          <p:nvPr/>
        </p:nvSpPr>
        <p:spPr>
          <a:xfrm>
            <a:off x="6438748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3" name="Image 2" descr="sales-or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21" y="2006194"/>
            <a:ext cx="285293" cy="285293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438748" y="256032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Pedido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438748" y="2880360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ZBP_R_PC_PEDIDO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438748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7</a:t>
            </a:r>
            <a:endParaRPr lang="en-US" sz="2400" dirty="0"/>
          </a:p>
        </p:txBody>
      </p:sp>
      <p:sp>
        <p:nvSpPr>
          <p:cNvPr id="37" name="Text 31"/>
          <p:cNvSpPr txBox="1"/>
          <p:nvPr/>
        </p:nvSpPr>
        <p:spPr>
          <a:xfrm>
            <a:off x="6987388" y="333756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determinations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6438748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3</a:t>
            </a:r>
            <a:endParaRPr lang="en-US" sz="2400" dirty="0"/>
          </a:p>
        </p:txBody>
      </p:sp>
      <p:sp>
        <p:nvSpPr>
          <p:cNvPr id="39" name="Text 33"/>
          <p:cNvSpPr txBox="1"/>
          <p:nvPr/>
        </p:nvSpPr>
        <p:spPr>
          <a:xfrm>
            <a:off x="6987388" y="384048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validations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6438748" y="4343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F2"/>
                </a:solidFill>
              </a:rPr>
              <a:t>7</a:t>
            </a:r>
            <a:endParaRPr lang="en-US" sz="2400" dirty="0"/>
          </a:p>
        </p:txBody>
      </p:sp>
      <p:sp>
        <p:nvSpPr>
          <p:cNvPr id="41" name="Text 35"/>
          <p:cNvSpPr txBox="1"/>
          <p:nvPr/>
        </p:nvSpPr>
        <p:spPr>
          <a:xfrm>
            <a:off x="6987388" y="434340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actions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6438748" y="4937760"/>
            <a:ext cx="214495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438748" y="5047488"/>
            <a:ext cx="21449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Numeração, total, reserva, pagamento, aprovação, cancelamento</a:t>
            </a:r>
            <a:endParaRPr lang="en-US" sz="1150" dirty="0"/>
          </a:p>
        </p:txBody>
      </p:sp>
      <p:sp>
        <p:nvSpPr>
          <p:cNvPr id="44" name="Cartão"/>
          <p:cNvSpPr/>
          <p:nvPr/>
        </p:nvSpPr>
        <p:spPr>
          <a:xfrm>
            <a:off x="9040901" y="1645920"/>
            <a:ext cx="2602154" cy="452628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5" name="Ícone money-bills"/>
          <p:cNvSpPr/>
          <p:nvPr/>
        </p:nvSpPr>
        <p:spPr>
          <a:xfrm>
            <a:off x="9269501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46" name="Image 3" descr="money-bil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175" y="2006194"/>
            <a:ext cx="285293" cy="285293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269501" y="2560320"/>
            <a:ext cx="21449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Reembolso</a:t>
            </a:r>
            <a:endParaRPr lang="en-US" sz="1600" dirty="0"/>
          </a:p>
        </p:txBody>
      </p:sp>
      <p:sp>
        <p:nvSpPr>
          <p:cNvPr id="48" name="Text 41"/>
          <p:cNvSpPr txBox="1"/>
          <p:nvPr/>
        </p:nvSpPr>
        <p:spPr>
          <a:xfrm>
            <a:off x="9269501" y="2880360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ZBP_R_PC_REEMBOLSO</a:t>
            </a:r>
            <a:endParaRPr lang="en-US" sz="1050" dirty="0"/>
          </a:p>
        </p:txBody>
      </p:sp>
      <p:sp>
        <p:nvSpPr>
          <p:cNvPr id="49" name="Text 42"/>
          <p:cNvSpPr txBox="1"/>
          <p:nvPr/>
        </p:nvSpPr>
        <p:spPr>
          <a:xfrm>
            <a:off x="9269501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D9D9"/>
                </a:solidFill>
              </a:rPr>
              <a:t>0</a:t>
            </a:r>
            <a:endParaRPr lang="en-US" sz="2400" dirty="0"/>
          </a:p>
        </p:txBody>
      </p:sp>
      <p:sp>
        <p:nvSpPr>
          <p:cNvPr id="50" name="Text 43"/>
          <p:cNvSpPr txBox="1"/>
          <p:nvPr/>
        </p:nvSpPr>
        <p:spPr>
          <a:xfrm>
            <a:off x="9818141" y="333756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determinations</a:t>
            </a:r>
            <a:endParaRPr lang="en-US" sz="1250" dirty="0"/>
          </a:p>
        </p:txBody>
      </p:sp>
      <p:sp>
        <p:nvSpPr>
          <p:cNvPr id="51" name="Text 44"/>
          <p:cNvSpPr txBox="1"/>
          <p:nvPr/>
        </p:nvSpPr>
        <p:spPr>
          <a:xfrm>
            <a:off x="9269501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D9D9"/>
                </a:solidFill>
              </a:rPr>
              <a:t>0</a:t>
            </a:r>
            <a:endParaRPr lang="en-US" sz="2400" dirty="0"/>
          </a:p>
        </p:txBody>
      </p:sp>
      <p:sp>
        <p:nvSpPr>
          <p:cNvPr id="52" name="Text 45"/>
          <p:cNvSpPr txBox="1"/>
          <p:nvPr/>
        </p:nvSpPr>
        <p:spPr>
          <a:xfrm>
            <a:off x="9818141" y="384048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validations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9269501" y="4343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1278"/>
                </a:solidFill>
              </a:rPr>
              <a:t>2</a:t>
            </a:r>
            <a:endParaRPr lang="en-US" sz="2400" dirty="0"/>
          </a:p>
        </p:txBody>
      </p:sp>
      <p:sp>
        <p:nvSpPr>
          <p:cNvPr id="54" name="Text 47"/>
          <p:cNvSpPr txBox="1"/>
          <p:nvPr/>
        </p:nvSpPr>
        <p:spPr>
          <a:xfrm>
            <a:off x="9818141" y="434340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actions</a:t>
            </a:r>
            <a:endParaRPr lang="en-US" sz="1250" dirty="0"/>
          </a:p>
        </p:txBody>
      </p:sp>
      <p:sp>
        <p:nvSpPr>
          <p:cNvPr id="55" name="Shape 48"/>
          <p:cNvSpPr/>
          <p:nvPr/>
        </p:nvSpPr>
        <p:spPr>
          <a:xfrm>
            <a:off x="9269501" y="4937760"/>
            <a:ext cx="2144954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269501" y="5047488"/>
            <a:ext cx="21449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Aprovar ou rejeitar a solicitação, sem draft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DRAFT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rascunho só vira dado ativo depois do Prepare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Create / Edit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usuário inicia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46120" y="20116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1F4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Instância draft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ZTA_PC_PEDIDO_D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200" y="20116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FFF3B8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Prepare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validations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23960" y="2011680"/>
            <a:ext cx="2816352" cy="1097280"/>
          </a:xfrm>
          <a:prstGeom prst="roundRect">
            <a:avLst>
              <a:gd name="adj" fmla="val 10000"/>
            </a:avLst>
          </a:prstGeom>
          <a:solidFill>
            <a:srgbClr val="0070F2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Activate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9FF"/>
                </a:solidFill>
              </a:rPr>
              <a:t>instância ativa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651760" y="2560320"/>
            <a:ext cx="59436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623560" y="2560320"/>
            <a:ext cx="54864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275320" y="2560320"/>
            <a:ext cx="54864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2461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Discard descarta · Resume retoma um rascunho bloqueado</a:t>
            </a:r>
            <a:endParaRPr lang="en-US" sz="1100" dirty="0"/>
          </a:p>
        </p:txBody>
      </p:sp>
      <p:sp>
        <p:nvSpPr>
          <p:cNvPr id="13" name="Código"/>
          <p:cNvSpPr/>
          <p:nvPr/>
        </p:nvSpPr>
        <p:spPr>
          <a:xfrm>
            <a:off x="548640" y="3749040"/>
            <a:ext cx="5852160" cy="2423160"/>
          </a:xfrm>
          <a:prstGeom prst="roundRect">
            <a:avLst>
              <a:gd name="adj" fmla="val 3774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recho de código"/>
          <p:cNvSpPr txBox="1"/>
          <p:nvPr/>
        </p:nvSpPr>
        <p:spPr>
          <a:xfrm>
            <a:off x="777240" y="3895344"/>
            <a:ext cx="5394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ValidarCliente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ValidarItemPedido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ValidarRegistro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Cartão"/>
          <p:cNvSpPr/>
          <p:nvPr/>
        </p:nvSpPr>
        <p:spPr>
          <a:xfrm>
            <a:off x="6629400" y="3749040"/>
            <a:ext cx="5013655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shipping-status"/>
          <p:cNvSpPr/>
          <p:nvPr/>
        </p:nvSpPr>
        <p:spPr>
          <a:xfrm>
            <a:off x="6858000" y="3950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7" name="Image 0" descr="shipping-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405993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0" y="3950208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Activate com implementação adicional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572000"/>
            <a:ext cx="4556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Save do rascunho registra o pedido como ABERTO e a determination ReservarEstoqueRegistro reserva o estoque; ao editar itens de um pedido aberto, só a diferença é reservada ou liberada.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REGRAS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Determinations calculam, validations barram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edit"/>
          <p:cNvSpPr/>
          <p:nvPr/>
        </p:nvSpPr>
        <p:spPr>
          <a:xfrm>
            <a:off x="777240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7" name="Image 0" descr="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568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modify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89888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fase de interação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DefinirStatusInicial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status ABERTO na criação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GerarNumeroPedido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número via ZPC_NR (early)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AtualizarEndereco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endereço principal do cliente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PreencherEnderecoViaCep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logradouro, bairro, cidade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ReservarEstoqueRegistro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5577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reserva pela diferença</a:t>
            </a:r>
            <a:endParaRPr lang="en-US" sz="1150" dirty="0"/>
          </a:p>
        </p:txBody>
      </p:sp>
      <p:sp>
        <p:nvSpPr>
          <p:cNvPr id="20" name="Cartão"/>
          <p:cNvSpPr/>
          <p:nvPr/>
        </p:nvSpPr>
        <p:spPr>
          <a:xfrm>
            <a:off x="4315968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ave"/>
          <p:cNvSpPr/>
          <p:nvPr/>
        </p:nvSpPr>
        <p:spPr>
          <a:xfrm>
            <a:off x="454456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22" name="Image 1" descr="s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5681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57216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save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157216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antes de gravar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544568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CalcularTotalPedido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4544568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soma dos itens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454456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GerarSku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4544568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SKU-ELE-0000000001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4544568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ouro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4544568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nada de HTTP ou GET NUMBER sem buffer no save</a:t>
            </a:r>
            <a:endParaRPr lang="en-US" sz="1150" dirty="0"/>
          </a:p>
        </p:txBody>
      </p:sp>
      <p:sp>
        <p:nvSpPr>
          <p:cNvPr id="31" name="Cartão"/>
          <p:cNvSpPr/>
          <p:nvPr/>
        </p:nvSpPr>
        <p:spPr>
          <a:xfrm>
            <a:off x="8083296" y="1645920"/>
            <a:ext cx="3559759" cy="45262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2" name="Ícone status-error"/>
          <p:cNvSpPr/>
          <p:nvPr/>
        </p:nvSpPr>
        <p:spPr>
          <a:xfrm>
            <a:off x="831189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33" name="Image 2" descr="status-err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956816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924544" y="1828800"/>
            <a:ext cx="2553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validations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924544" y="2103120"/>
            <a:ext cx="2553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on save / Prepare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8311896" y="256032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ValidarCpf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8311896" y="283464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dígitos e unicidade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8311896" y="324612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ValidarCep / ValidarCepUnico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8311896" y="352044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ViaCEP e CEP por cliente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8311896" y="393192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ValidarRegistro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8311896" y="420624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endereço, itens, estoque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8311896" y="461772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ValidarItemPedido</a:t>
            </a:r>
            <a:endParaRPr lang="en-US" sz="1150" dirty="0"/>
          </a:p>
        </p:txBody>
      </p:sp>
      <p:sp>
        <p:nvSpPr>
          <p:cNvPr id="43" name="Text 37"/>
          <p:cNvSpPr txBox="1"/>
          <p:nvPr/>
        </p:nvSpPr>
        <p:spPr>
          <a:xfrm>
            <a:off x="8311896" y="489204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item ativo e quantidade</a:t>
            </a:r>
            <a:endParaRPr lang="en-US" sz="1150" dirty="0"/>
          </a:p>
        </p:txBody>
      </p:sp>
      <p:sp>
        <p:nvSpPr>
          <p:cNvPr id="44" name="Text 38"/>
          <p:cNvSpPr txBox="1"/>
          <p:nvPr/>
        </p:nvSpPr>
        <p:spPr>
          <a:xfrm>
            <a:off x="8311896" y="530352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ValidarSkuUnico</a:t>
            </a:r>
            <a:endParaRPr lang="en-US" sz="1150" dirty="0"/>
          </a:p>
        </p:txBody>
      </p:sp>
      <p:sp>
        <p:nvSpPr>
          <p:cNvPr id="45" name="Text 39"/>
          <p:cNvSpPr txBox="1"/>
          <p:nvPr/>
        </p:nvSpPr>
        <p:spPr>
          <a:xfrm>
            <a:off x="8311896" y="557784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SKU sem repetição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FEATURE CONTROL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status decide quais botões ficam ativos</a:t>
            </a:r>
            <a:endParaRPr lang="en-US" sz="3000" dirty="0"/>
          </a:p>
        </p:txBody>
      </p:sp>
      <p:sp>
        <p:nvSpPr>
          <p:cNvPr id="5" name="Código"/>
          <p:cNvSpPr/>
          <p:nvPr/>
        </p:nvSpPr>
        <p:spPr>
          <a:xfrm>
            <a:off x="548640" y="1645920"/>
            <a:ext cx="6583680" cy="4526280"/>
          </a:xfrm>
          <a:prstGeom prst="roundRect">
            <a:avLst>
              <a:gd name="adj" fmla="val 2020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ZBP_R_PC_PEDIDO · get_instance_features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2066544"/>
            <a:ext cx="6126480" cy="0"/>
          </a:xfrm>
          <a:prstGeom prst="line">
            <a:avLst/>
          </a:prstGeom>
          <a:noFill/>
          <a:ln w="12700">
            <a:solidFill>
              <a:srgbClr val="2E3A46"/>
            </a:solidFill>
            <a:prstDash val="solid"/>
          </a:ln>
        </p:spPr>
      </p:sp>
      <p:sp>
        <p:nvSpPr>
          <p:cNvPr id="8" name="Trecho de código"/>
          <p:cNvSpPr txBox="1"/>
          <p:nvPr/>
        </p:nvSpPr>
        <p:spPr>
          <a:xfrm>
            <a:off x="777240" y="2157984"/>
            <a:ext cx="612648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lt_pedidos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l_ativo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xsdbool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is_draft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mk-off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l_aberto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xsdbool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p-StatusPedido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c_status_pedido-aberto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 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action-Edit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l_ativo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l_aberto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l_off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action-SimularPagamento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l_ativo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l_aberto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l_off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%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action-AprovarPedido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l_ativo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l_ag_apr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l_off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) ).</a:t>
            </a:r>
            <a:endParaRPr lang="en-US" sz="1000" dirty="0"/>
          </a:p>
        </p:txBody>
      </p:sp>
      <p:sp>
        <p:nvSpPr>
          <p:cNvPr id="9" name="Fundo da tabela"/>
          <p:cNvSpPr/>
          <p:nvPr/>
        </p:nvSpPr>
        <p:spPr>
          <a:xfrm>
            <a:off x="7315200" y="1645920"/>
            <a:ext cx="4325112" cy="296265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55648"/>
          <a:ext cx="4050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66928"/>
                <a:gridCol w="566928"/>
                <a:gridCol w="749808"/>
                <a:gridCol w="749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Editar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Pagar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Aprovar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Cancelar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Aberto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Aguardando aprov.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Proc. reembolso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Finalizado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Cancelado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artão"/>
          <p:cNvSpPr/>
          <p:nvPr/>
        </p:nvSpPr>
        <p:spPr>
          <a:xfrm>
            <a:off x="7315200" y="4709160"/>
            <a:ext cx="4325112" cy="1463040"/>
          </a:xfrm>
          <a:prstGeom prst="roundRect">
            <a:avLst>
              <a:gd name="adj" fmla="val 7500"/>
            </a:avLst>
          </a:prstGeom>
          <a:solidFill>
            <a:srgbClr val="E1F4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543800" y="48463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Itens só entram no rascunho; o pedido ativo nunca é excluído, só cancelado. Ações de ciclo de vida exigem a instância ativa.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CICLO DE VIDA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Cinco status e as ações que movem o pedido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6" name="Text 3"/>
          <p:cNvSpPr/>
          <p:nvPr/>
        </p:nvSpPr>
        <p:spPr>
          <a:xfrm>
            <a:off x="1417320" y="205740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74920" y="205740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 w="19050">
            <a:solidFill>
              <a:srgbClr val="F5D7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3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AGUARDANDO_APROVACAO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205740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 w="19050">
            <a:solidFill>
              <a:srgbClr val="B5D99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475488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 w="19050">
            <a:solidFill>
              <a:srgbClr val="F5B5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4920" y="475488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 w="19050">
            <a:solidFill>
              <a:srgbClr val="F5D7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3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PROCESSANDO_REEMBOLSO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23160"/>
            <a:ext cx="59436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57200" y="1737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Salvar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69080" y="2423160"/>
            <a:ext cx="100584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84048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Pagamento aprovado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26680" y="2423160"/>
            <a:ext cx="1051560" cy="0"/>
          </a:xfrm>
          <a:prstGeom prst="line">
            <a:avLst/>
          </a:prstGeom>
          <a:noFill/>
          <a:ln w="19050">
            <a:solidFill>
              <a:srgbClr val="256F3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589520" y="16459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Aprovar pedido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0" y="2788920"/>
            <a:ext cx="0" cy="1965960"/>
          </a:xfrm>
          <a:prstGeom prst="line">
            <a:avLst/>
          </a:prstGeom>
          <a:noFill/>
          <a:ln w="19050">
            <a:solidFill>
              <a:srgbClr val="AA0808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1783080" y="3657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Cancelar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flipH="1">
            <a:off x="3840480" y="2788920"/>
            <a:ext cx="1554480" cy="1965960"/>
          </a:xfrm>
          <a:prstGeom prst="line">
            <a:avLst/>
          </a:prstGeom>
          <a:noFill/>
          <a:ln w="19050">
            <a:solidFill>
              <a:srgbClr val="AA0808"/>
            </a:solidFill>
            <a:prstDash val="dash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88036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Cancelar sem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pagamento aprovado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75120" y="2788920"/>
            <a:ext cx="0" cy="1965960"/>
          </a:xfrm>
          <a:prstGeom prst="line">
            <a:avLst/>
          </a:prstGeom>
          <a:noFill/>
          <a:ln w="19050">
            <a:solidFill>
              <a:srgbClr val="A93E0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7665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Cancelar com pagamento aprovado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 flipV="1">
            <a:off x="6035040" y="2788920"/>
            <a:ext cx="0" cy="1965960"/>
          </a:xfrm>
          <a:prstGeom prst="line">
            <a:avLst/>
          </a:prstGeom>
          <a:noFill/>
          <a:ln w="19050">
            <a:solidFill>
              <a:srgbClr val="256F3A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166360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Rejeitar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reembolso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 flipH="1">
            <a:off x="4069080" y="5120640"/>
            <a:ext cx="1005840" cy="0"/>
          </a:xfrm>
          <a:prstGeom prst="line">
            <a:avLst/>
          </a:prstGeom>
          <a:noFill/>
          <a:ln w="19050">
            <a:solidFill>
              <a:srgbClr val="AA0808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3840480" y="5532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Aprovar reembolso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Editar itens · pagamento recusado (continua aberto)</a:t>
            </a:r>
            <a:endParaRPr lang="en-US" sz="1100" dirty="0"/>
          </a:p>
        </p:txBody>
      </p:sp>
      <p:sp>
        <p:nvSpPr>
          <p:cNvPr id="28" name="Cartão"/>
          <p:cNvSpPr/>
          <p:nvPr/>
        </p:nvSpPr>
        <p:spPr>
          <a:xfrm>
            <a:off x="8778240" y="3794760"/>
            <a:ext cx="2864815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006840" y="397764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 do pagamento</a:t>
            </a:r>
            <a:endParaRPr lang="en-US" sz="1300" dirty="0"/>
          </a:p>
        </p:txBody>
      </p:sp>
      <p:sp>
        <p:nvSpPr>
          <p:cNvPr id="30" name="Status PENDENTE"/>
          <p:cNvSpPr/>
          <p:nvPr/>
        </p:nvSpPr>
        <p:spPr>
          <a:xfrm>
            <a:off x="9006840" y="43891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3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PENDENTE</a:t>
            </a:r>
            <a:endParaRPr lang="en-US" sz="1050" dirty="0"/>
          </a:p>
        </p:txBody>
      </p:sp>
      <p:sp>
        <p:nvSpPr>
          <p:cNvPr id="31" name="Status APROVADO"/>
          <p:cNvSpPr/>
          <p:nvPr/>
        </p:nvSpPr>
        <p:spPr>
          <a:xfrm>
            <a:off x="9006840" y="479145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050" dirty="0"/>
          </a:p>
        </p:txBody>
      </p:sp>
      <p:sp>
        <p:nvSpPr>
          <p:cNvPr id="32" name="Status RECUSADO"/>
          <p:cNvSpPr/>
          <p:nvPr/>
        </p:nvSpPr>
        <p:spPr>
          <a:xfrm>
            <a:off x="9006840" y="51937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RECUSADO</a:t>
            </a:r>
            <a:endParaRPr lang="en-US" sz="1050" dirty="0"/>
          </a:p>
        </p:txBody>
      </p:sp>
      <p:sp>
        <p:nvSpPr>
          <p:cNvPr id="33" name="Status DEVOLVIDO"/>
          <p:cNvSpPr/>
          <p:nvPr/>
        </p:nvSpPr>
        <p:spPr>
          <a:xfrm>
            <a:off x="9006840" y="55961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DEVOLVIDO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424160" y="4389120"/>
            <a:ext cx="1036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DEVOLVIDO quando o reembolso é aprovado.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EML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BOs conversam por EML, na mesma transação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money-bills"/>
          <p:cNvSpPr/>
          <p:nvPr/>
        </p:nvSpPr>
        <p:spPr>
          <a:xfrm>
            <a:off x="749808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3312" y="1892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BO Reembolso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AprovarReembolso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RejeitarReembolso</a:t>
            </a:r>
            <a:endParaRPr lang="en-US" sz="1000" dirty="0"/>
          </a:p>
        </p:txBody>
      </p:sp>
      <p:sp>
        <p:nvSpPr>
          <p:cNvPr id="10" name="Cartão"/>
          <p:cNvSpPr/>
          <p:nvPr/>
        </p:nvSpPr>
        <p:spPr>
          <a:xfrm>
            <a:off x="548640" y="32918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sales-order"/>
          <p:cNvSpPr/>
          <p:nvPr/>
        </p:nvSpPr>
        <p:spPr>
          <a:xfrm>
            <a:off x="749808" y="34930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1" descr="sales-or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602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53312" y="3493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BO Pedido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ReservarEstoqueRegistro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548640" y="48920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product"/>
          <p:cNvSpPr/>
          <p:nvPr/>
        </p:nvSpPr>
        <p:spPr>
          <a:xfrm>
            <a:off x="749808" y="5093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7" name="Image 2" descr="produ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2029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53312" y="5093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BO Item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49808" y="5623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 · LiberarReserva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BaixarEstoque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1463040" y="2880360"/>
            <a:ext cx="0" cy="411480"/>
          </a:xfrm>
          <a:prstGeom prst="line">
            <a:avLst/>
          </a:prstGeom>
          <a:noFill/>
          <a:ln w="25400">
            <a:solidFill>
              <a:srgbClr val="DF1278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 flipV="1">
            <a:off x="2468880" y="2880360"/>
            <a:ext cx="0" cy="41148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1965960" y="4480560"/>
            <a:ext cx="0" cy="41148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3" name="Código"/>
          <p:cNvSpPr/>
          <p:nvPr/>
        </p:nvSpPr>
        <p:spPr>
          <a:xfrm>
            <a:off x="3703320" y="1691640"/>
            <a:ext cx="7939735" cy="4480560"/>
          </a:xfrm>
          <a:prstGeom prst="roundRect">
            <a:avLst>
              <a:gd name="adj" fmla="val 2041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3931920" y="1801368"/>
            <a:ext cx="7482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ZBP_R_PC_PEDIDO.clas.locals_imp.abap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931920" y="2112264"/>
            <a:ext cx="7482535" cy="0"/>
          </a:xfrm>
          <a:prstGeom prst="line">
            <a:avLst/>
          </a:prstGeom>
          <a:noFill/>
          <a:ln w="12700">
            <a:solidFill>
              <a:srgbClr val="2E3A46"/>
            </a:solidFill>
            <a:prstDash val="solid"/>
          </a:ln>
        </p:spPr>
      </p:sp>
      <p:sp>
        <p:nvSpPr>
          <p:cNvPr id="26" name="Trecho de código"/>
          <p:cNvSpPr txBox="1"/>
          <p:nvPr/>
        </p:nvSpPr>
        <p:spPr>
          <a:xfrm>
            <a:off x="3931920" y="2203704"/>
            <a:ext cx="7482535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Reserva, liberação ou baixa no BO Item (mesma LUW)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iv_acao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c_mov-reservar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it_qtde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(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q-item_uuid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%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param-Quantidade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q-qtde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ls_failed_item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ls_reported_item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c_mov-liberar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LiberarReserva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Repassa as mensagens do BO Item para o pedido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INTEGRAÇÃO EXTERNA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Endereço preenchido pelo ViaCEP, sem código no front-end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11094415" cy="3349379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Fluxograma do endereço e da consulta de C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10948111" cy="3203075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548640" y="5166360"/>
            <a:ext cx="354573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chain-link"/>
          <p:cNvSpPr/>
          <p:nvPr/>
        </p:nvSpPr>
        <p:spPr>
          <a:xfrm>
            <a:off x="731520" y="53492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9" name="Image 1" descr="chain-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70" y="5450190"/>
            <a:ext cx="218724" cy="2187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52852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cl_http_destination_provider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5559552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create_by_url no trial; em produção, Communication Arrangement.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4322978" y="5166360"/>
            <a:ext cx="354573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history"/>
          <p:cNvSpPr/>
          <p:nvPr/>
        </p:nvSpPr>
        <p:spPr>
          <a:xfrm>
            <a:off x="4505858" y="53492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2" descr="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08" y="5450190"/>
            <a:ext cx="218724" cy="2187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54498" y="52852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Cache de 100 CEPs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5054498" y="5559552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Evita chamadas repetidas na mesma sessão; cliente HTTP sempre fechado.</a:t>
            </a:r>
            <a:endParaRPr lang="en-US" sz="1100" dirty="0"/>
          </a:p>
        </p:txBody>
      </p:sp>
      <p:sp>
        <p:nvSpPr>
          <p:cNvPr id="17" name="Cartão"/>
          <p:cNvSpPr/>
          <p:nvPr/>
        </p:nvSpPr>
        <p:spPr>
          <a:xfrm>
            <a:off x="8097317" y="5166360"/>
            <a:ext cx="354573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Ícone status-critical"/>
          <p:cNvSpPr/>
          <p:nvPr/>
        </p:nvSpPr>
        <p:spPr>
          <a:xfrm>
            <a:off x="8280197" y="53492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9" name="Image 3" descr="status-critic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147" y="5450190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828837" y="52852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CepStatus V / I / X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8828837" y="5559552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 determination grava o resultado; a validation só o avalia no save.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EXPERIÊNCIA NO FIORI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Side effects e precheck: a tela reage na hora</a:t>
            </a:r>
            <a:endParaRPr lang="en-US" sz="3000" dirty="0"/>
          </a:p>
        </p:txBody>
      </p:sp>
      <p:sp>
        <p:nvSpPr>
          <p:cNvPr id="5" name="Código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2020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ZR_PC_PEDIDO.bdef.asbdef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2066544"/>
            <a:ext cx="5943600" cy="0"/>
          </a:xfrm>
          <a:prstGeom prst="line">
            <a:avLst/>
          </a:prstGeom>
          <a:noFill/>
          <a:ln w="12700">
            <a:solidFill>
              <a:srgbClr val="2E3A46"/>
            </a:solidFill>
            <a:prstDash val="solid"/>
          </a:ln>
        </p:spPr>
      </p:sp>
      <p:sp>
        <p:nvSpPr>
          <p:cNvPr id="8" name="Trecho de código"/>
          <p:cNvSpPr txBox="1"/>
          <p:nvPr/>
        </p:nvSpPr>
        <p:spPr>
          <a:xfrm>
            <a:off x="777240" y="2157984"/>
            <a:ext cx="594360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EnderecoPrincipalCompleto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SimularPagamento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_Pagamento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_ClienteSnapshot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_ItensSnapshot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Item do pedido */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Cartão"/>
          <p:cNvSpPr/>
          <p:nvPr/>
        </p:nvSpPr>
        <p:spPr>
          <a:xfrm>
            <a:off x="7223760" y="1645920"/>
            <a:ext cx="441929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Ícone refresh"/>
          <p:cNvSpPr/>
          <p:nvPr/>
        </p:nvSpPr>
        <p:spPr>
          <a:xfrm>
            <a:off x="745236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1" name="Image 0" descr="refre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77" y="198863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65008" y="1874520"/>
            <a:ext cx="3395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Side effects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487168"/>
            <a:ext cx="3962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Trocar o cliente recarrega o endereço; mudar item ou quantidade recalcula o total do pedido; pagar ou aprovar atualiza as seções afetadas.</a:t>
            </a:r>
            <a:endParaRPr lang="en-US" sz="1200" dirty="0"/>
          </a:p>
        </p:txBody>
      </p:sp>
      <p:sp>
        <p:nvSpPr>
          <p:cNvPr id="14" name="Cartão"/>
          <p:cNvSpPr/>
          <p:nvPr/>
        </p:nvSpPr>
        <p:spPr>
          <a:xfrm>
            <a:off x="7223760" y="4023360"/>
            <a:ext cx="441929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5" name="Ícone status-negative"/>
          <p:cNvSpPr/>
          <p:nvPr/>
        </p:nvSpPr>
        <p:spPr>
          <a:xfrm>
            <a:off x="745236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6" name="Image 1" descr="status-nega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477" y="436607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65008" y="4251960"/>
            <a:ext cx="3395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Precheck de estoque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452360" y="4864608"/>
            <a:ext cx="3962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create ( features : instance, precheck ) em _Itens: item com quantidade disponível zerada nem chega ao rascunho.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AUTORIZAÇÃO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operação verifica sua atividade</a:t>
            </a:r>
            <a:endParaRPr lang="en-US" sz="3000" dirty="0"/>
          </a:p>
        </p:txBody>
      </p:sp>
      <p:sp>
        <p:nvSpPr>
          <p:cNvPr id="5" name="Código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2020"/>
            </a:avLst>
          </a:prstGeom>
          <a:solidFill>
            <a:srgbClr val="12171C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ZCL_PC_AUTH · ZBP_R_PC_PEDIDO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2066544"/>
            <a:ext cx="5577840" cy="0"/>
          </a:xfrm>
          <a:prstGeom prst="line">
            <a:avLst/>
          </a:prstGeom>
          <a:noFill/>
          <a:ln w="12700">
            <a:solidFill>
              <a:srgbClr val="2E3A46"/>
            </a:solidFill>
            <a:prstDash val="solid"/>
          </a:ln>
        </p:spPr>
      </p:sp>
      <p:sp>
        <p:nvSpPr>
          <p:cNvPr id="8" name="Trecho de código"/>
          <p:cNvSpPr txBox="1"/>
          <p:nvPr/>
        </p:nvSpPr>
        <p:spPr>
          <a:xfrm>
            <a:off x="777240" y="2157984"/>
            <a:ext cx="55778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verificar_pedido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zif_pc_constants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c_modo_trial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rv_autorizado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'ZPC_PEDIDO'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'ACTVT'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iv_actvt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rv_autorizado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xsdbool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9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3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get_global_authorizations (BO Pedido)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zcl_pc_auth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pedido_pode_criar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auth-allowed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auth-unauthorized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).</a:t>
            </a:r>
            <a:endParaRPr lang="en-US" sz="1100" dirty="0"/>
          </a:p>
        </p:txBody>
      </p:sp>
      <p:sp>
        <p:nvSpPr>
          <p:cNvPr id="9" name="Fundo da tabela"/>
          <p:cNvSpPr/>
          <p:nvPr/>
        </p:nvSpPr>
        <p:spPr>
          <a:xfrm>
            <a:off x="6858000" y="1645920"/>
            <a:ext cx="4782312" cy="2688336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755648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43000"/>
                <a:gridCol w="25877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ACTVT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Atividade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Usada 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Criar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create, ImportarPlanilha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Alterar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update, Edit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Exibir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leitura (DCL opcional)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Excluir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Executar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actions do pedido e reembolso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artão"/>
          <p:cNvSpPr/>
          <p:nvPr/>
        </p:nvSpPr>
        <p:spPr>
          <a:xfrm>
            <a:off x="6858000" y="4572000"/>
            <a:ext cx="233766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040880" y="4681728"/>
            <a:ext cx="202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4983480"/>
            <a:ext cx="202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Clientes e Estoque</a:t>
            </a:r>
            <a:endParaRPr lang="en-US" sz="1150" dirty="0"/>
          </a:p>
        </p:txBody>
      </p:sp>
      <p:sp>
        <p:nvSpPr>
          <p:cNvPr id="14" name="Cartão"/>
          <p:cNvSpPr/>
          <p:nvPr/>
        </p:nvSpPr>
        <p:spPr>
          <a:xfrm>
            <a:off x="9305392" y="4572000"/>
            <a:ext cx="233766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488272" y="4681728"/>
            <a:ext cx="202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488272" y="4983480"/>
            <a:ext cx="202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Pedidos e Reembolsos</a:t>
            </a:r>
            <a:endParaRPr lang="en-US" sz="1150" dirty="0"/>
          </a:p>
        </p:txBody>
      </p:sp>
      <p:sp>
        <p:nvSpPr>
          <p:cNvPr id="17" name="Cartão"/>
          <p:cNvSpPr/>
          <p:nvPr/>
        </p:nvSpPr>
        <p:spPr>
          <a:xfrm>
            <a:off x="6858000" y="5623560"/>
            <a:ext cx="4785055" cy="548640"/>
          </a:xfrm>
          <a:prstGeom prst="roundRect">
            <a:avLst>
              <a:gd name="adj" fmla="val 20000"/>
            </a:avLst>
          </a:prstGeom>
          <a:solidFill>
            <a:srgbClr val="FFF3B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040880" y="562356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3E00"/>
                </a:solidFill>
              </a:rPr>
              <a:t>Fora do trial: c_modo_trial = abap_false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IMPORTAÇÃO EM MASSA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Planilhas passam pelas mesmas regras da tela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11094415" cy="3349379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Fluxograma da importação por planil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10948111" cy="3203075"/>
          </a:xfrm>
          <a:prstGeom prst="rect">
            <a:avLst/>
          </a:prstGeom>
        </p:spPr>
      </p:pic>
      <p:sp>
        <p:nvSpPr>
          <p:cNvPr id="7" name="Status Tudo ou nada"/>
          <p:cNvSpPr/>
          <p:nvPr/>
        </p:nvSpPr>
        <p:spPr>
          <a:xfrm>
            <a:off x="548640" y="5230368"/>
            <a:ext cx="1240658" cy="347472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Tudo ou nada</a:t>
            </a:r>
            <a:endParaRPr lang="en-US" sz="1200" dirty="0"/>
          </a:p>
        </p:txBody>
      </p:sp>
      <p:sp>
        <p:nvSpPr>
          <p:cNvPr id="8" name="Status Até 500 linhas"/>
          <p:cNvSpPr/>
          <p:nvPr/>
        </p:nvSpPr>
        <p:spPr>
          <a:xfrm>
            <a:off x="1926458" y="5230368"/>
            <a:ext cx="1398666" cy="34747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Até 500 linhas</a:t>
            </a:r>
            <a:endParaRPr lang="en-US" sz="1200" dirty="0"/>
          </a:p>
        </p:txBody>
      </p:sp>
      <p:sp>
        <p:nvSpPr>
          <p:cNvPr id="9" name="Status .xlsx (XCO) ou .csv"/>
          <p:cNvSpPr/>
          <p:nvPr/>
        </p:nvSpPr>
        <p:spPr>
          <a:xfrm>
            <a:off x="3462284" y="5230368"/>
            <a:ext cx="1793687" cy="34747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.xlsx (XCO) ou .csv</a:t>
            </a:r>
            <a:endParaRPr lang="en-US" sz="1200" dirty="0"/>
          </a:p>
        </p:txBody>
      </p:sp>
      <p:sp>
        <p:nvSpPr>
          <p:cNvPr id="10" name="Status Referência de importação idempotente"/>
          <p:cNvSpPr/>
          <p:nvPr/>
        </p:nvSpPr>
        <p:spPr>
          <a:xfrm>
            <a:off x="5393131" y="5230368"/>
            <a:ext cx="3136758" cy="34747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Referência de importação idempotente</a:t>
            </a:r>
            <a:endParaRPr lang="en-US" sz="1200" dirty="0"/>
          </a:p>
        </p:txBody>
      </p:sp>
      <p:sp>
        <p:nvSpPr>
          <p:cNvPr id="11" name="Status Até 15 erros listados por linha"/>
          <p:cNvSpPr/>
          <p:nvPr/>
        </p:nvSpPr>
        <p:spPr>
          <a:xfrm>
            <a:off x="8667049" y="5230368"/>
            <a:ext cx="2741737" cy="347472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Até 15 erros listados por linha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ZCL_PC_PLANILHA</a:t>
            </a:r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 lê o arquivo; </a:t>
            </a:r>
            <a:pPr indent="0" marL="0">
              <a:buNone/>
            </a:pPr>
            <a:r>
              <a:rPr lang="en-US" sz="125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ZCL_PC_IMPORTACAO</a:t>
            </a:r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 normaliza CPF/CEP, converte CodeLists e resume os erros.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QUALIDADE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Testes ABAP Unit permanentes cobrem o ciclo do pedido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926080" cy="45262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070F2"/>
                </a:solidFill>
              </a:rPr>
              <a:t>50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testes em ZCL_PC_UTIL, todos passando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Outras classes com testes: ZCL_PC_PAGAMENTO_SIM, ZCL_PC_IMPORTACAO e ZCL_PC_PLANILHA.</a:t>
            </a:r>
            <a:endParaRPr lang="en-US" sz="1200" dirty="0"/>
          </a:p>
        </p:txBody>
      </p:sp>
      <p:sp>
        <p:nvSpPr>
          <p:cNvPr id="9" name="Status Ctrl+Shift+F10 no ADT"/>
          <p:cNvSpPr/>
          <p:nvPr/>
        </p:nvSpPr>
        <p:spPr>
          <a:xfrm>
            <a:off x="822960" y="5440680"/>
            <a:ext cx="1951695" cy="34747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Ctrl+Shift+F10 no ADT</a:t>
            </a:r>
            <a:endParaRPr lang="en-US" sz="1200" dirty="0"/>
          </a:p>
        </p:txBody>
      </p:sp>
      <p:sp>
        <p:nvSpPr>
          <p:cNvPr id="10" name="Fundo da tabela"/>
          <p:cNvSpPr/>
          <p:nvPr/>
        </p:nvSpPr>
        <p:spPr>
          <a:xfrm>
            <a:off x="3703320" y="1645920"/>
            <a:ext cx="7939735" cy="4334256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55648"/>
          <a:ext cx="7665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222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Classe de teste local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Cobre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ltcl_digitos_cpf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CPF e telefone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ltcl_email_imagem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e-mail e JPEG/PNG/WEBP (MIME, extensão, assinatura)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ltcl_registro_pedido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Save cria pedido ABERTO, número e reserva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ltcl_edicao_pedido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alterar, incluir e remover item com reserva incremental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ltcl_ciclo_pedido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pagamento aprovado/recusado, aprovar, cancelar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ltcl_reembolso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aprovar (cancela, devolve) e rejeitar (retoma)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ltcl_sku_item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SKU com prefixo da categoria e sequencial único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ltcl_persistencia_endereco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COMMIT ENTITIES real; CEP gravado é somente leitura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3 CONCLUÍDA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BOs com comportamento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Draft, regras on modify e on save, feature control, EML entre BOs, ViaCEP, autorização e testes.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  <p:sp>
        <p:nvSpPr>
          <p:cNvPr id="18" name="Próxima etapa"/>
          <p:cNvSpPr/>
          <p:nvPr/>
        </p:nvSpPr>
        <p:spPr>
          <a:xfrm>
            <a:off x="8183880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1D2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PRÓXIMA ETAPA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Serviços OData: expor e publicar os BOs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 - Pedidos de Compras">
  <a:themeElements>
    <a:clrScheme name="SAP Horizon - Pedidos de Compras">
      <a:dk1>
        <a:srgbClr val="1D2D3E"/>
      </a:dk1>
      <a:lt1>
        <a:srgbClr val="FFFFFF"/>
      </a:lt1>
      <a:dk2>
        <a:srgbClr val="12171C"/>
      </a:dk2>
      <a:lt2>
        <a:srgbClr val="F5F6F7"/>
      </a:lt2>
      <a:accent1>
        <a:srgbClr val="0070F2"/>
      </a:accent1>
      <a:accent2>
        <a:srgbClr val="049F9A"/>
      </a:accent2>
      <a:accent3>
        <a:srgbClr val="8B47D7"/>
      </a:accent3>
      <a:accent4>
        <a:srgbClr val="C87B00"/>
      </a:accent4>
      <a:accent5>
        <a:srgbClr val="DF1278"/>
      </a:accent5>
      <a:accent6>
        <a:srgbClr val="256F3A"/>
      </a:accent6>
      <a:hlink>
        <a:srgbClr val="0064D9"/>
      </a:hlink>
      <a:folHlink>
        <a:srgbClr val="8B47D7"/>
      </a:folHlink>
    </a:clrScheme>
    <a:fontScheme name="SAP Horizon - Pedidos de Compr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Pedidos de Compras - SAP RAP / ABAP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3 - Comportamento RAP</dc:title>
  <dc:subject>Pedidos de Compras no SAP BTP ABAP Environment</dc:subject>
  <dc:creator>Adriano Bispo</dc:creator>
  <cp:lastModifiedBy>Adriano Bispo</cp:lastModifiedBy>
  <cp:revision>1</cp:revision>
  <dcterms:created xsi:type="dcterms:W3CDTF">2026-10-20T02:23:58Z</dcterms:created>
  <dcterms:modified xsi:type="dcterms:W3CDTF">2026-10-20T02:23:58Z</dcterms:modified>
</cp:coreProperties>
</file>