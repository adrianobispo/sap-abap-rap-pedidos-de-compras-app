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9" r:id="rId50"/>
    <p:sldId id="300" r:id="rId51"/>
    <p:sldId id="301" r:id="rId52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classes locais em ZBP_R_PC_CLIENTE. Validações: o rascunho padrão é válido e cada teste altera um campo para provar a validation. Endereço: CEPs já validados ficam no double, então a determination reaproveita o CEP sem chamar o ViaCEP. Exclusão: o precheck recusa cliente com pedido ativo ou em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classes locais em ZBP_R_PC_ITEM. Movimentação: ReservarEstoque, LiberarReserva e BaixarEstoque no item ativo, conferindo estoque, reservado e disponível e as mensagens 011, 013, 028 e 038. Validações e inativação pelo Activate do rascunho; exclusão pelo precheck, que recusa item com reserva ou presente em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locais em ZBP_R_PC_PEDIDO. Rascunho: determinations de status, número, endereço e total, as validations do Prepare e o precheck da linha (mensagem 048). Ações: SimularPagamento grava só bandeira e últimos 4 dígitos; AprovarPedido gera os snapshots de FINALIZACAO; CancelarPedido libera a reserva e gera o snapshot de CANCELAMENTO.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2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3.png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204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19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24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17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CLIENTE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Cliente: do CPF à exclusão, 19 cenários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customer" descr="custo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49F9A"/>
                </a:solidFill>
              </a:rPr>
              <a:t>19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Validations conferidas pelo Activate do rascunho. CEPs já validados no double: nenhum teste chama o ViaCEP.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cliente_validacoes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cliente_validacoes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ltcl_cliente_validacoes</a:t>
            </a:r>
            <a:endParaRPr lang="pt-BR" sz="1050" dirty="0"/>
          </a:p>
        </p:txBody>
      </p:sp>
      <p:sp>
        <p:nvSpPr>
          <p:cNvPr id="25" name="Total ltcl_cliente_validacoes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11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válido passa no Prepare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com score de 0 a 100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Normaliza telefone e e-mail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com dígito verificador errado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já cadastrado em outro cliente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E-mail sem @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Telefone com 9 dígitos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Data de nascimento no futuro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fora da CodeList</a:t>
            </a:r>
            <a:endParaRPr lang="pt-BR" sz="1100" dirty="0"/>
          </a:p>
        </p:txBody>
      </p:sp>
      <p:sp>
        <p:nvSpPr>
          <p:cNvPr id="45" name="Aceit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506577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da CodeList é aceito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37667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GIF: só JPEG, PNG e WEBP</a:t>
            </a:r>
            <a:endParaRPr lang="pt-BR" sz="1100" dirty="0"/>
          </a:p>
        </p:txBody>
      </p:sp>
      <p:sp>
        <p:nvSpPr>
          <p:cNvPr id="49" name="Cartão ltcl_cliente_endereco"/>
          <p:cNvSpPr/>
          <p:nvPr/>
        </p:nvSpPr>
        <p:spPr>
          <a:xfrm>
            <a:off x="7421728" y="1645920"/>
            <a:ext cx="4221328" cy="24597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Classe ltcl_cliente_endereco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ltcl_cliente_endereco</a:t>
            </a:r>
            <a:endParaRPr lang="pt-BR" sz="1050" dirty="0"/>
          </a:p>
        </p:txBody>
      </p:sp>
      <p:sp>
        <p:nvSpPr>
          <p:cNvPr id="51" name="Total ltcl_cliente_enderec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5</a:t>
            </a:r>
            <a:endParaRPr lang="pt-BR" sz="105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Aceit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4" name="Cenário"/>
          <p:cNvSpPr txBox="1"/>
          <p:nvPr/>
        </p:nvSpPr>
        <p:spPr>
          <a:xfrm>
            <a:off x="7915504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conhecido preenche rua, cidade e UF</a:t>
            </a:r>
            <a:endParaRPr lang="pt-BR" sz="1100" dirty="0"/>
          </a:p>
        </p:txBody>
      </p:sp>
      <p:sp>
        <p:nvSpPr>
          <p:cNvPr id="55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6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Um único endereço principal</a:t>
            </a:r>
            <a:endParaRPr lang="pt-BR" sz="1100" dirty="0"/>
          </a:p>
        </p:txBody>
      </p:sp>
      <p:sp>
        <p:nvSpPr>
          <p:cNvPr id="57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incompleto fica inválido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repetido no mesmo cliente</a:t>
            </a:r>
            <a:endParaRPr lang="pt-BR" sz="1100" dirty="0"/>
          </a:p>
        </p:txBody>
      </p:sp>
      <p:sp>
        <p:nvSpPr>
          <p:cNvPr id="61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Endereço sem número</a:t>
            </a:r>
            <a:endParaRPr lang="pt-BR" sz="1100" dirty="0"/>
          </a:p>
        </p:txBody>
      </p:sp>
      <p:sp>
        <p:nvSpPr>
          <p:cNvPr id="63" name="Cartão ltcl_cliente_exclusao"/>
          <p:cNvSpPr/>
          <p:nvPr/>
        </p:nvSpPr>
        <p:spPr>
          <a:xfrm>
            <a:off x="7421728" y="4334256"/>
            <a:ext cx="4221328" cy="1837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Classe ltcl_cliente_exclusao"/>
          <p:cNvSpPr txBox="1"/>
          <p:nvPr/>
        </p:nvSpPr>
        <p:spPr>
          <a:xfrm>
            <a:off x="7604608" y="4480560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ltcl_cliente_exclusao</a:t>
            </a:r>
            <a:endParaRPr lang="pt-BR" sz="1050" dirty="0"/>
          </a:p>
        </p:txBody>
      </p:sp>
      <p:sp>
        <p:nvSpPr>
          <p:cNvPr id="65" name="Total ltcl_cliente_exclusao"/>
          <p:cNvSpPr/>
          <p:nvPr/>
        </p:nvSpPr>
        <p:spPr>
          <a:xfrm>
            <a:off x="11048695" y="4498848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3</a:t>
            </a:r>
            <a:endParaRPr lang="pt-BR" sz="1050" dirty="0"/>
          </a:p>
        </p:txBody>
      </p:sp>
      <p:cxnSp>
        <p:nvCxnSpPr>
          <p:cNvPr id="66" name="Separador"/>
          <p:cNvCxnSpPr/>
          <p:nvPr/>
        </p:nvCxnSpPr>
        <p:spPr>
          <a:xfrm>
            <a:off x="7604608" y="4864608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67" name="Aceita"/>
          <p:cNvSpPr/>
          <p:nvPr/>
        </p:nvSpPr>
        <p:spPr>
          <a:xfrm>
            <a:off x="7604608" y="501091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8" name="Cenário"/>
          <p:cNvSpPr txBox="1"/>
          <p:nvPr/>
        </p:nvSpPr>
        <p:spPr>
          <a:xfrm>
            <a:off x="7915504" y="495604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pedido é excluído</a:t>
            </a:r>
            <a:endParaRPr lang="pt-BR" sz="1100" dirty="0"/>
          </a:p>
        </p:txBody>
      </p:sp>
      <p:sp>
        <p:nvSpPr>
          <p:cNvPr id="69" name="Recusa"/>
          <p:cNvSpPr/>
          <p:nvPr/>
        </p:nvSpPr>
        <p:spPr>
          <a:xfrm>
            <a:off x="7604608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0" name="Cenário"/>
          <p:cNvSpPr txBox="1"/>
          <p:nvPr/>
        </p:nvSpPr>
        <p:spPr>
          <a:xfrm>
            <a:off x="7915504" y="526694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ativo</a:t>
            </a:r>
            <a:endParaRPr lang="pt-BR" sz="1100" dirty="0"/>
          </a:p>
        </p:txBody>
      </p:sp>
      <p:sp>
        <p:nvSpPr>
          <p:cNvPr id="71" name="Recusa"/>
          <p:cNvSpPr/>
          <p:nvPr/>
        </p:nvSpPr>
        <p:spPr>
          <a:xfrm>
            <a:off x="7604608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2" name="Cenário"/>
          <p:cNvSpPr txBox="1"/>
          <p:nvPr/>
        </p:nvSpPr>
        <p:spPr>
          <a:xfrm>
            <a:off x="7915504" y="557784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em rascunho</a:t>
            </a:r>
            <a:endParaRPr lang="pt-BR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ITEM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Item: o saldo nunca fica inconsistente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product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C87B00"/>
                </a:solidFill>
              </a:rPr>
              <a:t>24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Actions no item ativo; validations pelo Activate. Saldos conferidos a cada movimento.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item_movimentacao"/>
          <p:cNvSpPr/>
          <p:nvPr/>
        </p:nvSpPr>
        <p:spPr>
          <a:xfrm>
            <a:off x="2971800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item_movimentacao"/>
          <p:cNvSpPr txBox="1"/>
          <p:nvPr/>
        </p:nvSpPr>
        <p:spPr>
          <a:xfrm>
            <a:off x="3154680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ltcl_item_movimentacao</a:t>
            </a:r>
            <a:endParaRPr lang="pt-BR" sz="1050" dirty="0"/>
          </a:p>
        </p:txBody>
      </p:sp>
      <p:sp>
        <p:nvSpPr>
          <p:cNvPr id="27" name="Total ltcl_item_movimentacao"/>
          <p:cNvSpPr/>
          <p:nvPr/>
        </p:nvSpPr>
        <p:spPr>
          <a:xfrm>
            <a:off x="511545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9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5 de 20 disponíveis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recalcula o status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acima do saldo</a:t>
            </a:r>
            <a:endParaRPr lang="pt-BR" sz="1100" dirty="0"/>
          </a:p>
        </p:txBody>
      </p:sp>
      <p:sp>
        <p:nvSpPr>
          <p:cNvPr id="35" name="Mensagem"/>
          <p:cNvSpPr txBox="1"/>
          <p:nvPr/>
        </p:nvSpPr>
        <p:spPr>
          <a:xfrm>
            <a:off x="5142890" y="288950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36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7" name="Cenário"/>
          <p:cNvSpPr txBox="1"/>
          <p:nvPr/>
        </p:nvSpPr>
        <p:spPr>
          <a:xfrm>
            <a:off x="3465576" y="320040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de item inativo</a:t>
            </a:r>
            <a:endParaRPr lang="pt-BR" sz="1100" dirty="0"/>
          </a:p>
        </p:txBody>
      </p:sp>
      <p:sp>
        <p:nvSpPr>
          <p:cNvPr id="38" name="Mensagem"/>
          <p:cNvSpPr txBox="1"/>
          <p:nvPr/>
        </p:nvSpPr>
        <p:spPr>
          <a:xfrm>
            <a:off x="5142890" y="320040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013</a:t>
            </a:r>
            <a:endParaRPr lang="pt-BR" sz="1000" dirty="0"/>
          </a:p>
        </p:txBody>
      </p:sp>
      <p:sp>
        <p:nvSpPr>
          <p:cNvPr id="39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511296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zero</a:t>
            </a:r>
            <a:endParaRPr lang="pt-BR" sz="1100" dirty="0"/>
          </a:p>
        </p:txBody>
      </p:sp>
      <p:sp>
        <p:nvSpPr>
          <p:cNvPr id="41" name="Mensagem"/>
          <p:cNvSpPr txBox="1"/>
          <p:nvPr/>
        </p:nvSpPr>
        <p:spPr>
          <a:xfrm>
            <a:off x="5142890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028</a:t>
            </a:r>
            <a:endParaRPr lang="pt-BR" sz="1000" dirty="0"/>
          </a:p>
        </p:txBody>
      </p:sp>
      <p:sp>
        <p:nvSpPr>
          <p:cNvPr id="42" name="Aceit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3" name="Cenário"/>
          <p:cNvSpPr txBox="1"/>
          <p:nvPr/>
        </p:nvSpPr>
        <p:spPr>
          <a:xfrm>
            <a:off x="3465576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parte da reserva</a:t>
            </a:r>
            <a:endParaRPr lang="pt-BR" sz="1100" dirty="0"/>
          </a:p>
        </p:txBody>
      </p:sp>
      <p:sp>
        <p:nvSpPr>
          <p:cNvPr id="44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5" name="Cenário"/>
          <p:cNvSpPr txBox="1"/>
          <p:nvPr/>
        </p:nvSpPr>
        <p:spPr>
          <a:xfrm>
            <a:off x="3465576" y="4133088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acima da reserva</a:t>
            </a:r>
            <a:endParaRPr lang="pt-BR" sz="1100" dirty="0"/>
          </a:p>
        </p:txBody>
      </p:sp>
      <p:sp>
        <p:nvSpPr>
          <p:cNvPr id="46" name="Mensagem"/>
          <p:cNvSpPr txBox="1"/>
          <p:nvPr/>
        </p:nvSpPr>
        <p:spPr>
          <a:xfrm>
            <a:off x="5142890" y="413308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47" name="Aceit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444398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consome a reserva</a:t>
            </a:r>
            <a:endParaRPr lang="pt-BR" sz="1100" dirty="0"/>
          </a:p>
        </p:txBody>
      </p:sp>
      <p:sp>
        <p:nvSpPr>
          <p:cNvPr id="49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0" name="Cenário"/>
          <p:cNvSpPr txBox="1"/>
          <p:nvPr/>
        </p:nvSpPr>
        <p:spPr>
          <a:xfrm>
            <a:off x="3465576" y="475488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sem reserva</a:t>
            </a:r>
            <a:endParaRPr lang="pt-BR" sz="1100" dirty="0"/>
          </a:p>
        </p:txBody>
      </p:sp>
      <p:sp>
        <p:nvSpPr>
          <p:cNvPr id="51" name="Mensagem"/>
          <p:cNvSpPr txBox="1"/>
          <p:nvPr/>
        </p:nvSpPr>
        <p:spPr>
          <a:xfrm>
            <a:off x="5142890" y="475488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52" name="Cartão ltcl_item_validacoes"/>
          <p:cNvSpPr/>
          <p:nvPr/>
        </p:nvSpPr>
        <p:spPr>
          <a:xfrm>
            <a:off x="5938418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Classe ltcl_item_validacoes"/>
          <p:cNvSpPr txBox="1"/>
          <p:nvPr/>
        </p:nvSpPr>
        <p:spPr>
          <a:xfrm>
            <a:off x="6121298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ltcl_item_validacoes</a:t>
            </a:r>
            <a:endParaRPr lang="pt-BR" sz="1050" dirty="0"/>
          </a:p>
        </p:txBody>
      </p:sp>
      <p:sp>
        <p:nvSpPr>
          <p:cNvPr id="54" name="Total ltcl_item_validacoes"/>
          <p:cNvSpPr/>
          <p:nvPr/>
        </p:nvSpPr>
        <p:spPr>
          <a:xfrm>
            <a:off x="8082077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7</a:t>
            </a:r>
            <a:endParaRPr lang="pt-BR" sz="1050" dirty="0"/>
          </a:p>
        </p:txBody>
      </p:sp>
      <p:cxnSp>
        <p:nvCxnSpPr>
          <p:cNvPr id="55" name="Separador"/>
          <p:cNvCxnSpPr/>
          <p:nvPr/>
        </p:nvCxnSpPr>
        <p:spPr>
          <a:xfrm>
            <a:off x="6121298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6" name="Aceita"/>
          <p:cNvSpPr/>
          <p:nvPr/>
        </p:nvSpPr>
        <p:spPr>
          <a:xfrm>
            <a:off x="612129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7" name="Cenário"/>
          <p:cNvSpPr txBox="1"/>
          <p:nvPr/>
        </p:nvSpPr>
        <p:spPr>
          <a:xfrm>
            <a:off x="6432194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BRL, sem reserva</a:t>
            </a:r>
            <a:endParaRPr lang="pt-BR" sz="1100" dirty="0"/>
          </a:p>
        </p:txBody>
      </p:sp>
      <p:sp>
        <p:nvSpPr>
          <p:cNvPr id="58" name="Aceita"/>
          <p:cNvSpPr/>
          <p:nvPr/>
        </p:nvSpPr>
        <p:spPr>
          <a:xfrm>
            <a:off x="612129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9" name="Cenário"/>
          <p:cNvSpPr txBox="1"/>
          <p:nvPr/>
        </p:nvSpPr>
        <p:spPr>
          <a:xfrm>
            <a:off x="6432194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Status segue o estoque</a:t>
            </a:r>
            <a:endParaRPr lang="pt-BR" sz="1100" dirty="0"/>
          </a:p>
        </p:txBody>
      </p:sp>
      <p:sp>
        <p:nvSpPr>
          <p:cNvPr id="60" name="Aceita"/>
          <p:cNvSpPr/>
          <p:nvPr/>
        </p:nvSpPr>
        <p:spPr>
          <a:xfrm>
            <a:off x="6121298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1" name="Cenário"/>
          <p:cNvSpPr txBox="1"/>
          <p:nvPr/>
        </p:nvSpPr>
        <p:spPr>
          <a:xfrm>
            <a:off x="6432194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válido passa no Prepare</a:t>
            </a:r>
            <a:endParaRPr lang="pt-BR" sz="1100" dirty="0"/>
          </a:p>
        </p:txBody>
      </p:sp>
      <p:sp>
        <p:nvSpPr>
          <p:cNvPr id="62" name="Recusa"/>
          <p:cNvSpPr/>
          <p:nvPr/>
        </p:nvSpPr>
        <p:spPr>
          <a:xfrm>
            <a:off x="612129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3" name="Cenário"/>
          <p:cNvSpPr txBox="1"/>
          <p:nvPr/>
        </p:nvSpPr>
        <p:spPr>
          <a:xfrm>
            <a:off x="6432194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Categoria fora da CodeList</a:t>
            </a:r>
            <a:endParaRPr lang="pt-BR" sz="1100" dirty="0"/>
          </a:p>
        </p:txBody>
      </p:sp>
      <p:sp>
        <p:nvSpPr>
          <p:cNvPr id="64" name="Recusa"/>
          <p:cNvSpPr/>
          <p:nvPr/>
        </p:nvSpPr>
        <p:spPr>
          <a:xfrm>
            <a:off x="612129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5" name="Cenário"/>
          <p:cNvSpPr txBox="1"/>
          <p:nvPr/>
        </p:nvSpPr>
        <p:spPr>
          <a:xfrm>
            <a:off x="6432194" y="3511296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Preço negativo</a:t>
            </a:r>
            <a:endParaRPr lang="pt-BR" sz="1100" dirty="0"/>
          </a:p>
        </p:txBody>
      </p:sp>
      <p:sp>
        <p:nvSpPr>
          <p:cNvPr id="66" name="Recusa"/>
          <p:cNvSpPr/>
          <p:nvPr/>
        </p:nvSpPr>
        <p:spPr>
          <a:xfrm>
            <a:off x="6121298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6432194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Estoque negativo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612129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6432194" y="413308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com MIME falsificado</a:t>
            </a:r>
            <a:endParaRPr lang="pt-BR" sz="1100" dirty="0"/>
          </a:p>
        </p:txBody>
      </p:sp>
      <p:sp>
        <p:nvSpPr>
          <p:cNvPr id="70" name="Cartão ltcl_item_inativacao"/>
          <p:cNvSpPr/>
          <p:nvPr/>
        </p:nvSpPr>
        <p:spPr>
          <a:xfrm>
            <a:off x="8905037" y="164592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Classe ltcl_item_inativacao"/>
          <p:cNvSpPr txBox="1"/>
          <p:nvPr/>
        </p:nvSpPr>
        <p:spPr>
          <a:xfrm>
            <a:off x="9087917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ltcl_item_inativacao</a:t>
            </a:r>
            <a:endParaRPr lang="pt-BR" sz="1050" dirty="0"/>
          </a:p>
        </p:txBody>
      </p:sp>
      <p:sp>
        <p:nvSpPr>
          <p:cNvPr id="72" name="Total ltcl_item_inativaca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73" name="Separador"/>
          <p:cNvCxnSpPr/>
          <p:nvPr/>
        </p:nvCxnSpPr>
        <p:spPr>
          <a:xfrm>
            <a:off x="9087917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74" name="Recusa"/>
          <p:cNvSpPr/>
          <p:nvPr/>
        </p:nvSpPr>
        <p:spPr>
          <a:xfrm>
            <a:off x="9087917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5" name="Cenário"/>
          <p:cNvSpPr txBox="1"/>
          <p:nvPr/>
        </p:nvSpPr>
        <p:spPr>
          <a:xfrm>
            <a:off x="9398813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saldo disponível</a:t>
            </a:r>
            <a:endParaRPr lang="pt-BR" sz="1100" dirty="0"/>
          </a:p>
        </p:txBody>
      </p:sp>
      <p:sp>
        <p:nvSpPr>
          <p:cNvPr id="76" name="Aceita"/>
          <p:cNvSpPr/>
          <p:nvPr/>
        </p:nvSpPr>
        <p:spPr>
          <a:xfrm>
            <a:off x="9087917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77" name="Cenário"/>
          <p:cNvSpPr txBox="1"/>
          <p:nvPr/>
        </p:nvSpPr>
        <p:spPr>
          <a:xfrm>
            <a:off x="9398813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Sem saldo e sem pedido</a:t>
            </a:r>
            <a:endParaRPr lang="pt-BR" sz="1100" dirty="0"/>
          </a:p>
        </p:txBody>
      </p:sp>
      <p:sp>
        <p:nvSpPr>
          <p:cNvPr id="78" name="Recusa"/>
          <p:cNvSpPr/>
          <p:nvPr/>
        </p:nvSpPr>
        <p:spPr>
          <a:xfrm>
            <a:off x="9087917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9" name="Cenário"/>
          <p:cNvSpPr txBox="1"/>
          <p:nvPr/>
        </p:nvSpPr>
        <p:spPr>
          <a:xfrm>
            <a:off x="9398813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ABERTO</a:t>
            </a:r>
            <a:endParaRPr lang="pt-BR" sz="1100" dirty="0"/>
          </a:p>
        </p:txBody>
      </p:sp>
      <p:sp>
        <p:nvSpPr>
          <p:cNvPr id="80" name="Aceita"/>
          <p:cNvSpPr/>
          <p:nvPr/>
        </p:nvSpPr>
        <p:spPr>
          <a:xfrm>
            <a:off x="9087917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1" name="Cenário"/>
          <p:cNvSpPr txBox="1"/>
          <p:nvPr/>
        </p:nvSpPr>
        <p:spPr>
          <a:xfrm>
            <a:off x="9398813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FINALIZADO</a:t>
            </a:r>
            <a:endParaRPr lang="pt-BR" sz="1100" dirty="0"/>
          </a:p>
        </p:txBody>
      </p:sp>
      <p:sp>
        <p:nvSpPr>
          <p:cNvPr id="82" name="Cartão ltcl_item_exclusao"/>
          <p:cNvSpPr/>
          <p:nvPr/>
        </p:nvSpPr>
        <p:spPr>
          <a:xfrm>
            <a:off x="8905037" y="402336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3" name="Classe ltcl_item_exclusao"/>
          <p:cNvSpPr txBox="1"/>
          <p:nvPr/>
        </p:nvSpPr>
        <p:spPr>
          <a:xfrm>
            <a:off x="9087917" y="416966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ltcl_item_exclusao</a:t>
            </a:r>
            <a:endParaRPr lang="pt-BR" sz="1050" dirty="0"/>
          </a:p>
        </p:txBody>
      </p:sp>
      <p:sp>
        <p:nvSpPr>
          <p:cNvPr id="84" name="Total ltcl_item_exclusao"/>
          <p:cNvSpPr/>
          <p:nvPr/>
        </p:nvSpPr>
        <p:spPr>
          <a:xfrm>
            <a:off x="11048695" y="418795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85" name="Separador"/>
          <p:cNvCxnSpPr/>
          <p:nvPr/>
        </p:nvCxnSpPr>
        <p:spPr>
          <a:xfrm>
            <a:off x="9087917" y="455371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86" name="Aceita"/>
          <p:cNvSpPr/>
          <p:nvPr/>
        </p:nvSpPr>
        <p:spPr>
          <a:xfrm>
            <a:off x="9087917" y="47000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7" name="Cenário"/>
          <p:cNvSpPr txBox="1"/>
          <p:nvPr/>
        </p:nvSpPr>
        <p:spPr>
          <a:xfrm>
            <a:off x="9398813" y="464515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livre é excluído</a:t>
            </a:r>
            <a:endParaRPr lang="pt-BR" sz="1100" dirty="0"/>
          </a:p>
        </p:txBody>
      </p:sp>
      <p:sp>
        <p:nvSpPr>
          <p:cNvPr id="88" name="Recusa"/>
          <p:cNvSpPr/>
          <p:nvPr/>
        </p:nvSpPr>
        <p:spPr>
          <a:xfrm>
            <a:off x="9087917" y="501091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89" name="Cenário"/>
          <p:cNvSpPr txBox="1"/>
          <p:nvPr/>
        </p:nvSpPr>
        <p:spPr>
          <a:xfrm>
            <a:off x="9398813" y="495604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quantidade reservada</a:t>
            </a:r>
            <a:endParaRPr lang="pt-BR" sz="1100" dirty="0"/>
          </a:p>
        </p:txBody>
      </p:sp>
      <p:sp>
        <p:nvSpPr>
          <p:cNvPr id="90" name="Recusa"/>
          <p:cNvSpPr/>
          <p:nvPr/>
        </p:nvSpPr>
        <p:spPr>
          <a:xfrm>
            <a:off x="9087917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1" name="Cenário"/>
          <p:cNvSpPr txBox="1"/>
          <p:nvPr/>
        </p:nvSpPr>
        <p:spPr>
          <a:xfrm>
            <a:off x="9398813" y="526694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registrado</a:t>
            </a:r>
            <a:endParaRPr lang="pt-BR" sz="1100" dirty="0"/>
          </a:p>
        </p:txBody>
      </p:sp>
      <p:sp>
        <p:nvSpPr>
          <p:cNvPr id="92" name="Recusa"/>
          <p:cNvSpPr/>
          <p:nvPr/>
        </p:nvSpPr>
        <p:spPr>
          <a:xfrm>
            <a:off x="9087917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3" name="Cenário"/>
          <p:cNvSpPr txBox="1"/>
          <p:nvPr/>
        </p:nvSpPr>
        <p:spPr>
          <a:xfrm>
            <a:off x="9398813" y="557784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em rascunho</a:t>
            </a:r>
            <a:endParaRPr lang="pt-BR" sz="11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PEDIDO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Pedido: do rascunho às ações do ciclo de vida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sales-order" descr="sales-or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070F2"/>
                </a:solidFill>
              </a:rPr>
              <a:t>17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Cliente, endereço e item semeados nos doubles. As actions rodam sobre pedidos já registrados, em cada status.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pedido_rascunho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pedido_rascunho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ltcl_pedido_rascunho</a:t>
            </a:r>
            <a:endParaRPr lang="pt-BR" sz="1050" dirty="0"/>
          </a:p>
        </p:txBody>
      </p:sp>
      <p:sp>
        <p:nvSpPr>
          <p:cNvPr id="27" name="Total ltcl_pedido_rascunho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10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ABERTO, com número e endereço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Valor da linha e total: 3 × 12,50 = 37,50</a:t>
            </a:r>
            <a:endParaRPr lang="pt-BR" sz="1100" dirty="0"/>
          </a:p>
        </p:txBody>
      </p:sp>
      <p:sp>
        <p:nvSpPr>
          <p:cNvPr id="33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Rascunho válido passa no Prepare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inativo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endereço principal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Pedido sem itens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acima do disponível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inativo</a:t>
            </a:r>
            <a:endParaRPr lang="pt-BR" sz="1100" dirty="0"/>
          </a:p>
        </p:txBody>
      </p:sp>
      <p:sp>
        <p:nvSpPr>
          <p:cNvPr id="45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Linha com quantidade zero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06577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sem estoque, já no precheck</a:t>
            </a:r>
            <a:endParaRPr lang="pt-BR" sz="1100" dirty="0"/>
          </a:p>
        </p:txBody>
      </p:sp>
      <p:sp>
        <p:nvSpPr>
          <p:cNvPr id="49" name="Mensagem"/>
          <p:cNvSpPr txBox="1"/>
          <p:nvPr/>
        </p:nvSpPr>
        <p:spPr>
          <a:xfrm>
            <a:off x="6626200" y="506577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048</a:t>
            </a:r>
            <a:endParaRPr lang="pt-BR" sz="1000" dirty="0"/>
          </a:p>
        </p:txBody>
      </p:sp>
      <p:sp>
        <p:nvSpPr>
          <p:cNvPr id="50" name="Cartão ltcl_pedido_acoes"/>
          <p:cNvSpPr/>
          <p:nvPr/>
        </p:nvSpPr>
        <p:spPr>
          <a:xfrm>
            <a:off x="7421728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1" name="Classe ltcl_pedido_acoes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ltcl_pedido_acoes</a:t>
            </a:r>
            <a:endParaRPr lang="pt-BR" sz="1050" dirty="0"/>
          </a:p>
        </p:txBody>
      </p:sp>
      <p:sp>
        <p:nvSpPr>
          <p:cNvPr id="52" name="Total ltcl_pedido_acoes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7</a:t>
            </a:r>
            <a:endParaRPr lang="pt-BR" sz="1050" dirty="0"/>
          </a:p>
        </p:txBody>
      </p:sp>
      <p:cxnSp>
        <p:nvCxnSpPr>
          <p:cNvPr id="53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4" name="Recus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5" name="Cenário"/>
          <p:cNvSpPr txBox="1"/>
          <p:nvPr/>
        </p:nvSpPr>
        <p:spPr>
          <a:xfrm>
            <a:off x="7915504" y="2267712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com cartão inválido</a:t>
            </a:r>
            <a:endParaRPr lang="pt-BR" sz="1100" dirty="0"/>
          </a:p>
        </p:txBody>
      </p:sp>
      <p:sp>
        <p:nvSpPr>
          <p:cNvPr id="56" name="Mensagem"/>
          <p:cNvSpPr txBox="1"/>
          <p:nvPr/>
        </p:nvSpPr>
        <p:spPr>
          <a:xfrm>
            <a:off x="11076127" y="22677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</a:t>
            </a:r>
            <a:endParaRPr lang="pt-BR" sz="1000" dirty="0"/>
          </a:p>
        </p:txBody>
      </p:sp>
      <p:sp>
        <p:nvSpPr>
          <p:cNvPr id="57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grava só o cartão mascarado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de pedido já pago</a:t>
            </a:r>
            <a:endParaRPr lang="pt-BR" sz="1100" dirty="0"/>
          </a:p>
        </p:txBody>
      </p:sp>
      <p:sp>
        <p:nvSpPr>
          <p:cNvPr id="61" name="Aceit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gera snapshots de cliente e itens</a:t>
            </a:r>
            <a:endParaRPr lang="pt-BR" sz="1100" dirty="0"/>
          </a:p>
        </p:txBody>
      </p:sp>
      <p:sp>
        <p:nvSpPr>
          <p:cNvPr id="63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4" name="Cenário"/>
          <p:cNvSpPr txBox="1"/>
          <p:nvPr/>
        </p:nvSpPr>
        <p:spPr>
          <a:xfrm>
            <a:off x="7915504" y="351129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sem estoque reservado</a:t>
            </a:r>
            <a:endParaRPr lang="pt-BR" sz="1100" dirty="0"/>
          </a:p>
        </p:txBody>
      </p:sp>
      <p:sp>
        <p:nvSpPr>
          <p:cNvPr id="65" name="Mensagem"/>
          <p:cNvSpPr txBox="1"/>
          <p:nvPr/>
        </p:nvSpPr>
        <p:spPr>
          <a:xfrm>
            <a:off x="11076127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66" name="Aceita"/>
          <p:cNvSpPr/>
          <p:nvPr/>
        </p:nvSpPr>
        <p:spPr>
          <a:xfrm>
            <a:off x="7604608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7915504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libera a reserva e gera snapshot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760460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7915504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pedido FINALIZADO</a:t>
            </a:r>
            <a:endParaRPr lang="pt-BR" sz="11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