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43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4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96" r:id="rId47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8" r:id="rId49"/>
    <p:sldId id="294" r:id="rId40"/>
    <p:sldId id="297" r:id="rId48"/>
    <p:sldId id="299" r:id="rId50"/>
    <p:sldId id="300" r:id="rId51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acad01a3-e7cb-20ac-afb5-6f471b83c0af}">
          <p14:sldIdLst>
            <p14:sldId id="256"/>
            <p14:sldId id="257"/>
            <p14:sldId id="258"/>
            <p14:sldId id="259"/>
            <p14:sldId id="260"/>
          </p14:sldIdLst>
        </p14:section>
        <p14:section name="Common" id="{afeccf5f-f634-f2bb-f5d4-5de8fe96e25e}">
          <p14:sldIdLst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Clientes" id="{36705eab-4733-93ec-54ac-a8c7561ea277}">
          <p14:sldIdLst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Estoque" id="{bf66ca32-fb3d-f1c2-7b7a-36fcc37d3e41}">
          <p14:sldIdLst>
            <p14:sldId id="274"/>
            <p14:sldId id="275"/>
            <p14:sldId id="276"/>
            <p14:sldId id="277"/>
          </p14:sldIdLst>
        </p14:section>
        <p14:section name="Pedidos" id="{167d1ccb-28ae-ab17-51a3-6f8521f9bdd2}">
          <p14:sldIdLst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</p14:sldIdLst>
        </p14:section>
        <p14:section name="Reembolsos" id="{27e24fc7-6164-08b3-d329-f650f0b787d1}">
          <p14:sldIdLst>
            <p14:sldId id="290"/>
            <p14:sldId id="291"/>
            <p14:sldId id="292"/>
          </p14:sldIdLst>
        </p14:section>
        <p14:section name="Segurança e testes" id="{5c044654-79ae-405a-ceb6-5315aaf3a941}">
          <p14:sldIdLst>
            <p14:sldId id="293"/>
            <p14:sldId id="294"/>
          </p14:sldIdLst>
        </p14:section>
        <p14:section name="Encerramento" id="{1ae7ee87-758d-18f0-50a1-ab62f2088345}">
          <p14:sldIdLst>
            <p14:sldId id="29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slide" Target="slides/slide19.xml"/><Relationship Id="rId20" Type="http://schemas.openxmlformats.org/officeDocument/2006/relationships/slide" Target="slides/slide20.xml"/><Relationship Id="rId21" Type="http://schemas.openxmlformats.org/officeDocument/2006/relationships/slide" Target="slides/slide21.xml"/><Relationship Id="rId22" Type="http://schemas.openxmlformats.org/officeDocument/2006/relationships/slide" Target="slides/slide22.xml"/><Relationship Id="rId23" Type="http://schemas.openxmlformats.org/officeDocument/2006/relationships/slide" Target="slides/slide23.xml"/><Relationship Id="rId24" Type="http://schemas.openxmlformats.org/officeDocument/2006/relationships/slide" Target="slides/slide24.xml"/><Relationship Id="rId25" Type="http://schemas.openxmlformats.org/officeDocument/2006/relationships/slide" Target="slides/slide25.xml"/><Relationship Id="rId26" Type="http://schemas.openxmlformats.org/officeDocument/2006/relationships/slide" Target="slides/slide26.xml"/><Relationship Id="rId27" Type="http://schemas.openxmlformats.org/officeDocument/2006/relationships/slide" Target="slides/slide27.xml"/><Relationship Id="rId28" Type="http://schemas.openxmlformats.org/officeDocument/2006/relationships/slide" Target="slides/slide28.xml"/><Relationship Id="rId29" Type="http://schemas.openxmlformats.org/officeDocument/2006/relationships/slide" Target="slides/slide29.xml"/><Relationship Id="rId30" Type="http://schemas.openxmlformats.org/officeDocument/2006/relationships/slide" Target="slides/slide30.xml"/><Relationship Id="rId31" Type="http://schemas.openxmlformats.org/officeDocument/2006/relationships/slide" Target="slides/slide31.xml"/><Relationship Id="rId32" Type="http://schemas.openxmlformats.org/officeDocument/2006/relationships/slide" Target="slides/slide32.xml"/><Relationship Id="rId33" Type="http://schemas.openxmlformats.org/officeDocument/2006/relationships/slide" Target="slides/slide33.xml"/><Relationship Id="rId34" Type="http://schemas.openxmlformats.org/officeDocument/2006/relationships/slide" Target="slides/slide34.xml"/><Relationship Id="rId35" Type="http://schemas.openxmlformats.org/officeDocument/2006/relationships/slide" Target="slides/slide35.xml"/><Relationship Id="rId36" Type="http://schemas.openxmlformats.org/officeDocument/2006/relationships/slide" Target="slides/slide36.xml"/><Relationship Id="rId37" Type="http://schemas.openxmlformats.org/officeDocument/2006/relationships/slide" Target="slides/slide37.xml"/><Relationship Id="rId38" Type="http://schemas.openxmlformats.org/officeDocument/2006/relationships/slide" Target="slides/slide38.xml"/><Relationship Id="rId39" Type="http://schemas.openxmlformats.org/officeDocument/2006/relationships/slide" Target="slides/slide39.xml"/><Relationship Id="rId40" Type="http://schemas.openxmlformats.org/officeDocument/2006/relationships/slide" Target="slides/slide40.xml"/><Relationship Id="rId41" Type="http://schemas.openxmlformats.org/officeDocument/2006/relationships/slide" Target="slides/slide41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Relationship Id="rId47" Type="http://schemas.openxmlformats.org/officeDocument/2006/relationships/slide" Target="slides/slide11.xml"/><Relationship Id="rId48" Type="http://schemas.openxmlformats.org/officeDocument/2006/relationships/slide" Target="slides/slide42.xml"/>  <Relationship Id="rId49" Type="http://schemas.openxmlformats.org/officeDocument/2006/relationships/slide" Target="slides/slide43.xml"/>
  <Relationship Id="rId50" Type="http://schemas.openxmlformats.org/officeDocument/2006/relationships/slide" Target="slides/slide44.xml"/>
  <Relationship Id="rId51" Type="http://schemas.openxmlformats.org/officeDocument/2006/relationships/slide" Target="slides/slide45.xml"/>
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Terceira etapa. Depois dos conceitos gerais, cada seção abre um BO: suas regras na BDEF e o código ABAP que as implementa no behavior pool, além das classes comuns que todos usam.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cabeçalho da BDEF escolhe o tipo de implementação (managed: o framework grava as tabelas), a versão estrita da sintaxe e o draft. Cada entidade declara tabela, ETag, bloqueio e autorização; o código das regras fica na classe ZBP_R_PC_PEDIDO.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Pedido concentra a maior parte da lógica: sete determinations, ações de ciclo de vida e a orquestração dos outros BOs. O Reembolso é o mais enxuto: só duas ações de decisão.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Criar ou editar gera uma instância draft. Ao salvar, o Prepare roda as validations; se passarem, o Activate copia o rascunho para a tabela ativa. No Pedido, o Activate tem implementação adicional para ajustar a reserva de estoque.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Determinations on modify rodam na fase de interação, a cada alteração; on save, logo antes de gravar. Validations sempre rodam no save (ou no Prepare do draft) e só reportam erros. Determinations não podem falhar o save: quem barra é sempre uma validation.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classe de exceção implementa if_abap_behv_message: uma instância dela vai direto para o %msg do REPORTED. O construtor recebe a constante da mensagem, a severidade e até quatro parâmetros.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regras que não dependem do RAP ficam em métodos estáticos. Os behavior pools só chamam esses métodos, e a classe tem a maior suíte de ABAP Unit do projeto.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Duas classes pequenas com papéis centrais: uma entrega o próximo número do pedido e o SKU a partir de ZPC_NR; a outra concentra os AUTHORITY-CHECK de ZPC_ADMIN e ZPC_PEDIDO, com o atalho do modo trial.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consulta ao ViaCEP usa, no SAP BTP, o cliente HTTP do ABAP Cloud. Respostas definitivas ficam em cache na sessão (até 100 CEPs); indisponibilidade não é cacheada e vira o status X, sem impedir o usuário de continuar.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ZCL_PC_PLANILHA lê o arquivo (XLSX pelo XCO ou CSV) e devolve registros por nome de coluna; ZCL_PC_IMPORTACAO normaliza CPF e CEP, converte textos de CodeList e resume erros. Cada BO cria as instâncias por EML: valem todas as determinations e validations.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Classes executáveis com F9 no ADT (if_oo_adt_classrun). O setup cria a numeração, recarrega as CodeLists e chama as classes de carga de cada domínio; o reset apaga os dados de negócio e só roda em modo trial.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Lista completa das regras declaradas na BDEF do cliente e do endereço, com o momento em que rodam. Todas as validations do cliente e do endereço entram no Prepare do rascunho.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Duas determinations on modify preparam o cliente: a primeira só age na criação (ativo + score sorteado); a segunda limpa CPF, telefone e e-mail a cada alteração desses campos, para que validations e índice comparem sempre o mesmo formato.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exclusão tem features (botão desabilitado) e precheck. O precheck roda antes de o RAP aceitar o delete e consulta pedidos ativos e também pedidos em rascunho, que ainda não existem na tabela ativa.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única fase com chamada remota é a de interação. A determination tenta primeiro um CEP já validado no cadastro (mesma regra da value help) e só então chama o ViaCEP. O resultado vai para CepStatus; a validation do save apenas lê esse status.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ValidarCepUnico lê os irmãos com READ ENTITIES BY \_Endereco em vez de SQL: assim enxerga endereços ainda em rascunho na mesma edição. O CEP de endereço gravado fica somente leitura por feature control, porque faz parte da chave da tabela.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actions de estoque têm authorization : none e não estão na projeção: só o behavior pool do Pedido as executa, por EML, dentro da mesma transação e sob o lock do item.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Reservar, liberar e baixar chamam o mesmo método. Ele relê o saldo dentro da LUW (o framework já bloqueou o item), aplica cada movimento em sequência, acusa falta de saldo por item e grava estoque, reservada, disponível e status de uma vez.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SKU depende da categoria, então não pode nascer na criação do rascunho (categoria vazia). Fica on save, mas listado no Prepare: roda na fase de interação, onde o GET NUMBER é permitido. Se a categoria mudar, o prefixo fica desatualizado e o SKU é gerado de novo.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Regras do pedido e do item do pedido. Pagamento e snapshots não têm regras próprias: são criados e atualizados apenas pelas actions do pedido (internal create / internal update).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número do pedido é gerado na criação do rascunho (on modify): o GET NUMBER não pode rodar na fase de gravação. AtualizarFlagsStatus recalcula os quatro indicadores sempre que o status muda.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ValidarRegistro barra o Save do rascunho sem endereço principal, sem itens ou sem estoque. Na ativação, ReservarEstoqueRegistro reserva via EML; como determination não pode falhar o Save, as falhas ficam guardadas e a validation do pedido ativo as devolve como FAILED.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 um pedido ABERTO só os itens mudam. O Activate com implementação adicional compara a reserva atual com as quantidades do rascunho e reserva ou libera apenas a diferença, inclusive de itens removidos.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get_instance_features calcula, por instância, quais operações estão habilitadas. Disponibilidade por status é feature control, não autorização: o botão simplesmente fica desabilitado.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Fluxo feliz na linha de cima: salvar, pagar e aprovar. Cancelar um pedido com pagamento aprovado não cancela direto: abre um reembolso, que pode ser aprovado (cancela e devolve) ou rejeitado (o pedido volta ao status anterior).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action valida o status, chama a classe de simulação e grava só dados seguros no filho Pagamento: cria na primeira tentativa (CREATE BY \_Pagamento) e atualiza nas seguintes. Aprovado leva o pedido a AGUARDANDO_APROVACAO; recusado o mantém ABERTO.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aprovação confere o status e o pagamento, valida que a reserva ainda cobre os itens, baixa o estoque no BO Item, grava os snapshots do cliente e dos itens e só então marca FINALIZADO com a data. Qualquer falha interrompe o pedido inteiro.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Sem pagamento aprovado, o cancelamento libera a reserva, gera os snapshots e marca CANCELADO. Com pagamento aprovado, o pedido cria uma solicitação no BO Reembolso por EML e passa a PROCESSANDO_REEMBOLSO, mantendo a reserva até a decisão.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Pedido não grava a tabela de estoque: executa as actions ReservarEstoque, LiberarReserva e BaixarEstoque do BO Item por EML. Se o item estiver em edição por outro usuário, a chamada falha e o pedido recebe ITEM_ESTOQUE_CONCORRENTE.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Side effects dizem ao Fiori Elements o que recarregar depois de uma alteração ou ação. O precheck da associação _Itens barra a inclusão de um item sem estoque antes de qualquer determination rodar.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create existe, mas não está na projeção: só o BO Pedido cria solicitações. Os campos da solicitação ficam somente leitura depois da criação; os da decisão, sempre. As duas ações só ficam ativas enquanto o status é PENDENTE.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AprovarReembolso executa CancelarPorReembolso no Pedido (libera estoque, gera snapshots, CANCELADO e pagamento DEVOLVIDO). RejeitarReembolso exige motivo e executa RetomarPedido (volta ao status anterior). Em ambos, a decisão é gravada na mesma LUW.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autorização é global (por operação, não por instância). Cada behavior pool implementa get_global_authorizations chamando ZCL_PC_AUTH; no trial compartilhado, c_modo_trial = abap_true libera tudo porque não é possível manter Business Roles.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classes de teste ficam no sistema e no repositório. Os testes de integração semeiam os próprios dados por INSERT (o ABAP Unit desfaz) e os de persistência usam test doubles de CDS e de SQL para poder executar COMMIT ENTITIES.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Recapitule: BDEF declara e behavior pool implementa; cada BO tem suas regras; o Pedido orquestra Item e Reembolso por EML. Na próxima etapa os BOs viram serviços OData V4.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On-Premise, a mesma classe ZCL_PC_VIACEP usa a API clássica CL_HTTP_CLIENT (pasta ZCL_PC_VIACEP_T2). Como o pacote é Standard ABAP, ela ativa sem subpacote separado nem contrato C1. Host, porta, SSL e proxy ficam na destination Z_VIACEP (SM59, tipo G); a confiança TLS fica na PSE SSL Client (Anonymous) do STRUST. O report ZPC_TESTE_VIACEP testa a destination antes da app. Passo a passo em abap/README.md, seção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Seção curta sobre os testes automatizados: primeiro a visão geral das 13 classes, depois a técnica para testar um BO e, por fim, os cenários testados em cada um dos quatro BOs.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33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classes locais em ZBP_R_PC_CLIENTE. Validações: o rascunho padrão é válido e cada teste altera um campo para provar a validation. Endereço: CEPs já validados ficam no double, então a determination reaproveita o CEP sem chamar o ViaCEP. Exclusão: o precheck recusa cliente com pedido ativo ou em rascunho.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34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Quatro classes locais em ZBP_R_PC_ITEM. Movimentação: ReservarEstoque, LiberarReserva e BaixarEstoque no item ativo, conferindo estoque, reservado e disponível e as mensagens 011, 013, 028 e 038. Validações e inativação pelo Activate do rascunho; exclusão pelo precheck, que recusa item com reserva ou presente em pedido.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3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77724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768096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71323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AMENTO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</a:rPr>
              <a:t>Pedidos de Compras · SAP RAP no BTP e On-Premise  ·  Etapa 3 de 5 — Comportamento RAP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A9B4B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100" Type="http://schemas.openxmlformats.org/officeDocument/2006/relationships/image" Target="../media/cap-1-rId10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Relationship Id="rId100" Type="http://schemas.openxmlformats.org/officeDocument/2006/relationships/image" Target="../media/cap-40-rId100.png"/><Relationship Id="rId101" Type="http://schemas.openxmlformats.org/officeDocument/2006/relationships/image" Target="../media/cap-40-rId101.png"/><Relationship Id="rId102" Type="http://schemas.openxmlformats.org/officeDocument/2006/relationships/image" Target="../media/cap-40-rId102.png"/><Relationship Id="rId103" Type="http://schemas.openxmlformats.org/officeDocument/2006/relationships/image" Target="../media/cap-40-rId103.png"/><Relationship Id="rId104" Type="http://schemas.openxmlformats.org/officeDocument/2006/relationships/image" Target="../media/cap-40-rId104.png"/><Relationship Id="rId105" Type="http://schemas.openxmlformats.org/officeDocument/2006/relationships/image" Target="../media/cap-40-rId105.png"/><Relationship Id="rId106" Type="http://schemas.openxmlformats.org/officeDocument/2006/relationships/image" Target="../media/cap-40-rId10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image" Target="../media/icone-testes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-3-1.png"/><Relationship Id="rId3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-3-2.png"/><Relationship Id="rId3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03 DE 05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Comportamento RAP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1EFFF"/>
                </a:solidFill>
              </a:rPr>
              <a:t>Behavior definitions, draft, determinations, validations, actions e EML, com a implementação de cada BO</a:t>
            </a:r>
            <a:endParaRPr lang="en-US" sz="1800" dirty="0"/>
          </a:p>
        </p:txBody>
      </p:sp>
      <p:sp>
        <p:nvSpPr>
          <p:cNvPr id="5" name="Avatar da etapa"/>
          <p:cNvSpPr/>
          <p:nvPr/>
        </p:nvSpPr>
        <p:spPr>
          <a:xfrm>
            <a:off x="8183880" y="1417320"/>
            <a:ext cx="3291840" cy="3291840"/>
          </a:xfrm>
          <a:prstGeom prst="roundRect">
            <a:avLst>
              <a:gd name="adj" fmla="val 22222"/>
            </a:avLst>
          </a:prstGeom>
          <a:solidFill>
            <a:srgbClr val="1B3A7A"/>
          </a:solidFill>
          <a:ln/>
        </p:spPr>
      </p:sp>
      <p:sp>
        <p:nvSpPr>
          <p:cNvPr id="6" name="Avatar interno"/>
          <p:cNvSpPr/>
          <p:nvPr/>
        </p:nvSpPr>
        <p:spPr>
          <a:xfrm>
            <a:off x="8732520" y="1965960"/>
            <a:ext cx="2194560" cy="2194560"/>
          </a:xfrm>
          <a:prstGeom prst="roundRect">
            <a:avLst>
              <a:gd name="adj" fmla="val 22917"/>
            </a:avLst>
          </a:prstGeom>
          <a:solidFill>
            <a:schemeClr val="accent1"/>
          </a:solidFill>
          <a:ln/>
        </p:spPr>
      </p:sp>
      <p:pic>
        <p:nvPicPr>
          <p:cNvPr id="7" name="Image 0" descr="Comportamento RAP">    </p:cNvPr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9281160" y="2514600"/>
            <a:ext cx="1097280" cy="1097280"/>
          </a:xfrm>
          <a:prstGeom prst="rect">
            <a:avLst/>
          </a:prstGeom>
        </p:spPr>
      </p:pic>
      <p:sp>
        <p:nvSpPr>
          <p:cNvPr id="8" name="Etapa 1"/>
          <p:cNvSpPr/>
          <p:nvPr/>
        </p:nvSpPr>
        <p:spPr>
          <a:xfrm>
            <a:off x="8183880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9" name="Etapa 2"/>
          <p:cNvSpPr/>
          <p:nvPr/>
        </p:nvSpPr>
        <p:spPr>
          <a:xfrm>
            <a:off x="8864194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0" name="Etapa 3"/>
          <p:cNvSpPr/>
          <p:nvPr/>
        </p:nvSpPr>
        <p:spPr>
          <a:xfrm>
            <a:off x="9544508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89D1FF"/>
          </a:solidFill>
          <a:ln/>
        </p:spPr>
      </p:sp>
      <p:sp>
        <p:nvSpPr>
          <p:cNvPr id="11" name="Etapa 4"/>
          <p:cNvSpPr/>
          <p:nvPr/>
        </p:nvSpPr>
        <p:spPr>
          <a:xfrm>
            <a:off x="10224822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2" name="Etapa 5"/>
          <p:cNvSpPr/>
          <p:nvPr/>
        </p:nvSpPr>
        <p:spPr>
          <a:xfrm>
            <a:off x="10905136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183880" y="5303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Etapa 3 de 5</a:t>
            </a:r>
            <a:endParaRPr lang="en-US" sz="1200" dirty="0"/>
          </a:p>
        </p:txBody>
      </p:sp>
      <p:sp>
        <p:nvSpPr>
          <p:cNvPr id="40" name="Rodapé"/>
          <p:cNvSpPr txBox="1"/>
          <p:nvPr/>
        </p:nvSpPr>
        <p:spPr>
          <a:xfrm>
            <a:off x="731520" y="59893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r>
              <a:rPr lang="pt-BR" sz="1200" dirty="0">
                <a:solidFill>
                  <a:srgbClr val="89D1FF"/>
                </a:solidFill>
              </a:rPr>
              <a:t>Pedidos de Compras · SAP RAP no BTP e On-Premise · Design System SAP Horizon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BEHAVIOR DEFINITION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 BDEF declara; a behavior pool implementa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4008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4008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3825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3825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R_PC_PEDIDO.bdef.asbdef"/>
          <p:cNvSpPr/>
          <p:nvPr/>
        </p:nvSpPr>
        <p:spPr>
          <a:xfrm>
            <a:off x="640080" y="1719072"/>
            <a:ext cx="214884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ZR_PC_PEDIDO.bdef.asbdef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14884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608076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managed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implementation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zbp_r_pc_pedido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unique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strict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behavior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persistent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zta_pc_pedido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zta_pc_pedido_d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etag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master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LocalLastChangedAt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lock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master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etag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LastChangedAt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authorization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master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global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instance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_Itens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instance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precheck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numbering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managed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readonly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mandatory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readonly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12" name="Cartão"/>
          <p:cNvSpPr/>
          <p:nvPr/>
        </p:nvSpPr>
        <p:spPr>
          <a:xfrm>
            <a:off x="7223760" y="1645920"/>
            <a:ext cx="4419295" cy="4526280"/>
          </a:xfrm>
          <a:prstGeom prst="roundRect">
            <a:avLst>
              <a:gd name="adj" fmla="val 24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42492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7863840" y="181051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managed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863840" y="2093976"/>
            <a:ext cx="35963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O RAP faz o CRUD nas tabelas; o código cuida só das regras.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424928" y="2679192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7863840" y="2660904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strict ( 2 )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7863840" y="2944368"/>
            <a:ext cx="35963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Checagens mais rígidas de sintaxe e boas práticas.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424928" y="3529584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7863840" y="3511296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with draft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7863840" y="3794760"/>
            <a:ext cx="35963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Rascunhos em ZTA_*_D até o usuário salvar.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7424928" y="4379976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7863840" y="4361688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etag / lock master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7863840" y="4645152"/>
            <a:ext cx="35963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Concorrência otimista e bloqueio do BO inteiro pelo root.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7424928" y="5230368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5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7863840" y="5212080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features : instance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7863840" y="5495544"/>
            <a:ext cx="35963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Disponibilidade calculada por instância.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BUSINESS OBJECTS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Quatro BOs, quatro perfis de comportamento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2602154" cy="4526280"/>
          </a:xfrm>
          <a:prstGeom prst="roundRect">
            <a:avLst>
              <a:gd name="adj" fmla="val 4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customer"/>
          <p:cNvSpPr/>
          <p:nvPr/>
        </p:nvSpPr>
        <p:spPr>
          <a:xfrm>
            <a:off x="777240" y="187452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7" name="Image 0" descr="custom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2006194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7240" y="2560320"/>
            <a:ext cx="21449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Cliente + Endereço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880360"/>
            <a:ext cx="21449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ZBP_R_PC_CLIENTE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333756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9F9A"/>
                </a:solidFill>
              </a:rPr>
              <a:t>4</a:t>
            </a:r>
            <a:endParaRPr lang="en-US" sz="2400" dirty="0"/>
          </a:p>
        </p:txBody>
      </p:sp>
      <p:sp>
        <p:nvSpPr>
          <p:cNvPr id="11" name="Text 7"/>
          <p:cNvSpPr txBox="1"/>
          <p:nvPr/>
        </p:nvSpPr>
        <p:spPr>
          <a:xfrm>
            <a:off x="1325880" y="333756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determinations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777240" y="384048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9F9A"/>
                </a:solidFill>
              </a:rPr>
              <a:t>10</a:t>
            </a:r>
            <a:endParaRPr lang="en-US" sz="2400" dirty="0"/>
          </a:p>
        </p:txBody>
      </p:sp>
      <p:sp>
        <p:nvSpPr>
          <p:cNvPr id="13" name="Text 9"/>
          <p:cNvSpPr txBox="1"/>
          <p:nvPr/>
        </p:nvSpPr>
        <p:spPr>
          <a:xfrm>
            <a:off x="1325880" y="384048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validations</a:t>
            </a:r>
            <a:endParaRPr lang="en-US" sz="1250" dirty="0"/>
          </a:p>
        </p:txBody>
      </p:sp>
      <p:sp>
        <p:nvSpPr>
          <p:cNvPr id="14" name="Text 10"/>
          <p:cNvSpPr txBox="1"/>
          <p:nvPr/>
        </p:nvSpPr>
        <p:spPr>
          <a:xfrm>
            <a:off x="777240" y="434340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9F9A"/>
                </a:solidFill>
              </a:rPr>
              <a:t>2</a:t>
            </a:r>
            <a:endParaRPr lang="en-US" sz="2400" dirty="0"/>
          </a:p>
        </p:txBody>
      </p:sp>
      <p:sp>
        <p:nvSpPr>
          <p:cNvPr id="15" name="Text 11"/>
          <p:cNvSpPr txBox="1"/>
          <p:nvPr/>
        </p:nvSpPr>
        <p:spPr>
          <a:xfrm>
            <a:off x="1325880" y="434340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actions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777240" y="4937760"/>
            <a:ext cx="2144954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777240" y="5047488"/>
            <a:ext cx="214495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ViaCEP, CPF, e-mail, telefone, foto, CEP único, endereço principal</a:t>
            </a:r>
            <a:endParaRPr lang="en-US" sz="1150" dirty="0"/>
          </a:p>
        </p:txBody>
      </p:sp>
      <p:sp>
        <p:nvSpPr>
          <p:cNvPr id="18" name="Cartão"/>
          <p:cNvSpPr/>
          <p:nvPr/>
        </p:nvSpPr>
        <p:spPr>
          <a:xfrm>
            <a:off x="3379394" y="1645920"/>
            <a:ext cx="2602154" cy="4526280"/>
          </a:xfrm>
          <a:prstGeom prst="roundRect">
            <a:avLst>
              <a:gd name="adj" fmla="val 4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9" name="Ícone product"/>
          <p:cNvSpPr/>
          <p:nvPr/>
        </p:nvSpPr>
        <p:spPr>
          <a:xfrm>
            <a:off x="3607994" y="187452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20" name="Image 1" descr="produc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9667" y="2006194"/>
            <a:ext cx="285293" cy="285293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3607994" y="2560320"/>
            <a:ext cx="21449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Item de estoque</a:t>
            </a:r>
            <a:endParaRPr lang="en-US" sz="1600" dirty="0"/>
          </a:p>
        </p:txBody>
      </p:sp>
      <p:sp>
        <p:nvSpPr>
          <p:cNvPr id="22" name="Text 17"/>
          <p:cNvSpPr txBox="1"/>
          <p:nvPr/>
        </p:nvSpPr>
        <p:spPr>
          <a:xfrm>
            <a:off x="3607994" y="2880360"/>
            <a:ext cx="21449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ZBP_R_PC_ITEM</a:t>
            </a:r>
            <a:endParaRPr lang="en-US" sz="1050" dirty="0"/>
          </a:p>
        </p:txBody>
      </p:sp>
      <p:sp>
        <p:nvSpPr>
          <p:cNvPr id="23" name="Text 18"/>
          <p:cNvSpPr txBox="1"/>
          <p:nvPr/>
        </p:nvSpPr>
        <p:spPr>
          <a:xfrm>
            <a:off x="3607994" y="333756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87B00"/>
                </a:solidFill>
              </a:rPr>
              <a:t>3</a:t>
            </a:r>
            <a:endParaRPr lang="en-US" sz="2400" dirty="0"/>
          </a:p>
        </p:txBody>
      </p:sp>
      <p:sp>
        <p:nvSpPr>
          <p:cNvPr id="24" name="Text 19"/>
          <p:cNvSpPr txBox="1"/>
          <p:nvPr/>
        </p:nvSpPr>
        <p:spPr>
          <a:xfrm>
            <a:off x="4156634" y="333756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determinations</a:t>
            </a:r>
            <a:endParaRPr lang="en-US" sz="1250" dirty="0"/>
          </a:p>
        </p:txBody>
      </p:sp>
      <p:sp>
        <p:nvSpPr>
          <p:cNvPr id="25" name="Text 20"/>
          <p:cNvSpPr txBox="1"/>
          <p:nvPr/>
        </p:nvSpPr>
        <p:spPr>
          <a:xfrm>
            <a:off x="3607994" y="384048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87B00"/>
                </a:solidFill>
              </a:rPr>
              <a:t>5</a:t>
            </a:r>
            <a:endParaRPr lang="en-US" sz="2400" dirty="0"/>
          </a:p>
        </p:txBody>
      </p:sp>
      <p:sp>
        <p:nvSpPr>
          <p:cNvPr id="26" name="Text 21"/>
          <p:cNvSpPr txBox="1"/>
          <p:nvPr/>
        </p:nvSpPr>
        <p:spPr>
          <a:xfrm>
            <a:off x="4156634" y="384048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validations</a:t>
            </a:r>
            <a:endParaRPr lang="en-US" sz="1250" dirty="0"/>
          </a:p>
        </p:txBody>
      </p:sp>
      <p:sp>
        <p:nvSpPr>
          <p:cNvPr id="27" name="Text 22"/>
          <p:cNvSpPr txBox="1"/>
          <p:nvPr/>
        </p:nvSpPr>
        <p:spPr>
          <a:xfrm>
            <a:off x="3607994" y="434340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87B00"/>
                </a:solidFill>
              </a:rPr>
              <a:t>4</a:t>
            </a:r>
            <a:endParaRPr lang="en-US" sz="2400" dirty="0"/>
          </a:p>
        </p:txBody>
      </p:sp>
      <p:sp>
        <p:nvSpPr>
          <p:cNvPr id="28" name="Text 23"/>
          <p:cNvSpPr txBox="1"/>
          <p:nvPr/>
        </p:nvSpPr>
        <p:spPr>
          <a:xfrm>
            <a:off x="4156634" y="434340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actions</a:t>
            </a:r>
            <a:endParaRPr lang="en-US" sz="1250" dirty="0"/>
          </a:p>
        </p:txBody>
      </p:sp>
      <p:sp>
        <p:nvSpPr>
          <p:cNvPr id="29" name="Shape 24"/>
          <p:cNvSpPr/>
          <p:nvPr/>
        </p:nvSpPr>
        <p:spPr>
          <a:xfrm>
            <a:off x="3607994" y="4937760"/>
            <a:ext cx="2144954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3607994" y="5047488"/>
            <a:ext cx="214495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SKU no save, status do estoque, reservar, liberar e baixar</a:t>
            </a:r>
            <a:endParaRPr lang="en-US" sz="1150" dirty="0"/>
          </a:p>
        </p:txBody>
      </p:sp>
      <p:sp>
        <p:nvSpPr>
          <p:cNvPr id="31" name="Cartão"/>
          <p:cNvSpPr/>
          <p:nvPr/>
        </p:nvSpPr>
        <p:spPr>
          <a:xfrm>
            <a:off x="6210148" y="1645920"/>
            <a:ext cx="2602154" cy="4526280"/>
          </a:xfrm>
          <a:prstGeom prst="roundRect">
            <a:avLst>
              <a:gd name="adj" fmla="val 4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2" name="Ícone sales-order"/>
          <p:cNvSpPr/>
          <p:nvPr/>
        </p:nvSpPr>
        <p:spPr>
          <a:xfrm>
            <a:off x="6438748" y="187452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33" name="Image 2" descr="sales-ord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0421" y="2006194"/>
            <a:ext cx="285293" cy="285293"/>
          </a:xfrm>
          <a:prstGeom prst="rect">
            <a:avLst/>
          </a:prstGeom>
        </p:spPr>
      </p:pic>
      <p:sp>
        <p:nvSpPr>
          <p:cNvPr id="34" name="Text 28"/>
          <p:cNvSpPr txBox="1"/>
          <p:nvPr/>
        </p:nvSpPr>
        <p:spPr>
          <a:xfrm>
            <a:off x="6438748" y="2560320"/>
            <a:ext cx="21449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Pedido</a:t>
            </a:r>
            <a:endParaRPr lang="en-US" sz="1600" dirty="0"/>
          </a:p>
        </p:txBody>
      </p:sp>
      <p:sp>
        <p:nvSpPr>
          <p:cNvPr id="35" name="Text 29"/>
          <p:cNvSpPr txBox="1"/>
          <p:nvPr/>
        </p:nvSpPr>
        <p:spPr>
          <a:xfrm>
            <a:off x="6438748" y="2880360"/>
            <a:ext cx="21449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ZBP_R_PC_PEDIDO</a:t>
            </a:r>
            <a:endParaRPr lang="en-US" sz="1050" dirty="0"/>
          </a:p>
        </p:txBody>
      </p:sp>
      <p:sp>
        <p:nvSpPr>
          <p:cNvPr id="36" name="Text 30"/>
          <p:cNvSpPr txBox="1"/>
          <p:nvPr/>
        </p:nvSpPr>
        <p:spPr>
          <a:xfrm>
            <a:off x="6438748" y="333756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70F2"/>
                </a:solidFill>
              </a:rPr>
              <a:t>7</a:t>
            </a:r>
            <a:endParaRPr lang="en-US" sz="2400" dirty="0"/>
          </a:p>
        </p:txBody>
      </p:sp>
      <p:sp>
        <p:nvSpPr>
          <p:cNvPr id="37" name="Text 31"/>
          <p:cNvSpPr txBox="1"/>
          <p:nvPr/>
        </p:nvSpPr>
        <p:spPr>
          <a:xfrm>
            <a:off x="6987388" y="333756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determinations</a:t>
            </a:r>
            <a:endParaRPr lang="en-US" sz="1250" dirty="0"/>
          </a:p>
        </p:txBody>
      </p:sp>
      <p:sp>
        <p:nvSpPr>
          <p:cNvPr id="38" name="Text 32"/>
          <p:cNvSpPr txBox="1"/>
          <p:nvPr/>
        </p:nvSpPr>
        <p:spPr>
          <a:xfrm>
            <a:off x="6438748" y="384048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70F2"/>
                </a:solidFill>
              </a:rPr>
              <a:t>3</a:t>
            </a:r>
            <a:endParaRPr lang="en-US" sz="2400" dirty="0"/>
          </a:p>
        </p:txBody>
      </p:sp>
      <p:sp>
        <p:nvSpPr>
          <p:cNvPr id="39" name="Text 33"/>
          <p:cNvSpPr txBox="1"/>
          <p:nvPr/>
        </p:nvSpPr>
        <p:spPr>
          <a:xfrm>
            <a:off x="6987388" y="384048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validations</a:t>
            </a:r>
            <a:endParaRPr lang="en-US" sz="1250" dirty="0"/>
          </a:p>
        </p:txBody>
      </p:sp>
      <p:sp>
        <p:nvSpPr>
          <p:cNvPr id="40" name="Text 34"/>
          <p:cNvSpPr txBox="1"/>
          <p:nvPr/>
        </p:nvSpPr>
        <p:spPr>
          <a:xfrm>
            <a:off x="6438748" y="434340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70F2"/>
                </a:solidFill>
              </a:rPr>
              <a:t>7</a:t>
            </a:r>
            <a:endParaRPr lang="en-US" sz="2400" dirty="0"/>
          </a:p>
        </p:txBody>
      </p:sp>
      <p:sp>
        <p:nvSpPr>
          <p:cNvPr id="41" name="Text 35"/>
          <p:cNvSpPr txBox="1"/>
          <p:nvPr/>
        </p:nvSpPr>
        <p:spPr>
          <a:xfrm>
            <a:off x="6987388" y="434340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actions</a:t>
            </a:r>
            <a:endParaRPr lang="en-US" sz="1250" dirty="0"/>
          </a:p>
        </p:txBody>
      </p:sp>
      <p:sp>
        <p:nvSpPr>
          <p:cNvPr id="42" name="Shape 36"/>
          <p:cNvSpPr/>
          <p:nvPr/>
        </p:nvSpPr>
        <p:spPr>
          <a:xfrm>
            <a:off x="6438748" y="4937760"/>
            <a:ext cx="2144954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43" name="Text 37"/>
          <p:cNvSpPr txBox="1"/>
          <p:nvPr/>
        </p:nvSpPr>
        <p:spPr>
          <a:xfrm>
            <a:off x="6438748" y="5047488"/>
            <a:ext cx="214495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Numeração, total, reserva, pagamento, aprovação, cancelamento</a:t>
            </a:r>
            <a:endParaRPr lang="en-US" sz="1150" dirty="0"/>
          </a:p>
        </p:txBody>
      </p:sp>
      <p:sp>
        <p:nvSpPr>
          <p:cNvPr id="44" name="Cartão"/>
          <p:cNvSpPr/>
          <p:nvPr/>
        </p:nvSpPr>
        <p:spPr>
          <a:xfrm>
            <a:off x="9040901" y="1645920"/>
            <a:ext cx="2602154" cy="4526280"/>
          </a:xfrm>
          <a:prstGeom prst="roundRect">
            <a:avLst>
              <a:gd name="adj" fmla="val 4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5" name="Ícone money-bills"/>
          <p:cNvSpPr/>
          <p:nvPr/>
        </p:nvSpPr>
        <p:spPr>
          <a:xfrm>
            <a:off x="9269501" y="187452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46" name="Image 3" descr="money-bill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1175" y="2006194"/>
            <a:ext cx="285293" cy="285293"/>
          </a:xfrm>
          <a:prstGeom prst="rect">
            <a:avLst/>
          </a:prstGeom>
        </p:spPr>
      </p:pic>
      <p:sp>
        <p:nvSpPr>
          <p:cNvPr id="47" name="Text 40"/>
          <p:cNvSpPr txBox="1"/>
          <p:nvPr/>
        </p:nvSpPr>
        <p:spPr>
          <a:xfrm>
            <a:off x="9269501" y="2560320"/>
            <a:ext cx="21449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Reembolso</a:t>
            </a:r>
            <a:endParaRPr lang="en-US" sz="1600" dirty="0"/>
          </a:p>
        </p:txBody>
      </p:sp>
      <p:sp>
        <p:nvSpPr>
          <p:cNvPr id="48" name="Text 41"/>
          <p:cNvSpPr txBox="1"/>
          <p:nvPr/>
        </p:nvSpPr>
        <p:spPr>
          <a:xfrm>
            <a:off x="9269501" y="2880360"/>
            <a:ext cx="21449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ZBP_R_PC_REEMBOLSO</a:t>
            </a:r>
            <a:endParaRPr lang="en-US" sz="1050" dirty="0"/>
          </a:p>
        </p:txBody>
      </p:sp>
      <p:sp>
        <p:nvSpPr>
          <p:cNvPr id="49" name="Text 42"/>
          <p:cNvSpPr txBox="1"/>
          <p:nvPr/>
        </p:nvSpPr>
        <p:spPr>
          <a:xfrm>
            <a:off x="9269501" y="333756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9D9D9"/>
                </a:solidFill>
              </a:rPr>
              <a:t>0</a:t>
            </a:r>
            <a:endParaRPr lang="en-US" sz="2400" dirty="0"/>
          </a:p>
        </p:txBody>
      </p:sp>
      <p:sp>
        <p:nvSpPr>
          <p:cNvPr id="50" name="Text 43"/>
          <p:cNvSpPr txBox="1"/>
          <p:nvPr/>
        </p:nvSpPr>
        <p:spPr>
          <a:xfrm>
            <a:off x="9818141" y="333756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determinations</a:t>
            </a:r>
            <a:endParaRPr lang="en-US" sz="1250" dirty="0"/>
          </a:p>
        </p:txBody>
      </p:sp>
      <p:sp>
        <p:nvSpPr>
          <p:cNvPr id="51" name="Text 44"/>
          <p:cNvSpPr txBox="1"/>
          <p:nvPr/>
        </p:nvSpPr>
        <p:spPr>
          <a:xfrm>
            <a:off x="9269501" y="384048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9D9D9"/>
                </a:solidFill>
              </a:rPr>
              <a:t>0</a:t>
            </a:r>
            <a:endParaRPr lang="en-US" sz="2400" dirty="0"/>
          </a:p>
        </p:txBody>
      </p:sp>
      <p:sp>
        <p:nvSpPr>
          <p:cNvPr id="52" name="Text 45"/>
          <p:cNvSpPr txBox="1"/>
          <p:nvPr/>
        </p:nvSpPr>
        <p:spPr>
          <a:xfrm>
            <a:off x="9818141" y="384048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validations</a:t>
            </a:r>
            <a:endParaRPr lang="en-US" sz="1250" dirty="0"/>
          </a:p>
        </p:txBody>
      </p:sp>
      <p:sp>
        <p:nvSpPr>
          <p:cNvPr id="53" name="Text 46"/>
          <p:cNvSpPr txBox="1"/>
          <p:nvPr/>
        </p:nvSpPr>
        <p:spPr>
          <a:xfrm>
            <a:off x="9269501" y="434340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F1278"/>
                </a:solidFill>
              </a:rPr>
              <a:t>2</a:t>
            </a:r>
            <a:endParaRPr lang="en-US" sz="2400" dirty="0"/>
          </a:p>
        </p:txBody>
      </p:sp>
      <p:sp>
        <p:nvSpPr>
          <p:cNvPr id="54" name="Text 47"/>
          <p:cNvSpPr txBox="1"/>
          <p:nvPr/>
        </p:nvSpPr>
        <p:spPr>
          <a:xfrm>
            <a:off x="9818141" y="434340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actions</a:t>
            </a:r>
            <a:endParaRPr lang="en-US" sz="1250" dirty="0"/>
          </a:p>
        </p:txBody>
      </p:sp>
      <p:sp>
        <p:nvSpPr>
          <p:cNvPr id="55" name="Shape 48"/>
          <p:cNvSpPr/>
          <p:nvPr/>
        </p:nvSpPr>
        <p:spPr>
          <a:xfrm>
            <a:off x="9269501" y="4937760"/>
            <a:ext cx="2144954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56" name="Text 49"/>
          <p:cNvSpPr txBox="1"/>
          <p:nvPr/>
        </p:nvSpPr>
        <p:spPr>
          <a:xfrm>
            <a:off x="9269501" y="5047488"/>
            <a:ext cx="214495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Aprovar ou rejeitar a solicitação, sem draft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DRAFT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 rascunho só vira dado ativo depois do Prepare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48640" y="2011680"/>
            <a:ext cx="210312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Create / Edit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usuário inicia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3246120" y="2011680"/>
            <a:ext cx="2377440" cy="1097280"/>
          </a:xfrm>
          <a:prstGeom prst="roundRect">
            <a:avLst>
              <a:gd name="adj" fmla="val 10000"/>
            </a:avLst>
          </a:prstGeom>
          <a:solidFill>
            <a:srgbClr val="E1F4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Instância draft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ZTA_PC_PEDIDO_D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172200" y="2011680"/>
            <a:ext cx="2103120" cy="1097280"/>
          </a:xfrm>
          <a:prstGeom prst="roundRect">
            <a:avLst>
              <a:gd name="adj" fmla="val 10000"/>
            </a:avLst>
          </a:prstGeom>
          <a:solidFill>
            <a:srgbClr val="FFF3B8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Prepare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validations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823960" y="2011680"/>
            <a:ext cx="2816352" cy="1097280"/>
          </a:xfrm>
          <a:prstGeom prst="roundRect">
            <a:avLst>
              <a:gd name="adj" fmla="val 10000"/>
            </a:avLst>
          </a:prstGeom>
          <a:solidFill>
            <a:srgbClr val="0070F2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Activate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D6E9FF"/>
                </a:solidFill>
              </a:rPr>
              <a:t>instância ativa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2651760" y="2560320"/>
            <a:ext cx="594360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5623560" y="2560320"/>
            <a:ext cx="548640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8275320" y="2560320"/>
            <a:ext cx="548640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12" name="Text 9"/>
          <p:cNvSpPr txBox="1"/>
          <p:nvPr/>
        </p:nvSpPr>
        <p:spPr>
          <a:xfrm>
            <a:off x="3246120" y="32004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Discard descarta · Resume retoma um rascunho bloqueado</a:t>
            </a:r>
            <a:endParaRPr lang="en-US" sz="1100" dirty="0"/>
          </a:p>
        </p:txBody>
      </p:sp>
      <p:sp>
        <p:nvSpPr>
          <p:cNvPr id="13" name="Editor"/>
          <p:cNvSpPr/>
          <p:nvPr/>
        </p:nvSpPr>
        <p:spPr>
          <a:xfrm>
            <a:off x="548640" y="3749040"/>
            <a:ext cx="5852160" cy="2423160"/>
          </a:xfrm>
          <a:prstGeom prst="roundRect">
            <a:avLst>
              <a:gd name="adj" fmla="val 3774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recho de código"/>
          <p:cNvSpPr txBox="1"/>
          <p:nvPr/>
        </p:nvSpPr>
        <p:spPr>
          <a:xfrm>
            <a:off x="731520" y="3895344"/>
            <a:ext cx="5532120" cy="2185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instance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Edit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Activate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additional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implementation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Discard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Resume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determine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Prepare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ValidarCliente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ItemPedido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ValidarItemPedido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ValidarRegistro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15" name="Cartão"/>
          <p:cNvSpPr/>
          <p:nvPr/>
        </p:nvSpPr>
        <p:spPr>
          <a:xfrm>
            <a:off x="6629400" y="3749040"/>
            <a:ext cx="5013655" cy="2423160"/>
          </a:xfrm>
          <a:prstGeom prst="roundRect">
            <a:avLst>
              <a:gd name="adj" fmla="val 45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shipping-status"/>
          <p:cNvSpPr/>
          <p:nvPr/>
        </p:nvSpPr>
        <p:spPr>
          <a:xfrm>
            <a:off x="6858000" y="395020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7" name="Image 0" descr="shipping-stat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67728" y="4059936"/>
            <a:ext cx="237744" cy="237744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7498080" y="3950208"/>
            <a:ext cx="3916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Activate: otimizado ou não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6858000" y="4572000"/>
            <a:ext cx="4556455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Item usa Activate optimized (só os campos alterados). Cliente usa o Activate completo: o CEP é chave da tabela e precisa ir no UPDATE. Pedido acrescenta código para reservar só a diferença dos itens.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REGRAS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Determinations calculam, validations barram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3566160" cy="45262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edit"/>
          <p:cNvSpPr/>
          <p:nvPr/>
        </p:nvSpPr>
        <p:spPr>
          <a:xfrm>
            <a:off x="777240" y="184708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7" name="Image 0" descr="ed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1956816"/>
            <a:ext cx="237744" cy="2377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89888" y="18288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 modify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1389888" y="210312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fase de interação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25603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DefinirStatusInicial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777240" y="28346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status ABERTO na criação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777240" y="32461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GerarNumeroPedido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777240" y="35204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número via ZPC_NR (early)</a:t>
            </a:r>
            <a:endParaRPr lang="en-US" sz="1150" dirty="0"/>
          </a:p>
        </p:txBody>
      </p:sp>
      <p:sp>
        <p:nvSpPr>
          <p:cNvPr id="14" name="Text 10"/>
          <p:cNvSpPr txBox="1"/>
          <p:nvPr/>
        </p:nvSpPr>
        <p:spPr>
          <a:xfrm>
            <a:off x="777240" y="39319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AtualizarEndereco</a:t>
            </a:r>
            <a:endParaRPr lang="en-US" sz="1150" dirty="0"/>
          </a:p>
        </p:txBody>
      </p:sp>
      <p:sp>
        <p:nvSpPr>
          <p:cNvPr id="15" name="Text 11"/>
          <p:cNvSpPr txBox="1"/>
          <p:nvPr/>
        </p:nvSpPr>
        <p:spPr>
          <a:xfrm>
            <a:off x="777240" y="42062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endereço principal do cliente</a:t>
            </a:r>
            <a:endParaRPr lang="en-US" sz="1150" dirty="0"/>
          </a:p>
        </p:txBody>
      </p:sp>
      <p:sp>
        <p:nvSpPr>
          <p:cNvPr id="16" name="Text 12"/>
          <p:cNvSpPr txBox="1"/>
          <p:nvPr/>
        </p:nvSpPr>
        <p:spPr>
          <a:xfrm>
            <a:off x="777240" y="46177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PreencherEnderecoViaCep</a:t>
            </a:r>
            <a:endParaRPr lang="en-US" sz="1150" dirty="0"/>
          </a:p>
        </p:txBody>
      </p:sp>
      <p:sp>
        <p:nvSpPr>
          <p:cNvPr id="17" name="Text 13"/>
          <p:cNvSpPr txBox="1"/>
          <p:nvPr/>
        </p:nvSpPr>
        <p:spPr>
          <a:xfrm>
            <a:off x="777240" y="48920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logradouro, bairro, cidade</a:t>
            </a:r>
            <a:endParaRPr lang="en-US" sz="1150" dirty="0"/>
          </a:p>
        </p:txBody>
      </p:sp>
      <p:sp>
        <p:nvSpPr>
          <p:cNvPr id="18" name="Text 14"/>
          <p:cNvSpPr txBox="1"/>
          <p:nvPr/>
        </p:nvSpPr>
        <p:spPr>
          <a:xfrm>
            <a:off x="777240" y="53035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ReservarEstoqueRegistro</a:t>
            </a:r>
            <a:endParaRPr lang="en-US" sz="1150" dirty="0"/>
          </a:p>
        </p:txBody>
      </p:sp>
      <p:sp>
        <p:nvSpPr>
          <p:cNvPr id="19" name="Text 15"/>
          <p:cNvSpPr txBox="1"/>
          <p:nvPr/>
        </p:nvSpPr>
        <p:spPr>
          <a:xfrm>
            <a:off x="777240" y="55778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reserva pela diferença</a:t>
            </a:r>
            <a:endParaRPr lang="en-US" sz="1150" dirty="0"/>
          </a:p>
        </p:txBody>
      </p:sp>
      <p:sp>
        <p:nvSpPr>
          <p:cNvPr id="20" name="Cartão"/>
          <p:cNvSpPr/>
          <p:nvPr/>
        </p:nvSpPr>
        <p:spPr>
          <a:xfrm>
            <a:off x="4315968" y="1645920"/>
            <a:ext cx="3566160" cy="45262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save"/>
          <p:cNvSpPr/>
          <p:nvPr/>
        </p:nvSpPr>
        <p:spPr>
          <a:xfrm>
            <a:off x="4544568" y="184708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3F7F6"/>
          </a:solidFill>
          <a:ln/>
        </p:spPr>
      </p:sp>
      <p:pic>
        <p:nvPicPr>
          <p:cNvPr id="22" name="Image 1" descr="sa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4296" y="1956816"/>
            <a:ext cx="237744" cy="237744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5157216" y="18288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 save</a:t>
            </a:r>
            <a:endParaRPr lang="en-US" sz="1500" dirty="0"/>
          </a:p>
        </p:txBody>
      </p:sp>
      <p:sp>
        <p:nvSpPr>
          <p:cNvPr id="24" name="Text 19"/>
          <p:cNvSpPr txBox="1"/>
          <p:nvPr/>
        </p:nvSpPr>
        <p:spPr>
          <a:xfrm>
            <a:off x="5157216" y="210312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antes de gravar</a:t>
            </a:r>
            <a:endParaRPr lang="en-US" sz="1100" dirty="0"/>
          </a:p>
        </p:txBody>
      </p:sp>
      <p:sp>
        <p:nvSpPr>
          <p:cNvPr id="25" name="Text 20"/>
          <p:cNvSpPr txBox="1"/>
          <p:nvPr/>
        </p:nvSpPr>
        <p:spPr>
          <a:xfrm>
            <a:off x="4544568" y="25603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CalcularTotalPedido</a:t>
            </a:r>
            <a:endParaRPr lang="en-US" sz="1150" dirty="0"/>
          </a:p>
        </p:txBody>
      </p:sp>
      <p:sp>
        <p:nvSpPr>
          <p:cNvPr id="26" name="Text 21"/>
          <p:cNvSpPr txBox="1"/>
          <p:nvPr/>
        </p:nvSpPr>
        <p:spPr>
          <a:xfrm>
            <a:off x="4544568" y="28346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soma dos itens</a:t>
            </a:r>
            <a:endParaRPr lang="en-US" sz="1150" dirty="0"/>
          </a:p>
        </p:txBody>
      </p:sp>
      <p:sp>
        <p:nvSpPr>
          <p:cNvPr id="27" name="Text 22"/>
          <p:cNvSpPr txBox="1"/>
          <p:nvPr/>
        </p:nvSpPr>
        <p:spPr>
          <a:xfrm>
            <a:off x="4544568" y="32461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GerarSku</a:t>
            </a:r>
            <a:endParaRPr lang="en-US" sz="1150" dirty="0"/>
          </a:p>
        </p:txBody>
      </p:sp>
      <p:sp>
        <p:nvSpPr>
          <p:cNvPr id="28" name="Text 23"/>
          <p:cNvSpPr txBox="1"/>
          <p:nvPr/>
        </p:nvSpPr>
        <p:spPr>
          <a:xfrm>
            <a:off x="4544568" y="35204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SKU-ELE-0000000001</a:t>
            </a:r>
            <a:endParaRPr lang="en-US" sz="1150" dirty="0"/>
          </a:p>
        </p:txBody>
      </p:sp>
      <p:sp>
        <p:nvSpPr>
          <p:cNvPr id="29" name="Text 24"/>
          <p:cNvSpPr txBox="1"/>
          <p:nvPr/>
        </p:nvSpPr>
        <p:spPr>
          <a:xfrm>
            <a:off x="4544568" y="39319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Regra de ouro</a:t>
            </a:r>
            <a:endParaRPr lang="en-US" sz="1150" dirty="0"/>
          </a:p>
        </p:txBody>
      </p:sp>
      <p:sp>
        <p:nvSpPr>
          <p:cNvPr id="30" name="Text 25"/>
          <p:cNvSpPr txBox="1"/>
          <p:nvPr/>
        </p:nvSpPr>
        <p:spPr>
          <a:xfrm>
            <a:off x="4544568" y="42062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nada de HTTP ou GET NUMBER sem buffer no save</a:t>
            </a:r>
            <a:endParaRPr lang="en-US" sz="1150" dirty="0"/>
          </a:p>
        </p:txBody>
      </p:sp>
      <p:sp>
        <p:nvSpPr>
          <p:cNvPr id="31" name="Cartão"/>
          <p:cNvSpPr/>
          <p:nvPr/>
        </p:nvSpPr>
        <p:spPr>
          <a:xfrm>
            <a:off x="8083296" y="1645920"/>
            <a:ext cx="3559759" cy="4526280"/>
          </a:xfrm>
          <a:prstGeom prst="roundRect">
            <a:avLst>
              <a:gd name="adj" fmla="val 30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2" name="Ícone status-error"/>
          <p:cNvSpPr/>
          <p:nvPr/>
        </p:nvSpPr>
        <p:spPr>
          <a:xfrm>
            <a:off x="8311896" y="184708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pic>
        <p:nvPicPr>
          <p:cNvPr id="33" name="Image 2" descr="status-erro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1624" y="1956816"/>
            <a:ext cx="237744" cy="237744"/>
          </a:xfrm>
          <a:prstGeom prst="rect">
            <a:avLst/>
          </a:prstGeom>
        </p:spPr>
      </p:pic>
      <p:sp>
        <p:nvSpPr>
          <p:cNvPr id="34" name="Text 28"/>
          <p:cNvSpPr txBox="1"/>
          <p:nvPr/>
        </p:nvSpPr>
        <p:spPr>
          <a:xfrm>
            <a:off x="8924544" y="1828800"/>
            <a:ext cx="25539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validations</a:t>
            </a:r>
            <a:endParaRPr lang="en-US" sz="1500" dirty="0"/>
          </a:p>
        </p:txBody>
      </p:sp>
      <p:sp>
        <p:nvSpPr>
          <p:cNvPr id="35" name="Text 29"/>
          <p:cNvSpPr txBox="1"/>
          <p:nvPr/>
        </p:nvSpPr>
        <p:spPr>
          <a:xfrm>
            <a:off x="8924544" y="2103120"/>
            <a:ext cx="2553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on save / Prepare</a:t>
            </a:r>
            <a:endParaRPr lang="en-US" sz="1100" dirty="0"/>
          </a:p>
        </p:txBody>
      </p:sp>
      <p:sp>
        <p:nvSpPr>
          <p:cNvPr id="36" name="Text 30"/>
          <p:cNvSpPr txBox="1"/>
          <p:nvPr/>
        </p:nvSpPr>
        <p:spPr>
          <a:xfrm>
            <a:off x="8311896" y="256032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ValidarCpf</a:t>
            </a:r>
            <a:endParaRPr lang="en-US" sz="1150" dirty="0"/>
          </a:p>
        </p:txBody>
      </p:sp>
      <p:sp>
        <p:nvSpPr>
          <p:cNvPr id="37" name="Text 31"/>
          <p:cNvSpPr txBox="1"/>
          <p:nvPr/>
        </p:nvSpPr>
        <p:spPr>
          <a:xfrm>
            <a:off x="8311896" y="283464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dígitos e unicidade</a:t>
            </a:r>
            <a:endParaRPr lang="en-US" sz="1150" dirty="0"/>
          </a:p>
        </p:txBody>
      </p:sp>
      <p:sp>
        <p:nvSpPr>
          <p:cNvPr id="38" name="Text 32"/>
          <p:cNvSpPr txBox="1"/>
          <p:nvPr/>
        </p:nvSpPr>
        <p:spPr>
          <a:xfrm>
            <a:off x="8311896" y="324612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ValidarCep / ValidarCepUnico</a:t>
            </a:r>
            <a:endParaRPr lang="en-US" sz="1150" dirty="0"/>
          </a:p>
        </p:txBody>
      </p:sp>
      <p:sp>
        <p:nvSpPr>
          <p:cNvPr id="39" name="Text 33"/>
          <p:cNvSpPr txBox="1"/>
          <p:nvPr/>
        </p:nvSpPr>
        <p:spPr>
          <a:xfrm>
            <a:off x="8311896" y="352044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ViaCEP e CEP por cliente</a:t>
            </a:r>
            <a:endParaRPr lang="en-US" sz="1150" dirty="0"/>
          </a:p>
        </p:txBody>
      </p:sp>
      <p:sp>
        <p:nvSpPr>
          <p:cNvPr id="40" name="Text 34"/>
          <p:cNvSpPr txBox="1"/>
          <p:nvPr/>
        </p:nvSpPr>
        <p:spPr>
          <a:xfrm>
            <a:off x="8311896" y="393192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ValidarRegistro</a:t>
            </a:r>
            <a:endParaRPr lang="en-US" sz="1150" dirty="0"/>
          </a:p>
        </p:txBody>
      </p:sp>
      <p:sp>
        <p:nvSpPr>
          <p:cNvPr id="41" name="Text 35"/>
          <p:cNvSpPr txBox="1"/>
          <p:nvPr/>
        </p:nvSpPr>
        <p:spPr>
          <a:xfrm>
            <a:off x="8311896" y="420624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endereço, itens, estoque</a:t>
            </a:r>
            <a:endParaRPr lang="en-US" sz="1150" dirty="0"/>
          </a:p>
        </p:txBody>
      </p:sp>
      <p:sp>
        <p:nvSpPr>
          <p:cNvPr id="42" name="Text 36"/>
          <p:cNvSpPr txBox="1"/>
          <p:nvPr/>
        </p:nvSpPr>
        <p:spPr>
          <a:xfrm>
            <a:off x="8311896" y="461772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ValidarItemPedido</a:t>
            </a:r>
            <a:endParaRPr lang="en-US" sz="1150" dirty="0"/>
          </a:p>
        </p:txBody>
      </p:sp>
      <p:sp>
        <p:nvSpPr>
          <p:cNvPr id="43" name="Text 37"/>
          <p:cNvSpPr txBox="1"/>
          <p:nvPr/>
        </p:nvSpPr>
        <p:spPr>
          <a:xfrm>
            <a:off x="8311896" y="489204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item ativo e quantidade</a:t>
            </a:r>
            <a:endParaRPr lang="en-US" sz="1150" dirty="0"/>
          </a:p>
        </p:txBody>
      </p:sp>
      <p:sp>
        <p:nvSpPr>
          <p:cNvPr id="44" name="Text 38"/>
          <p:cNvSpPr txBox="1"/>
          <p:nvPr/>
        </p:nvSpPr>
        <p:spPr>
          <a:xfrm>
            <a:off x="8311896" y="530352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ValidarSkuUnico</a:t>
            </a:r>
            <a:endParaRPr lang="en-US" sz="1150" dirty="0"/>
          </a:p>
        </p:txBody>
      </p:sp>
      <p:sp>
        <p:nvSpPr>
          <p:cNvPr id="45" name="Text 39"/>
          <p:cNvSpPr txBox="1"/>
          <p:nvPr/>
        </p:nvSpPr>
        <p:spPr>
          <a:xfrm>
            <a:off x="8311896" y="557784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SKU sem repetição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3 · COMMON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Common: classes compartilhadas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Mensagens, utilitários, numeração, autorização, ViaCEP, leitura de planilhas e carga de dados: tudo o que os quatro behavior pools reutilizam.</a:t>
            </a:r>
            <a:endParaRPr lang="en-US" sz="1800" dirty="0"/>
          </a:p>
        </p:txBody>
      </p:sp>
      <p:sp>
        <p:nvSpPr>
          <p:cNvPr id="7" name="Ícone settings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settin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3758184"/>
          </a:xfrm>
          <a:prstGeom prst="roundRect">
            <a:avLst>
              <a:gd name="adj" fmla="val 3015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ZCX_PC_MSG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exceção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ZCL_PC_UTIL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utilitários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ZCL_PC_NUMERACAO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numeração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ZCL_PC_AUTH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autorização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ZCL_PC_VIACEP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integração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379476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ZCL_PC_PLANILHA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leitura de arquivo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8275320" y="417880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ZCL_PC_IMPORTACAO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apoio à importação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8275320" y="456285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ZCL_PC_SETUP · ZCL_PC_RESET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carga e limpeza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MENSAGENS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ZCX_PC_MSG: a exceção que vira mensagem RAP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4008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4008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3825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3825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CX_PC_MSG.clas.abap"/>
          <p:cNvSpPr/>
          <p:nvPr/>
        </p:nvSpPr>
        <p:spPr>
          <a:xfrm>
            <a:off x="640080" y="1719072"/>
            <a:ext cx="18745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ZCX_PC_MSG.clas.abap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8745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ZAVBS_PC_COMMON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ZCX_PC_MSG.clas.abap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08076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zcx_pc_msg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DEFINITION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INHERITING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cx_static_check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INTERFACES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if_abap_behv_message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INTERFACES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if_t100_message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INTERFACES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if_t100_dyn_msg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CONSTANTS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BEGIN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cliente_cpf_invalido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msgid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symsgid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'ZPC_MSG'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msgno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symsgno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'001'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cliente_cpf_invalido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constructor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IMPORTING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LIKE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if_t100_message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t100key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severity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if_abap_behv_message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t_severity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DEFAULT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if_abap_behv_message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severity-error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attr1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csequence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attr2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csequence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</p:txBody>
      </p:sp>
      <p:sp>
        <p:nvSpPr>
          <p:cNvPr id="13" name="Cartão"/>
          <p:cNvSpPr/>
          <p:nvPr/>
        </p:nvSpPr>
        <p:spPr>
          <a:xfrm>
            <a:off x="7223760" y="1645920"/>
            <a:ext cx="4419295" cy="4526280"/>
          </a:xfrm>
          <a:prstGeom prst="roundRect">
            <a:avLst>
              <a:gd name="adj" fmla="val 24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42492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7863840" y="181051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49 constantes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863840" y="209397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Uma por mensagem de ZPC_MSG, com o nome da regra.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42492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7863840" y="287350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Severidade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863840" y="315696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Erro por padrão; sucesso e aviso também usados.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4249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7863840" y="393649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sucesso( )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863840" y="421995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Fábrica para mensagens de sucesso (pedido registrado, finalizado).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42492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7863840" y="499948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Texto longo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7863840" y="528294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Mensagem 049 divide até 200 caracteres em &amp;1..&amp;4.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UTILITÁRIOS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ZCL_PC_UTIL: regras puras e testáveis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6309360" cy="4608576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60350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338328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Método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O que faz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somente_digitos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Remove tudo que não é dígito (CPF, CEP, telefone, cartão)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validar_cpf · calcular_dv_cpf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11 dígitos, não repetidos, dígitos verificadores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formatar_cpf · formatar_telefone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000.000.000-00 e (00) 00000-0000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validar_email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Formato de e-mail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validar_imagem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JPEG/PNG/WEBP: MIME, extensão e assinatura binária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calcular_status_estoque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SEM_ESTOQUE (0), ACABANDO (1–10), EM_ESTOQUE (11+)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formatar_endereco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Endereço completo em uma linha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Editor"/>
          <p:cNvSpPr/>
          <p:nvPr/>
        </p:nvSpPr>
        <p:spPr>
          <a:xfrm>
            <a:off x="6903720" y="1645920"/>
            <a:ext cx="4739335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Área do editor"/>
          <p:cNvSpPr/>
          <p:nvPr/>
        </p:nvSpPr>
        <p:spPr>
          <a:xfrm>
            <a:off x="6903720" y="1993392"/>
            <a:ext cx="4739335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9" name="Shape 5"/>
          <p:cNvSpPr/>
          <p:nvPr/>
        </p:nvSpPr>
        <p:spPr>
          <a:xfrm>
            <a:off x="6912864" y="1993392"/>
            <a:ext cx="472104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0" name="Shape 6"/>
          <p:cNvSpPr/>
          <p:nvPr/>
        </p:nvSpPr>
        <p:spPr>
          <a:xfrm>
            <a:off x="6912864" y="1993392"/>
            <a:ext cx="472104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1" name="Aba ZCL_PC_UTIL.clas.abap"/>
          <p:cNvSpPr/>
          <p:nvPr/>
        </p:nvSpPr>
        <p:spPr>
          <a:xfrm>
            <a:off x="6995160" y="1719072"/>
            <a:ext cx="19431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ZCL_PC_UTIL.clas.abap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6995160" y="1719072"/>
            <a:ext cx="19431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3" name="Trecho de código"/>
          <p:cNvSpPr txBox="1"/>
          <p:nvPr/>
        </p:nvSpPr>
        <p:spPr>
          <a:xfrm>
            <a:off x="7086600" y="2103120"/>
            <a:ext cx="4419295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validar_cpf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rv_valido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abap_false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lv_cpf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somente_digitos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iv_cpf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strlen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lv_cpf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&lt;&gt;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Rejeita 000..., 111..., etc.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lv_cpf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repeat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substring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lv_cpf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occ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calcular_dv_cpf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substring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lv_cpf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lv_cpf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rv_valido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NUMERAÇÃO E AUTORIZAÇÃO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ZCL_PC_NUMERACAO e ZCL_PC_AUTH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394960" cy="2743200"/>
          </a:xfrm>
          <a:prstGeom prst="roundRect">
            <a:avLst>
              <a:gd name="adj" fmla="val 3333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394960" cy="2395728"/>
          </a:xfrm>
          <a:prstGeom prst="roundRect">
            <a:avLst>
              <a:gd name="adj" fmla="val 3817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37667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37667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CL_PC_NUMERACAO.clas.abap"/>
          <p:cNvSpPr/>
          <p:nvPr/>
        </p:nvSpPr>
        <p:spPr>
          <a:xfrm>
            <a:off x="640080" y="1719072"/>
            <a:ext cx="22860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ZCL_PC_NUMERACAO.clas.abap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2860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50749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proximo_numero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cl_numberrange_runtime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number_get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EXPORTING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nr_range_nr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iv_intervalo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'ZPC_NR'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IMPORTING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lv_numero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rv_numero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int8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lv_numero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prefixo_categoria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ELETRONICOS -&gt; ELE; vazia -&gt; XXX</a:t>
            </a:r>
            <a:endParaRPr lang="en-US" sz="1050" dirty="0"/>
          </a:p>
        </p:txBody>
      </p:sp>
      <p:sp>
        <p:nvSpPr>
          <p:cNvPr id="12" name="Editor"/>
          <p:cNvSpPr/>
          <p:nvPr/>
        </p:nvSpPr>
        <p:spPr>
          <a:xfrm>
            <a:off x="6172200" y="1645920"/>
            <a:ext cx="5470855" cy="2743200"/>
          </a:xfrm>
          <a:prstGeom prst="roundRect">
            <a:avLst>
              <a:gd name="adj" fmla="val 3333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Área do editor"/>
          <p:cNvSpPr/>
          <p:nvPr/>
        </p:nvSpPr>
        <p:spPr>
          <a:xfrm>
            <a:off x="6172200" y="1993392"/>
            <a:ext cx="5470855" cy="2395728"/>
          </a:xfrm>
          <a:prstGeom prst="roundRect">
            <a:avLst>
              <a:gd name="adj" fmla="val 3817"/>
            </a:avLst>
          </a:prstGeom>
          <a:solidFill>
            <a:srgbClr val="1F1F1F"/>
          </a:solidFill>
          <a:ln/>
        </p:spPr>
      </p:sp>
      <p:sp>
        <p:nvSpPr>
          <p:cNvPr id="14" name="Shape 11"/>
          <p:cNvSpPr/>
          <p:nvPr/>
        </p:nvSpPr>
        <p:spPr>
          <a:xfrm>
            <a:off x="6181344" y="1993392"/>
            <a:ext cx="545256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5" name="Shape 12"/>
          <p:cNvSpPr/>
          <p:nvPr/>
        </p:nvSpPr>
        <p:spPr>
          <a:xfrm>
            <a:off x="6181344" y="1993392"/>
            <a:ext cx="545256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6" name="Aba ZCL_PC_AUTH.clas.abap"/>
          <p:cNvSpPr/>
          <p:nvPr/>
        </p:nvSpPr>
        <p:spPr>
          <a:xfrm>
            <a:off x="6263640" y="1719072"/>
            <a:ext cx="19431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ZCL_PC_AUTH.clas.abap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263640" y="1719072"/>
            <a:ext cx="19431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8" name="Trecho de código"/>
          <p:cNvSpPr txBox="1"/>
          <p:nvPr/>
        </p:nvSpPr>
        <p:spPr>
          <a:xfrm>
            <a:off x="6355080" y="2103120"/>
            <a:ext cx="515081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verificar_pedido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zif_pc_constants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c_modo_trial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rv_autorizado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AUTHORITY-CHECK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'ZPC_PEDIDO'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'ACTVT'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iv_actvt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rv_autorizado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xsdbool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sy-subrc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</p:txBody>
      </p:sp>
      <p:sp>
        <p:nvSpPr>
          <p:cNvPr id="19" name="Cartão"/>
          <p:cNvSpPr/>
          <p:nvPr/>
        </p:nvSpPr>
        <p:spPr>
          <a:xfrm>
            <a:off x="548640" y="4572000"/>
            <a:ext cx="2602154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731520" y="4709160"/>
            <a:ext cx="22363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proximo_numero_pedido</a:t>
            </a:r>
            <a:endParaRPr lang="en-US" sz="1050" dirty="0"/>
          </a:p>
        </p:txBody>
      </p:sp>
      <p:sp>
        <p:nvSpPr>
          <p:cNvPr id="21" name="Status intervalo 01"/>
          <p:cNvSpPr/>
          <p:nvPr/>
        </p:nvSpPr>
        <p:spPr>
          <a:xfrm>
            <a:off x="731520" y="5029200"/>
            <a:ext cx="1043148" cy="23774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64D9"/>
                </a:solidFill>
              </a:rPr>
              <a:t>intervalo 01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731520" y="5349240"/>
            <a:ext cx="223639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Número de 10 dígitos com zeros à esquerda.</a:t>
            </a:r>
            <a:endParaRPr lang="en-US" sz="1050" dirty="0"/>
          </a:p>
        </p:txBody>
      </p:sp>
      <p:sp>
        <p:nvSpPr>
          <p:cNvPr id="23" name="Cartão"/>
          <p:cNvSpPr/>
          <p:nvPr/>
        </p:nvSpPr>
        <p:spPr>
          <a:xfrm>
            <a:off x="3379394" y="4572000"/>
            <a:ext cx="2602154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3562274" y="4709160"/>
            <a:ext cx="22363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gerar_sku</a:t>
            </a:r>
            <a:endParaRPr lang="en-US" sz="1050" dirty="0"/>
          </a:p>
        </p:txBody>
      </p:sp>
      <p:sp>
        <p:nvSpPr>
          <p:cNvPr id="25" name="Status intervalo 02"/>
          <p:cNvSpPr/>
          <p:nvPr/>
        </p:nvSpPr>
        <p:spPr>
          <a:xfrm>
            <a:off x="3562274" y="5029200"/>
            <a:ext cx="1043148" cy="23774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64D9"/>
                </a:solidFill>
              </a:rPr>
              <a:t>intervalo 02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3562274" y="5349240"/>
            <a:ext cx="223639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SKU-&lt;prefixo&gt;-&lt;número relativo ao intervalo&gt;.</a:t>
            </a:r>
            <a:endParaRPr lang="en-US" sz="1050" dirty="0"/>
          </a:p>
        </p:txBody>
      </p:sp>
      <p:sp>
        <p:nvSpPr>
          <p:cNvPr id="27" name="Cartão"/>
          <p:cNvSpPr/>
          <p:nvPr/>
        </p:nvSpPr>
        <p:spPr>
          <a:xfrm>
            <a:off x="6210148" y="4572000"/>
            <a:ext cx="2602154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6393028" y="4709160"/>
            <a:ext cx="22363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admin_pode_*</a:t>
            </a:r>
            <a:endParaRPr lang="en-US" sz="1050" dirty="0"/>
          </a:p>
        </p:txBody>
      </p:sp>
      <p:sp>
        <p:nvSpPr>
          <p:cNvPr id="29" name="Status ZPC_ADMIN"/>
          <p:cNvSpPr/>
          <p:nvPr/>
        </p:nvSpPr>
        <p:spPr>
          <a:xfrm>
            <a:off x="6393028" y="5029200"/>
            <a:ext cx="855513" cy="237744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6B82"/>
                </a:solidFill>
              </a:rPr>
              <a:t>ZPC_ADMIN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6393028" y="5349240"/>
            <a:ext cx="223639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criar (01), alterar (02), excluir (06): Clientes e Estoque.</a:t>
            </a:r>
            <a:endParaRPr lang="en-US" sz="1050" dirty="0"/>
          </a:p>
        </p:txBody>
      </p:sp>
      <p:sp>
        <p:nvSpPr>
          <p:cNvPr id="31" name="Cartão"/>
          <p:cNvSpPr/>
          <p:nvPr/>
        </p:nvSpPr>
        <p:spPr>
          <a:xfrm>
            <a:off x="9040901" y="4572000"/>
            <a:ext cx="2602154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2" name="Text 29"/>
          <p:cNvSpPr txBox="1"/>
          <p:nvPr/>
        </p:nvSpPr>
        <p:spPr>
          <a:xfrm>
            <a:off x="9223781" y="4709160"/>
            <a:ext cx="22363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pedido_pode_*</a:t>
            </a:r>
            <a:endParaRPr lang="en-US" sz="1050" dirty="0"/>
          </a:p>
        </p:txBody>
      </p:sp>
      <p:sp>
        <p:nvSpPr>
          <p:cNvPr id="33" name="Status ZPC_PEDIDO"/>
          <p:cNvSpPr/>
          <p:nvPr/>
        </p:nvSpPr>
        <p:spPr>
          <a:xfrm>
            <a:off x="9223781" y="5029200"/>
            <a:ext cx="918058" cy="237744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6B82"/>
                </a:solidFill>
              </a:rPr>
              <a:t>ZPC_PEDIDO</a:t>
            </a:r>
            <a:endParaRPr lang="en-US" sz="950" dirty="0"/>
          </a:p>
        </p:txBody>
      </p:sp>
      <p:sp>
        <p:nvSpPr>
          <p:cNvPr id="34" name="Text 31"/>
          <p:cNvSpPr txBox="1"/>
          <p:nvPr/>
        </p:nvSpPr>
        <p:spPr>
          <a:xfrm>
            <a:off x="9223781" y="5349240"/>
            <a:ext cx="223639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criar, alterar, excluir e executar (16): Pedidos e Reembolsos.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VIACEP (SAP BTP)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ZCL_PC_VIACEP: HTTP com cache e falha segura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57784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57784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55955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55955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CL_PC_VIACEP.clas.abap"/>
          <p:cNvSpPr/>
          <p:nvPr/>
        </p:nvSpPr>
        <p:spPr>
          <a:xfrm>
            <a:off x="640080" y="1719072"/>
            <a:ext cx="20802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ZCL_PC_VIACEP.clas.abap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0802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525780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consultar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lv_cep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zcl_pc_util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somente_digitos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iv_cep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strlen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lv_cep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rs_resultado-valido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abap_false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gt_cache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ls_cache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lv_cep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sy-subrc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rs_resultado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ls_cache-resultado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rs_resultado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chamar_servico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lv_cep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Só respostas definitivas vão para o cache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rs_resultado-indisponivel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abap_false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gt_cache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c_max_cache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gt_cache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lv_cep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resultado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rs_resultado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gt_cache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</p:txBody>
      </p:sp>
      <p:sp>
        <p:nvSpPr>
          <p:cNvPr id="12" name="Editor"/>
          <p:cNvSpPr/>
          <p:nvPr/>
        </p:nvSpPr>
        <p:spPr>
          <a:xfrm>
            <a:off x="6355080" y="1645920"/>
            <a:ext cx="5287975" cy="2194560"/>
          </a:xfrm>
          <a:prstGeom prst="roundRect">
            <a:avLst>
              <a:gd name="adj" fmla="val 4167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Área do editor"/>
          <p:cNvSpPr/>
          <p:nvPr/>
        </p:nvSpPr>
        <p:spPr>
          <a:xfrm>
            <a:off x="6355080" y="1993392"/>
            <a:ext cx="5287975" cy="1847088"/>
          </a:xfrm>
          <a:prstGeom prst="roundRect">
            <a:avLst>
              <a:gd name="adj" fmla="val 4950"/>
            </a:avLst>
          </a:prstGeom>
          <a:solidFill>
            <a:srgbClr val="1F1F1F"/>
          </a:solidFill>
          <a:ln/>
        </p:spPr>
      </p:sp>
      <p:sp>
        <p:nvSpPr>
          <p:cNvPr id="14" name="Shape 11"/>
          <p:cNvSpPr/>
          <p:nvPr/>
        </p:nvSpPr>
        <p:spPr>
          <a:xfrm>
            <a:off x="6364224" y="1993392"/>
            <a:ext cx="526968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5" name="Shape 12"/>
          <p:cNvSpPr/>
          <p:nvPr/>
        </p:nvSpPr>
        <p:spPr>
          <a:xfrm>
            <a:off x="6364224" y="1993392"/>
            <a:ext cx="526968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6" name="Aba chamar_servico"/>
          <p:cNvSpPr/>
          <p:nvPr/>
        </p:nvSpPr>
        <p:spPr>
          <a:xfrm>
            <a:off x="6446520" y="1719072"/>
            <a:ext cx="146304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chamar_servico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446520" y="1719072"/>
            <a:ext cx="146304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8" name="Trecho de código"/>
          <p:cNvSpPr txBox="1"/>
          <p:nvPr/>
        </p:nvSpPr>
        <p:spPr>
          <a:xfrm>
            <a:off x="6537960" y="2103120"/>
            <a:ext cx="496793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lo_destino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cl_http_destination_provider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create_by_url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i_url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|{ c_url_base }{ iv_cep }/json/|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cl_web_http_client_manager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create_by_http_destination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lo_destino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lo_resposta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if_web_http_client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00" dirty="0"/>
          </a:p>
        </p:txBody>
      </p:sp>
      <p:sp>
        <p:nvSpPr>
          <p:cNvPr id="19" name="Cartão"/>
          <p:cNvSpPr/>
          <p:nvPr/>
        </p:nvSpPr>
        <p:spPr>
          <a:xfrm>
            <a:off x="6355080" y="4069080"/>
            <a:ext cx="5287975" cy="937260"/>
          </a:xfrm>
          <a:prstGeom prst="roundRect">
            <a:avLst>
              <a:gd name="adj" fmla="val 117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6537960" y="4206240"/>
            <a:ext cx="4922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ty_resultado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6537960" y="4544568"/>
            <a:ext cx="4922215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valido · indisponivel · cep_geral · endereco (logradouro, bairro, localidade, uf, estado).</a:t>
            </a:r>
            <a:endParaRPr lang="en-US" sz="1100" dirty="0"/>
          </a:p>
        </p:txBody>
      </p:sp>
      <p:sp>
        <p:nvSpPr>
          <p:cNvPr id="22" name="Cartão"/>
          <p:cNvSpPr/>
          <p:nvPr/>
        </p:nvSpPr>
        <p:spPr>
          <a:xfrm>
            <a:off x="6355080" y="5234940"/>
            <a:ext cx="5287975" cy="937260"/>
          </a:xfrm>
          <a:prstGeom prst="roundRect">
            <a:avLst>
              <a:gd name="adj" fmla="val 117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6537960" y="5372100"/>
            <a:ext cx="4922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 produção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6537960" y="5710428"/>
            <a:ext cx="4922215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No BTP, trocar create_by_url por Communication Arrangement; no On-Premise, ver o próximo slide.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VIACEP (ON-PREMISE)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ZCL_PC_VIACEP no On-Premise: SM59 e STRUST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57784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57784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55955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55955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CL_PC_VIACEP.clas.abap"/>
          <p:cNvSpPr/>
          <p:nvPr/>
        </p:nvSpPr>
        <p:spPr>
          <a:xfrm>
            <a:off x="640080" y="1719072"/>
            <a:ext cx="20802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ZCL_PC_VIACEP (_T2)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0802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525780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chamar_servico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cl_http_client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create_by_destination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EXPORTING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destination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c_destination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Z_VIACEP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IMPORTING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lo_cliente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EXCEPTIONS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OTHERS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sy-subrc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rs_resultado-indisponivel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cl_http_utility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set_request_uri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uri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|/ws/{ iv_cep }/json/|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EXCEPTIONS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OTHERS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sy-subrc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receive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EXCEPTIONS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OTHERS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response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get_status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IMPORTING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lv_status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lv_json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response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get_cdata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20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21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status e JSON: mesma regra da versão BTP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22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</p:txBody>
      </p:sp>
      <p:sp>
        <p:nvSpPr>
          <p:cNvPr id="12" name="Editor"/>
          <p:cNvSpPr/>
          <p:nvPr/>
        </p:nvSpPr>
        <p:spPr>
          <a:xfrm>
            <a:off x="6355080" y="1645920"/>
            <a:ext cx="5287975" cy="2194560"/>
          </a:xfrm>
          <a:prstGeom prst="roundRect">
            <a:avLst>
              <a:gd name="adj" fmla="val 4167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Área do editor"/>
          <p:cNvSpPr/>
          <p:nvPr/>
        </p:nvSpPr>
        <p:spPr>
          <a:xfrm>
            <a:off x="6355080" y="1993392"/>
            <a:ext cx="5287975" cy="1847088"/>
          </a:xfrm>
          <a:prstGeom prst="roundRect">
            <a:avLst>
              <a:gd name="adj" fmla="val 4950"/>
            </a:avLst>
          </a:prstGeom>
          <a:solidFill>
            <a:srgbClr val="1F1F1F"/>
          </a:solidFill>
          <a:ln/>
        </p:spPr>
      </p:sp>
      <p:sp>
        <p:nvSpPr>
          <p:cNvPr id="14" name="Shape 11"/>
          <p:cNvSpPr/>
          <p:nvPr/>
        </p:nvSpPr>
        <p:spPr>
          <a:xfrm>
            <a:off x="6364224" y="1993392"/>
            <a:ext cx="526968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5" name="Shape 12"/>
          <p:cNvSpPr/>
          <p:nvPr/>
        </p:nvSpPr>
        <p:spPr>
          <a:xfrm>
            <a:off x="6364224" y="1993392"/>
            <a:ext cx="526968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6" name="Aba chamar_servico"/>
          <p:cNvSpPr/>
          <p:nvPr/>
        </p:nvSpPr>
        <p:spPr>
          <a:xfrm>
            <a:off x="6446520" y="1719072"/>
            <a:ext cx="146304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SM59 Z_VIACEP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446520" y="1719072"/>
            <a:ext cx="146304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8" name="Trecho de código"/>
          <p:cNvSpPr txBox="1"/>
          <p:nvPr/>
        </p:nvSpPr>
        <p:spPr>
          <a:xfrm>
            <a:off x="6537960" y="2103120"/>
            <a:ext cx="496793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RFC Destination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Z_VIACEP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 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 (HTTP externo)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 Host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viacep.com.br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 No.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443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Path Prefix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(vazio)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Logon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SSL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Active · ANONYM SSL Client</a:t>
            </a:r>
            <a:endParaRPr lang="en-US" sz="1000" dirty="0"/>
          </a:p>
        </p:txBody>
      </p:sp>
      <p:sp>
        <p:nvSpPr>
          <p:cNvPr id="19" name="Cartão"/>
          <p:cNvSpPr/>
          <p:nvPr/>
        </p:nvSpPr>
        <p:spPr>
          <a:xfrm>
            <a:off x="6355080" y="4069080"/>
            <a:ext cx="5287975" cy="937260"/>
          </a:xfrm>
          <a:prstGeom prst="roundRect">
            <a:avLst>
              <a:gd name="adj" fmla="val 117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6537960" y="4206240"/>
            <a:ext cx="4922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Pacote Standard ABAP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6537960" y="4544568"/>
            <a:ext cx="4922215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CL_HTTP_CLIENT é API clássica: em Standard ABAP a classe ativa sem contrato C1, com a mesma interface.</a:t>
            </a:r>
            <a:endParaRPr lang="en-US" sz="1100" dirty="0"/>
          </a:p>
        </p:txBody>
      </p:sp>
      <p:sp>
        <p:nvSpPr>
          <p:cNvPr id="22" name="Cartão"/>
          <p:cNvSpPr/>
          <p:nvPr/>
        </p:nvSpPr>
        <p:spPr>
          <a:xfrm>
            <a:off x="6355080" y="5234940"/>
            <a:ext cx="5287975" cy="937260"/>
          </a:xfrm>
          <a:prstGeom prst="roundRect">
            <a:avLst>
              <a:gd name="adj" fmla="val 117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6537960" y="5372100"/>
            <a:ext cx="4922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STRUST e teste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6537960" y="5710428"/>
            <a:ext cx="4922215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Raiz USERTrust RSA na PSE SSL Client (Anonymous); ZPC_TESTE_VIACEP deve retornar HTTP 200.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IMPORTAÇÃO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Planilhas passam pelas mesmas regras da tela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11094415" cy="3349379"/>
          </a:xfrm>
          <a:prstGeom prst="roundRect">
            <a:avLst>
              <a:gd name="adj" fmla="val 327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Fluxograma da importação por planilh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10948111" cy="3203075"/>
          </a:xfrm>
          <a:prstGeom prst="rect">
            <a:avLst/>
          </a:prstGeom>
        </p:spPr>
      </p:pic>
      <p:sp>
        <p:nvSpPr>
          <p:cNvPr id="7" name="Status Tudo ou nada"/>
          <p:cNvSpPr/>
          <p:nvPr/>
        </p:nvSpPr>
        <p:spPr>
          <a:xfrm>
            <a:off x="548640" y="5230368"/>
            <a:ext cx="1240658" cy="347472"/>
          </a:xfrm>
          <a:prstGeom prst="roundRect">
            <a:avLst>
              <a:gd name="adj" fmla="val 50000"/>
            </a:avLst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Tudo ou nada</a:t>
            </a:r>
            <a:endParaRPr lang="en-US" sz="1200" dirty="0"/>
          </a:p>
        </p:txBody>
      </p:sp>
      <p:sp>
        <p:nvSpPr>
          <p:cNvPr id="8" name="Status Até 500 linhas"/>
          <p:cNvSpPr/>
          <p:nvPr/>
        </p:nvSpPr>
        <p:spPr>
          <a:xfrm>
            <a:off x="1926458" y="5230368"/>
            <a:ext cx="1398666" cy="34747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Até 500 linhas</a:t>
            </a:r>
            <a:endParaRPr lang="en-US" sz="1200" dirty="0"/>
          </a:p>
        </p:txBody>
      </p:sp>
      <p:sp>
        <p:nvSpPr>
          <p:cNvPr id="9" name="Status .xlsx (XCO) ou .csv"/>
          <p:cNvSpPr/>
          <p:nvPr/>
        </p:nvSpPr>
        <p:spPr>
          <a:xfrm>
            <a:off x="3462284" y="5230368"/>
            <a:ext cx="1793687" cy="34747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.xlsx (XCO) ou .csv</a:t>
            </a:r>
            <a:endParaRPr lang="en-US" sz="1200" dirty="0"/>
          </a:p>
        </p:txBody>
      </p:sp>
      <p:sp>
        <p:nvSpPr>
          <p:cNvPr id="10" name="Status Referência de importação idempotente"/>
          <p:cNvSpPr/>
          <p:nvPr/>
        </p:nvSpPr>
        <p:spPr>
          <a:xfrm>
            <a:off x="5393131" y="5230368"/>
            <a:ext cx="3136758" cy="34747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Referência de importação idempotente</a:t>
            </a:r>
            <a:endParaRPr lang="en-US" sz="1200" dirty="0"/>
          </a:p>
        </p:txBody>
      </p:sp>
      <p:sp>
        <p:nvSpPr>
          <p:cNvPr id="11" name="Status Até 15 erros listados por linha"/>
          <p:cNvSpPr/>
          <p:nvPr/>
        </p:nvSpPr>
        <p:spPr>
          <a:xfrm>
            <a:off x="8667049" y="5230368"/>
            <a:ext cx="2741737" cy="347472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6B82"/>
                </a:solidFill>
              </a:rPr>
              <a:t>Até 15 erros listados por linha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57607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ZCL_PC_PLANILHA</a:t>
            </a:r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 lê o arquivo; </a:t>
            </a:r>
            <a:pPr indent="0" marL="0">
              <a:buNone/>
            </a:pPr>
            <a:r>
              <a:rPr lang="en-US" sz="1250" b="1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ZCL_PC_IMPORTACAO</a:t>
            </a:r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 normaliza CPF/CEP, converte CodeLists e resume os erros.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CARGA DE DADOS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ZCL_PC_SETUP, ZCL_PC_RESET e as cargas por domínio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03504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03504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01675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01675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CL_PC_SETUP.clas.abap"/>
          <p:cNvSpPr/>
          <p:nvPr/>
        </p:nvSpPr>
        <p:spPr>
          <a:xfrm>
            <a:off x="640080" y="1719072"/>
            <a:ext cx="201168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ZCL_PC_SETUP.clas.abap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01168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571500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if_oo_adt_classrun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criar_intervalos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carregar_codelists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Ordem importa: pedidos dependem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de clientes e itens já gravados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zcl_setup_cliente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)-&gt;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carregar_dados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zcl_setup_estoque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)-&gt;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carregar_dados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zcl_setup_pedidos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)-&gt;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carregar_dados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CATCH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cx_uuid_error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cx_number_ranges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lx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|Erro nos dados demo: { lx-&gt;get_text( ) }|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ENDTRY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migrar_enderecos_cep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migrar_status_pedidos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COMMIT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</p:txBody>
      </p:sp>
      <p:sp>
        <p:nvSpPr>
          <p:cNvPr id="12" name="Cartão"/>
          <p:cNvSpPr/>
          <p:nvPr/>
        </p:nvSpPr>
        <p:spPr>
          <a:xfrm>
            <a:off x="6858000" y="1645920"/>
            <a:ext cx="4785055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7040880" y="1783080"/>
            <a:ext cx="4419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ZCL_SETUP_CLIENTE</a:t>
            </a:r>
            <a:endParaRPr lang="en-US" sz="1100" dirty="0"/>
          </a:p>
        </p:txBody>
      </p:sp>
      <p:sp>
        <p:nvSpPr>
          <p:cNvPr id="14" name="Status Clientes"/>
          <p:cNvSpPr/>
          <p:nvPr/>
        </p:nvSpPr>
        <p:spPr>
          <a:xfrm>
            <a:off x="8602980" y="1801368"/>
            <a:ext cx="792968" cy="23774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64D9"/>
                </a:solidFill>
              </a:rPr>
              <a:t>Clientes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7040880" y="2121408"/>
            <a:ext cx="441929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100 clientes, cada um com endereço principal já validado.</a:t>
            </a:r>
            <a:endParaRPr lang="en-US" sz="1100" dirty="0"/>
          </a:p>
        </p:txBody>
      </p:sp>
      <p:sp>
        <p:nvSpPr>
          <p:cNvPr id="16" name="Cartão"/>
          <p:cNvSpPr/>
          <p:nvPr/>
        </p:nvSpPr>
        <p:spPr>
          <a:xfrm>
            <a:off x="6858000" y="2834640"/>
            <a:ext cx="4785055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7040880" y="2971800"/>
            <a:ext cx="4419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ZCL_SETUP_ESTOQUE</a:t>
            </a:r>
            <a:endParaRPr lang="en-US" sz="1100" dirty="0"/>
          </a:p>
        </p:txBody>
      </p:sp>
      <p:sp>
        <p:nvSpPr>
          <p:cNvPr id="18" name="Status Estoque"/>
          <p:cNvSpPr/>
          <p:nvPr/>
        </p:nvSpPr>
        <p:spPr>
          <a:xfrm>
            <a:off x="8602980" y="2990088"/>
            <a:ext cx="730423" cy="23774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64D9"/>
                </a:solidFill>
              </a:rPr>
              <a:t>Estoque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7040880" y="3310128"/>
            <a:ext cx="441929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100 itens em várias categorias.</a:t>
            </a:r>
            <a:endParaRPr lang="en-US" sz="1100" dirty="0"/>
          </a:p>
        </p:txBody>
      </p:sp>
      <p:sp>
        <p:nvSpPr>
          <p:cNvPr id="20" name="Cartão"/>
          <p:cNvSpPr/>
          <p:nvPr/>
        </p:nvSpPr>
        <p:spPr>
          <a:xfrm>
            <a:off x="6858000" y="4023360"/>
            <a:ext cx="4785055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7040880" y="4160520"/>
            <a:ext cx="4419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ZCL_SETUP_PEDIDOS</a:t>
            </a:r>
            <a:endParaRPr lang="en-US" sz="1100" dirty="0"/>
          </a:p>
        </p:txBody>
      </p:sp>
      <p:sp>
        <p:nvSpPr>
          <p:cNvPr id="22" name="Status Pedidos"/>
          <p:cNvSpPr/>
          <p:nvPr/>
        </p:nvSpPr>
        <p:spPr>
          <a:xfrm>
            <a:off x="8602980" y="4178808"/>
            <a:ext cx="730423" cy="23774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64D9"/>
                </a:solidFill>
              </a:rPr>
              <a:t>Pedidos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7040880" y="4498848"/>
            <a:ext cx="441929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100 pedidos, 10 com reembolso pendente.</a:t>
            </a:r>
            <a:endParaRPr lang="en-US" sz="1100" dirty="0"/>
          </a:p>
        </p:txBody>
      </p:sp>
      <p:sp>
        <p:nvSpPr>
          <p:cNvPr id="24" name="Cartão"/>
          <p:cNvSpPr/>
          <p:nvPr/>
        </p:nvSpPr>
        <p:spPr>
          <a:xfrm>
            <a:off x="6858000" y="5212080"/>
            <a:ext cx="4785055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7040880" y="5349240"/>
            <a:ext cx="4419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ZCL_PC_RESET</a:t>
            </a:r>
            <a:endParaRPr lang="en-US" sz="1100" dirty="0"/>
          </a:p>
        </p:txBody>
      </p:sp>
      <p:sp>
        <p:nvSpPr>
          <p:cNvPr id="26" name="Status Common"/>
          <p:cNvSpPr/>
          <p:nvPr/>
        </p:nvSpPr>
        <p:spPr>
          <a:xfrm>
            <a:off x="8183880" y="5367528"/>
            <a:ext cx="667878" cy="237744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A0808"/>
                </a:solidFill>
              </a:rPr>
              <a:t>Common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7040880" y="5687568"/>
            <a:ext cx="441929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Apaga dados de negócio e drafts; mantém CodeLists e numeração.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3 · CLIENTES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BO Cliente + Endereço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Dez validations, quatro determinations, a ação de endereço principal, a consulta ao ViaCEP e o bloqueio da exclusão de cliente com pedido.</a:t>
            </a:r>
            <a:endParaRPr lang="en-US" sz="1800" dirty="0"/>
          </a:p>
        </p:txBody>
      </p:sp>
      <p:sp>
        <p:nvSpPr>
          <p:cNvPr id="7" name="Ícone customer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custom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990088"/>
          </a:xfrm>
          <a:prstGeom prst="roundRect">
            <a:avLst>
              <a:gd name="adj" fmla="val 3670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ZR_PC_CLIENTE.bdef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BDEF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ZBP_R_PC_CLIENTE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behavior pool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lhc_cliente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handler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lhc_endereco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handler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ZCL_PC_VE_CLIENTE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virtual elements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379476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ZC_PC_CLIENTE_APP.bdef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projeção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REGRAS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Tudo o que o BO Cliente faz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11094415" cy="4315968"/>
          </a:xfrm>
          <a:prstGeom prst="roundRect">
            <a:avLst>
              <a:gd name="adj" fmla="val 25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1082009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325880"/>
                <a:gridCol w="2514600"/>
                <a:gridCol w="4236415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Regra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Tipo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Quando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O que faz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DefinirValoresIniciais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modify · create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Cliente ativo e score sorteado de 0 a 100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NormalizarDados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modify · CPF, telefone, e-mail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Só dígitos no CPF e telefone; e-mail em minúsculas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ValidarCpf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save · CPF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Dígitos verificadores e CPF único (inclusive rascunhos)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ValidarDadosObrigatorios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save · campos obrigatórios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Nome, e-mail, telefone e nascimento preenchidos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ValidarEmail · ValidarTelefone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save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Formato do e-mail; telefone com 10 ou 11 dígitos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ValidarDataNascimento · ValidarGenero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save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Data não futura; gênero existente na CodeList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ValidarFoto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save · foto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JPEG, PNG ou WEBP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delete ( precheck 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93E00"/>
                          </a:solidFill>
                        </a:rPr>
                        <a:t>precheck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antes de excluir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Bloqueia cliente com pedido ativo ou em rascunho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ImportarPlanilha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56F3A"/>
                          </a:solidFill>
                        </a:rPr>
                        <a:t>action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static, deep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Cria clientes com endereço principal a partir do arquivo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PreencherEnderecoViaCep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modify · CEP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Reaproveita CEP cadastrado ou consulta o ViaCEP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DefinirPrincipalInicial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modify · create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Primeiro endereço do cliente nasce principal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DefinirEnderecoPrincipal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56F3A"/>
                          </a:solidFill>
                        </a:rPr>
                        <a:t>action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instance feature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Marca um endereço como principal e desmarca os outros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ValidarNumero · ValidarCep · ValidarCepUnico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save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Número obrigatório; CEP válido; um CEP por cliente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DETERMINATIONS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Valores iniciais e normalização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58368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58368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56539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56539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CLIENTE"/>
          <p:cNvSpPr/>
          <p:nvPr/>
        </p:nvSpPr>
        <p:spPr>
          <a:xfrm>
            <a:off x="640080" y="1719072"/>
            <a:ext cx="16002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ZBP_R_PC_CLIENTE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6002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6126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ZBP_R_PC_CLIENTE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lhc_cliente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26364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DefinirValoresIniciais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ClienteAtivo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CORRESPONDING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lt_clientes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lt_clientes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ClienteAtivo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lt_clientes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INITIAL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lo_random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cl_abap_random_int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seed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cl_abap_random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seed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ClienteAtivo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lt_clientes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ClienteAtivo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lo_random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get_next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NormalizarDados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lv_cpf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zcl_pc_util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somente_digitos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ls_cliente-Cpf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lv_email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condense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to_lower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ls_cliente-Email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UPDATE só se algo mudou (evita laço de determinations)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406640" y="1645920"/>
            <a:ext cx="4236415" cy="4526280"/>
          </a:xfrm>
          <a:prstGeom prst="roundRect">
            <a:avLst>
              <a:gd name="adj" fmla="val 25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60780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8046720" y="181051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IN LOCAL MODE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046720" y="209397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Lê e grava sem checar autorização: é o próprio BO agindo.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60780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8046720" y="287350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Idempotente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046720" y="315696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Só age em quem ainda não foi inicializado.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60780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8046720" y="393649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Score sorteado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046720" y="421995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cl_abap_random_int, 0 a 100, só leitura depois.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60780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8046720" y="499948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Normalizar antes de validar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8046720" y="528294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ValidarCpf e o índice único veem só dígitos.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EXCLUSÃO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Precheck: cliente com pedido não sai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4008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4008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3825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3825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CLIENTE"/>
          <p:cNvSpPr/>
          <p:nvPr/>
        </p:nvSpPr>
        <p:spPr>
          <a:xfrm>
            <a:off x="640080" y="1719072"/>
            <a:ext cx="16002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ZBP_R_PC_CLIENTE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6002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ZBP_R_PC_CLIENTE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lhc_cliente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08076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precheck_delete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lt_com_pedido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clientes_com_pedido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lt_ids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line_exists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lt_com_pedido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table_line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ls_key-ClienteUUID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failed-cliente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zcx_pc_msg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cliente_com_pedido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reported-cliente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clientes_com_pedido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ativos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@it_clientes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@it_clientes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table_line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lt_ativos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zta_pc_pedido_d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rascunhos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@it_clientes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@it_clientes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table_line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lt_drafts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223760" y="1645920"/>
            <a:ext cx="4419295" cy="4526280"/>
          </a:xfrm>
          <a:prstGeom prst="roundRect">
            <a:avLst>
              <a:gd name="adj" fmla="val 24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42492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7863840" y="181051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precheck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863840" y="209397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Barra a operação antes do framework executá-la.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42492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7863840" y="287350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Ativos e rascunhos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863840" y="315696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Lê ZR_PC_PEDIDO e a draft ZTA_PC_PEDIDO_D.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4249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7863840" y="393649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Dependência cruzada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863840" y="421995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Por isso Pedido precisa estar ativo antes da pool do Cliente.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42492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7863840" y="499948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Mensagem 004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7863840" y="528294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Cliente não pode ser excluído pois possui pedido vinculado.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ENDEREÇO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PreencherEnderecoViaCep: o ViaCEP só no modify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11094415" cy="3349379"/>
          </a:xfrm>
          <a:prstGeom prst="roundRect">
            <a:avLst>
              <a:gd name="adj" fmla="val 327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Fluxograma do endereço e da consulta de CE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10948111" cy="3203075"/>
          </a:xfrm>
          <a:prstGeom prst="rect">
            <a:avLst/>
          </a:prstGeom>
        </p:spPr>
      </p:pic>
      <p:sp>
        <p:nvSpPr>
          <p:cNvPr id="7" name="Cartão"/>
          <p:cNvSpPr/>
          <p:nvPr/>
        </p:nvSpPr>
        <p:spPr>
          <a:xfrm>
            <a:off x="548640" y="5166360"/>
            <a:ext cx="3545738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Ícone history"/>
          <p:cNvSpPr/>
          <p:nvPr/>
        </p:nvSpPr>
        <p:spPr>
          <a:xfrm>
            <a:off x="731520" y="5349240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9" name="Image 1" descr="histor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470" y="5450190"/>
            <a:ext cx="218724" cy="21872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280160" y="5285232"/>
            <a:ext cx="2677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1. CEP já cadastrado</a:t>
            </a:r>
            <a:endParaRPr lang="en-US" sz="1250" dirty="0"/>
          </a:p>
        </p:txBody>
      </p:sp>
      <p:sp>
        <p:nvSpPr>
          <p:cNvPr id="11" name="Text 6"/>
          <p:cNvSpPr txBox="1"/>
          <p:nvPr/>
        </p:nvSpPr>
        <p:spPr>
          <a:xfrm>
            <a:off x="1280160" y="5559552"/>
            <a:ext cx="26770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SELECT em ZR_PC_ENDERECO com CepStatus V e sem CEP geral: reaproveita, sem chamada remota.</a:t>
            </a:r>
            <a:endParaRPr lang="en-US" sz="1050" dirty="0"/>
          </a:p>
        </p:txBody>
      </p:sp>
      <p:sp>
        <p:nvSpPr>
          <p:cNvPr id="12" name="Cartão"/>
          <p:cNvSpPr/>
          <p:nvPr/>
        </p:nvSpPr>
        <p:spPr>
          <a:xfrm>
            <a:off x="4322978" y="5166360"/>
            <a:ext cx="3545738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Ícone chain-link"/>
          <p:cNvSpPr/>
          <p:nvPr/>
        </p:nvSpPr>
        <p:spPr>
          <a:xfrm>
            <a:off x="4505858" y="5349240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4" name="Image 2" descr="chain-lin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6808" y="5450190"/>
            <a:ext cx="218724" cy="21872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5054498" y="5285232"/>
            <a:ext cx="2677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2. ViaCEP</a:t>
            </a:r>
            <a:endParaRPr lang="en-US" sz="1250" dirty="0"/>
          </a:p>
        </p:txBody>
      </p:sp>
      <p:sp>
        <p:nvSpPr>
          <p:cNvPr id="16" name="Text 10"/>
          <p:cNvSpPr txBox="1"/>
          <p:nvPr/>
        </p:nvSpPr>
        <p:spPr>
          <a:xfrm>
            <a:off x="5054498" y="5559552"/>
            <a:ext cx="26770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zcl_pc_viacep=&gt;consultar; indisponível gera aviso (não erro) e status X.</a:t>
            </a:r>
            <a:endParaRPr lang="en-US" sz="1050" dirty="0"/>
          </a:p>
        </p:txBody>
      </p:sp>
      <p:sp>
        <p:nvSpPr>
          <p:cNvPr id="17" name="Cartão"/>
          <p:cNvSpPr/>
          <p:nvPr/>
        </p:nvSpPr>
        <p:spPr>
          <a:xfrm>
            <a:off x="8097317" y="5166360"/>
            <a:ext cx="3545738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8" name="Ícone refresh"/>
          <p:cNvSpPr/>
          <p:nvPr/>
        </p:nvSpPr>
        <p:spPr>
          <a:xfrm>
            <a:off x="8280197" y="5349240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9" name="Image 3" descr="refres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1147" y="5450190"/>
            <a:ext cx="218724" cy="218724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8828837" y="5285232"/>
            <a:ext cx="2677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3. Side effects</a:t>
            </a:r>
            <a:endParaRPr lang="en-US" sz="1250" dirty="0"/>
          </a:p>
        </p:txBody>
      </p:sp>
      <p:sp>
        <p:nvSpPr>
          <p:cNvPr id="21" name="Text 14"/>
          <p:cNvSpPr txBox="1"/>
          <p:nvPr/>
        </p:nvSpPr>
        <p:spPr>
          <a:xfrm>
            <a:off x="8828837" y="5559552"/>
            <a:ext cx="26770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field Cep affects Logradouro, Bairro, Cidade, Uf, Estado, CepGeral, CepStatus.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ENDEREÇO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CEP único por cliente, também entre rascunhos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4008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4008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3825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3825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lhc_endereco.abap"/>
          <p:cNvSpPr/>
          <p:nvPr/>
        </p:nvSpPr>
        <p:spPr>
          <a:xfrm>
            <a:off x="640080" y="1719072"/>
            <a:ext cx="166878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lhc_endereco.abap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66878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608076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ValidarCepUnico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\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_Endereco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lt_pais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lt_irmaos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lt_enderecos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lt_irmaos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ls_irmao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ls_end-ClienteUUID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ls_end-Cep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ls_end-EnderecoUUID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lv_duplicado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lv_duplicado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failed-endereco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zcx_pc_msg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zcx_pc_msg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cep_duplicado_cliente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%element-Cep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mk-on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%path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cliente-ClienteUUID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reported-endereco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</p:txBody>
      </p:sp>
      <p:sp>
        <p:nvSpPr>
          <p:cNvPr id="12" name="Cartão"/>
          <p:cNvSpPr/>
          <p:nvPr/>
        </p:nvSpPr>
        <p:spPr>
          <a:xfrm>
            <a:off x="7223760" y="1645920"/>
            <a:ext cx="4419295" cy="4526280"/>
          </a:xfrm>
          <a:prstGeom prst="roundRect">
            <a:avLst>
              <a:gd name="adj" fmla="val 24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42492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7863840" y="181051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READ BY \_Endereco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863840" y="209397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Inclui rascunhos da mesma sessão.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42492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7863840" y="287350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%element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7863840" y="315696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Destaca o campo CEP na tela.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4249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7863840" y="393649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%path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7863840" y="421995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Mensagem do filho exibida no contexto do cliente.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742492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7863840" y="499948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DefinirEnderecoPrincipal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7863840" y="528294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Regrava o CEP (mesmo valor) porque ele é chave da tabela.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3 · ESTOQUE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BO Item de estoque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SKU gerado no save, status recalculado a cada mudança e três actions internas que só o Pedido pode chamar.</a:t>
            </a:r>
            <a:endParaRPr lang="en-US" sz="1800" dirty="0"/>
          </a:p>
        </p:txBody>
      </p:sp>
      <p:sp>
        <p:nvSpPr>
          <p:cNvPr id="7" name="Ícone product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produc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221992"/>
          </a:xfrm>
          <a:prstGeom prst="roundRect">
            <a:avLst>
              <a:gd name="adj" fmla="val 4938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ZR_PC_ITEM.bdef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BDEF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ZBP_R_PC_ITEM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behavior pool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movimentar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núcleo da reserva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ZC_PC_ITEM_APP.bdef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projeção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ESTOQUE · REGRAS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Tudo o que o BO Item faz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11094415" cy="4617720"/>
          </a:xfrm>
          <a:prstGeom prst="roundRect">
            <a:avLst>
              <a:gd name="adj" fmla="val 237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1082009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325880"/>
                <a:gridCol w="2514600"/>
                <a:gridCol w="4236415"/>
              </a:tblGrid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Regra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Tipo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Quando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O que faz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DefinirValoresIniciais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on modify · create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Item ativo, moeda BRL se vazia, reservada zero, disponível e status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RecalcularStatusEstoque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on modify · QtdeEstoque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Disponível e status recalculados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GerarSku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on save · categoria (no Prepare)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SKU com o prefixo da categoria; refaz se a categoria mudar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ValidarItem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on save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Nome, categoria, preço ≥ 0 e moeda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ValidarQuantidades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on save · QtdeEstoque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Estoque não negativo nem menor que o reservado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ValidarInativacaoItem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on save · ItemAtivo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Não inativa com disponível ou pedido ativo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ValidarSkuUnico · ValidarFoto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on save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SKU sem repetição; foto JPEG/PNG/WEBP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delete ( precheck 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93E00"/>
                          </a:solidFill>
                        </a:rPr>
                        <a:t>precheck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antes de excluir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Bloqueia item vinculado a pedido ou reserva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ReservarEstoque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56B82"/>
                          </a:solidFill>
                        </a:rPr>
                        <a:t>interna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EML do Pedido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Soma à reservada se houver disponível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LiberarReserva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56B82"/>
                          </a:solidFill>
                        </a:rPr>
                        <a:t>interna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EML do Pedido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Devolve ao disponível (cancelar, editar)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BaixarEstoque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56B82"/>
                          </a:solidFill>
                        </a:rPr>
                        <a:t>interna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EML do Pedido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Tira do estoque e da reservada (aprovar)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ImportarPlanilha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56F3A"/>
                          </a:solidFill>
                        </a:rPr>
                        <a:t>action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static, deep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Cria itens com SKU gerado a partir do arquivo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ESTOQUE · MOVIMENTOS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movimentar: o núcleo das três actions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58368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58368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56539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56539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ITEM"/>
          <p:cNvSpPr/>
          <p:nvPr/>
        </p:nvSpPr>
        <p:spPr>
          <a:xfrm>
            <a:off x="640080" y="1719072"/>
            <a:ext cx="13944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ZBP_R_PC_ITEM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3944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6126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ZBP_R_PC_ITEM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movimentar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26364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iv_tipo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c_movimento-reservar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ls_saldo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ativo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abap_false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zcx_pc_msg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item_inativo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ls_mov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ls_saldo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estoque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ls_saldo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reservada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zcx_pc_msg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item_estoque_insuficiente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attr1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ls_saldo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sku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attr2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|{ &lt;ls_saldo&gt;-estoque - &lt;ls_saldo&gt;-reservada }|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ls_saldo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reservada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ls_mov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c_movimento-liberar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ls_saldo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reservada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ls_mov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c_movimento-baixar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ls_saldo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estoque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ls_mov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ls_saldo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reservada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ls_mov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ENDCASE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depois: QtdeDisponivel = estoque - reservada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        StatusEstoque  = calcular_status_estoque( )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406640" y="1645920"/>
            <a:ext cx="4236415" cy="4526280"/>
          </a:xfrm>
          <a:prstGeom prst="roundRect">
            <a:avLst>
              <a:gd name="adj" fmla="val 25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60780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8046720" y="181051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Lock do item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046720" y="209397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O RAP bloqueia o item antes da action: o saldo lido não muda até o commit.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60780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8046720" y="287350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Em sequência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046720" y="315696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O mesmo item pode aparecer várias vezes num lote.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60780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8046720" y="393649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Falha por item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046720" y="421995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FAILED e REPORTED por item; o Pedido repassa as mensagens.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60780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8046720" y="499948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Status junto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8046720" y="528294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Disponível e status gravados no mesmo UPDATE.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ESTOQUE · SKU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GerarSku: o SKU nasce no Prepare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4008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4008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3825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3825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ITEM"/>
          <p:cNvSpPr/>
          <p:nvPr/>
        </p:nvSpPr>
        <p:spPr>
          <a:xfrm>
            <a:off x="640080" y="1719072"/>
            <a:ext cx="13944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ZBP_R_PC_ITEM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3944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ZBP_R_PC_ITEM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lhc_item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08076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GerarSku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lt_itens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ls_item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ls_item-Categoria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INITIAL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SKU já gerado para a categoria atual é mantido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strlen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ls_item-Sku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ls_item-Sku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zcl_pc_numeracao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prefixo_categoria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ls_item-Categoria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CONTINUE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ls_item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Sku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zcl_pc_numeracao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gerar_sku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ls_item-Categoria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%control-Sku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mk-on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lt_update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CATCH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cx_number_ranges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lx_nr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ls_item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zcx_pc_msg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zcx_pc_msg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numeracao_erro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attr1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lx_nr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get_text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reported-item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ENDTRY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223760" y="1645920"/>
            <a:ext cx="4419295" cy="4526280"/>
          </a:xfrm>
          <a:prstGeom prst="roundRect">
            <a:avLst>
              <a:gd name="adj" fmla="val 24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42492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7863840" y="181051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determine action Prepare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863840" y="209397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Lista GerarSku: roda no Save do rascunho.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42492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7863840" y="287350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Prefixo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863840" y="315696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SKU+4(3) comparado com a categoria atual.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4249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7863840" y="393649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%control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863840" y="421995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Indica ao UPDATE quais campos foram enviados.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42492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7863840" y="499948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Erro de numeração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7863840" y="528294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Vira mensagem 036 em vez de dump.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3 · PEDIDOS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BO Pedido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O coração do projeto: registro com reserva de estoque, pagamento simulado, aprovação com baixa e snapshots, cancelamento e abertura de reembolso.</a:t>
            </a:r>
            <a:endParaRPr lang="en-US" sz="1800" dirty="0"/>
          </a:p>
        </p:txBody>
      </p:sp>
      <p:sp>
        <p:nvSpPr>
          <p:cNvPr id="7" name="Ícone sales-order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sales-or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990088"/>
          </a:xfrm>
          <a:prstGeom prst="roundRect">
            <a:avLst>
              <a:gd name="adj" fmla="val 3670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ZR_PC_PEDIDO.bdef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BDEF (5 entidades)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ZBP_R_PC_PEDIDO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behavior pool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lhc_pedido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handler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lhc_itempedido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handler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ZCL_PC_PAGAMENTO_SIM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pagamento simulado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379476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ZC_PC_PEDIDO_APP.bdef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projeção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REGRAS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Tudo o que o BO Pedido faz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11094415" cy="4315968"/>
          </a:xfrm>
          <a:prstGeom prst="roundRect">
            <a:avLst>
              <a:gd name="adj" fmla="val 25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1082009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325880"/>
                <a:gridCol w="2514600"/>
                <a:gridCol w="4236415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Regra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Tipo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Quando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O que faz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DefinirStatusInicial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modify · create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Status ABERTO e pagamento PENDENTE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GerarNumeroPedido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modify · create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Número do intervalo 01 (early numbering)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AtualizarEndereco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modify · cliente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Copia o endereço principal do cliente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AtualizarFlagsStatus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modify · status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Indicadores que dirigem a Object Page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ReservarEstoqueRegistro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modify · create/update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Reserva (ou ajusta) o estoque do pedido salvo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CalcularTotalPedido · CalcularValorItem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save · on modify (item)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Preço do item e total do pedido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ValidarCliente · ValidarRegistro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save / Prepare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Cliente ativo, endereço principal, itens e estoque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ValidarItemPedido · _Itens precheck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save · ao incluir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Item ativo, quantidade &gt; 0, com disponível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SimularPagamento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56F3A"/>
                          </a:solidFill>
                        </a:rPr>
                        <a:t>action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ABERTO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Pagamento simulado; aprovado vai a AGUARDANDO_APROVACAO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AprovarPedido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56F3A"/>
                          </a:solidFill>
                        </a:rPr>
                        <a:t>action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AGUARDANDO_APROVACAO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Baixa estoque, gera snapshots e FINALIZADO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CancelarPedido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56F3A"/>
                          </a:solidFill>
                        </a:rPr>
                        <a:t>action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ABERTO ou AGUARDANDO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Libera reserva ou abre reembolso se já pago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CancelarPorReembolso · RetomarPedido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56B82"/>
                          </a:solidFill>
                        </a:rPr>
                        <a:t>interna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BO Reembolso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Decisão do reembolso no lado do pedido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ImportarPlanilha · RecalcularTotal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56F3A"/>
                          </a:solidFill>
                        </a:rPr>
                        <a:t>action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static · internal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Pedidos da planilha; recálculo do total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NUMERAÇÃO E FLAGS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Número cedo e indicadores sempre em dia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58368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58368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56539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56539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PEDIDO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ZBP_R_PC_PEDIDO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6126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ZBP_R_PC_PEDIDO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lhc_pedido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26364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GerarNumeroPedido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lt_pedidos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INITIAL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lt_pedidos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zcl_pc_numeracao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proximo_numero_pedido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%control-NumeroPedido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mk-on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lt_update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AtualizarFlagsStatus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lv_encerrado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xsdbool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ls_pedido-StatusPedido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c_status_pedido-finalizado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ls_pedido-StatusPedido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c_status_pedido-cancelado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lv_ativo_sh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xsdbool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lv_encerrado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abap_false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lv_nao_fin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xsdbool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ls_pedido-StatusPedido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c_status_pedido-finalizado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lv_nao_canc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xsdbool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ls_pedido-StatusPedido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c_status_pedido-cancelado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UPDATE só se algum indicador mudou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406640" y="1645920"/>
            <a:ext cx="4236415" cy="4526280"/>
          </a:xfrm>
          <a:prstGeom prst="roundRect">
            <a:avLst>
              <a:gd name="adj" fmla="val 25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60780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8046720" y="181051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Early numbering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046720" y="209397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on modify evita BEHAVIOR_ILLEGAL_STATEMENT no save.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60780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8046720" y="287350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Só uma vez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046720" y="315696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Pedidos que já têm número são descartados.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60780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8046720" y="393649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Quatro flags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046720" y="421995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Encerrado, ativo sem histórico, não finalizado, não cancelado.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60780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8046720" y="499948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Para a UI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8046720" y="528294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Usados em hidden: #(campo) nas facets.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REGISTRO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Salvar o rascunho reserva o estoque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58368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58368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56539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56539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PEDIDO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ZBP_R_PC_PEDIDO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6126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ZBP_R_PC_PEDIDO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lhc_pedido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26364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ReservarEstoqueRegistro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Determination não tem FAILED: falhas vão para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gt_falhas_registro e ValidarRegistro as devolve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reservar_registro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EXPORTING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it_keys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CHANGING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ls_failed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reported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ls_reported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ls_reported-pedido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line_exists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ls_failed-pedido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ls_rep-PedidoUUID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ls_rep-PedidoUUID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gt_falhas_registro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ValidarRegistro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%is_draft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mk-off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gt_falhas_registro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ls_falha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ls_pedido-PedidoUUID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failed-pedido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406640" y="1645920"/>
            <a:ext cx="4236415" cy="4526280"/>
          </a:xfrm>
          <a:prstGeom prst="roundRect">
            <a:avLst>
              <a:gd name="adj" fmla="val 25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60780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8046720" y="181051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Rascunho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046720" y="209397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Endereço principal, itens e disponível checados no Prepare.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60780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8046720" y="287350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Ativação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046720" y="315696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A reserva acontece quando o pedido passa a existir.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60780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8046720" y="393649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Ponte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046720" y="421995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Atributo de classe liga determination e validation.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60780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8046720" y="499948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Mensagem 033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8046720" y="528294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Pedido &amp;1 registrado. Estoque reservado.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EDIÇÃO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Editar itens reserva só a diferença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4008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4008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3825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3825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PEDIDO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ZBP_R_PC_PEDIDO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ZBP_R_PC_PEDIDO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lhc_pedido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08076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Activate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lt_velho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reserva_atual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ls_key-PedidoUUID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lt_velho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INITIAL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só edição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itens do rascunho somados por item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somar_quantidades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ls_novo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lt_velho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ls_antes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ls_novo-item_uuid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ls_novo-qtde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ls_antes-qtde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ls_novo-item_uuid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ls_novo-qtde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ls_antes-qtde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lt_reservar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ls_novo-qtde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ls_antes-qtde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ls_novo-item_uuid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ls_antes-qtde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ls_novo-qtde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lt_liberar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itens removidos: libera tudo o que tinham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223760" y="1645920"/>
            <a:ext cx="4419295" cy="4526280"/>
          </a:xfrm>
          <a:prstGeom prst="roundRect">
            <a:avLst>
              <a:gd name="adj" fmla="val 24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42492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7863840" y="181051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Activate with additional implementation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863840" y="209397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Código próprio além da cópia do rascunho.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42492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7863840" y="287350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Diferença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863840" y="315696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Mais quantidade reserva; menos libera.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4249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7863840" y="393649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Removidos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863840" y="421995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Itens que saíram devolvem toda a reserva.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42492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7863840" y="499948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Cliente travado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7863840" y="528294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field ( readonly : update ) ClienteUUID.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FEATURE CONTROL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 status decide quais botões ficam ativos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58368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58368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56539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56539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PEDIDO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ZBP_R_PC_PEDIDO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6126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ZBP_R_PC_PEDIDO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get_instance_features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26364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lt_pedidos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l_ativo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xsdbool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%is_draft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mk-off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l_aberto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xsdbool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p-StatusPedido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c_status_pedido-aberto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%action-Edit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l_ativo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l_aberto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l_off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%action-SimularPagamento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l_ativo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l_aberto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l_off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%action-AprovarPedido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l_ativo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l_ag_apr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l_off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00" dirty="0"/>
          </a:p>
        </p:txBody>
      </p:sp>
      <p:sp>
        <p:nvSpPr>
          <p:cNvPr id="13" name="Fundo da tabela"/>
          <p:cNvSpPr/>
          <p:nvPr/>
        </p:nvSpPr>
        <p:spPr>
          <a:xfrm>
            <a:off x="7315200" y="1645920"/>
            <a:ext cx="4325112" cy="2962656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52360" y="1755648"/>
          <a:ext cx="4050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566928"/>
                <a:gridCol w="566928"/>
                <a:gridCol w="749808"/>
                <a:gridCol w="749808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Status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Editar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Pagar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Aprovar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Cancelar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Aberto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56F3A"/>
                          </a:solidFill>
                        </a:rPr>
                        <a:t>sim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56F3A"/>
                          </a:solidFill>
                        </a:rPr>
                        <a:t>sim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56F3A"/>
                          </a:solidFill>
                        </a:rPr>
                        <a:t>sim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Aguardando aprov.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56F3A"/>
                          </a:solidFill>
                        </a:rPr>
                        <a:t>sim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56F3A"/>
                          </a:solidFill>
                        </a:rPr>
                        <a:t>sim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Proc. reembolso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Finalizado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Cancelado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Cartão"/>
          <p:cNvSpPr/>
          <p:nvPr/>
        </p:nvSpPr>
        <p:spPr>
          <a:xfrm>
            <a:off x="7315200" y="4709160"/>
            <a:ext cx="4325112" cy="1463040"/>
          </a:xfrm>
          <a:prstGeom prst="roundRect">
            <a:avLst>
              <a:gd name="adj" fmla="val 7500"/>
            </a:avLst>
          </a:prstGeom>
          <a:solidFill>
            <a:srgbClr val="E1F4F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7543800" y="4846320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2D3E"/>
                </a:solidFill>
              </a:rPr>
              <a:t>Itens só entram no rascunho; o pedido ativo nunca é excluído, só cancelado. Ações de ciclo de vida exigem a instância ativa.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CICLO DE VIDA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Cinco status e as ações que movem o pedido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48640" y="2286000"/>
            <a:ext cx="274320" cy="274320"/>
          </a:xfrm>
          <a:prstGeom prst="ellipse">
            <a:avLst/>
          </a:prstGeom>
          <a:solidFill>
            <a:srgbClr val="1D2D3E"/>
          </a:solidFill>
          <a:ln/>
        </p:spPr>
      </p:sp>
      <p:sp>
        <p:nvSpPr>
          <p:cNvPr id="6" name="Text 3"/>
          <p:cNvSpPr/>
          <p:nvPr/>
        </p:nvSpPr>
        <p:spPr>
          <a:xfrm>
            <a:off x="1417320" y="2057400"/>
            <a:ext cx="265176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ABERTO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074920" y="2057400"/>
            <a:ext cx="2651760" cy="731520"/>
          </a:xfrm>
          <a:prstGeom prst="roundRect">
            <a:avLst>
              <a:gd name="adj" fmla="val 50000"/>
            </a:avLst>
          </a:prstGeom>
          <a:solidFill>
            <a:srgbClr val="FFF3B8"/>
          </a:solidFill>
          <a:ln w="19050">
            <a:solidFill>
              <a:srgbClr val="F5D76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93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AGUARDANDO_APROVACAO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778240" y="2057400"/>
            <a:ext cx="2651760" cy="7315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 w="19050">
            <a:solidFill>
              <a:srgbClr val="B5D99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FINALIZADO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417320" y="4754880"/>
            <a:ext cx="2651760" cy="731520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 w="19050">
            <a:solidFill>
              <a:srgbClr val="F5B5C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A08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CANCELADO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074920" y="4754880"/>
            <a:ext cx="2651760" cy="731520"/>
          </a:xfrm>
          <a:prstGeom prst="roundRect">
            <a:avLst>
              <a:gd name="adj" fmla="val 50000"/>
            </a:avLst>
          </a:prstGeom>
          <a:solidFill>
            <a:srgbClr val="FFF3B8"/>
          </a:solidFill>
          <a:ln w="19050">
            <a:solidFill>
              <a:srgbClr val="F5D76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93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PROCESSANDO_REEMBOLSO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22960" y="2423160"/>
            <a:ext cx="594360" cy="0"/>
          </a:xfrm>
          <a:prstGeom prst="line">
            <a:avLst/>
          </a:prstGeom>
          <a:noFill/>
          <a:ln w="19050">
            <a:solidFill>
              <a:srgbClr val="1D2D3E"/>
            </a:solidFill>
            <a:prstDash val="solid"/>
            <a:tailEnd type="triangle"/>
          </a:ln>
        </p:spPr>
      </p:sp>
      <p:sp>
        <p:nvSpPr>
          <p:cNvPr id="12" name="Text 9"/>
          <p:cNvSpPr txBox="1"/>
          <p:nvPr/>
        </p:nvSpPr>
        <p:spPr>
          <a:xfrm>
            <a:off x="457200" y="173736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Salvar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069080" y="2423160"/>
            <a:ext cx="1005840" cy="0"/>
          </a:xfrm>
          <a:prstGeom prst="line">
            <a:avLst/>
          </a:prstGeom>
          <a:noFill/>
          <a:ln w="19050">
            <a:solidFill>
              <a:srgbClr val="1D2D3E"/>
            </a:solidFill>
            <a:prstDash val="solid"/>
            <a:tailEnd type="triangle"/>
          </a:ln>
        </p:spPr>
      </p:sp>
      <p:sp>
        <p:nvSpPr>
          <p:cNvPr id="14" name="Text 11"/>
          <p:cNvSpPr txBox="1"/>
          <p:nvPr/>
        </p:nvSpPr>
        <p:spPr>
          <a:xfrm>
            <a:off x="3840480" y="164592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Pagamento aprovado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726680" y="2423160"/>
            <a:ext cx="1051560" cy="0"/>
          </a:xfrm>
          <a:prstGeom prst="line">
            <a:avLst/>
          </a:prstGeom>
          <a:noFill/>
          <a:ln w="19050">
            <a:solidFill>
              <a:srgbClr val="256F3A"/>
            </a:solidFill>
            <a:prstDash val="solid"/>
            <a:tailEnd type="triangle"/>
          </a:ln>
        </p:spPr>
      </p:sp>
      <p:sp>
        <p:nvSpPr>
          <p:cNvPr id="16" name="Text 13"/>
          <p:cNvSpPr txBox="1"/>
          <p:nvPr/>
        </p:nvSpPr>
        <p:spPr>
          <a:xfrm>
            <a:off x="7589520" y="164592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Aprovar pedido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2743200" y="2788920"/>
            <a:ext cx="0" cy="1965960"/>
          </a:xfrm>
          <a:prstGeom prst="line">
            <a:avLst/>
          </a:prstGeom>
          <a:noFill/>
          <a:ln w="19050">
            <a:solidFill>
              <a:srgbClr val="AA0808"/>
            </a:solidFill>
            <a:prstDash val="solid"/>
            <a:tailEnd type="triangle"/>
          </a:ln>
        </p:spPr>
      </p:sp>
      <p:sp>
        <p:nvSpPr>
          <p:cNvPr id="18" name="Text 15"/>
          <p:cNvSpPr txBox="1"/>
          <p:nvPr/>
        </p:nvSpPr>
        <p:spPr>
          <a:xfrm>
            <a:off x="1783080" y="3657600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Cancelar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 flipH="1">
            <a:off x="3840480" y="2788920"/>
            <a:ext cx="1554480" cy="1965960"/>
          </a:xfrm>
          <a:prstGeom prst="line">
            <a:avLst/>
          </a:prstGeom>
          <a:noFill/>
          <a:ln w="19050">
            <a:solidFill>
              <a:srgbClr val="AA0808"/>
            </a:solidFill>
            <a:prstDash val="dash"/>
            <a:tailEnd type="triangle"/>
          </a:ln>
        </p:spPr>
      </p:sp>
      <p:sp>
        <p:nvSpPr>
          <p:cNvPr id="20" name="Text 17"/>
          <p:cNvSpPr txBox="1"/>
          <p:nvPr/>
        </p:nvSpPr>
        <p:spPr>
          <a:xfrm>
            <a:off x="2880360" y="3017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Cancelar sem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pagamento aprovado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675120" y="2788920"/>
            <a:ext cx="0" cy="1965960"/>
          </a:xfrm>
          <a:prstGeom prst="line">
            <a:avLst/>
          </a:prstGeom>
          <a:noFill/>
          <a:ln w="19050">
            <a:solidFill>
              <a:srgbClr val="A93E00"/>
            </a:solidFill>
            <a:prstDash val="solid"/>
            <a:tailEnd type="triangle"/>
          </a:ln>
        </p:spPr>
      </p:sp>
      <p:sp>
        <p:nvSpPr>
          <p:cNvPr id="22" name="Text 19"/>
          <p:cNvSpPr txBox="1"/>
          <p:nvPr/>
        </p:nvSpPr>
        <p:spPr>
          <a:xfrm>
            <a:off x="6766560" y="32004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Cancelar com pagamento aprovado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 flipV="1">
            <a:off x="6035040" y="2788920"/>
            <a:ext cx="0" cy="1965960"/>
          </a:xfrm>
          <a:prstGeom prst="line">
            <a:avLst/>
          </a:prstGeom>
          <a:noFill/>
          <a:ln w="19050">
            <a:solidFill>
              <a:srgbClr val="256F3A"/>
            </a:solidFill>
            <a:prstDash val="solid"/>
            <a:tailEnd type="triangle"/>
          </a:ln>
        </p:spPr>
      </p:sp>
      <p:sp>
        <p:nvSpPr>
          <p:cNvPr id="24" name="Text 21"/>
          <p:cNvSpPr txBox="1"/>
          <p:nvPr/>
        </p:nvSpPr>
        <p:spPr>
          <a:xfrm>
            <a:off x="5166360" y="3520440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Rejeitar</a:t>
            </a:r>
            <a:endParaRPr lang="en-US" sz="1100" dirty="0"/>
          </a:p>
          <a:p>
            <a:pPr algn="r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reembolso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 flipH="1">
            <a:off x="4069080" y="5120640"/>
            <a:ext cx="1005840" cy="0"/>
          </a:xfrm>
          <a:prstGeom prst="line">
            <a:avLst/>
          </a:prstGeom>
          <a:noFill/>
          <a:ln w="19050">
            <a:solidFill>
              <a:srgbClr val="AA0808"/>
            </a:solidFill>
            <a:prstDash val="solid"/>
            <a:tailEnd type="triangle"/>
          </a:ln>
        </p:spPr>
      </p:sp>
      <p:sp>
        <p:nvSpPr>
          <p:cNvPr id="26" name="Text 23"/>
          <p:cNvSpPr txBox="1"/>
          <p:nvPr/>
        </p:nvSpPr>
        <p:spPr>
          <a:xfrm>
            <a:off x="3840480" y="553212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Aprovar reembolso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548640" y="29260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Editar itens · pagamento recusado (continua aberto)</a:t>
            </a:r>
            <a:endParaRPr lang="en-US" sz="1100" dirty="0"/>
          </a:p>
        </p:txBody>
      </p:sp>
      <p:sp>
        <p:nvSpPr>
          <p:cNvPr id="28" name="Cartão"/>
          <p:cNvSpPr/>
          <p:nvPr/>
        </p:nvSpPr>
        <p:spPr>
          <a:xfrm>
            <a:off x="8778240" y="3794760"/>
            <a:ext cx="2864815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9" name="Text 26"/>
          <p:cNvSpPr txBox="1"/>
          <p:nvPr/>
        </p:nvSpPr>
        <p:spPr>
          <a:xfrm>
            <a:off x="9006840" y="3977640"/>
            <a:ext cx="2407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Status do pagamento</a:t>
            </a:r>
            <a:endParaRPr lang="en-US" sz="1300" dirty="0"/>
          </a:p>
        </p:txBody>
      </p:sp>
      <p:sp>
        <p:nvSpPr>
          <p:cNvPr id="30" name="Status PENDENTE"/>
          <p:cNvSpPr/>
          <p:nvPr/>
        </p:nvSpPr>
        <p:spPr>
          <a:xfrm>
            <a:off x="9006840" y="4389120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FFF3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3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PENDENTE</a:t>
            </a:r>
            <a:endParaRPr lang="en-US" sz="1050" dirty="0"/>
          </a:p>
        </p:txBody>
      </p:sp>
      <p:sp>
        <p:nvSpPr>
          <p:cNvPr id="31" name="Status APROVADO"/>
          <p:cNvSpPr/>
          <p:nvPr/>
        </p:nvSpPr>
        <p:spPr>
          <a:xfrm>
            <a:off x="9006840" y="4791456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APROVADO</a:t>
            </a:r>
            <a:endParaRPr lang="en-US" sz="1050" dirty="0"/>
          </a:p>
        </p:txBody>
      </p:sp>
      <p:sp>
        <p:nvSpPr>
          <p:cNvPr id="32" name="Status RECUSADO"/>
          <p:cNvSpPr/>
          <p:nvPr/>
        </p:nvSpPr>
        <p:spPr>
          <a:xfrm>
            <a:off x="9006840" y="5193792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A08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RECUSADO</a:t>
            </a:r>
            <a:endParaRPr lang="en-US" sz="1050" dirty="0"/>
          </a:p>
        </p:txBody>
      </p:sp>
      <p:sp>
        <p:nvSpPr>
          <p:cNvPr id="33" name="Status DEVOLVIDO"/>
          <p:cNvSpPr/>
          <p:nvPr/>
        </p:nvSpPr>
        <p:spPr>
          <a:xfrm>
            <a:off x="9006840" y="5596128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DEVOLVIDO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10424160" y="4389120"/>
            <a:ext cx="10360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DEVOLVIDO quando o reembolso é aprovado.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PAGAMENTO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SimularPagamento e ZCL_PC_PAGAMENTO_SIM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6" name="Área do editor"/>
          <p:cNvSpPr/>
          <p:nvPr/>
        </p:nvSpPr>
        <p:spPr>
          <a:xfrm>
            <a:off x="548640" y="1993392"/>
            <a:ext cx="667512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557784" y="1993392"/>
            <a:ext cx="6656832" cy="137160"/>
          </a:xfrm>
          <a:prstGeom prst="rect">
            <a:avLst/>
          </a:prstGeom>
          <a:solidFill>
            <a:srgbClr val="1F1F1F"/>
          </a:solidFill>
          <a:ln/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557784" y="1993392"/>
            <a:ext cx="66568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  <p:txBody>
          <a:bodyPr/>
          <a:p/>
        </p:txBody>
      </p:sp>
      <p:sp>
        <p:nvSpPr>
          <p:cNvPr id="9" name="Aba SimularPagamento"/>
          <p:cNvSpPr/>
          <p:nvPr/>
        </p:nvSpPr>
        <p:spPr>
          <a:xfrm>
            <a:off x="640080" y="1719072"/>
            <a:ext cx="16002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SimularPagamento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6002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  <p:txBody>
          <a:bodyPr/>
          <a:p/>
        </p:txBody>
      </p:sp>
      <p:sp>
        <p:nvSpPr>
          <p:cNvPr id="11" name="Breadcrumb"/>
          <p:cNvSpPr txBox="1"/>
          <p:nvPr/>
        </p:nvSpPr>
        <p:spPr>
          <a:xfrm>
            <a:off x="777240" y="2103120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SimularPagamento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ZCL_PC_PAGAMENTO_SIM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35508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ls_sim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zcl_pc_pagamento_sim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metodo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%param-MetodoPagamento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%param-NumeroCartao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%param-Validade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cvv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%param-Cvv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\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_Pagamento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MetodoPagamento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StatusPagamento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BandeiraCartao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Ultimos4DigitosCartao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CartaoMascarado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%target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%cid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'PAGAMENTO'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StatusPagamento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ls_sim-status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CartaoMascarado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ls_sim-cartao_mascarado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na classe de simulação: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4... = VISA, 5... = MASTERCARD; CVV 000 = RECUSADO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rs_resultado-cartao_mascarado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|**** **** **** { ultimos4 }|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CLEAR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lv_numero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lv_validade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lv_cvv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descarta sensíveis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498080" y="1645920"/>
            <a:ext cx="4144975" cy="452628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69924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8138160" y="181051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Validações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138160" y="209397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13 a 19 dígitos, validade MM/AA não vencida, CVV com 3 ou 4.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69924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8138160" y="287350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Resultado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138160" y="315696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APROVADO com código SIM + 6 dígitos, ou RECUSADO.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69924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8138160" y="393649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Só o seguro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138160" y="421995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Bandeira, últimos 4 e máscara; o resto é limpo.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69924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8138160" y="499948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Testes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8138160" y="528294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14 testes ABAP Unit na classe de simulação.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APROVAÇÃO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AprovarPedido: baixa, snapshots e FINALIZADO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67512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65683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6568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PEDIDO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ZBP_R_PC_PEDIDO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ZBP_R_PC_PEDIDO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AprovarPedido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35508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1-2) AGUARDANDO_APROVACAO e pagamento APROVADO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3) reserva ainda cobre as quantidades?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ls_estoque-QtdeReservada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ls_qtde-qtde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ls_estoque-QtdeEstoque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ls_qtde-qtde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registrar_erro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item_reserva_inconsistente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4-6) baixa no BO Item (EML)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movimentar_estoque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EXPORTING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c_mov-baixar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it_qtde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lt_qtde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IMPORTING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ev_ok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lv_ok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7) snapshots de cliente, endereço e itens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criar_snapshots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EXPORTING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iv_motivo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'FINALIZACAO'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8-9) data e status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DataFinalizacao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c_status_pedido-finalizado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DataFinalizacao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lv_agora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498080" y="1645920"/>
            <a:ext cx="4144975" cy="452628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69924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8138160" y="181051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Pré-validação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138160" y="209397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Confere estoque e reserva antes de mexer em qualquer coisa.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69924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8138160" y="287350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Baixa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138160" y="315696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BaixarEstoque tira do estoque e da reservada.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69924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8138160" y="393649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Snapshots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138160" y="421995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CREATE BY \_ClienteSnapshot e \_ItensSnapshot, uma única vez.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69924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8138160" y="499948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Mensagem 034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8138160" y="528294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Pedido &amp;1 finalizado com sucesso.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CANCELAMENTO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CancelarPedido: liberar ou abrir reembolso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67512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65683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6568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PEDIDO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ZBP_R_PC_PEDIDO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ZBP_R_PC_PEDIDO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CancelarPedido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35508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ls_pedido-StatusPagamento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c_status_pagamento-aprovado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iniciar_processo_reembolso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CONTINUE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iniciar_processo_reembolso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zr_pc_reembolso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StatusPedidoAnterior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Currency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MotivoSolicitacao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DataSolicitacao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SolicitadoPor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%cid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'REEMBOLSO'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is_pedido-PedidoUUID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c_status_reembolso-pendente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StatusPedidoAnterior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is_pedido-StatusPedido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is_pedido-ValorTotal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MotivoSolicitacao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iv_motivo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ls_failed_reemb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MotivoCancelamento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c_status_pedido-processando_reembolso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498080" y="1645920"/>
            <a:ext cx="4144975" cy="452628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69924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8138160" y="181051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Motivo obrigatório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138160" y="209397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Mensagem 019 se vier vazio.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69924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8138160" y="287350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EML em outro BO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138160" y="315696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Sem IN LOCAL MODE: o Reembolso aplica suas regras.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69924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8138160" y="393649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Status anterior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138160" y="421995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Guardado para a rejeição retomar o pedido.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69924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8138160" y="499948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Mensagem 042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8138160" y="528294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Pedido &amp;1 enviado para processamento de reembolso.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EML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Os BOs conversam por EML, na mesma transação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91640"/>
            <a:ext cx="28346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money-bills"/>
          <p:cNvSpPr/>
          <p:nvPr/>
        </p:nvSpPr>
        <p:spPr>
          <a:xfrm>
            <a:off x="749808" y="189280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7" name="Image 0" descr="money-bil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2002536"/>
            <a:ext cx="237744" cy="2377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53312" y="189280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BO Reembolso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749808" y="24231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AprovarReembolso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RejeitarReembolso</a:t>
            </a:r>
            <a:endParaRPr lang="en-US" sz="1000" dirty="0"/>
          </a:p>
        </p:txBody>
      </p:sp>
      <p:sp>
        <p:nvSpPr>
          <p:cNvPr id="10" name="Cartão"/>
          <p:cNvSpPr/>
          <p:nvPr/>
        </p:nvSpPr>
        <p:spPr>
          <a:xfrm>
            <a:off x="548640" y="3291840"/>
            <a:ext cx="28346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Ícone sales-order"/>
          <p:cNvSpPr/>
          <p:nvPr/>
        </p:nvSpPr>
        <p:spPr>
          <a:xfrm>
            <a:off x="749808" y="349300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2" name="Image 1" descr="sales-ord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" y="3602736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53312" y="349300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BO Pedido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749808" y="40233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CancelarPedido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ReservarEstoqueRegistro</a:t>
            </a:r>
            <a:endParaRPr lang="en-US" sz="1000" dirty="0"/>
          </a:p>
        </p:txBody>
      </p:sp>
      <p:sp>
        <p:nvSpPr>
          <p:cNvPr id="15" name="Cartão"/>
          <p:cNvSpPr/>
          <p:nvPr/>
        </p:nvSpPr>
        <p:spPr>
          <a:xfrm>
            <a:off x="548640" y="4892040"/>
            <a:ext cx="28346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product"/>
          <p:cNvSpPr/>
          <p:nvPr/>
        </p:nvSpPr>
        <p:spPr>
          <a:xfrm>
            <a:off x="749808" y="509320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7" name="Image 2" descr="produc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5202936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353312" y="509320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BO Item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749808" y="56235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ReservarEstoque · LiberarReserva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BaixarEstoque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1463040" y="2880360"/>
            <a:ext cx="0" cy="411480"/>
          </a:xfrm>
          <a:prstGeom prst="line">
            <a:avLst/>
          </a:prstGeom>
          <a:noFill/>
          <a:ln w="25400">
            <a:solidFill>
              <a:srgbClr val="DF1278"/>
            </a:solidFill>
            <a:prstDash val="solid"/>
            <a:tailEnd type="triangle"/>
          </a:ln>
        </p:spPr>
      </p:sp>
      <p:sp>
        <p:nvSpPr>
          <p:cNvPr id="21" name="Shape 15"/>
          <p:cNvSpPr/>
          <p:nvPr/>
        </p:nvSpPr>
        <p:spPr>
          <a:xfrm flipV="1">
            <a:off x="2468880" y="2880360"/>
            <a:ext cx="0" cy="411480"/>
          </a:xfrm>
          <a:prstGeom prst="line">
            <a:avLst/>
          </a:prstGeom>
          <a:noFill/>
          <a:ln w="25400">
            <a:solidFill>
              <a:srgbClr val="0070F2"/>
            </a:solidFill>
            <a:prstDash val="solid"/>
            <a:tailEnd type="triangle"/>
          </a:ln>
        </p:spPr>
      </p:sp>
      <p:sp>
        <p:nvSpPr>
          <p:cNvPr id="22" name="Shape 16"/>
          <p:cNvSpPr/>
          <p:nvPr/>
        </p:nvSpPr>
        <p:spPr>
          <a:xfrm>
            <a:off x="1965960" y="4480560"/>
            <a:ext cx="0" cy="411480"/>
          </a:xfrm>
          <a:prstGeom prst="line">
            <a:avLst/>
          </a:prstGeom>
          <a:noFill/>
          <a:ln w="25400">
            <a:solidFill>
              <a:srgbClr val="0070F2"/>
            </a:solidFill>
            <a:prstDash val="solid"/>
            <a:tailEnd type="triangle"/>
          </a:ln>
        </p:spPr>
      </p:sp>
      <p:sp>
        <p:nvSpPr>
          <p:cNvPr id="23" name="Editor"/>
          <p:cNvSpPr/>
          <p:nvPr/>
        </p:nvSpPr>
        <p:spPr>
          <a:xfrm>
            <a:off x="3703320" y="1691640"/>
            <a:ext cx="7939735" cy="4480560"/>
          </a:xfrm>
          <a:prstGeom prst="roundRect">
            <a:avLst>
              <a:gd name="adj" fmla="val 2041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4" name="Área do editor"/>
          <p:cNvSpPr/>
          <p:nvPr/>
        </p:nvSpPr>
        <p:spPr>
          <a:xfrm>
            <a:off x="3703320" y="2039112"/>
            <a:ext cx="7939735" cy="4133088"/>
          </a:xfrm>
          <a:prstGeom prst="roundRect">
            <a:avLst>
              <a:gd name="adj" fmla="val 2212"/>
            </a:avLst>
          </a:prstGeom>
          <a:solidFill>
            <a:srgbClr val="1F1F1F"/>
          </a:solidFill>
          <a:ln/>
        </p:spPr>
      </p:sp>
      <p:sp>
        <p:nvSpPr>
          <p:cNvPr id="25" name="Shape 19"/>
          <p:cNvSpPr/>
          <p:nvPr/>
        </p:nvSpPr>
        <p:spPr>
          <a:xfrm>
            <a:off x="3712464" y="2039112"/>
            <a:ext cx="792144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26" name="Shape 20"/>
          <p:cNvSpPr/>
          <p:nvPr/>
        </p:nvSpPr>
        <p:spPr>
          <a:xfrm>
            <a:off x="3712464" y="2039112"/>
            <a:ext cx="792144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27" name="Aba ZBP_R_PC_PEDIDO"/>
          <p:cNvSpPr/>
          <p:nvPr/>
        </p:nvSpPr>
        <p:spPr>
          <a:xfrm>
            <a:off x="3794760" y="176479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ZBP_R_PC_PEDIDO</a:t>
            </a:r>
            <a:endParaRPr lang="en-US" sz="1000" dirty="0"/>
          </a:p>
        </p:txBody>
      </p:sp>
      <p:sp>
        <p:nvSpPr>
          <p:cNvPr id="28" name="Shape 22"/>
          <p:cNvSpPr/>
          <p:nvPr/>
        </p:nvSpPr>
        <p:spPr>
          <a:xfrm>
            <a:off x="3794760" y="176479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29" name="Breadcrumb"/>
          <p:cNvSpPr txBox="1"/>
          <p:nvPr/>
        </p:nvSpPr>
        <p:spPr>
          <a:xfrm>
            <a:off x="3931920" y="2148840"/>
            <a:ext cx="7482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ZBP_R_PC_PEDIDO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movimentar_estoque</a:t>
            </a:r>
            <a:endParaRPr lang="en-US" sz="900" dirty="0"/>
          </a:p>
        </p:txBody>
      </p:sp>
      <p:sp>
        <p:nvSpPr>
          <p:cNvPr id="30" name="Trecho de código"/>
          <p:cNvSpPr txBox="1"/>
          <p:nvPr/>
        </p:nvSpPr>
        <p:spPr>
          <a:xfrm>
            <a:off x="3886200" y="2459736"/>
            <a:ext cx="7619695" cy="3621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Reserva, liberação ou baixa no BO Item (mesma LUW)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iv_acao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c_mov-reservar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zr_pc_item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ReservarEstoque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it_qtde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ItemUUID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q-item_uuid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%param-Quantidade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q-qtde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ls_failed_item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REPORTED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ls_reported_item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c_mov-liberar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zr_pc_item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LiberarReserva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ENDCASE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Repassa as mensagens do BO Item para o pedido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SIDE EFFECTS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Side effects e precheck: a tela reage na hora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4008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4008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3825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3825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R_PC_PEDIDO.bdef.asbdef"/>
          <p:cNvSpPr/>
          <p:nvPr/>
        </p:nvSpPr>
        <p:spPr>
          <a:xfrm>
            <a:off x="640080" y="1719072"/>
            <a:ext cx="214884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ZR_PC_PEDIDO.bdef.asbdef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14884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608076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side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effects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affects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EnderecoUUID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EnderecoPrincipalCompleto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SimularPagamento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affects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_Pagamento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AprovarPedido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affects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_ClienteSnapshot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_ItensSnapshot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Item do pedido */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side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effects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ItemUUID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affects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PrecoUnitarioSnapshot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ValorTotal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_Pedido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QtdeItemPedido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affects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ValorTotal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_Pedido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12" name="Cartão"/>
          <p:cNvSpPr/>
          <p:nvPr/>
        </p:nvSpPr>
        <p:spPr>
          <a:xfrm>
            <a:off x="7223760" y="1645920"/>
            <a:ext cx="4419295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Ícone refresh"/>
          <p:cNvSpPr/>
          <p:nvPr/>
        </p:nvSpPr>
        <p:spPr>
          <a:xfrm>
            <a:off x="7452360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4" name="Image 0" descr="refre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66477" y="1988637"/>
            <a:ext cx="247254" cy="247254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8065008" y="1874520"/>
            <a:ext cx="339516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Side effects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7452360" y="2487168"/>
            <a:ext cx="396209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Trocar o cliente recarrega o endereço; mudar item ou quantidade recalcula o total; pagar ou aprovar atualiza as seções afetadas.</a:t>
            </a:r>
            <a:endParaRPr lang="en-US" sz="1200" dirty="0"/>
          </a:p>
        </p:txBody>
      </p:sp>
      <p:sp>
        <p:nvSpPr>
          <p:cNvPr id="17" name="Cartão"/>
          <p:cNvSpPr/>
          <p:nvPr/>
        </p:nvSpPr>
        <p:spPr>
          <a:xfrm>
            <a:off x="7223760" y="4023360"/>
            <a:ext cx="4419295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8" name="Ícone status-negative"/>
          <p:cNvSpPr/>
          <p:nvPr/>
        </p:nvSpPr>
        <p:spPr>
          <a:xfrm>
            <a:off x="7452360" y="425196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pic>
        <p:nvPicPr>
          <p:cNvPr id="19" name="Image 1" descr="status-negati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6477" y="4366077"/>
            <a:ext cx="247254" cy="24725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8065008" y="4251960"/>
            <a:ext cx="339516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Precheck de estoque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7452360" y="4864608"/>
            <a:ext cx="396209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create ( features : instance, precheck ) em _Itens: item com disponível zerado nem chega ao rascunho (mensagem 048).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3 · REEMBOLSOS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BO Reembolso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Root sem draft e sem update externo. Duas ações de decisão, cada uma executando uma action interna do Pedido na mesma transação.</a:t>
            </a:r>
            <a:endParaRPr lang="en-US" sz="1800" dirty="0"/>
          </a:p>
        </p:txBody>
      </p:sp>
      <p:sp>
        <p:nvSpPr>
          <p:cNvPr id="7" name="Ícone money-bills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money-bil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1837944"/>
          </a:xfrm>
          <a:prstGeom prst="roundRect">
            <a:avLst>
              <a:gd name="adj" fmla="val 5970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ZR_PC_REEMBOLSO.bdef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BDEF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ZBP_R_PC_REEMBOLSO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behavior pool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ZC_PC_REEMBOLSO_APP.bdef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projeção</a:t>
            </a:r>
            <a:endParaRPr lang="en-US" sz="11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REEMBOLSOS · BDEF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Criado pelo Pedido, decidido pelo usuário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58368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58368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56539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56539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R_PC_REEMBOLSO.bdef.asbdef"/>
          <p:cNvSpPr/>
          <p:nvPr/>
        </p:nvSpPr>
        <p:spPr>
          <a:xfrm>
            <a:off x="640080" y="1719072"/>
            <a:ext cx="235458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ZR_PC_REEMBOLSO.bdef.asbdef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35458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626364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managed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implementation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unique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strict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behavior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persistent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zta_pc_reembolso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etag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master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LocalLastChangedAt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lock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master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authorization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master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global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internal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numbering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managed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readonly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readonly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StatusPedidoAnterior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MotivoSolicitacao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DataSolicitacao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readonly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MotivoDecisao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DataDecisao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DecididoPor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instance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AprovarReembolso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parameter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ZPC_A_REEMB_DECISAO_INPUT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$self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instance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RejeitarReembolso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parameter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ZPC_A_REEMB_DECISAO_INPUT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$self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projection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strict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behavior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ZC_PC_REEMBOLSO_APP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etag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AprovarReembolso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RejeitarReembolso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2" name="Cartão"/>
          <p:cNvSpPr/>
          <p:nvPr/>
        </p:nvSpPr>
        <p:spPr>
          <a:xfrm>
            <a:off x="7406640" y="1645920"/>
            <a:ext cx="4236415" cy="4526280"/>
          </a:xfrm>
          <a:prstGeom prst="roundRect">
            <a:avLst>
              <a:gd name="adj" fmla="val 25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60780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8046720" y="181051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Sem draft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8046720" y="209397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Não há edição: só decisão.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60780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8046720" y="287350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internal update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8046720" y="315696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Status e decisão mudam só pelas actions.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60780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8046720" y="393649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readonly : update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8046720" y="421995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Dados da solicitação congelados após criar.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760780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8046720" y="499948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Projeção mínima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8046720" y="528294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Só as duas actions são expostas.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REEMBOLSOS · DECISÃO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Aprovar cancela; rejeitar retoma o pedido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11094415" cy="2905405"/>
          </a:xfrm>
          <a:prstGeom prst="roundRect">
            <a:avLst>
              <a:gd name="adj" fmla="val 37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Fluxograma do reembols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10948111" cy="2759101"/>
          </a:xfrm>
          <a:prstGeom prst="rect">
            <a:avLst/>
          </a:prstGeom>
        </p:spPr>
      </p:pic>
      <p:sp>
        <p:nvSpPr>
          <p:cNvPr id="7" name="Editor"/>
          <p:cNvSpPr/>
          <p:nvPr/>
        </p:nvSpPr>
        <p:spPr>
          <a:xfrm>
            <a:off x="548640" y="4663440"/>
            <a:ext cx="6583680" cy="1508760"/>
          </a:xfrm>
          <a:prstGeom prst="roundRect">
            <a:avLst>
              <a:gd name="adj" fmla="val 6061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recho de código"/>
          <p:cNvSpPr txBox="1"/>
          <p:nvPr/>
        </p:nvSpPr>
        <p:spPr>
          <a:xfrm>
            <a:off x="731520" y="4809744"/>
            <a:ext cx="6263640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RetomarPedido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ls_reemb-PedidoUUID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%param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StatusAnterior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ls_reemb-StatusPedidoAnterior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StatusReembolso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MotivoDecisao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DataDecisao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DecididoPor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950" dirty="0"/>
          </a:p>
        </p:txBody>
      </p:sp>
      <p:sp>
        <p:nvSpPr>
          <p:cNvPr id="9" name="Cartão"/>
          <p:cNvSpPr/>
          <p:nvPr/>
        </p:nvSpPr>
        <p:spPr>
          <a:xfrm>
            <a:off x="7406640" y="4663440"/>
            <a:ext cx="4236415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0" name="Text 6"/>
          <p:cNvSpPr txBox="1"/>
          <p:nvPr/>
        </p:nvSpPr>
        <p:spPr>
          <a:xfrm>
            <a:off x="7589520" y="4800600"/>
            <a:ext cx="3870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Mensagem 044</a:t>
            </a:r>
            <a:endParaRPr lang="en-US" sz="1100" dirty="0"/>
          </a:p>
        </p:txBody>
      </p:sp>
      <p:sp>
        <p:nvSpPr>
          <p:cNvPr id="11" name="Status aprovado"/>
          <p:cNvSpPr/>
          <p:nvPr/>
        </p:nvSpPr>
        <p:spPr>
          <a:xfrm>
            <a:off x="8732520" y="4818888"/>
            <a:ext cx="792968" cy="237744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56F3A"/>
                </a:solidFill>
              </a:rPr>
              <a:t>aprovado</a:t>
            </a:r>
            <a:endParaRPr lang="en-US" sz="950" dirty="0"/>
          </a:p>
        </p:txBody>
      </p:sp>
      <p:sp>
        <p:nvSpPr>
          <p:cNvPr id="12" name="Text 8"/>
          <p:cNvSpPr txBox="1"/>
          <p:nvPr/>
        </p:nvSpPr>
        <p:spPr>
          <a:xfrm>
            <a:off x="7589520" y="5138928"/>
            <a:ext cx="3870655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Reembolso do pedido &amp;1 aprovado. Pedido cancelado.</a:t>
            </a:r>
            <a:endParaRPr lang="en-US" sz="1050" dirty="0"/>
          </a:p>
        </p:txBody>
      </p:sp>
      <p:sp>
        <p:nvSpPr>
          <p:cNvPr id="13" name="Cartão"/>
          <p:cNvSpPr/>
          <p:nvPr/>
        </p:nvSpPr>
        <p:spPr>
          <a:xfrm>
            <a:off x="7406640" y="5532120"/>
            <a:ext cx="4236415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7589520" y="5669280"/>
            <a:ext cx="3870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Mensagem 045</a:t>
            </a:r>
            <a:endParaRPr lang="en-US" sz="1100" dirty="0"/>
          </a:p>
        </p:txBody>
      </p:sp>
      <p:sp>
        <p:nvSpPr>
          <p:cNvPr id="15" name="Status rejeitado"/>
          <p:cNvSpPr/>
          <p:nvPr/>
        </p:nvSpPr>
        <p:spPr>
          <a:xfrm>
            <a:off x="8732520" y="5687568"/>
            <a:ext cx="855513" cy="237744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A0808"/>
                </a:solidFill>
              </a:rPr>
              <a:t>rejeitado</a:t>
            </a:r>
            <a:endParaRPr lang="en-US" sz="950" dirty="0"/>
          </a:p>
        </p:txBody>
      </p:sp>
      <p:sp>
        <p:nvSpPr>
          <p:cNvPr id="16" name="Text 12"/>
          <p:cNvSpPr txBox="1"/>
          <p:nvPr/>
        </p:nvSpPr>
        <p:spPr>
          <a:xfrm>
            <a:off x="7589520" y="6007608"/>
            <a:ext cx="3870655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Reembolso do pedido &amp;1 rejeitado. Pedido retomado.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AUTORIZAÇÃO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Cada operação verifica sua atividade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03504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03504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01675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01675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PEDIDO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ZBP_R_PC_PEDIDO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ZBP_R_PC_PEDIDO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get_global_authorizations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71500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get_global_authorizations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requested_authorizations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%create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mk-on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%create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zcl_pc_auth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pedido_pode_criar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auth-allowed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auth-unauthorized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requested_authorizations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%update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mk-on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%update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pedido_pode_alterar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lv_exec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zcl_pc_auth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pedido_pode_executar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auth-allowed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auth-unauthorized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%action-SimularPagamento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lv_exec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%action-AprovarPedido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lv_exec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%action-CancelarPedido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lv_exec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</p:txBody>
      </p:sp>
      <p:sp>
        <p:nvSpPr>
          <p:cNvPr id="13" name="Fundo da tabela"/>
          <p:cNvSpPr/>
          <p:nvPr/>
        </p:nvSpPr>
        <p:spPr>
          <a:xfrm>
            <a:off x="6858000" y="1645920"/>
            <a:ext cx="4782312" cy="2688336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95160" y="1755648"/>
          <a:ext cx="4507992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1143000"/>
                <a:gridCol w="258775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ACTVT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Atividade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Usada em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01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Criar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create, ImportarPlanilha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02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Alterar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update, Edit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03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Exibir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leitura (DCL opcional)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06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Excluir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delete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16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Executar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actions do pedido e reembolso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Cartão"/>
          <p:cNvSpPr/>
          <p:nvPr/>
        </p:nvSpPr>
        <p:spPr>
          <a:xfrm>
            <a:off x="6858000" y="4572000"/>
            <a:ext cx="233766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Text 12"/>
          <p:cNvSpPr txBox="1"/>
          <p:nvPr/>
        </p:nvSpPr>
        <p:spPr>
          <a:xfrm>
            <a:off x="7040880" y="4681728"/>
            <a:ext cx="2026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ZPC_ADMIN</a:t>
            </a:r>
            <a:endParaRPr lang="en-US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7040880" y="4983480"/>
            <a:ext cx="2026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Clientes e Estoque</a:t>
            </a:r>
            <a:endParaRPr lang="en-US" sz="1150" dirty="0"/>
          </a:p>
        </p:txBody>
      </p:sp>
      <p:sp>
        <p:nvSpPr>
          <p:cNvPr id="18" name="Cartão"/>
          <p:cNvSpPr/>
          <p:nvPr/>
        </p:nvSpPr>
        <p:spPr>
          <a:xfrm>
            <a:off x="9305392" y="4572000"/>
            <a:ext cx="233766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9488272" y="4681728"/>
            <a:ext cx="2026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ZPC_PEDIDO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9488272" y="4983480"/>
            <a:ext cx="2026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Pedidos e Reembolsos</a:t>
            </a:r>
            <a:endParaRPr lang="en-US" sz="1150" dirty="0"/>
          </a:p>
        </p:txBody>
      </p:sp>
      <p:sp>
        <p:nvSpPr>
          <p:cNvPr id="21" name="Cartão"/>
          <p:cNvSpPr/>
          <p:nvPr/>
        </p:nvSpPr>
        <p:spPr>
          <a:xfrm>
            <a:off x="6858000" y="5623560"/>
            <a:ext cx="4785055" cy="548640"/>
          </a:xfrm>
          <a:prstGeom prst="roundRect">
            <a:avLst>
              <a:gd name="adj" fmla="val 20000"/>
            </a:avLst>
          </a:prstGeom>
          <a:solidFill>
            <a:srgbClr val="FFF3B8"/>
          </a:solidFill>
          <a:ln/>
        </p:spPr>
      </p:sp>
      <p:sp>
        <p:nvSpPr>
          <p:cNvPr id="22" name="Text 18"/>
          <p:cNvSpPr txBox="1"/>
          <p:nvPr/>
        </p:nvSpPr>
        <p:spPr>
          <a:xfrm>
            <a:off x="7040880" y="5623560"/>
            <a:ext cx="4419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93E00"/>
                </a:solidFill>
              </a:rPr>
              <a:t>On-Premise e fora do trial: abap_false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TESTES · VISÃO GERAL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Testes ABAP Unit em todas as classes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2926080" cy="452628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182880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0070F2"/>
                </a:solidFill>
              </a:rPr>
              <a:t>204</a:t>
            </a:r>
            <a:endParaRPr lang="en-US" sz="7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8803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testes em 13 classes, das regras aos BOs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61188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Behavior pools testados por EML sobre test doubles, sem COMMIT. Só o setup e o reset ficam de fora.</a:t>
            </a:r>
            <a:endParaRPr lang="en-US" sz="1200" dirty="0"/>
          </a:p>
        </p:txBody>
      </p:sp>
      <p:sp>
        <p:nvSpPr>
          <p:cNvPr id="9" name="Status Ctrl+Shift+F10 no ADT"/>
          <p:cNvSpPr/>
          <p:nvPr/>
        </p:nvSpPr>
        <p:spPr>
          <a:xfrm>
            <a:off x="822960" y="5440680"/>
            <a:ext cx="1951695" cy="34747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Ctrl+Shift+F10 no ADT</a:t>
            </a:r>
            <a:endParaRPr lang="en-US" sz="1200" dirty="0"/>
          </a:p>
        </p:txBody>
      </p:sp>
      <p:sp>
        <p:nvSpPr>
          <p:cNvPr id="10" name="Fundo da tabela"/>
          <p:cNvSpPr/>
          <p:nvPr/>
        </p:nvSpPr>
        <p:spPr>
          <a:xfrm>
            <a:off x="3703320" y="1645920"/>
            <a:ext cx="7939735" cy="4334256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0" y="1755648"/>
          <a:ext cx="7665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92221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D3E"/>
                          </a:solidFill>
                        </a:rPr>
                        <a:t>Classe (testes)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D3E"/>
                          </a:solidFill>
                        </a:rPr>
                        <a:t>Cobre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ZCL_PC_UTIL (50)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regras puras e o ciclo completo do pedido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ZBP_R_PC_CLIENTE (19)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validations, CEP sem ViaCEP, exclusão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ZBP_R_PC_ITEM (24)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reservar, liberar, baixar; inativação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ZBP_R_PC_PEDIDO (17)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Prepare, precheck, pagamento, snapshots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ZBP_R_PC_REEMBOLSO (5)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aprovar e rejeitar na mesma transação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ZCL_PC_AUTH (6)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modo trial ou CL_AUNIT_AUTHORITY_CHECK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ZCL_PC_VIACEP (9)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JSON e cache, sem chamada HTTP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Outras 6 classes (74)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mensagens, numeração, VE, pagamento, planilhas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RESUMO DA ETAPA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9601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O que construímos na etapa 3</a:t>
            </a:r>
            <a:endParaRPr lang="en-US" sz="3600" dirty="0"/>
          </a:p>
        </p:txBody>
      </p:sp>
      <p:sp>
        <p:nvSpPr>
          <p:cNvPr id="4" name="Marcador"/>
          <p:cNvSpPr/>
          <p:nvPr/>
        </p:nvSpPr>
        <p:spPr>
          <a:xfrm>
            <a:off x="731520" y="210312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pic>
        <p:nvPicPr>
          <p:cNvPr id="5" name="Image 0" descr="concluído">    </p:cNvPr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832104" y="2203704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202996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Quatro BOs managed com draft e behavior pools ZBP_R_*</a:t>
            </a:r>
            <a:endParaRPr lang="en-US" sz="1500" dirty="0"/>
          </a:p>
        </p:txBody>
      </p:sp>
      <p:sp>
        <p:nvSpPr>
          <p:cNvPr id="7" name="Marcador"/>
          <p:cNvSpPr/>
          <p:nvPr/>
        </p:nvSpPr>
        <p:spPr>
          <a:xfrm>
            <a:off x="6263640" y="210312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pic>
        <p:nvPicPr>
          <p:cNvPr id="8" name="Image 1" descr="concluído">    </p:cNvPr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6364224" y="2203704"/>
            <a:ext cx="256032" cy="25603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903720" y="202996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Determinations, validations e precheck de estoque</a:t>
            </a:r>
            <a:endParaRPr lang="en-US" sz="1500" dirty="0"/>
          </a:p>
        </p:txBody>
      </p:sp>
      <p:sp>
        <p:nvSpPr>
          <p:cNvPr id="10" name="Marcador"/>
          <p:cNvSpPr/>
          <p:nvPr/>
        </p:nvSpPr>
        <p:spPr>
          <a:xfrm>
            <a:off x="731520" y="306324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pic>
        <p:nvPicPr>
          <p:cNvPr id="11" name="Image 2" descr="concluído">    </p:cNvPr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832104" y="3163824"/>
            <a:ext cx="256032" cy="25603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371600" y="299008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Actions do pedido e do reembolso, com EML entre BOs</a:t>
            </a:r>
            <a:endParaRPr lang="en-US" sz="1500" dirty="0"/>
          </a:p>
        </p:txBody>
      </p:sp>
      <p:sp>
        <p:nvSpPr>
          <p:cNvPr id="13" name="Marcador"/>
          <p:cNvSpPr/>
          <p:nvPr/>
        </p:nvSpPr>
        <p:spPr>
          <a:xfrm>
            <a:off x="6263640" y="306324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pic>
        <p:nvPicPr>
          <p:cNvPr id="14" name="Image 3" descr="concluído">    </p:cNvPr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6364224" y="3163824"/>
            <a:ext cx="256032" cy="25603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903720" y="299008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ViaCEP: create_by_url no BTP, SM59 e STRUST no On-Premise</a:t>
            </a:r>
            <a:endParaRPr lang="en-US" sz="1500" dirty="0"/>
          </a:p>
        </p:txBody>
      </p:sp>
      <p:sp>
        <p:nvSpPr>
          <p:cNvPr id="16" name="Marcador"/>
          <p:cNvSpPr/>
          <p:nvPr/>
        </p:nvSpPr>
        <p:spPr>
          <a:xfrm>
            <a:off x="73152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pic>
        <p:nvPicPr>
          <p:cNvPr id="17" name="Image 4" descr="concluído">    </p:cNvPr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832104" y="4123944"/>
            <a:ext cx="256032" cy="25603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371600" y="395020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Autorização global com ZCL_PC_AUTH e feature control</a:t>
            </a:r>
            <a:endParaRPr lang="en-US" sz="1500" dirty="0"/>
          </a:p>
        </p:txBody>
      </p:sp>
      <p:sp>
        <p:nvSpPr>
          <p:cNvPr id="19" name="Marcador"/>
          <p:cNvSpPr/>
          <p:nvPr/>
        </p:nvSpPr>
        <p:spPr>
          <a:xfrm>
            <a:off x="626364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pic>
        <p:nvPicPr>
          <p:cNvPr id="20" name="Image 5" descr="concluído">    </p:cNvPr>
          <p:cNvPicPr>
            <a:picLocks noChangeAspect="1"/>
          </p:cNvPicPr>
          <p:nvPr/>
        </p:nvPicPr>
        <p:blipFill>
          <a:blip r:embed="rId105"/>
          <a:stretch>
            <a:fillRect/>
          </a:stretch>
        </p:blipFill>
        <p:spPr>
          <a:xfrm>
            <a:off x="6364224" y="4123944"/>
            <a:ext cx="256032" cy="25603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903720" y="395020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204 testes ABAP Unit, com test doubles nos quatro BOs</a:t>
            </a:r>
            <a:endParaRPr lang="en-US" sz="1500" dirty="0"/>
          </a:p>
        </p:txBody>
      </p:sp>
      <p:sp>
        <p:nvSpPr>
          <p:cNvPr id="22" name="Próxima etapa"/>
          <p:cNvSpPr/>
          <p:nvPr/>
        </p:nvSpPr>
        <p:spPr>
          <a:xfrm>
            <a:off x="731520" y="5394960"/>
            <a:ext cx="10725912" cy="777240"/>
          </a:xfrm>
          <a:prstGeom prst="roundRect">
            <a:avLst>
              <a:gd name="adj" fmla="val 16471"/>
            </a:avLst>
          </a:prstGeom>
          <a:solidFill>
            <a:srgbClr val="1B3A7A"/>
          </a:solidFill>
          <a:ln/>
        </p:spPr>
      </p:sp>
      <p:pic>
        <p:nvPicPr>
          <p:cNvPr id="23" name="Image 6" descr="próxima etapa">    </p:cNvPr>
          <p:cNvPicPr>
            <a:picLocks noChangeAspect="1"/>
          </p:cNvPicPr>
          <p:nvPr/>
        </p:nvPicPr>
        <p:blipFill>
          <a:blip r:embed="rId106"/>
          <a:stretch>
            <a:fillRect/>
          </a:stretch>
        </p:blipFill>
        <p:spPr>
          <a:xfrm>
            <a:off x="960120" y="5559552"/>
            <a:ext cx="438912" cy="43891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600200" y="544068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9D1FF"/>
                </a:solidFill>
              </a:rPr>
              <a:t>Próxima etapa ·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Serviços OData: expor e publicar os BOs.</a:t>
            </a:r>
            <a:endParaRPr lang="en-US" sz="1600" dirty="0"/>
          </a:p>
        </p:txBody>
      </p:sp>
      <p:sp>
        <p:nvSpPr>
          <p:cNvPr id="40" name="Rodapé"/>
          <p:cNvSpPr txBox="1"/>
          <p:nvPr/>
        </p:nvSpPr>
        <p:spPr>
          <a:xfrm>
            <a:off x="731520" y="641908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r>
              <a:rPr lang="pt-BR" sz="1000" dirty="0">
                <a:solidFill>
                  <a:srgbClr val="89D1FF"/>
                </a:solidFill>
              </a:rPr>
              <a:t>Pedidos de Compras · SAP RAP no BTP e On-Premise  ·  Etapa 3 de 5 — Comportamento RAP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TESTES · COMO TESTAR UM BO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Testar um BO com test doubles e EML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6" name="Área do editor"/>
          <p:cNvSpPr/>
          <p:nvPr/>
        </p:nvSpPr>
        <p:spPr>
          <a:xfrm>
            <a:off x="548640" y="1993392"/>
            <a:ext cx="667512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557784" y="1993392"/>
            <a:ext cx="6656832" cy="137160"/>
          </a:xfrm>
          <a:prstGeom prst="rect">
            <a:avLst/>
          </a:prstGeom>
          <a:solidFill>
            <a:srgbClr val="1F1F1F"/>
          </a:solidFill>
          <a:ln/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557784" y="1993392"/>
            <a:ext cx="66568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  <p:txBody>
          <a:bodyPr/>
          <a:p/>
        </p:txBody>
      </p:sp>
      <p:sp>
        <p:nvSpPr>
          <p:cNvPr id="9" name="Aba SimularPagamento"/>
          <p:cNvSpPr/>
          <p:nvPr/>
        </p:nvSpPr>
        <p:spPr>
          <a:xfrm>
            <a:off x="640080" y="1719072"/>
            <a:ext cx="16002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ZBP_R_PC_ITEM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6002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  <p:txBody>
          <a:bodyPr/>
          <a:p/>
        </p:txBody>
      </p:sp>
      <p:sp>
        <p:nvSpPr>
          <p:cNvPr id="11" name="Breadcrumb"/>
          <p:cNvSpPr txBox="1"/>
          <p:nvPr/>
        </p:nvSpPr>
        <p:spPr>
          <a:xfrm>
            <a:off x="777240" y="2103120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ZBP_R_PC_ITEM  ›  Test Classes  ›  ltcl_item_movimentacao</a:t>
            </a:r>
            <a:pPr indent="0" marL="0">
              <a:buNone/>
            </a:pPr>
            <a:pPr indent="0" marL="0">
              <a:buNone/>
            </a:pP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35508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reserva_acima_do_disponivel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Tabelas vazias: o teste semeia o próprio item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lv_item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semear_item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iv_estoque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iv_reservada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zr_pc_item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ReservarEstoque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%key-ItemUUID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lv_item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  </a:t>
            </a: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%param-Quantidade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ls_failed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REPORTED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ls_reported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cl_abap_unit_assert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assert_not_initial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ls_failed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cl_abap_unit_assert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assert_table_contains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`011`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lcl_msgs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ls_reported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</a:p>
        </p:txBody>
      </p:sp>
      <p:sp>
        <p:nvSpPr>
          <p:cNvPr id="13" name="Cartão"/>
          <p:cNvSpPr/>
          <p:nvPr/>
        </p:nvSpPr>
        <p:spPr>
          <a:xfrm>
            <a:off x="7498080" y="1645920"/>
            <a:ext cx="4144975" cy="452628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69924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8138160" y="181051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Test doubles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138160" y="209397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class_setup cria os doubles das entidades ZR_* e das tabelas de rascunho.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69924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8138160" y="287350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Dados próprios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138160" y="315696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Cada teste semeia o que usa; setup limpa os doubles.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69924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8138160" y="393649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Sem COMMIT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138160" y="421995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Validations no Prepare, actions no ativo: tudo no buffer.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69924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8138160" y="499948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Mensagens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8138160" y="528294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Conferidas pelo número T100 (011, 038...), não pelo texto.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3 · TESTES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Testes ABAP Unit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204 testes em 13 classes. Nos quatro BOs, cada cenário roda por EML sobre test doubles: o que deve passar e o que precisa ser recusado.</a:t>
            </a:r>
            <a:endParaRPr lang="en-US" sz="1800" dirty="0"/>
          </a:p>
        </p:txBody>
      </p:sp>
      <p:sp>
        <p:nvSpPr>
          <p:cNvPr id="7" name="Ícone testes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test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221992"/>
          </a:xfrm>
          <a:prstGeom prst="roundRect">
            <a:avLst>
              <a:gd name="adj" fmla="val 5970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ZBP_R_PC_CLIENTE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19 testes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ZBP_R_PC_ITEM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24 testes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ZBP_R_PC_PEDIDO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17 testes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ZBP_R_PC_REEMBOLSO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5 testes</a:t>
            </a:r>
            <a:endParaRPr lang="en-US" sz="11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TESTES · BO CLIENTE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Cliente: do CPF à exclusão, 19 cenários</a:t>
            </a:r>
            <a:endParaRPr lang="en-US" sz="3000" dirty="0"/>
          </a:p>
        </p:txBody>
      </p:sp>
      <p:sp>
        <p:nvSpPr>
          <p:cNvPr id="11" name="Cartão resumo"/>
          <p:cNvSpPr/>
          <p:nvPr/>
        </p:nvSpPr>
        <p:spPr>
          <a:xfrm>
            <a:off x="548640" y="1645920"/>
            <a:ext cx="2194560" cy="452628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2" name="Fundo do ícone"/>
          <p:cNvSpPr/>
          <p:nvPr/>
        </p:nvSpPr>
        <p:spPr>
          <a:xfrm>
            <a:off x="777240" y="187452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3" name="Ícone customer" descr="custom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914" y="2006194"/>
            <a:ext cx="285293" cy="285293"/>
          </a:xfrm>
          <a:prstGeom prst="rect">
            <a:avLst/>
          </a:prstGeom>
        </p:spPr>
      </p:pic>
      <p:sp>
        <p:nvSpPr>
          <p:cNvPr id="14" name="Total"/>
          <p:cNvSpPr txBox="1"/>
          <p:nvPr/>
        </p:nvSpPr>
        <p:spPr>
          <a:xfrm>
            <a:off x="777240" y="251460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5400" b="1" dirty="0">
                <a:solidFill>
                  <a:srgbClr val="049F9A"/>
                </a:solidFill>
              </a:rPr>
              <a:t>19</a:t>
            </a:r>
            <a:endParaRPr lang="pt-BR" sz="5400" dirty="0"/>
          </a:p>
        </p:txBody>
      </p:sp>
      <p:sp>
        <p:nvSpPr>
          <p:cNvPr id="15" name="Rótulo"/>
          <p:cNvSpPr txBox="1"/>
          <p:nvPr/>
        </p:nvSpPr>
        <p:spPr>
          <a:xfrm>
            <a:off x="777240" y="33375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dirty="0">
                <a:solidFill>
                  <a:srgbClr val="1D2D3E"/>
                </a:solidFill>
              </a:rPr>
              <a:t>testes ABAP Unit</a:t>
            </a:r>
            <a:endParaRPr lang="pt-BR" sz="1400" dirty="0"/>
          </a:p>
        </p:txBody>
      </p:sp>
      <p:sp>
        <p:nvSpPr>
          <p:cNvPr id="16" name="Classe"/>
          <p:cNvSpPr txBox="1"/>
          <p:nvPr/>
        </p:nvSpPr>
        <p:spPr>
          <a:xfrm>
            <a:off x="777240" y="361188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ZBP_R_PC_CLIENTE</a:t>
            </a:r>
            <a:endParaRPr lang="pt-BR" sz="1000" dirty="0"/>
          </a:p>
        </p:txBody>
      </p:sp>
      <p:cxnSp>
        <p:nvCxnSpPr>
          <p:cNvPr id="17" name="Separador"/>
          <p:cNvCxnSpPr/>
          <p:nvPr/>
        </p:nvCxnSpPr>
        <p:spPr>
          <a:xfrm>
            <a:off x="777240" y="3977640"/>
            <a:ext cx="1737360" cy="0"/>
          </a:xfrm>
          <a:prstGeom prst="line">
            <a:avLst/>
          </a:prstGeom>
          <a:ln w="9525">
            <a:solidFill>
              <a:srgbClr val="E5E5E5"/>
            </a:solidFill>
          </a:ln>
        </p:spPr>
      </p:cxnSp>
      <p:sp>
        <p:nvSpPr>
          <p:cNvPr id="18" name="Como"/>
          <p:cNvSpPr txBox="1"/>
          <p:nvPr/>
        </p:nvSpPr>
        <p:spPr>
          <a:xfrm>
            <a:off x="777240" y="4114800"/>
            <a:ext cx="1737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Validations conferidas pelo Activate do rascunho. CEPs já validados no double: nenhum teste chama o ViaCEP.</a:t>
            </a:r>
            <a:endParaRPr lang="pt-BR" sz="1150" dirty="0"/>
          </a:p>
        </p:txBody>
      </p:sp>
      <p:sp>
        <p:nvSpPr>
          <p:cNvPr id="19" name="Aceita"/>
          <p:cNvSpPr/>
          <p:nvPr/>
        </p:nvSpPr>
        <p:spPr>
          <a:xfrm>
            <a:off x="777240" y="5431536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20" name="Legenda"/>
          <p:cNvSpPr txBox="1"/>
          <p:nvPr/>
        </p:nvSpPr>
        <p:spPr>
          <a:xfrm>
            <a:off x="1069848" y="5394960"/>
            <a:ext cx="1444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aceita e confere valores</a:t>
            </a:r>
            <a:endParaRPr lang="pt-BR" sz="1000" dirty="0"/>
          </a:p>
        </p:txBody>
      </p:sp>
      <p:sp>
        <p:nvSpPr>
          <p:cNvPr id="21" name="Recusa"/>
          <p:cNvSpPr/>
          <p:nvPr/>
        </p:nvSpPr>
        <p:spPr>
          <a:xfrm>
            <a:off x="777240" y="5705856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22" name="Legenda"/>
          <p:cNvSpPr txBox="1"/>
          <p:nvPr/>
        </p:nvSpPr>
        <p:spPr>
          <a:xfrm>
            <a:off x="1069848" y="5669280"/>
            <a:ext cx="1444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recusa com FAILED</a:t>
            </a:r>
            <a:endParaRPr lang="pt-BR" sz="1000" dirty="0"/>
          </a:p>
        </p:txBody>
      </p:sp>
      <p:sp>
        <p:nvSpPr>
          <p:cNvPr id="23" name="Cartão ltcl_cliente_validacoes"/>
          <p:cNvSpPr/>
          <p:nvPr/>
        </p:nvSpPr>
        <p:spPr>
          <a:xfrm>
            <a:off x="2971800" y="1645920"/>
            <a:ext cx="4221328" cy="45262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4" name="Classe ltcl_cliente_validacoes"/>
          <p:cNvSpPr txBox="1"/>
          <p:nvPr/>
        </p:nvSpPr>
        <p:spPr>
          <a:xfrm>
            <a:off x="3154680" y="1792224"/>
            <a:ext cx="3352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ltcl_cliente_validacoes</a:t>
            </a:r>
            <a:endParaRPr lang="pt-BR" sz="1050" dirty="0"/>
          </a:p>
        </p:txBody>
      </p:sp>
      <p:sp>
        <p:nvSpPr>
          <p:cNvPr id="25" name="Total ltcl_cliente_validacoes"/>
          <p:cNvSpPr/>
          <p:nvPr/>
        </p:nvSpPr>
        <p:spPr>
          <a:xfrm>
            <a:off x="6598768" y="1810512"/>
            <a:ext cx="411480" cy="237744"/>
          </a:xfrm>
          <a:prstGeom prst="roundRect">
            <a:avLst>
              <a:gd name="adj" fmla="val 50000"/>
            </a:avLst>
          </a:prstGeom>
          <a:solidFill>
            <a:srgbClr val="DCF2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50" b="1" dirty="0">
                <a:solidFill>
                  <a:srgbClr val="049F9A"/>
                </a:solidFill>
              </a:rPr>
              <a:t>11</a:t>
            </a:r>
            <a:endParaRPr lang="pt-BR" sz="1050" dirty="0"/>
          </a:p>
        </p:txBody>
      </p:sp>
      <p:cxnSp>
        <p:nvCxnSpPr>
          <p:cNvPr id="26" name="Separador"/>
          <p:cNvCxnSpPr/>
          <p:nvPr/>
        </p:nvCxnSpPr>
        <p:spPr>
          <a:xfrm>
            <a:off x="3154680" y="2176272"/>
            <a:ext cx="3855568" cy="0"/>
          </a:xfrm>
          <a:prstGeom prst="line">
            <a:avLst/>
          </a:prstGeom>
          <a:ln w="9525">
            <a:solidFill>
              <a:srgbClr val="E5E5E5"/>
            </a:solidFill>
          </a:ln>
        </p:spPr>
      </p:cxnSp>
      <p:sp>
        <p:nvSpPr>
          <p:cNvPr id="27" name="Aceita"/>
          <p:cNvSpPr/>
          <p:nvPr/>
        </p:nvSpPr>
        <p:spPr>
          <a:xfrm>
            <a:off x="3154680" y="2322576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28" name="Cenário"/>
          <p:cNvSpPr txBox="1"/>
          <p:nvPr/>
        </p:nvSpPr>
        <p:spPr>
          <a:xfrm>
            <a:off x="3465576" y="2267712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Cliente válido passa no Prepare</a:t>
            </a:r>
            <a:endParaRPr lang="pt-BR" sz="1100" dirty="0"/>
          </a:p>
        </p:txBody>
      </p:sp>
      <p:sp>
        <p:nvSpPr>
          <p:cNvPr id="29" name="Aceita"/>
          <p:cNvSpPr/>
          <p:nvPr/>
        </p:nvSpPr>
        <p:spPr>
          <a:xfrm>
            <a:off x="3154680" y="2633472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30" name="Cenário"/>
          <p:cNvSpPr txBox="1"/>
          <p:nvPr/>
        </p:nvSpPr>
        <p:spPr>
          <a:xfrm>
            <a:off x="3465576" y="2578608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Nasce ativo, com score de 0 a 100</a:t>
            </a:r>
            <a:endParaRPr lang="pt-BR" sz="1100" dirty="0"/>
          </a:p>
        </p:txBody>
      </p:sp>
      <p:sp>
        <p:nvSpPr>
          <p:cNvPr id="31" name="Aceita"/>
          <p:cNvSpPr/>
          <p:nvPr/>
        </p:nvSpPr>
        <p:spPr>
          <a:xfrm>
            <a:off x="3154680" y="2944368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32" name="Cenário"/>
          <p:cNvSpPr txBox="1"/>
          <p:nvPr/>
        </p:nvSpPr>
        <p:spPr>
          <a:xfrm>
            <a:off x="3465576" y="2889504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Normaliza telefone e e-mail</a:t>
            </a:r>
            <a:endParaRPr lang="pt-BR" sz="1100" dirty="0"/>
          </a:p>
        </p:txBody>
      </p:sp>
      <p:sp>
        <p:nvSpPr>
          <p:cNvPr id="33" name="Recusa"/>
          <p:cNvSpPr/>
          <p:nvPr/>
        </p:nvSpPr>
        <p:spPr>
          <a:xfrm>
            <a:off x="3154680" y="3255264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34" name="Cenário"/>
          <p:cNvSpPr txBox="1"/>
          <p:nvPr/>
        </p:nvSpPr>
        <p:spPr>
          <a:xfrm>
            <a:off x="3465576" y="3200400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CPF com dígito verificador errado</a:t>
            </a:r>
            <a:endParaRPr lang="pt-BR" sz="1100" dirty="0"/>
          </a:p>
        </p:txBody>
      </p:sp>
      <p:sp>
        <p:nvSpPr>
          <p:cNvPr id="35" name="Recusa"/>
          <p:cNvSpPr/>
          <p:nvPr/>
        </p:nvSpPr>
        <p:spPr>
          <a:xfrm>
            <a:off x="3154680" y="3566160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36" name="Cenário"/>
          <p:cNvSpPr txBox="1"/>
          <p:nvPr/>
        </p:nvSpPr>
        <p:spPr>
          <a:xfrm>
            <a:off x="3465576" y="3511296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CPF já cadastrado em outro cliente</a:t>
            </a:r>
            <a:endParaRPr lang="pt-BR" sz="1100" dirty="0"/>
          </a:p>
        </p:txBody>
      </p:sp>
      <p:sp>
        <p:nvSpPr>
          <p:cNvPr id="37" name="Recusa"/>
          <p:cNvSpPr/>
          <p:nvPr/>
        </p:nvSpPr>
        <p:spPr>
          <a:xfrm>
            <a:off x="3154680" y="3877056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38" name="Cenário"/>
          <p:cNvSpPr txBox="1"/>
          <p:nvPr/>
        </p:nvSpPr>
        <p:spPr>
          <a:xfrm>
            <a:off x="3465576" y="3822192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E-mail sem @</a:t>
            </a:r>
            <a:endParaRPr lang="pt-BR" sz="1100" dirty="0"/>
          </a:p>
        </p:txBody>
      </p:sp>
      <p:sp>
        <p:nvSpPr>
          <p:cNvPr id="39" name="Recusa"/>
          <p:cNvSpPr/>
          <p:nvPr/>
        </p:nvSpPr>
        <p:spPr>
          <a:xfrm>
            <a:off x="3154680" y="4187952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40" name="Cenário"/>
          <p:cNvSpPr txBox="1"/>
          <p:nvPr/>
        </p:nvSpPr>
        <p:spPr>
          <a:xfrm>
            <a:off x="3465576" y="4133088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Telefone com 9 dígitos</a:t>
            </a:r>
            <a:endParaRPr lang="pt-BR" sz="1100" dirty="0"/>
          </a:p>
        </p:txBody>
      </p:sp>
      <p:sp>
        <p:nvSpPr>
          <p:cNvPr id="41" name="Recusa"/>
          <p:cNvSpPr/>
          <p:nvPr/>
        </p:nvSpPr>
        <p:spPr>
          <a:xfrm>
            <a:off x="3154680" y="4498848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42" name="Cenário"/>
          <p:cNvSpPr txBox="1"/>
          <p:nvPr/>
        </p:nvSpPr>
        <p:spPr>
          <a:xfrm>
            <a:off x="3465576" y="4443984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Data de nascimento no futuro</a:t>
            </a:r>
            <a:endParaRPr lang="pt-BR" sz="1100" dirty="0"/>
          </a:p>
        </p:txBody>
      </p:sp>
      <p:sp>
        <p:nvSpPr>
          <p:cNvPr id="43" name="Recusa"/>
          <p:cNvSpPr/>
          <p:nvPr/>
        </p:nvSpPr>
        <p:spPr>
          <a:xfrm>
            <a:off x="3154680" y="4809744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44" name="Cenário"/>
          <p:cNvSpPr txBox="1"/>
          <p:nvPr/>
        </p:nvSpPr>
        <p:spPr>
          <a:xfrm>
            <a:off x="3465576" y="4754880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Gênero fora da CodeList</a:t>
            </a:r>
            <a:endParaRPr lang="pt-BR" sz="1100" dirty="0"/>
          </a:p>
        </p:txBody>
      </p:sp>
      <p:sp>
        <p:nvSpPr>
          <p:cNvPr id="45" name="Aceita"/>
          <p:cNvSpPr/>
          <p:nvPr/>
        </p:nvSpPr>
        <p:spPr>
          <a:xfrm>
            <a:off x="3154680" y="5120640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46" name="Cenário"/>
          <p:cNvSpPr txBox="1"/>
          <p:nvPr/>
        </p:nvSpPr>
        <p:spPr>
          <a:xfrm>
            <a:off x="3465576" y="5065776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Gênero da CodeList é aceito</a:t>
            </a:r>
            <a:endParaRPr lang="pt-BR" sz="1100" dirty="0"/>
          </a:p>
        </p:txBody>
      </p:sp>
      <p:sp>
        <p:nvSpPr>
          <p:cNvPr id="47" name="Recusa"/>
          <p:cNvSpPr/>
          <p:nvPr/>
        </p:nvSpPr>
        <p:spPr>
          <a:xfrm>
            <a:off x="3154680" y="5431536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48" name="Cenário"/>
          <p:cNvSpPr txBox="1"/>
          <p:nvPr/>
        </p:nvSpPr>
        <p:spPr>
          <a:xfrm>
            <a:off x="3465576" y="5376672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Foto GIF: só JPEG, PNG e WEBP</a:t>
            </a:r>
            <a:endParaRPr lang="pt-BR" sz="1100" dirty="0"/>
          </a:p>
        </p:txBody>
      </p:sp>
      <p:sp>
        <p:nvSpPr>
          <p:cNvPr id="49" name="Cartão ltcl_cliente_endereco"/>
          <p:cNvSpPr/>
          <p:nvPr/>
        </p:nvSpPr>
        <p:spPr>
          <a:xfrm>
            <a:off x="7421728" y="1645920"/>
            <a:ext cx="4221328" cy="245973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50" name="Classe ltcl_cliente_endereco"/>
          <p:cNvSpPr txBox="1"/>
          <p:nvPr/>
        </p:nvSpPr>
        <p:spPr>
          <a:xfrm>
            <a:off x="7604608" y="1792224"/>
            <a:ext cx="3352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ltcl_cliente_endereco</a:t>
            </a:r>
            <a:endParaRPr lang="pt-BR" sz="1050" dirty="0"/>
          </a:p>
        </p:txBody>
      </p:sp>
      <p:sp>
        <p:nvSpPr>
          <p:cNvPr id="51" name="Total ltcl_cliente_endereco"/>
          <p:cNvSpPr/>
          <p:nvPr/>
        </p:nvSpPr>
        <p:spPr>
          <a:xfrm>
            <a:off x="11048695" y="1810512"/>
            <a:ext cx="411480" cy="237744"/>
          </a:xfrm>
          <a:prstGeom prst="roundRect">
            <a:avLst>
              <a:gd name="adj" fmla="val 50000"/>
            </a:avLst>
          </a:prstGeom>
          <a:solidFill>
            <a:srgbClr val="DCF2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50" b="1" dirty="0">
                <a:solidFill>
                  <a:srgbClr val="049F9A"/>
                </a:solidFill>
              </a:rPr>
              <a:t>5</a:t>
            </a:r>
            <a:endParaRPr lang="pt-BR" sz="1050" dirty="0"/>
          </a:p>
        </p:txBody>
      </p:sp>
      <p:cxnSp>
        <p:nvCxnSpPr>
          <p:cNvPr id="52" name="Separador"/>
          <p:cNvCxnSpPr/>
          <p:nvPr/>
        </p:nvCxnSpPr>
        <p:spPr>
          <a:xfrm>
            <a:off x="7604608" y="2176272"/>
            <a:ext cx="3855568" cy="0"/>
          </a:xfrm>
          <a:prstGeom prst="line">
            <a:avLst/>
          </a:prstGeom>
          <a:ln w="9525">
            <a:solidFill>
              <a:srgbClr val="E5E5E5"/>
            </a:solidFill>
          </a:ln>
        </p:spPr>
      </p:cxnSp>
      <p:sp>
        <p:nvSpPr>
          <p:cNvPr id="53" name="Aceita"/>
          <p:cNvSpPr/>
          <p:nvPr/>
        </p:nvSpPr>
        <p:spPr>
          <a:xfrm>
            <a:off x="7604608" y="2322576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54" name="Cenário"/>
          <p:cNvSpPr txBox="1"/>
          <p:nvPr/>
        </p:nvSpPr>
        <p:spPr>
          <a:xfrm>
            <a:off x="7915504" y="2267712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CEP conhecido preenche rua, cidade e UF</a:t>
            </a:r>
            <a:endParaRPr lang="pt-BR" sz="1100" dirty="0"/>
          </a:p>
        </p:txBody>
      </p:sp>
      <p:sp>
        <p:nvSpPr>
          <p:cNvPr id="55" name="Aceita"/>
          <p:cNvSpPr/>
          <p:nvPr/>
        </p:nvSpPr>
        <p:spPr>
          <a:xfrm>
            <a:off x="7604608" y="2633472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56" name="Cenário"/>
          <p:cNvSpPr txBox="1"/>
          <p:nvPr/>
        </p:nvSpPr>
        <p:spPr>
          <a:xfrm>
            <a:off x="7915504" y="2578608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Um único endereço principal</a:t>
            </a:r>
            <a:endParaRPr lang="pt-BR" sz="1100" dirty="0"/>
          </a:p>
        </p:txBody>
      </p:sp>
      <p:sp>
        <p:nvSpPr>
          <p:cNvPr id="57" name="Recusa"/>
          <p:cNvSpPr/>
          <p:nvPr/>
        </p:nvSpPr>
        <p:spPr>
          <a:xfrm>
            <a:off x="7604608" y="2944368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58" name="Cenário"/>
          <p:cNvSpPr txBox="1"/>
          <p:nvPr/>
        </p:nvSpPr>
        <p:spPr>
          <a:xfrm>
            <a:off x="7915504" y="2889504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CEP incompleto fica inválido</a:t>
            </a:r>
            <a:endParaRPr lang="pt-BR" sz="1100" dirty="0"/>
          </a:p>
        </p:txBody>
      </p:sp>
      <p:sp>
        <p:nvSpPr>
          <p:cNvPr id="59" name="Recusa"/>
          <p:cNvSpPr/>
          <p:nvPr/>
        </p:nvSpPr>
        <p:spPr>
          <a:xfrm>
            <a:off x="7604608" y="3255264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60" name="Cenário"/>
          <p:cNvSpPr txBox="1"/>
          <p:nvPr/>
        </p:nvSpPr>
        <p:spPr>
          <a:xfrm>
            <a:off x="7915504" y="3200400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CEP repetido no mesmo cliente</a:t>
            </a:r>
            <a:endParaRPr lang="pt-BR" sz="1100" dirty="0"/>
          </a:p>
        </p:txBody>
      </p:sp>
      <p:sp>
        <p:nvSpPr>
          <p:cNvPr id="61" name="Recusa"/>
          <p:cNvSpPr/>
          <p:nvPr/>
        </p:nvSpPr>
        <p:spPr>
          <a:xfrm>
            <a:off x="7604608" y="3566160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62" name="Cenário"/>
          <p:cNvSpPr txBox="1"/>
          <p:nvPr/>
        </p:nvSpPr>
        <p:spPr>
          <a:xfrm>
            <a:off x="7915504" y="3511296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Endereço sem número</a:t>
            </a:r>
            <a:endParaRPr lang="pt-BR" sz="1100" dirty="0"/>
          </a:p>
        </p:txBody>
      </p:sp>
      <p:sp>
        <p:nvSpPr>
          <p:cNvPr id="63" name="Cartão ltcl_cliente_exclusao"/>
          <p:cNvSpPr/>
          <p:nvPr/>
        </p:nvSpPr>
        <p:spPr>
          <a:xfrm>
            <a:off x="7421728" y="4334256"/>
            <a:ext cx="4221328" cy="183794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4" name="Classe ltcl_cliente_exclusao"/>
          <p:cNvSpPr txBox="1"/>
          <p:nvPr/>
        </p:nvSpPr>
        <p:spPr>
          <a:xfrm>
            <a:off x="7604608" y="4480560"/>
            <a:ext cx="3352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ltcl_cliente_exclusao</a:t>
            </a:r>
            <a:endParaRPr lang="pt-BR" sz="1050" dirty="0"/>
          </a:p>
        </p:txBody>
      </p:sp>
      <p:sp>
        <p:nvSpPr>
          <p:cNvPr id="65" name="Total ltcl_cliente_exclusao"/>
          <p:cNvSpPr/>
          <p:nvPr/>
        </p:nvSpPr>
        <p:spPr>
          <a:xfrm>
            <a:off x="11048695" y="4498848"/>
            <a:ext cx="411480" cy="237744"/>
          </a:xfrm>
          <a:prstGeom prst="roundRect">
            <a:avLst>
              <a:gd name="adj" fmla="val 50000"/>
            </a:avLst>
          </a:prstGeom>
          <a:solidFill>
            <a:srgbClr val="DCF2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50" b="1" dirty="0">
                <a:solidFill>
                  <a:srgbClr val="049F9A"/>
                </a:solidFill>
              </a:rPr>
              <a:t>3</a:t>
            </a:r>
            <a:endParaRPr lang="pt-BR" sz="1050" dirty="0"/>
          </a:p>
        </p:txBody>
      </p:sp>
      <p:cxnSp>
        <p:nvCxnSpPr>
          <p:cNvPr id="66" name="Separador"/>
          <p:cNvCxnSpPr/>
          <p:nvPr/>
        </p:nvCxnSpPr>
        <p:spPr>
          <a:xfrm>
            <a:off x="7604608" y="4864608"/>
            <a:ext cx="3855568" cy="0"/>
          </a:xfrm>
          <a:prstGeom prst="line">
            <a:avLst/>
          </a:prstGeom>
          <a:ln w="9525">
            <a:solidFill>
              <a:srgbClr val="E5E5E5"/>
            </a:solidFill>
          </a:ln>
        </p:spPr>
      </p:cxnSp>
      <p:sp>
        <p:nvSpPr>
          <p:cNvPr id="67" name="Aceita"/>
          <p:cNvSpPr/>
          <p:nvPr/>
        </p:nvSpPr>
        <p:spPr>
          <a:xfrm>
            <a:off x="7604608" y="5010912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68" name="Cenário"/>
          <p:cNvSpPr txBox="1"/>
          <p:nvPr/>
        </p:nvSpPr>
        <p:spPr>
          <a:xfrm>
            <a:off x="7915504" y="4956048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Cliente sem pedido é excluído</a:t>
            </a:r>
            <a:endParaRPr lang="pt-BR" sz="1100" dirty="0"/>
          </a:p>
        </p:txBody>
      </p:sp>
      <p:sp>
        <p:nvSpPr>
          <p:cNvPr id="69" name="Recusa"/>
          <p:cNvSpPr/>
          <p:nvPr/>
        </p:nvSpPr>
        <p:spPr>
          <a:xfrm>
            <a:off x="7604608" y="5321808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70" name="Cenário"/>
          <p:cNvSpPr txBox="1"/>
          <p:nvPr/>
        </p:nvSpPr>
        <p:spPr>
          <a:xfrm>
            <a:off x="7915504" y="5266944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Com pedido ativo</a:t>
            </a:r>
            <a:endParaRPr lang="pt-BR" sz="1100" dirty="0"/>
          </a:p>
        </p:txBody>
      </p:sp>
      <p:sp>
        <p:nvSpPr>
          <p:cNvPr id="71" name="Recusa"/>
          <p:cNvSpPr/>
          <p:nvPr/>
        </p:nvSpPr>
        <p:spPr>
          <a:xfrm>
            <a:off x="7604608" y="5632704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72" name="Cenário"/>
          <p:cNvSpPr txBox="1"/>
          <p:nvPr/>
        </p:nvSpPr>
        <p:spPr>
          <a:xfrm>
            <a:off x="7915504" y="5577840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Com pedido em rascunho</a:t>
            </a:r>
            <a:endParaRPr lang="pt-BR" sz="1100" dirty="0"/>
          </a:p>
        </p:txBody>
      </p:sp>
      <p:sp>
        <p:nvSpPr>
          <p:cNvPr id="7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TESTES · BO ITEM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Item: o saldo nunca fica inconsistente</a:t>
            </a:r>
            <a:endParaRPr lang="en-US" sz="3000" dirty="0"/>
          </a:p>
        </p:txBody>
      </p:sp>
      <p:sp>
        <p:nvSpPr>
          <p:cNvPr id="11" name="Cartão resumo"/>
          <p:cNvSpPr/>
          <p:nvPr/>
        </p:nvSpPr>
        <p:spPr>
          <a:xfrm>
            <a:off x="548640" y="1645920"/>
            <a:ext cx="2194560" cy="452628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2" name="Fundo do ícone"/>
          <p:cNvSpPr/>
          <p:nvPr/>
        </p:nvSpPr>
        <p:spPr>
          <a:xfrm>
            <a:off x="777240" y="187452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3" name="Ícone product" descr="produc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914" y="2006194"/>
            <a:ext cx="285293" cy="285293"/>
          </a:xfrm>
          <a:prstGeom prst="rect">
            <a:avLst/>
          </a:prstGeom>
        </p:spPr>
      </p:pic>
      <p:sp>
        <p:nvSpPr>
          <p:cNvPr id="14" name="Total"/>
          <p:cNvSpPr txBox="1"/>
          <p:nvPr/>
        </p:nvSpPr>
        <p:spPr>
          <a:xfrm>
            <a:off x="777240" y="251460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5400" b="1" dirty="0">
                <a:solidFill>
                  <a:srgbClr val="C87B00"/>
                </a:solidFill>
              </a:rPr>
              <a:t>24</a:t>
            </a:r>
            <a:endParaRPr lang="pt-BR" sz="5400" dirty="0"/>
          </a:p>
        </p:txBody>
      </p:sp>
      <p:sp>
        <p:nvSpPr>
          <p:cNvPr id="15" name="Rótulo"/>
          <p:cNvSpPr txBox="1"/>
          <p:nvPr/>
        </p:nvSpPr>
        <p:spPr>
          <a:xfrm>
            <a:off x="777240" y="33375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dirty="0">
                <a:solidFill>
                  <a:srgbClr val="1D2D3E"/>
                </a:solidFill>
              </a:rPr>
              <a:t>testes ABAP Unit</a:t>
            </a:r>
            <a:endParaRPr lang="pt-BR" sz="1400" dirty="0"/>
          </a:p>
        </p:txBody>
      </p:sp>
      <p:sp>
        <p:nvSpPr>
          <p:cNvPr id="16" name="Classe"/>
          <p:cNvSpPr txBox="1"/>
          <p:nvPr/>
        </p:nvSpPr>
        <p:spPr>
          <a:xfrm>
            <a:off x="777240" y="361188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ZBP_R_PC_ITEM</a:t>
            </a:r>
            <a:endParaRPr lang="pt-BR" sz="1000" dirty="0"/>
          </a:p>
        </p:txBody>
      </p:sp>
      <p:cxnSp>
        <p:nvCxnSpPr>
          <p:cNvPr id="17" name="Separador"/>
          <p:cNvCxnSpPr/>
          <p:nvPr/>
        </p:nvCxnSpPr>
        <p:spPr>
          <a:xfrm>
            <a:off x="777240" y="3977640"/>
            <a:ext cx="1737360" cy="0"/>
          </a:xfrm>
          <a:prstGeom prst="line">
            <a:avLst/>
          </a:prstGeom>
          <a:ln w="9525">
            <a:solidFill>
              <a:srgbClr val="E5E5E5"/>
            </a:solidFill>
          </a:ln>
        </p:spPr>
      </p:cxnSp>
      <p:sp>
        <p:nvSpPr>
          <p:cNvPr id="18" name="Como"/>
          <p:cNvSpPr txBox="1"/>
          <p:nvPr/>
        </p:nvSpPr>
        <p:spPr>
          <a:xfrm>
            <a:off x="777240" y="4114800"/>
            <a:ext cx="1737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Actions no item ativo; validations pelo Activate. Saldos conferidos a cada movimento.</a:t>
            </a:r>
            <a:endParaRPr lang="pt-BR" sz="1150" dirty="0"/>
          </a:p>
        </p:txBody>
      </p:sp>
      <p:sp>
        <p:nvSpPr>
          <p:cNvPr id="19" name="Aceita"/>
          <p:cNvSpPr/>
          <p:nvPr/>
        </p:nvSpPr>
        <p:spPr>
          <a:xfrm>
            <a:off x="777240" y="5157216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20" name="Legenda"/>
          <p:cNvSpPr txBox="1"/>
          <p:nvPr/>
        </p:nvSpPr>
        <p:spPr>
          <a:xfrm>
            <a:off x="1069848" y="5120640"/>
            <a:ext cx="1444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aceita e confere valores</a:t>
            </a:r>
            <a:endParaRPr lang="pt-BR" sz="1000" dirty="0"/>
          </a:p>
        </p:txBody>
      </p:sp>
      <p:sp>
        <p:nvSpPr>
          <p:cNvPr id="21" name="Recusa"/>
          <p:cNvSpPr/>
          <p:nvPr/>
        </p:nvSpPr>
        <p:spPr>
          <a:xfrm>
            <a:off x="777240" y="5431536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22" name="Legenda"/>
          <p:cNvSpPr txBox="1"/>
          <p:nvPr/>
        </p:nvSpPr>
        <p:spPr>
          <a:xfrm>
            <a:off x="1069848" y="5394960"/>
            <a:ext cx="1444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recusa com FAILED</a:t>
            </a:r>
            <a:endParaRPr lang="pt-BR" sz="1000" dirty="0"/>
          </a:p>
        </p:txBody>
      </p:sp>
      <p:sp>
        <p:nvSpPr>
          <p:cNvPr id="23" name="Legenda"/>
          <p:cNvSpPr txBox="1"/>
          <p:nvPr/>
        </p:nvSpPr>
        <p:spPr>
          <a:xfrm>
            <a:off x="777240" y="5669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011</a:t>
            </a:r>
            <a:endParaRPr lang="pt-BR" sz="1000" dirty="0"/>
          </a:p>
        </p:txBody>
      </p:sp>
      <p:sp>
        <p:nvSpPr>
          <p:cNvPr id="24" name="Legenda"/>
          <p:cNvSpPr txBox="1"/>
          <p:nvPr/>
        </p:nvSpPr>
        <p:spPr>
          <a:xfrm>
            <a:off x="1069848" y="5669280"/>
            <a:ext cx="1444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mensagem T100</a:t>
            </a:r>
            <a:endParaRPr lang="pt-BR" sz="1000" dirty="0"/>
          </a:p>
        </p:txBody>
      </p:sp>
      <p:sp>
        <p:nvSpPr>
          <p:cNvPr id="25" name="Cartão ltcl_item_movimentacao"/>
          <p:cNvSpPr/>
          <p:nvPr/>
        </p:nvSpPr>
        <p:spPr>
          <a:xfrm>
            <a:off x="2971800" y="1645920"/>
            <a:ext cx="2738018" cy="45262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Classe ltcl_item_movimentacao"/>
          <p:cNvSpPr txBox="1"/>
          <p:nvPr/>
        </p:nvSpPr>
        <p:spPr>
          <a:xfrm>
            <a:off x="3154680" y="1792224"/>
            <a:ext cx="18693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ltcl_item_movimentacao</a:t>
            </a:r>
            <a:endParaRPr lang="pt-BR" sz="1050" dirty="0"/>
          </a:p>
        </p:txBody>
      </p:sp>
      <p:sp>
        <p:nvSpPr>
          <p:cNvPr id="27" name="Total ltcl_item_movimentacao"/>
          <p:cNvSpPr/>
          <p:nvPr/>
        </p:nvSpPr>
        <p:spPr>
          <a:xfrm>
            <a:off x="5115458" y="1810512"/>
            <a:ext cx="411480" cy="237744"/>
          </a:xfrm>
          <a:prstGeom prst="roundRect">
            <a:avLst>
              <a:gd name="adj" fmla="val 50000"/>
            </a:avLst>
          </a:prstGeom>
          <a:solidFill>
            <a:srgbClr val="F7ED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50" b="1" dirty="0">
                <a:solidFill>
                  <a:srgbClr val="C87B00"/>
                </a:solidFill>
              </a:rPr>
              <a:t>9</a:t>
            </a:r>
            <a:endParaRPr lang="pt-BR" sz="1050" dirty="0"/>
          </a:p>
        </p:txBody>
      </p:sp>
      <p:cxnSp>
        <p:nvCxnSpPr>
          <p:cNvPr id="28" name="Separador"/>
          <p:cNvCxnSpPr/>
          <p:nvPr/>
        </p:nvCxnSpPr>
        <p:spPr>
          <a:xfrm>
            <a:off x="3154680" y="2176272"/>
            <a:ext cx="2372258" cy="0"/>
          </a:xfrm>
          <a:prstGeom prst="line">
            <a:avLst/>
          </a:prstGeom>
          <a:ln w="9525">
            <a:solidFill>
              <a:srgbClr val="E5E5E5"/>
            </a:solidFill>
          </a:ln>
        </p:spPr>
      </p:cxnSp>
      <p:sp>
        <p:nvSpPr>
          <p:cNvPr id="29" name="Aceita"/>
          <p:cNvSpPr/>
          <p:nvPr/>
        </p:nvSpPr>
        <p:spPr>
          <a:xfrm>
            <a:off x="3154680" y="2322576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30" name="Cenário"/>
          <p:cNvSpPr txBox="1"/>
          <p:nvPr/>
        </p:nvSpPr>
        <p:spPr>
          <a:xfrm>
            <a:off x="3465576" y="2267712"/>
            <a:ext cx="20613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Reserva 5 de 20 disponíveis</a:t>
            </a:r>
            <a:endParaRPr lang="pt-BR" sz="1100" dirty="0"/>
          </a:p>
        </p:txBody>
      </p:sp>
      <p:sp>
        <p:nvSpPr>
          <p:cNvPr id="31" name="Aceita"/>
          <p:cNvSpPr/>
          <p:nvPr/>
        </p:nvSpPr>
        <p:spPr>
          <a:xfrm>
            <a:off x="3154680" y="2633472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32" name="Cenário"/>
          <p:cNvSpPr txBox="1"/>
          <p:nvPr/>
        </p:nvSpPr>
        <p:spPr>
          <a:xfrm>
            <a:off x="3465576" y="2578608"/>
            <a:ext cx="20613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Reserva recalcula o status</a:t>
            </a:r>
            <a:endParaRPr lang="pt-BR" sz="1100" dirty="0"/>
          </a:p>
        </p:txBody>
      </p:sp>
      <p:sp>
        <p:nvSpPr>
          <p:cNvPr id="33" name="Recusa"/>
          <p:cNvSpPr/>
          <p:nvPr/>
        </p:nvSpPr>
        <p:spPr>
          <a:xfrm>
            <a:off x="3154680" y="2944368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34" name="Cenário"/>
          <p:cNvSpPr txBox="1"/>
          <p:nvPr/>
        </p:nvSpPr>
        <p:spPr>
          <a:xfrm>
            <a:off x="3465576" y="2889504"/>
            <a:ext cx="164988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Reserva acima do saldo</a:t>
            </a:r>
            <a:endParaRPr lang="pt-BR" sz="1100" dirty="0"/>
          </a:p>
        </p:txBody>
      </p:sp>
      <p:sp>
        <p:nvSpPr>
          <p:cNvPr id="35" name="Mensagem"/>
          <p:cNvSpPr txBox="1"/>
          <p:nvPr/>
        </p:nvSpPr>
        <p:spPr>
          <a:xfrm>
            <a:off x="5142890" y="2889504"/>
            <a:ext cx="384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011</a:t>
            </a:r>
            <a:endParaRPr lang="pt-BR" sz="1000" dirty="0"/>
          </a:p>
        </p:txBody>
      </p:sp>
      <p:sp>
        <p:nvSpPr>
          <p:cNvPr id="36" name="Recusa"/>
          <p:cNvSpPr/>
          <p:nvPr/>
        </p:nvSpPr>
        <p:spPr>
          <a:xfrm>
            <a:off x="3154680" y="3255264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37" name="Cenário"/>
          <p:cNvSpPr txBox="1"/>
          <p:nvPr/>
        </p:nvSpPr>
        <p:spPr>
          <a:xfrm>
            <a:off x="3465576" y="3200400"/>
            <a:ext cx="164988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Reserva de item inativo</a:t>
            </a:r>
            <a:endParaRPr lang="pt-BR" sz="1100" dirty="0"/>
          </a:p>
        </p:txBody>
      </p:sp>
      <p:sp>
        <p:nvSpPr>
          <p:cNvPr id="38" name="Mensagem"/>
          <p:cNvSpPr txBox="1"/>
          <p:nvPr/>
        </p:nvSpPr>
        <p:spPr>
          <a:xfrm>
            <a:off x="5142890" y="3200400"/>
            <a:ext cx="384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013</a:t>
            </a:r>
            <a:endParaRPr lang="pt-BR" sz="1000" dirty="0"/>
          </a:p>
        </p:txBody>
      </p:sp>
      <p:sp>
        <p:nvSpPr>
          <p:cNvPr id="39" name="Recusa"/>
          <p:cNvSpPr/>
          <p:nvPr/>
        </p:nvSpPr>
        <p:spPr>
          <a:xfrm>
            <a:off x="3154680" y="3566160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40" name="Cenário"/>
          <p:cNvSpPr txBox="1"/>
          <p:nvPr/>
        </p:nvSpPr>
        <p:spPr>
          <a:xfrm>
            <a:off x="3465576" y="3511296"/>
            <a:ext cx="164988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Quantidade zero</a:t>
            </a:r>
            <a:endParaRPr lang="pt-BR" sz="1100" dirty="0"/>
          </a:p>
        </p:txBody>
      </p:sp>
      <p:sp>
        <p:nvSpPr>
          <p:cNvPr id="41" name="Mensagem"/>
          <p:cNvSpPr txBox="1"/>
          <p:nvPr/>
        </p:nvSpPr>
        <p:spPr>
          <a:xfrm>
            <a:off x="5142890" y="3511296"/>
            <a:ext cx="384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028</a:t>
            </a:r>
            <a:endParaRPr lang="pt-BR" sz="1000" dirty="0"/>
          </a:p>
        </p:txBody>
      </p:sp>
      <p:sp>
        <p:nvSpPr>
          <p:cNvPr id="42" name="Aceita"/>
          <p:cNvSpPr/>
          <p:nvPr/>
        </p:nvSpPr>
        <p:spPr>
          <a:xfrm>
            <a:off x="3154680" y="3877056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43" name="Cenário"/>
          <p:cNvSpPr txBox="1"/>
          <p:nvPr/>
        </p:nvSpPr>
        <p:spPr>
          <a:xfrm>
            <a:off x="3465576" y="3822192"/>
            <a:ext cx="20613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Libera parte da reserva</a:t>
            </a:r>
            <a:endParaRPr lang="pt-BR" sz="1100" dirty="0"/>
          </a:p>
        </p:txBody>
      </p:sp>
      <p:sp>
        <p:nvSpPr>
          <p:cNvPr id="44" name="Recusa"/>
          <p:cNvSpPr/>
          <p:nvPr/>
        </p:nvSpPr>
        <p:spPr>
          <a:xfrm>
            <a:off x="3154680" y="4187952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45" name="Cenário"/>
          <p:cNvSpPr txBox="1"/>
          <p:nvPr/>
        </p:nvSpPr>
        <p:spPr>
          <a:xfrm>
            <a:off x="3465576" y="4133088"/>
            <a:ext cx="164988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Libera acima da reserva</a:t>
            </a:r>
            <a:endParaRPr lang="pt-BR" sz="1100" dirty="0"/>
          </a:p>
        </p:txBody>
      </p:sp>
      <p:sp>
        <p:nvSpPr>
          <p:cNvPr id="46" name="Mensagem"/>
          <p:cNvSpPr txBox="1"/>
          <p:nvPr/>
        </p:nvSpPr>
        <p:spPr>
          <a:xfrm>
            <a:off x="5142890" y="4133088"/>
            <a:ext cx="384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038</a:t>
            </a:r>
            <a:endParaRPr lang="pt-BR" sz="1000" dirty="0"/>
          </a:p>
        </p:txBody>
      </p:sp>
      <p:sp>
        <p:nvSpPr>
          <p:cNvPr id="47" name="Aceita"/>
          <p:cNvSpPr/>
          <p:nvPr/>
        </p:nvSpPr>
        <p:spPr>
          <a:xfrm>
            <a:off x="3154680" y="4498848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48" name="Cenário"/>
          <p:cNvSpPr txBox="1"/>
          <p:nvPr/>
        </p:nvSpPr>
        <p:spPr>
          <a:xfrm>
            <a:off x="3465576" y="4443984"/>
            <a:ext cx="20613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Baixa consome a reserva</a:t>
            </a:r>
            <a:endParaRPr lang="pt-BR" sz="1100" dirty="0"/>
          </a:p>
        </p:txBody>
      </p:sp>
      <p:sp>
        <p:nvSpPr>
          <p:cNvPr id="49" name="Recusa"/>
          <p:cNvSpPr/>
          <p:nvPr/>
        </p:nvSpPr>
        <p:spPr>
          <a:xfrm>
            <a:off x="3154680" y="4809744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50" name="Cenário"/>
          <p:cNvSpPr txBox="1"/>
          <p:nvPr/>
        </p:nvSpPr>
        <p:spPr>
          <a:xfrm>
            <a:off x="3465576" y="4754880"/>
            <a:ext cx="164988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Baixa sem reserva</a:t>
            </a:r>
            <a:endParaRPr lang="pt-BR" sz="1100" dirty="0"/>
          </a:p>
        </p:txBody>
      </p:sp>
      <p:sp>
        <p:nvSpPr>
          <p:cNvPr id="51" name="Mensagem"/>
          <p:cNvSpPr txBox="1"/>
          <p:nvPr/>
        </p:nvSpPr>
        <p:spPr>
          <a:xfrm>
            <a:off x="5142890" y="4754880"/>
            <a:ext cx="384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038</a:t>
            </a:r>
            <a:endParaRPr lang="pt-BR" sz="1000" dirty="0"/>
          </a:p>
        </p:txBody>
      </p:sp>
      <p:sp>
        <p:nvSpPr>
          <p:cNvPr id="52" name="Cartão ltcl_item_validacoes"/>
          <p:cNvSpPr/>
          <p:nvPr/>
        </p:nvSpPr>
        <p:spPr>
          <a:xfrm>
            <a:off x="5938418" y="1645920"/>
            <a:ext cx="2738018" cy="45262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53" name="Classe ltcl_item_validacoes"/>
          <p:cNvSpPr txBox="1"/>
          <p:nvPr/>
        </p:nvSpPr>
        <p:spPr>
          <a:xfrm>
            <a:off x="6121298" y="1792224"/>
            <a:ext cx="18693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ltcl_item_validacoes</a:t>
            </a:r>
            <a:endParaRPr lang="pt-BR" sz="1050" dirty="0"/>
          </a:p>
        </p:txBody>
      </p:sp>
      <p:sp>
        <p:nvSpPr>
          <p:cNvPr id="54" name="Total ltcl_item_validacoes"/>
          <p:cNvSpPr/>
          <p:nvPr/>
        </p:nvSpPr>
        <p:spPr>
          <a:xfrm>
            <a:off x="8082077" y="1810512"/>
            <a:ext cx="411480" cy="237744"/>
          </a:xfrm>
          <a:prstGeom prst="roundRect">
            <a:avLst>
              <a:gd name="adj" fmla="val 50000"/>
            </a:avLst>
          </a:prstGeom>
          <a:solidFill>
            <a:srgbClr val="F7ED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50" b="1" dirty="0">
                <a:solidFill>
                  <a:srgbClr val="C87B00"/>
                </a:solidFill>
              </a:rPr>
              <a:t>7</a:t>
            </a:r>
            <a:endParaRPr lang="pt-BR" sz="1050" dirty="0"/>
          </a:p>
        </p:txBody>
      </p:sp>
      <p:cxnSp>
        <p:nvCxnSpPr>
          <p:cNvPr id="55" name="Separador"/>
          <p:cNvCxnSpPr/>
          <p:nvPr/>
        </p:nvCxnSpPr>
        <p:spPr>
          <a:xfrm>
            <a:off x="6121298" y="2176272"/>
            <a:ext cx="2372258" cy="0"/>
          </a:xfrm>
          <a:prstGeom prst="line">
            <a:avLst/>
          </a:prstGeom>
          <a:ln w="9525">
            <a:solidFill>
              <a:srgbClr val="E5E5E5"/>
            </a:solidFill>
          </a:ln>
        </p:spPr>
      </p:cxnSp>
      <p:sp>
        <p:nvSpPr>
          <p:cNvPr id="56" name="Aceita"/>
          <p:cNvSpPr/>
          <p:nvPr/>
        </p:nvSpPr>
        <p:spPr>
          <a:xfrm>
            <a:off x="6121298" y="2322576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57" name="Cenário"/>
          <p:cNvSpPr txBox="1"/>
          <p:nvPr/>
        </p:nvSpPr>
        <p:spPr>
          <a:xfrm>
            <a:off x="6432194" y="2267712"/>
            <a:ext cx="20613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Nasce ativo, BRL, sem reserva</a:t>
            </a:r>
            <a:endParaRPr lang="pt-BR" sz="1100" dirty="0"/>
          </a:p>
        </p:txBody>
      </p:sp>
      <p:sp>
        <p:nvSpPr>
          <p:cNvPr id="58" name="Aceita"/>
          <p:cNvSpPr/>
          <p:nvPr/>
        </p:nvSpPr>
        <p:spPr>
          <a:xfrm>
            <a:off x="6121298" y="2633472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59" name="Cenário"/>
          <p:cNvSpPr txBox="1"/>
          <p:nvPr/>
        </p:nvSpPr>
        <p:spPr>
          <a:xfrm>
            <a:off x="6432194" y="2578608"/>
            <a:ext cx="20613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Status segue o estoque</a:t>
            </a:r>
            <a:endParaRPr lang="pt-BR" sz="1100" dirty="0"/>
          </a:p>
        </p:txBody>
      </p:sp>
      <p:sp>
        <p:nvSpPr>
          <p:cNvPr id="60" name="Aceita"/>
          <p:cNvSpPr/>
          <p:nvPr/>
        </p:nvSpPr>
        <p:spPr>
          <a:xfrm>
            <a:off x="6121298" y="2944368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61" name="Cenário"/>
          <p:cNvSpPr txBox="1"/>
          <p:nvPr/>
        </p:nvSpPr>
        <p:spPr>
          <a:xfrm>
            <a:off x="6432194" y="2889504"/>
            <a:ext cx="20613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Item válido passa no Prepare</a:t>
            </a:r>
            <a:endParaRPr lang="pt-BR" sz="1100" dirty="0"/>
          </a:p>
        </p:txBody>
      </p:sp>
      <p:sp>
        <p:nvSpPr>
          <p:cNvPr id="62" name="Recusa"/>
          <p:cNvSpPr/>
          <p:nvPr/>
        </p:nvSpPr>
        <p:spPr>
          <a:xfrm>
            <a:off x="6121298" y="3255264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63" name="Cenário"/>
          <p:cNvSpPr txBox="1"/>
          <p:nvPr/>
        </p:nvSpPr>
        <p:spPr>
          <a:xfrm>
            <a:off x="6432194" y="3200400"/>
            <a:ext cx="20613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Categoria fora da CodeList</a:t>
            </a:r>
            <a:endParaRPr lang="pt-BR" sz="1100" dirty="0"/>
          </a:p>
        </p:txBody>
      </p:sp>
      <p:sp>
        <p:nvSpPr>
          <p:cNvPr id="64" name="Recusa"/>
          <p:cNvSpPr/>
          <p:nvPr/>
        </p:nvSpPr>
        <p:spPr>
          <a:xfrm>
            <a:off x="6121298" y="3566160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65" name="Cenário"/>
          <p:cNvSpPr txBox="1"/>
          <p:nvPr/>
        </p:nvSpPr>
        <p:spPr>
          <a:xfrm>
            <a:off x="6432194" y="3511296"/>
            <a:ext cx="20613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Preço negativo</a:t>
            </a:r>
            <a:endParaRPr lang="pt-BR" sz="1100" dirty="0"/>
          </a:p>
        </p:txBody>
      </p:sp>
      <p:sp>
        <p:nvSpPr>
          <p:cNvPr id="66" name="Recusa"/>
          <p:cNvSpPr/>
          <p:nvPr/>
        </p:nvSpPr>
        <p:spPr>
          <a:xfrm>
            <a:off x="6121298" y="3877056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67" name="Cenário"/>
          <p:cNvSpPr txBox="1"/>
          <p:nvPr/>
        </p:nvSpPr>
        <p:spPr>
          <a:xfrm>
            <a:off x="6432194" y="3822192"/>
            <a:ext cx="20613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Estoque negativo</a:t>
            </a:r>
            <a:endParaRPr lang="pt-BR" sz="1100" dirty="0"/>
          </a:p>
        </p:txBody>
      </p:sp>
      <p:sp>
        <p:nvSpPr>
          <p:cNvPr id="68" name="Recusa"/>
          <p:cNvSpPr/>
          <p:nvPr/>
        </p:nvSpPr>
        <p:spPr>
          <a:xfrm>
            <a:off x="6121298" y="4187952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69" name="Cenário"/>
          <p:cNvSpPr txBox="1"/>
          <p:nvPr/>
        </p:nvSpPr>
        <p:spPr>
          <a:xfrm>
            <a:off x="6432194" y="4133088"/>
            <a:ext cx="20613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Foto com MIME falsificado</a:t>
            </a:r>
            <a:endParaRPr lang="pt-BR" sz="1100" dirty="0"/>
          </a:p>
        </p:txBody>
      </p:sp>
      <p:sp>
        <p:nvSpPr>
          <p:cNvPr id="70" name="Cartão ltcl_item_inativacao"/>
          <p:cNvSpPr/>
          <p:nvPr/>
        </p:nvSpPr>
        <p:spPr>
          <a:xfrm>
            <a:off x="8905037" y="1645920"/>
            <a:ext cx="2738018" cy="2148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71" name="Classe ltcl_item_inativacao"/>
          <p:cNvSpPr txBox="1"/>
          <p:nvPr/>
        </p:nvSpPr>
        <p:spPr>
          <a:xfrm>
            <a:off x="9087917" y="1792224"/>
            <a:ext cx="18693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ltcl_item_inativacao</a:t>
            </a:r>
            <a:endParaRPr lang="pt-BR" sz="1050" dirty="0"/>
          </a:p>
        </p:txBody>
      </p:sp>
      <p:sp>
        <p:nvSpPr>
          <p:cNvPr id="72" name="Total ltcl_item_inativacao"/>
          <p:cNvSpPr/>
          <p:nvPr/>
        </p:nvSpPr>
        <p:spPr>
          <a:xfrm>
            <a:off x="11048695" y="1810512"/>
            <a:ext cx="411480" cy="237744"/>
          </a:xfrm>
          <a:prstGeom prst="roundRect">
            <a:avLst>
              <a:gd name="adj" fmla="val 50000"/>
            </a:avLst>
          </a:prstGeom>
          <a:solidFill>
            <a:srgbClr val="F7ED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50" b="1" dirty="0">
                <a:solidFill>
                  <a:srgbClr val="C87B00"/>
                </a:solidFill>
              </a:rPr>
              <a:t>4</a:t>
            </a:r>
            <a:endParaRPr lang="pt-BR" sz="1050" dirty="0"/>
          </a:p>
        </p:txBody>
      </p:sp>
      <p:cxnSp>
        <p:nvCxnSpPr>
          <p:cNvPr id="73" name="Separador"/>
          <p:cNvCxnSpPr/>
          <p:nvPr/>
        </p:nvCxnSpPr>
        <p:spPr>
          <a:xfrm>
            <a:off x="9087917" y="2176272"/>
            <a:ext cx="2372258" cy="0"/>
          </a:xfrm>
          <a:prstGeom prst="line">
            <a:avLst/>
          </a:prstGeom>
          <a:ln w="9525">
            <a:solidFill>
              <a:srgbClr val="E5E5E5"/>
            </a:solidFill>
          </a:ln>
        </p:spPr>
      </p:cxnSp>
      <p:sp>
        <p:nvSpPr>
          <p:cNvPr id="74" name="Recusa"/>
          <p:cNvSpPr/>
          <p:nvPr/>
        </p:nvSpPr>
        <p:spPr>
          <a:xfrm>
            <a:off x="9087917" y="2322576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75" name="Cenário"/>
          <p:cNvSpPr txBox="1"/>
          <p:nvPr/>
        </p:nvSpPr>
        <p:spPr>
          <a:xfrm>
            <a:off x="9398813" y="2267712"/>
            <a:ext cx="20613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Com saldo disponível</a:t>
            </a:r>
            <a:endParaRPr lang="pt-BR" sz="1100" dirty="0"/>
          </a:p>
        </p:txBody>
      </p:sp>
      <p:sp>
        <p:nvSpPr>
          <p:cNvPr id="76" name="Aceita"/>
          <p:cNvSpPr/>
          <p:nvPr/>
        </p:nvSpPr>
        <p:spPr>
          <a:xfrm>
            <a:off x="9087917" y="2633472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77" name="Cenário"/>
          <p:cNvSpPr txBox="1"/>
          <p:nvPr/>
        </p:nvSpPr>
        <p:spPr>
          <a:xfrm>
            <a:off x="9398813" y="2578608"/>
            <a:ext cx="20613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Sem saldo e sem pedido</a:t>
            </a:r>
            <a:endParaRPr lang="pt-BR" sz="1100" dirty="0"/>
          </a:p>
        </p:txBody>
      </p:sp>
      <p:sp>
        <p:nvSpPr>
          <p:cNvPr id="78" name="Recusa"/>
          <p:cNvSpPr/>
          <p:nvPr/>
        </p:nvSpPr>
        <p:spPr>
          <a:xfrm>
            <a:off x="9087917" y="2944368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79" name="Cenário"/>
          <p:cNvSpPr txBox="1"/>
          <p:nvPr/>
        </p:nvSpPr>
        <p:spPr>
          <a:xfrm>
            <a:off x="9398813" y="2889504"/>
            <a:ext cx="20613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Em pedido ABERTO</a:t>
            </a:r>
            <a:endParaRPr lang="pt-BR" sz="1100" dirty="0"/>
          </a:p>
        </p:txBody>
      </p:sp>
      <p:sp>
        <p:nvSpPr>
          <p:cNvPr id="80" name="Aceita"/>
          <p:cNvSpPr/>
          <p:nvPr/>
        </p:nvSpPr>
        <p:spPr>
          <a:xfrm>
            <a:off x="9087917" y="3255264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81" name="Cenário"/>
          <p:cNvSpPr txBox="1"/>
          <p:nvPr/>
        </p:nvSpPr>
        <p:spPr>
          <a:xfrm>
            <a:off x="9398813" y="3200400"/>
            <a:ext cx="20613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Em pedido FINALIZADO</a:t>
            </a:r>
            <a:endParaRPr lang="pt-BR" sz="1100" dirty="0"/>
          </a:p>
        </p:txBody>
      </p:sp>
      <p:sp>
        <p:nvSpPr>
          <p:cNvPr id="82" name="Cartão ltcl_item_exclusao"/>
          <p:cNvSpPr/>
          <p:nvPr/>
        </p:nvSpPr>
        <p:spPr>
          <a:xfrm>
            <a:off x="8905037" y="4023360"/>
            <a:ext cx="2738018" cy="2148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3" name="Classe ltcl_item_exclusao"/>
          <p:cNvSpPr txBox="1"/>
          <p:nvPr/>
        </p:nvSpPr>
        <p:spPr>
          <a:xfrm>
            <a:off x="9087917" y="4169664"/>
            <a:ext cx="18693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ltcl_item_exclusao</a:t>
            </a:r>
            <a:endParaRPr lang="pt-BR" sz="1050" dirty="0"/>
          </a:p>
        </p:txBody>
      </p:sp>
      <p:sp>
        <p:nvSpPr>
          <p:cNvPr id="84" name="Total ltcl_item_exclusao"/>
          <p:cNvSpPr/>
          <p:nvPr/>
        </p:nvSpPr>
        <p:spPr>
          <a:xfrm>
            <a:off x="11048695" y="4187952"/>
            <a:ext cx="411480" cy="237744"/>
          </a:xfrm>
          <a:prstGeom prst="roundRect">
            <a:avLst>
              <a:gd name="adj" fmla="val 50000"/>
            </a:avLst>
          </a:prstGeom>
          <a:solidFill>
            <a:srgbClr val="F7ED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50" b="1" dirty="0">
                <a:solidFill>
                  <a:srgbClr val="C87B00"/>
                </a:solidFill>
              </a:rPr>
              <a:t>4</a:t>
            </a:r>
            <a:endParaRPr lang="pt-BR" sz="1050" dirty="0"/>
          </a:p>
        </p:txBody>
      </p:sp>
      <p:cxnSp>
        <p:nvCxnSpPr>
          <p:cNvPr id="85" name="Separador"/>
          <p:cNvCxnSpPr/>
          <p:nvPr/>
        </p:nvCxnSpPr>
        <p:spPr>
          <a:xfrm>
            <a:off x="9087917" y="4553712"/>
            <a:ext cx="2372258" cy="0"/>
          </a:xfrm>
          <a:prstGeom prst="line">
            <a:avLst/>
          </a:prstGeom>
          <a:ln w="9525">
            <a:solidFill>
              <a:srgbClr val="E5E5E5"/>
            </a:solidFill>
          </a:ln>
        </p:spPr>
      </p:cxnSp>
      <p:sp>
        <p:nvSpPr>
          <p:cNvPr id="86" name="Aceita"/>
          <p:cNvSpPr/>
          <p:nvPr/>
        </p:nvSpPr>
        <p:spPr>
          <a:xfrm>
            <a:off x="9087917" y="4700016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87" name="Cenário"/>
          <p:cNvSpPr txBox="1"/>
          <p:nvPr/>
        </p:nvSpPr>
        <p:spPr>
          <a:xfrm>
            <a:off x="9398813" y="4645152"/>
            <a:ext cx="20613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Item livre é excluído</a:t>
            </a:r>
            <a:endParaRPr lang="pt-BR" sz="1100" dirty="0"/>
          </a:p>
        </p:txBody>
      </p:sp>
      <p:sp>
        <p:nvSpPr>
          <p:cNvPr id="88" name="Recusa"/>
          <p:cNvSpPr/>
          <p:nvPr/>
        </p:nvSpPr>
        <p:spPr>
          <a:xfrm>
            <a:off x="9087917" y="5010912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89" name="Cenário"/>
          <p:cNvSpPr txBox="1"/>
          <p:nvPr/>
        </p:nvSpPr>
        <p:spPr>
          <a:xfrm>
            <a:off x="9398813" y="4956048"/>
            <a:ext cx="20613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Com quantidade reservada</a:t>
            </a:r>
            <a:endParaRPr lang="pt-BR" sz="1100" dirty="0"/>
          </a:p>
        </p:txBody>
      </p:sp>
      <p:sp>
        <p:nvSpPr>
          <p:cNvPr id="90" name="Recusa"/>
          <p:cNvSpPr/>
          <p:nvPr/>
        </p:nvSpPr>
        <p:spPr>
          <a:xfrm>
            <a:off x="9087917" y="5321808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91" name="Cenário"/>
          <p:cNvSpPr txBox="1"/>
          <p:nvPr/>
        </p:nvSpPr>
        <p:spPr>
          <a:xfrm>
            <a:off x="9398813" y="5266944"/>
            <a:ext cx="20613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Em pedido registrado</a:t>
            </a:r>
            <a:endParaRPr lang="pt-BR" sz="1100" dirty="0"/>
          </a:p>
        </p:txBody>
      </p:sp>
      <p:sp>
        <p:nvSpPr>
          <p:cNvPr id="92" name="Recusa"/>
          <p:cNvSpPr/>
          <p:nvPr/>
        </p:nvSpPr>
        <p:spPr>
          <a:xfrm>
            <a:off x="9087917" y="5632704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93" name="Cenário"/>
          <p:cNvSpPr txBox="1"/>
          <p:nvPr/>
        </p:nvSpPr>
        <p:spPr>
          <a:xfrm>
            <a:off x="9398813" y="5577840"/>
            <a:ext cx="20613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Em pedido em rascunho</a:t>
            </a:r>
            <a:endParaRPr lang="pt-BR" sz="1100" dirty="0"/>
          </a:p>
        </p:txBody>
      </p:sp>
      <p:sp>
        <p:nvSpPr>
          <p:cNvPr id="9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P Horizon - Pedidos de Compras">
  <a:themeElements>
    <a:clrScheme name="SAP Horizon - Pedidos de Compras">
      <a:dk1>
        <a:srgbClr val="1D2D3E"/>
      </a:dk1>
      <a:lt1>
        <a:srgbClr val="FFFFFF"/>
      </a:lt1>
      <a:dk2>
        <a:srgbClr val="00144A"/>
      </a:dk2>
      <a:lt2>
        <a:srgbClr val="F5F6F7"/>
      </a:lt2>
      <a:accent1>
        <a:srgbClr val="0070F2"/>
      </a:accent1>
      <a:accent2>
        <a:srgbClr val="049F9A"/>
      </a:accent2>
      <a:accent3>
        <a:srgbClr val="8B47D7"/>
      </a:accent3>
      <a:accent4>
        <a:srgbClr val="C87B00"/>
      </a:accent4>
      <a:accent5>
        <a:srgbClr val="DF1278"/>
      </a:accent5>
      <a:accent6>
        <a:srgbClr val="256F3A"/>
      </a:accent6>
      <a:hlink>
        <a:srgbClr val="0064D9"/>
      </a:hlink>
      <a:folHlink>
        <a:srgbClr val="8B47D7"/>
      </a:folHlink>
    </a:clrScheme>
    <a:fontScheme name="SAP Horizon - Pedidos de Compra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Pedidos de Compras - SAP RAP / ABAP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Etapa 3 - Comportamento RAP</dc:title>
  <dc:subject>Pedidos de Compras no SAP BTP ABAP Environment</dc:subject>
  <dc:creator>Adriano Bispo</dc:creator>
  <cp:lastModifiedBy>Adriano Bispo</cp:lastModifiedBy>
  <cp:revision>1</cp:revision>
  <dcterms:created xsi:type="dcterms:W3CDTF">2026-10-20T11:19:37Z</dcterms:created>
  <dcterms:modified xsi:type="dcterms:W3CDTF">2026-10-20T11:19:37Z</dcterms:modified>
</cp:coreProperties>
</file>