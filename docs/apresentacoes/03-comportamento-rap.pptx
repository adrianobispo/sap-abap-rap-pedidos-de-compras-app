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6" r:id="rId4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7" r:id="rId48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cad01a3-e7cb-20ac-afb5-6f471b83c0af}">
          <p14:sldIdLst>
            <p14:sldId id="256"/>
            <p14:sldId id="257"/>
            <p14:sldId id="258"/>
            <p14:sldId id="259"/>
            <p14:sldId id="260"/>
          </p14:sldIdLst>
        </p14:section>
        <p14:section name="Common" id="{afeccf5f-f634-f2bb-f5d4-5de8fe96e25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lientes" id="{36705eab-4733-93ec-54ac-a8c7561ea277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Estoque" id="{bf66ca32-fb3d-f1c2-7b7a-36fcc37d3e41}">
          <p14:sldIdLst>
            <p14:sldId id="274"/>
            <p14:sldId id="275"/>
            <p14:sldId id="276"/>
            <p14:sldId id="277"/>
          </p14:sldIdLst>
        </p14:section>
        <p14:section name="Pedidos" id="{167d1ccb-28ae-ab17-51a3-6f8521f9bdd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Reembolsos" id="{27e24fc7-6164-08b3-d329-f650f0b787d1}">
          <p14:sldIdLst>
            <p14:sldId id="290"/>
            <p14:sldId id="291"/>
            <p14:sldId id="292"/>
          </p14:sldIdLst>
        </p14:section>
        <p14:section name="Segurança e testes" id="{5c044654-79ae-405a-ceb6-5315aaf3a941}">
          <p14:sldIdLst>
            <p14:sldId id="293"/>
            <p14:sldId id="294"/>
          </p14:sldIdLst>
        </p14:section>
        <p14:section name="Encerramento" id="{1ae7ee87-758d-18f0-50a1-ab62f2088345}">
          <p14:sldIdLst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11.xml"/><Relationship Id="rId48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etapa. Depois dos conceitos gerais, cada seção abre um BO: suas regras na BDEF e o código ABAP que as implementa no behavior pool, além das classes comuns que todos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da BDEF escolhe o tipo de implementação (managed: o framework grava as tabelas), a versão estrita da sintaxe e o draft. Cada entidade declara tabela, ETag, bloqueio e autorização; o código das regras fica na classe ZBP_R_PC_PEDIDO.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 maior parte da lógica: sete determinations, ações de ciclo de vida e a orquestração dos outros BOs. O Reembolso é o mais enxuto: só duas ações de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Criar ou editar gera uma instância draft. Ao salvar, o Prepare roda as validations; se passarem, o Activate copia o rascunho para a tabela ativa. No Pedido, o Activate tem implementação adicional para ajustar a reserva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Determinations on modify rodam na fase de interação, a cada alteração; on save, logo antes de gravar. Validations sempre rodam no save (ou no Prepare do draft) e só reportam erros. Determinations não podem falhar o save: quem barra é sempre uma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de exceção implementa if_abap_behv_message: uma instância dela vai direto para o %msg do REPORTED. O construtor recebe a constante da mensagem, a severidade e até quatro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que não dependem do RAP ficam em métodos estáticos. Os behavior pools só chamam esses métodos, e a classe tem a maior suíte de ABAP Unit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classes pequenas com papéis centrais: uma entrega o próximo número do pedido e o SKU a partir de ZPC_NR; a outra concentra os AUTHORITY-CHECK de ZPC_ADMIN e ZPC_PEDIDO, com o atalho do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ao ViaCEP usa, no SAP BTP, o cliente HTTP do ABAP Cloud. Respostas definitivas ficam em cache na sessão (até 100 CEPs); indisponibilidade não é cacheada e vira o status X, sem impedir o usuário de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ZCL_PC_PLANILHA lê o arquivo (XLSX pelo XCO ou CSV) e devolve registros por nome de coluna; ZCL_PC_IMPORTACAO normaliza CPF e CEP, converte textos de CodeList e resume erros. Cada BO cria as instâncias por EML: valem todas as determinations e validations.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Classes executáveis com F9 no ADT (if_oo_adt_classrun). O setup cria a numeração, recarrega as CodeLists e chama as classes de carga de cada domínio; o reset apaga os dados de negócio e só roda em modo 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completa das regras declaradas na BDEF do cliente e do endereço, com o momento em que rodam. Todas as validations do cliente e do endereço entram no Prepare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determinations on modify preparam o cliente: a primeira só age na criação (ativo + score sorteado); a segunda limpa CPF, telefone e e-mail a cada alteração desses campos, para que validations e índice comparem sempre o mesmo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exclusão tem features (botão desabilitado) e precheck. O precheck roda antes de o RAP aceitar o delete e consulta pedidos ativos e também pedidos em rascunho, que ainda não existem na tabela 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fase com chamada remota é a de interação. A determination tenta primeiro um CEP já validado no cadastro (mesma regra da value help) e só então chama o ViaCEP. O resultado vai para CepStatus; a validation do save apenas lê esse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ValidarCepUnico lê os irmãos com READ ENTITIES BY \_Endereco em vez de SQL: assim enxerga endereços ainda em rascunho na mesma edição. O CEP de endereço gravado fica somente leitura por feature control, porque faz parte da chave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actions de estoque têm authorization : none e não estão na projeção: só o behavior pool do Pedido as executa, por EML, dentro da mesma transação e sob o lock do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Reservar, liberar e baixar chamam o mesmo método. Ele relê o saldo dentro da LUW (o framework já bloqueou o item), aplica cada movimento em sequência, acusa falta de saldo por item e grava estoque, reservada, disponível e status de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depende da categoria, então não pode nascer na criação do rascunho (categoria vazia). Fica on save, mas listado no Prepare: roda na fase de interação, onde o GET NUMBER é permitido. Se a categoria mudar, o prefixo fica desatualizado e o SKU é gerado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do pedido e do item do pedido. Pagamento e snapshots não têm regras próprias: são criados e atualizados apenas pelas actions do pedido (internal create / internal update).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é gerado na criação do rascunho (on modify): o GET NUMBER não pode rodar na fase de gravação. AtualizarFlagsStatus recalcula os quatro indicadores sempre que o status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ValidarRegistro barra o Save do rascunho sem endereço principal, sem itens ou sem estoque. Na ativação, ReservarEstoqueRegistro reserva via EML; como determination não pode falhar o Save, as falhas ficam guardadas e a validation do pedido ativo as devolve como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um pedido ABERTO só os itens mudam. O Activate com implementação adicional compara a reserva atual com as quantidades do rascunho e reserva ou libera apenas a diferença, inclusive de itens removidos.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get_instance_features calcula, por instância, quais operações estão habilitadas. Disponibilidade por status é feature control, não autorização: o botão simplesmente fica desabilitado.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 feliz na linha de cima: salvar, pagar e aprovar. Cancelar um pedido com pagamento aprovado não cancela direto: abre um reembolso, que pode ser aprovado (cancela e devolve) ou rejeitado (o pedido volta ao status anterior).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valida o status, chama a classe de simulação e grava só dados seguros no filho Pagamento: cria na primeira tentativa (CREATE BY \_Pagamento) e atualiza nas seguintes. Aprovado leva o pedido a AGUARDANDO_APROVACAO; recusado o mantém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aprovação confere o status e o pagamento, valida que a reserva ainda cobre os itens, baixa o estoque no BO Item, grava os snapshots do cliente e dos itens e só então marca FINALIZADO com a data. Qualquer falha interrompe o pedido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pagamento aprovado, o cancelamento libera a reserva, gera os snapshots e marca CANCELADO. Com pagamento aprovado, o pedido cria uma solicitação no BO Reembolso por EML e passa a PROCESSANDO_REEMBOLSO, mantendo a reserva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não grava a tabela de estoque: executa as actions ReservarEstoque, LiberarReserva e BaixarEstoque do BO Item por EML. Se o item estiver em edição por outro usuário, a chamada falha e o pedido recebe ITEM_ESTOQUE_CONCORRENTE.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 effects dizem ao Fiori Elements o que recarregar depois de uma alteração ou ação. O precheck da associação _Itens barra a inclusão de um item sem estoque antes de qualquer determination rodar.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create existe, mas não está na projeção: só o BO Pedido cria solicitações. Os campos da solicitação ficam somente leitura depois da criação; os da decisão, sempre. As duas ações só ficam ativas enquanto o status é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AprovarReembolso executa CancelarPorReembolso no Pedido (libera estoque, gera snapshots, CANCELADO e pagamento DEVOLVIDO). RejeitarReembolso exige motivo e executa RetomarPedido (volta ao status anterior). Em ambos, a decisão é gravada na mesma LUW.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autorização é global (por operação, não por instância). Cada behavior pool implementa get_global_authorizations chamando ZCL_PC_AUTH; no trial compartilhado, c_modo_trial = abap_true libera tudo porque não é possível manter Business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classes de teste ficam no sistema e no repositório. Os testes de integração semeiam os próprios dados por INSERT (o ABAP Unit desfaz) e os de persistência usam test doubles de CDS e de SQL para poder executar COMMIT ENTITIES.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BDEF declara e behavior pool implementa; cada BO tem suas regras; o Pedido orquestra Item e Reembolso por EML. Na próxima etapa os BOs viram serviços OData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On-Premise, a mesma classe ZCL_PC_VIACEP usa a API clássica CL_HTTP_CLIENT (pasta ZCL_PC_VIACEP_T2). Como o pacote é Standard ABAP, ela ativa sem subpacote separado nem contrato C1. Host, porta, SSL e proxy ficam na destination Z_VIACEP (SM59, tipo G); a confiança TLS fica na PSE SSL Client (Anonymous) do STRUST. O report ZPC_TESTE_VIACEP testa a destination antes da app. Passo a passo em abap/README.md, seção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3 de 5 — Comportamento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100" Type="http://schemas.openxmlformats.org/officeDocument/2006/relationships/image" Target="../media/cap-40-rId100.png"/><Relationship Id="rId101" Type="http://schemas.openxmlformats.org/officeDocument/2006/relationships/image" Target="../media/cap-40-rId101.png"/><Relationship Id="rId102" Type="http://schemas.openxmlformats.org/officeDocument/2006/relationships/image" Target="../media/cap-40-rId102.png"/><Relationship Id="rId103" Type="http://schemas.openxmlformats.org/officeDocument/2006/relationships/image" Target="../media/cap-40-rId103.png"/><Relationship Id="rId104" Type="http://schemas.openxmlformats.org/officeDocument/2006/relationships/image" Target="../media/cap-40-rId104.png"/><Relationship Id="rId105" Type="http://schemas.openxmlformats.org/officeDocument/2006/relationships/image" Target="../media/cap-40-rId105.png"/><Relationship Id="rId106" Type="http://schemas.openxmlformats.org/officeDocument/2006/relationships/image" Target="../media/cap-40-rId10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Comportamento RAP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Behavior definitions, draft, determinations, validations, actions e EML, com a implementação de cada BO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Comportamento RAP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BEHAVIOR DEFINITION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BDEF declara; a behavior pool implementa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managed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faz o CRUD nas tabelas; o código cuida só das regras.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660904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strict ( 2 )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944368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Checagens mais rígidas de sintaxe e boas práticas.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511296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with draft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94760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em ZTA_*_D até o usuário salvar.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361688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/ lock master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645152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Concorrência otimista e bloqueio do BO inteiro pelo root.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2492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863840" y="5212080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features : instance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5495544"/>
            <a:ext cx="3596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Disponibilidade calculada por instância.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BUSINESS OBJECTS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BOs, quatro perfis de comportamento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customer"/>
          <p:cNvSpPr/>
          <p:nvPr/>
        </p:nvSpPr>
        <p:spPr>
          <a:xfrm>
            <a:off x="77724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0619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Cliente + Endereço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10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9F9A"/>
                </a:solidFill>
              </a:rPr>
              <a:t>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1325880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77240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ViaCEP, CPF, e-mail, telefone, foto, CEP único, endereço principal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3379394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Ícone product"/>
          <p:cNvSpPr/>
          <p:nvPr/>
        </p:nvSpPr>
        <p:spPr>
          <a:xfrm>
            <a:off x="3607994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0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667" y="20061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7994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Item de estoque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3607994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3607994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3</a:t>
            </a:r>
            <a:endParaRPr lang="en-US" sz="2400" dirty="0"/>
          </a:p>
        </p:txBody>
      </p:sp>
      <p:sp>
        <p:nvSpPr>
          <p:cNvPr id="24" name="Text 19"/>
          <p:cNvSpPr txBox="1"/>
          <p:nvPr/>
        </p:nvSpPr>
        <p:spPr>
          <a:xfrm>
            <a:off x="4156634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607994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5</a:t>
            </a:r>
            <a:endParaRPr lang="en-US" sz="2400" dirty="0"/>
          </a:p>
        </p:txBody>
      </p:sp>
      <p:sp>
        <p:nvSpPr>
          <p:cNvPr id="26" name="Text 21"/>
          <p:cNvSpPr txBox="1"/>
          <p:nvPr/>
        </p:nvSpPr>
        <p:spPr>
          <a:xfrm>
            <a:off x="4156634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3607994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7B00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3"/>
          <p:cNvSpPr txBox="1"/>
          <p:nvPr/>
        </p:nvSpPr>
        <p:spPr>
          <a:xfrm>
            <a:off x="4156634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607994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07994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no save, status do estoque, reservar, liberar e baixar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6210148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ales-order"/>
          <p:cNvSpPr/>
          <p:nvPr/>
        </p:nvSpPr>
        <p:spPr>
          <a:xfrm>
            <a:off x="6438748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3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21" y="2006194"/>
            <a:ext cx="285293" cy="285293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438748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Pedido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438748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438748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37" name="Text 31"/>
          <p:cNvSpPr txBox="1"/>
          <p:nvPr/>
        </p:nvSpPr>
        <p:spPr>
          <a:xfrm>
            <a:off x="6987388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6438748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3</a:t>
            </a:r>
            <a:endParaRPr lang="en-US" sz="2400" dirty="0"/>
          </a:p>
        </p:txBody>
      </p:sp>
      <p:sp>
        <p:nvSpPr>
          <p:cNvPr id="39" name="Text 33"/>
          <p:cNvSpPr txBox="1"/>
          <p:nvPr/>
        </p:nvSpPr>
        <p:spPr>
          <a:xfrm>
            <a:off x="6987388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438748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0F2"/>
                </a:solidFill>
              </a:rPr>
              <a:t>7</a:t>
            </a:r>
            <a:endParaRPr lang="en-US" sz="2400" dirty="0"/>
          </a:p>
        </p:txBody>
      </p:sp>
      <p:sp>
        <p:nvSpPr>
          <p:cNvPr id="41" name="Text 35"/>
          <p:cNvSpPr txBox="1"/>
          <p:nvPr/>
        </p:nvSpPr>
        <p:spPr>
          <a:xfrm>
            <a:off x="6987388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42" name="Shape 36"/>
          <p:cNvSpPr/>
          <p:nvPr/>
        </p:nvSpPr>
        <p:spPr>
          <a:xfrm>
            <a:off x="6438748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38748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Numeração, total, reserva, pagamento, aprovação, cancelamento</a:t>
            </a:r>
            <a:endParaRPr lang="en-US" sz="1150" dirty="0"/>
          </a:p>
        </p:txBody>
      </p:sp>
      <p:sp>
        <p:nvSpPr>
          <p:cNvPr id="44" name="Cartão"/>
          <p:cNvSpPr/>
          <p:nvPr/>
        </p:nvSpPr>
        <p:spPr>
          <a:xfrm>
            <a:off x="9040901" y="1645920"/>
            <a:ext cx="2602154" cy="4526280"/>
          </a:xfrm>
          <a:prstGeom prst="roundRect">
            <a:avLst>
              <a:gd name="adj" fmla="val 4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Ícone money-bills"/>
          <p:cNvSpPr/>
          <p:nvPr/>
        </p:nvSpPr>
        <p:spPr>
          <a:xfrm>
            <a:off x="9269501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6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1175" y="2006194"/>
            <a:ext cx="285293" cy="285293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269501" y="2560320"/>
            <a:ext cx="21449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Reembolso</a:t>
            </a:r>
            <a:endParaRPr lang="en-US" sz="1600" dirty="0"/>
          </a:p>
        </p:txBody>
      </p:sp>
      <p:sp>
        <p:nvSpPr>
          <p:cNvPr id="48" name="Text 41"/>
          <p:cNvSpPr txBox="1"/>
          <p:nvPr/>
        </p:nvSpPr>
        <p:spPr>
          <a:xfrm>
            <a:off x="9269501" y="2880360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endParaRPr lang="en-US" sz="1050" dirty="0"/>
          </a:p>
        </p:txBody>
      </p:sp>
      <p:sp>
        <p:nvSpPr>
          <p:cNvPr id="49" name="Text 42"/>
          <p:cNvSpPr txBox="1"/>
          <p:nvPr/>
        </p:nvSpPr>
        <p:spPr>
          <a:xfrm>
            <a:off x="9269501" y="33375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9818141" y="333756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determinations</a:t>
            </a:r>
            <a:endParaRPr lang="en-US" sz="1250" dirty="0"/>
          </a:p>
        </p:txBody>
      </p:sp>
      <p:sp>
        <p:nvSpPr>
          <p:cNvPr id="51" name="Text 44"/>
          <p:cNvSpPr txBox="1"/>
          <p:nvPr/>
        </p:nvSpPr>
        <p:spPr>
          <a:xfrm>
            <a:off x="9269501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D9D9"/>
                </a:solidFill>
              </a:rPr>
              <a:t>0</a:t>
            </a:r>
            <a:endParaRPr lang="en-US" sz="2400" dirty="0"/>
          </a:p>
        </p:txBody>
      </p:sp>
      <p:sp>
        <p:nvSpPr>
          <p:cNvPr id="52" name="Text 45"/>
          <p:cNvSpPr txBox="1"/>
          <p:nvPr/>
        </p:nvSpPr>
        <p:spPr>
          <a:xfrm>
            <a:off x="9818141" y="384048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validations</a:t>
            </a:r>
            <a:endParaRPr lang="en-US" sz="1250" dirty="0"/>
          </a:p>
        </p:txBody>
      </p:sp>
      <p:sp>
        <p:nvSpPr>
          <p:cNvPr id="53" name="Text 46"/>
          <p:cNvSpPr txBox="1"/>
          <p:nvPr/>
        </p:nvSpPr>
        <p:spPr>
          <a:xfrm>
            <a:off x="9269501" y="43434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F1278"/>
                </a:solidFill>
              </a:rPr>
              <a:t>2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9818141" y="4343400"/>
            <a:ext cx="159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actions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9269501" y="4937760"/>
            <a:ext cx="2144954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69501" y="5047488"/>
            <a:ext cx="214495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Aprovar ou rejeitar a solicitação, sem draft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rascunho só vira dado ativo depois do Prepare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Create / Edit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usuário inicia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246120" y="2011680"/>
            <a:ext cx="2377440" cy="1097280"/>
          </a:xfrm>
          <a:prstGeom prst="roundRect">
            <a:avLst>
              <a:gd name="adj" fmla="val 10000"/>
            </a:avLst>
          </a:prstGeom>
          <a:solidFill>
            <a:srgbClr val="E1F4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Instância draft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ZTA_PC_PEDIDO_D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72200" y="201168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Prepare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23960" y="2011680"/>
            <a:ext cx="2816352" cy="1097280"/>
          </a:xfrm>
          <a:prstGeom prst="roundRect">
            <a:avLst>
              <a:gd name="adj" fmla="val 10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Activate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instância ativa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651760" y="2560320"/>
            <a:ext cx="5943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562356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275320" y="2560320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324612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Discard descarta · Resume retoma um rascunho bloqueado</a:t>
            </a:r>
            <a:endParaRPr lang="en-US" sz="1100" dirty="0"/>
          </a:p>
        </p:txBody>
      </p:sp>
      <p:sp>
        <p:nvSpPr>
          <p:cNvPr id="13" name="Editor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recho de código"/>
          <p:cNvSpPr txBox="1"/>
          <p:nvPr/>
        </p:nvSpPr>
        <p:spPr>
          <a:xfrm>
            <a:off x="731520" y="3895344"/>
            <a:ext cx="553212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additional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5" name="Cartão"/>
          <p:cNvSpPr/>
          <p:nvPr/>
        </p:nvSpPr>
        <p:spPr>
          <a:xfrm>
            <a:off x="6629400" y="3749040"/>
            <a:ext cx="5013655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hipping-status"/>
          <p:cNvSpPr/>
          <p:nvPr/>
        </p:nvSpPr>
        <p:spPr>
          <a:xfrm>
            <a:off x="6858000" y="3950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shipping-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4059936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98080" y="3950208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Activate: otimizado ou não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572000"/>
            <a:ext cx="45564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usa Activate optimized (só os campos alterados). Cliente usa o Activate completo: o CEP é chave da tabela e precisa ir no UPDATE. Pedido acrescenta código para reservar só a diferença dos itens.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Determinations calculam, validations barram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dit"/>
          <p:cNvSpPr/>
          <p:nvPr/>
        </p:nvSpPr>
        <p:spPr>
          <a:xfrm>
            <a:off x="777240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ed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5681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modify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89888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fase de interação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DefinirStatusInicial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status ABERTO na criação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número via ZPC_NR (early)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AtualizarEndereco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 principal do cliente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77240" y="4617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PreencherEnderecoViaCep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logradouro, bairro, cidade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5577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reserva pela diferença</a:t>
            </a:r>
            <a:endParaRPr lang="en-US" sz="1150" dirty="0"/>
          </a:p>
        </p:txBody>
      </p:sp>
      <p:sp>
        <p:nvSpPr>
          <p:cNvPr id="20" name="Cartão"/>
          <p:cNvSpPr/>
          <p:nvPr/>
        </p:nvSpPr>
        <p:spPr>
          <a:xfrm>
            <a:off x="4315968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ve"/>
          <p:cNvSpPr/>
          <p:nvPr/>
        </p:nvSpPr>
        <p:spPr>
          <a:xfrm>
            <a:off x="4544568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2" name="Image 1" descr="s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95681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57216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5157216" y="21031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antes de gravar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544568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CalcularTotalPedido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544568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soma dos itens</a:t>
            </a:r>
            <a:endParaRPr lang="en-US" sz="1150" dirty="0"/>
          </a:p>
        </p:txBody>
      </p:sp>
      <p:sp>
        <p:nvSpPr>
          <p:cNvPr id="27" name="Text 22"/>
          <p:cNvSpPr txBox="1"/>
          <p:nvPr/>
        </p:nvSpPr>
        <p:spPr>
          <a:xfrm>
            <a:off x="4544568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4544568" y="3520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SKU-ELE-0000000001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4544568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 de ouro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544568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nada de HTTP ou GET NUMBER sem buffer no save</a:t>
            </a:r>
            <a:endParaRPr lang="en-US" sz="1150" dirty="0"/>
          </a:p>
        </p:txBody>
      </p:sp>
      <p:sp>
        <p:nvSpPr>
          <p:cNvPr id="31" name="Cartão"/>
          <p:cNvSpPr/>
          <p:nvPr/>
        </p:nvSpPr>
        <p:spPr>
          <a:xfrm>
            <a:off x="8083296" y="1645920"/>
            <a:ext cx="3559759" cy="4526280"/>
          </a:xfrm>
          <a:prstGeom prst="roundRect">
            <a:avLst>
              <a:gd name="adj" fmla="val 3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status-error"/>
          <p:cNvSpPr/>
          <p:nvPr/>
        </p:nvSpPr>
        <p:spPr>
          <a:xfrm>
            <a:off x="8311896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33" name="Image 2" descr="status-err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956816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8924544" y="1828800"/>
            <a:ext cx="2553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validations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8924544" y="2103120"/>
            <a:ext cx="2553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save / Prepare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311896" y="25603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ValidarCpf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8311896" y="28346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dígitos e unicidade</a:t>
            </a:r>
            <a:endParaRPr lang="en-US" sz="1150" dirty="0"/>
          </a:p>
        </p:txBody>
      </p:sp>
      <p:sp>
        <p:nvSpPr>
          <p:cNvPr id="38" name="Text 32"/>
          <p:cNvSpPr txBox="1"/>
          <p:nvPr/>
        </p:nvSpPr>
        <p:spPr>
          <a:xfrm>
            <a:off x="8311896" y="32461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 / ValidarCepUnico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8311896" y="35204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ViaCEP e CEP por cliente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8311896" y="39319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8311896" y="42062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endereço, itens, estoque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8311896" y="46177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ValidarItemPedido</a:t>
            </a:r>
            <a:endParaRPr lang="en-US" sz="1150" dirty="0"/>
          </a:p>
        </p:txBody>
      </p:sp>
      <p:sp>
        <p:nvSpPr>
          <p:cNvPr id="43" name="Text 37"/>
          <p:cNvSpPr txBox="1"/>
          <p:nvPr/>
        </p:nvSpPr>
        <p:spPr>
          <a:xfrm>
            <a:off x="8311896" y="48920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item ativo e quantidade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8311896" y="530352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ValidarSkuUnico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8311896" y="5577840"/>
            <a:ext cx="3102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SKU sem repetição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classes compartilhadas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Mensagens, utilitários, numeração, autorização, ViaCEP, leitura de planilhas e carga de dados: tudo o que os quatro behavior pools reutilizam.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758184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exceção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utilitários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numeração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autorização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ZCL_PC_VIACEP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integração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leitura de arquivo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apoio à importação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 · ZCL_PC_RESET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carga e limpeza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ZCX_PC_MSG: a exceção que vira mensagem RAP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X_PC_MSG.clas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ZCX_PC_MSG.clas.abap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INHERITING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cx_static_check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if_t100_dyn_msg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cliente_cpf_invalido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constructor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if_t100_message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t100key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t_severity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csequence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49 constantes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Uma por mensagem de ZPC_MSG, com o nome da regra.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Severidade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Erro por padrão; sucesso e aviso também usados.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sucesso( 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Fábrica para mensagens de sucesso (pedido registrado, finalizado).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Texto longo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049 divide até 200 caracteres em &amp;1..&amp;4.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UTILITÁRIOS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ZCL_PC_UTIL: regras puras e testáveis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309360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035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Método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somente_digitos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Remove tudo que não é dígito (CPF, CEP, telefone, cartão)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validar_cpf · calcular_dv_cpf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11 dígitos, não repetidos, dígitos verificadores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formatar_cpf · formatar_telefone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000.000.000-00 e (00) 00000-0000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validar_email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Formato de e-mail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validar_imagem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JPEG/PNG/WEBP: MIME, extensão e assinatura binária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calcular_status_estoque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SEM_ESTOQUE (0), ACABANDO (1–10), EM_ESTOQUE (11+)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formatar_endereco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Endereço completo em uma linha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6903720" y="1645920"/>
            <a:ext cx="473933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6903720" y="1993392"/>
            <a:ext cx="473933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6912864" y="1993392"/>
            <a:ext cx="47210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6912864" y="1993392"/>
            <a:ext cx="47210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L_PC_UTIL.clas.abap"/>
          <p:cNvSpPr/>
          <p:nvPr/>
        </p:nvSpPr>
        <p:spPr>
          <a:xfrm>
            <a:off x="699516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ZCL_PC_UTIL.clas.abap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99516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086600" y="2103120"/>
            <a:ext cx="441929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Rejeita 000..., 111..., etc.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calcular_dv_cpf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rv_valido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 E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ZCL_PC_NUMERACAO e ZCL_PC_AUTH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394960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3766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3766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.clas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074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ELETRONICOS -&gt; ELE; vazia -&gt; XXX</a:t>
            </a:r>
            <a:endParaRPr lang="en-US" sz="1050" dirty="0"/>
          </a:p>
        </p:txBody>
      </p:sp>
      <p:sp>
        <p:nvSpPr>
          <p:cNvPr id="12" name="Editor"/>
          <p:cNvSpPr/>
          <p:nvPr/>
        </p:nvSpPr>
        <p:spPr>
          <a:xfrm>
            <a:off x="6172200" y="1645920"/>
            <a:ext cx="5470855" cy="2743200"/>
          </a:xfrm>
          <a:prstGeom prst="roundRect">
            <a:avLst>
              <a:gd name="adj" fmla="val 333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172200" y="1993392"/>
            <a:ext cx="5470855" cy="2395728"/>
          </a:xfrm>
          <a:prstGeom prst="roundRect">
            <a:avLst>
              <a:gd name="adj" fmla="val 3817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181344" y="1993392"/>
            <a:ext cx="54525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181344" y="1993392"/>
            <a:ext cx="54525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ZCL_PC_AUTH.clas.abap"/>
          <p:cNvSpPr/>
          <p:nvPr/>
        </p:nvSpPr>
        <p:spPr>
          <a:xfrm>
            <a:off x="626364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ZCL_PC_AUTH.clas.abap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6364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355080" y="2103120"/>
            <a:ext cx="51508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verificar_pedido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AUTHORITY-CHECK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'ACTVT'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iv_actvt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rv_autorizado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Cartão"/>
          <p:cNvSpPr/>
          <p:nvPr/>
        </p:nvSpPr>
        <p:spPr>
          <a:xfrm>
            <a:off x="548640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1520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endParaRPr lang="en-US" sz="1050" dirty="0"/>
          </a:p>
        </p:txBody>
      </p:sp>
      <p:sp>
        <p:nvSpPr>
          <p:cNvPr id="21" name="Status intervalo 01"/>
          <p:cNvSpPr/>
          <p:nvPr/>
        </p:nvSpPr>
        <p:spPr>
          <a:xfrm>
            <a:off x="731520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de 10 dígitos com zeros à esquerda.</a:t>
            </a:r>
            <a:endParaRPr lang="en-US" sz="1050" dirty="0"/>
          </a:p>
        </p:txBody>
      </p:sp>
      <p:sp>
        <p:nvSpPr>
          <p:cNvPr id="23" name="Cartão"/>
          <p:cNvSpPr/>
          <p:nvPr/>
        </p:nvSpPr>
        <p:spPr>
          <a:xfrm>
            <a:off x="3379394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562274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endParaRPr lang="en-US" sz="1050" dirty="0"/>
          </a:p>
        </p:txBody>
      </p:sp>
      <p:sp>
        <p:nvSpPr>
          <p:cNvPr id="25" name="Status intervalo 02"/>
          <p:cNvSpPr/>
          <p:nvPr/>
        </p:nvSpPr>
        <p:spPr>
          <a:xfrm>
            <a:off x="3562274" y="5029200"/>
            <a:ext cx="104314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intervalo 02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3562274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SKU-&lt;prefixo&gt;-&lt;número relativo ao intervalo&gt;.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6210148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393028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admin_pode_*</a:t>
            </a:r>
            <a:endParaRPr lang="en-US" sz="1050" dirty="0"/>
          </a:p>
        </p:txBody>
      </p:sp>
      <p:sp>
        <p:nvSpPr>
          <p:cNvPr id="29" name="Status ZPC_ADMIN"/>
          <p:cNvSpPr/>
          <p:nvPr/>
        </p:nvSpPr>
        <p:spPr>
          <a:xfrm>
            <a:off x="6393028" y="5029200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ZPC_ADMIN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393028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 (01), alterar (02), excluir (06): Clientes e Estoque.</a:t>
            </a:r>
            <a:endParaRPr lang="en-US" sz="1050" dirty="0"/>
          </a:p>
        </p:txBody>
      </p:sp>
      <p:sp>
        <p:nvSpPr>
          <p:cNvPr id="31" name="Cartão"/>
          <p:cNvSpPr/>
          <p:nvPr/>
        </p:nvSpPr>
        <p:spPr>
          <a:xfrm>
            <a:off x="9040901" y="4572000"/>
            <a:ext cx="2602154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223781" y="4709160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pedido_pode_*</a:t>
            </a:r>
            <a:endParaRPr lang="en-US" sz="1050" dirty="0"/>
          </a:p>
        </p:txBody>
      </p:sp>
      <p:sp>
        <p:nvSpPr>
          <p:cNvPr id="33" name="Status ZPC_PEDIDO"/>
          <p:cNvSpPr/>
          <p:nvPr/>
        </p:nvSpPr>
        <p:spPr>
          <a:xfrm>
            <a:off x="9223781" y="502920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ZPC_PEDIDO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223781" y="5349240"/>
            <a:ext cx="22363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criar, alterar, excluir e executar (16): Pedidos e Reembolsos.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ZCL_PC_VIACEP: HTTP com cache e falha segura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ls_cache-resultado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respostas definitivas vão para o cache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gt_cache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chamar_servico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cl_http_destination_provider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c_url_base }{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cl_web_http_client_manager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create_by_http_destination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lo_destino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lo_resposta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if_web_http_client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ty_resultado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valido · indisponivel · cep_geral · endereco (logradouro, bairro, localidade, uf, estado).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produção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 BTP, trocar create_by_url por Communication Arrangement; no On-Premise, ver o próximo slide.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VIACEP (ON-PREMISE)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ZCL_PC_VIACEP no On-Premise: SM59 e STRUST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5778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5778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5595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5595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VIACEP.clas.abap"/>
          <p:cNvSpPr/>
          <p:nvPr/>
        </p:nvSpPr>
        <p:spPr>
          <a:xfrm>
            <a:off x="64008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ZCL_PC_VIACEP (_T2)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257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chamar_servico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create_by_destination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cl_http_utility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set_request_uri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|/ws/{ iv_cep }/json/|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sy-subrc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lv_status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lv_json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get_cdata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lo_cliente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status e JSON: mesma regra da versão BTP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Editor"/>
          <p:cNvSpPr/>
          <p:nvPr/>
        </p:nvSpPr>
        <p:spPr>
          <a:xfrm>
            <a:off x="6355080" y="1645920"/>
            <a:ext cx="5287975" cy="2194560"/>
          </a:xfrm>
          <a:prstGeom prst="roundRect">
            <a:avLst>
              <a:gd name="adj" fmla="val 416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Área do editor"/>
          <p:cNvSpPr/>
          <p:nvPr/>
        </p:nvSpPr>
        <p:spPr>
          <a:xfrm>
            <a:off x="6355080" y="1993392"/>
            <a:ext cx="5287975" cy="1847088"/>
          </a:xfrm>
          <a:prstGeom prst="roundRect">
            <a:avLst>
              <a:gd name="adj" fmla="val 4950"/>
            </a:avLst>
          </a:prstGeom>
          <a:solidFill>
            <a:srgbClr val="1F1F1F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993392"/>
            <a:ext cx="52696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364224" y="1993392"/>
            <a:ext cx="52696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6" name="Aba chamar_servico"/>
          <p:cNvSpPr/>
          <p:nvPr/>
        </p:nvSpPr>
        <p:spPr>
          <a:xfrm>
            <a:off x="644652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SM59 Z_VIACEP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4652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8" name="Trecho de código"/>
          <p:cNvSpPr txBox="1"/>
          <p:nvPr/>
        </p:nvSpPr>
        <p:spPr>
          <a:xfrm>
            <a:off x="6537960" y="2103120"/>
            <a:ext cx="4967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RFC Destination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Z_VIACEP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 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(HTTP externo)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Host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viacep.com.br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No.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Prefix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(vazio)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Logon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· ANONYM SSL Client</a:t>
            </a:r>
            <a:endParaRPr lang="en-US" sz="1000" dirty="0"/>
          </a:p>
        </p:txBody>
      </p:sp>
      <p:sp>
        <p:nvSpPr>
          <p:cNvPr id="19" name="Cartão"/>
          <p:cNvSpPr/>
          <p:nvPr/>
        </p:nvSpPr>
        <p:spPr>
          <a:xfrm>
            <a:off x="6355080" y="406908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537960" y="420624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Pacote Standard ABAP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454456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CL_HTTP_CLIENT é API clássica: em Standard ABAP a classe ativa sem contrato C1, com a mesma interface.</a:t>
            </a:r>
            <a:endParaRPr lang="en-US" sz="1100" dirty="0"/>
          </a:p>
        </p:txBody>
      </p:sp>
      <p:sp>
        <p:nvSpPr>
          <p:cNvPr id="22" name="Cartão"/>
          <p:cNvSpPr/>
          <p:nvPr/>
        </p:nvSpPr>
        <p:spPr>
          <a:xfrm>
            <a:off x="6355080" y="5234940"/>
            <a:ext cx="5287975" cy="937260"/>
          </a:xfrm>
          <a:prstGeom prst="roundRect">
            <a:avLst>
              <a:gd name="adj" fmla="val 117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537960" y="5372100"/>
            <a:ext cx="4922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STRUST e teste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5710428"/>
            <a:ext cx="4922215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Raiz USERTrust RSA na PSE SSL Client (Anonymous); ZPC_TESTE_VIACEP deve retornar HTTP 200.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IMPORTAÇÃO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Planilhas passam pelas mesmas regras da tela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a importação por planil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Status Tudo ou nada"/>
          <p:cNvSpPr/>
          <p:nvPr/>
        </p:nvSpPr>
        <p:spPr>
          <a:xfrm>
            <a:off x="548640" y="5230368"/>
            <a:ext cx="1240658" cy="347472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Tudo ou nada</a:t>
            </a:r>
            <a:endParaRPr lang="en-US" sz="1200" dirty="0"/>
          </a:p>
        </p:txBody>
      </p:sp>
      <p:sp>
        <p:nvSpPr>
          <p:cNvPr id="8" name="Status Até 500 linhas"/>
          <p:cNvSpPr/>
          <p:nvPr/>
        </p:nvSpPr>
        <p:spPr>
          <a:xfrm>
            <a:off x="1926458" y="5230368"/>
            <a:ext cx="1398666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Até 500 linhas</a:t>
            </a:r>
            <a:endParaRPr lang="en-US" sz="1200" dirty="0"/>
          </a:p>
        </p:txBody>
      </p:sp>
      <p:sp>
        <p:nvSpPr>
          <p:cNvPr id="9" name="Status .xlsx (XCO) ou .csv"/>
          <p:cNvSpPr/>
          <p:nvPr/>
        </p:nvSpPr>
        <p:spPr>
          <a:xfrm>
            <a:off x="3462284" y="5230368"/>
            <a:ext cx="1793687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.xlsx (XCO) ou .csv</a:t>
            </a:r>
            <a:endParaRPr lang="en-US" sz="1200" dirty="0"/>
          </a:p>
        </p:txBody>
      </p:sp>
      <p:sp>
        <p:nvSpPr>
          <p:cNvPr id="10" name="Status Referência de importação idempotente"/>
          <p:cNvSpPr/>
          <p:nvPr/>
        </p:nvSpPr>
        <p:spPr>
          <a:xfrm>
            <a:off x="5393131" y="5230368"/>
            <a:ext cx="3136758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Referência de importação idempotente</a:t>
            </a:r>
            <a:endParaRPr lang="en-US" sz="1200" dirty="0"/>
          </a:p>
        </p:txBody>
      </p:sp>
      <p:sp>
        <p:nvSpPr>
          <p:cNvPr id="11" name="Status Até 15 erros listados por linha"/>
          <p:cNvSpPr/>
          <p:nvPr/>
        </p:nvSpPr>
        <p:spPr>
          <a:xfrm>
            <a:off x="8667049" y="5230368"/>
            <a:ext cx="2741737" cy="34747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Até 15 erros listados por linha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ZCL_PC_PLANILHA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lê o arquivo; </a:t>
            </a:r>
            <a:pPr indent="0" marL="0">
              <a:buNone/>
            </a:pPr>
            <a:r>
              <a:rPr lang="en-US" sz="12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ZCL_PC_IMPORTACAO</a:t>
            </a:r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 normaliza CPF/CEP, converte CodeLists e resume os erros.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CARGA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ZCL_PC_SETUP, ZCL_PC_RESET e as cargas por domínio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SETUP.clas.abap"/>
          <p:cNvSpPr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ZCL_PC_SETUP.clas.abap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0116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7150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criar_intervalos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carregar_codelists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Ordem importa: pedidos dependem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 clientes e itens já gravados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carregar_dados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cx_uuid_error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|Erro nos dados demo: { lx-&gt;get_text( )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migrar_enderecos_cep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migrar_status_pedidos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6858000" y="164592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40880" y="178308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ZCL_SETUP_CLIENTE</a:t>
            </a:r>
            <a:endParaRPr lang="en-US" sz="1100" dirty="0"/>
          </a:p>
        </p:txBody>
      </p:sp>
      <p:sp>
        <p:nvSpPr>
          <p:cNvPr id="14" name="Status Clientes"/>
          <p:cNvSpPr/>
          <p:nvPr/>
        </p:nvSpPr>
        <p:spPr>
          <a:xfrm>
            <a:off x="8602980" y="180136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Clientes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12140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clientes, cada um com endereço principal já validado.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6858000" y="283464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040880" y="297180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ZCL_SETUP_ESTOQUE</a:t>
            </a:r>
            <a:endParaRPr lang="en-US" sz="1100" dirty="0"/>
          </a:p>
        </p:txBody>
      </p:sp>
      <p:sp>
        <p:nvSpPr>
          <p:cNvPr id="18" name="Status Estoque"/>
          <p:cNvSpPr/>
          <p:nvPr/>
        </p:nvSpPr>
        <p:spPr>
          <a:xfrm>
            <a:off x="8602980" y="299008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Estoque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31012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itens em várias categorias.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6858000" y="402336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040880" y="416052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ZCL_SETUP_PEDIDOS</a:t>
            </a:r>
            <a:endParaRPr lang="en-US" sz="1100" dirty="0"/>
          </a:p>
        </p:txBody>
      </p:sp>
      <p:sp>
        <p:nvSpPr>
          <p:cNvPr id="22" name="Status Pedidos"/>
          <p:cNvSpPr/>
          <p:nvPr/>
        </p:nvSpPr>
        <p:spPr>
          <a:xfrm>
            <a:off x="8602980" y="4178808"/>
            <a:ext cx="730423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Pedidos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49884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100 pedidos, 10 com reembolso pendente.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6858000" y="5212080"/>
            <a:ext cx="478505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040880" y="5349240"/>
            <a:ext cx="4419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ZCL_PC_RESET</a:t>
            </a:r>
            <a:endParaRPr lang="en-US" sz="1100" dirty="0"/>
          </a:p>
        </p:txBody>
      </p:sp>
      <p:sp>
        <p:nvSpPr>
          <p:cNvPr id="26" name="Status Common"/>
          <p:cNvSpPr/>
          <p:nvPr/>
        </p:nvSpPr>
        <p:spPr>
          <a:xfrm>
            <a:off x="8183880" y="5367528"/>
            <a:ext cx="667878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Common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687568"/>
            <a:ext cx="44192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Apaga dados de negócio e drafts; mantém CodeLists e numeração.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Cliente + Endereço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validations, quatro determinations, a ação de endereço principal, a consulta ao ViaCEP e o bloqueio da exclusão de cliente com pedido.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ZCL_PC_VE_CLIENTE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virtual elements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Cliente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 e score sorteado de 0 a 100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NormalizarDados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CPF, telefone, e-mail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Só dígitos no CPF e telefone; e-mail em minúsculas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ValidarCpf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CPF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Dígitos verificadores e CPF único (inclusive rascunhos)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ValidarDadosObrigatorios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campos obrigatórios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Nome, e-mail, telefone e nascimento preenchidos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ValidarEmail · ValidarTelefone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Formato do e-mail; telefone com 10 ou 11 dígitos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ValidarDataNascimento · ValidarGenero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Data não futura; gênero existente na CodeList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ValidarFoto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foto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JPEG, PNG ou WEBP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Bloqueia cliente com pedido ativo ou em rascunho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Cria clientes com endereço principal a partir do arquivo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PreencherEnderecoViaCep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Reaproveita CEP cadastrado ou consulta o ViaCEP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DefinirPrincipalInicial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Primeiro endereço do cliente nasce principal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DefinirEnderecoPrincipal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instance feature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Marca um endereço como principal e desmarca os outros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ValidarNumero · ValidarCep · ValidarCepUnico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obrigatório; CEP válido; um CEP por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DETERMINATIONS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Valores iniciais e normalização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DefinirValoresIniciais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cl_abap_random_int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lo_random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get_next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NormalizarDados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zcl_pc_util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somente_digitos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condense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to_lower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ls_cliente-Email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algo mudou (evita laço de determinations)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 LOCAL MODE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e grava sem checar autorização: é o próprio BO agindo.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Idempotente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age em quem ainda não foi inicializado.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Score sorteado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cl_abap_random_int, 0 a 100, só leitura depois.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Normalizar antes de validar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ValidarCpf e o índice único veem só dígitos.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EXCLUSÃO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Precheck: cliente com pedido não sai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CLIENTE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ZBP_R_PC_CLIENTE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ZBP_R_PC_CLIENTE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lhc_cliente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precheck_delete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clientes_com_pedido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ativos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lt_ativos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rascunhos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@it_clientes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table_line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lt_drafts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precheck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Barra a operação antes do framework executá-la.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Ativos e rascunhos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Lê ZR_PC_PEDIDO e a draft ZTA_PC_PEDIDO_D.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Dependência cruzada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Por isso Pedido precisa estar ativo antes da pool do Cliente.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004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não pode ser excluído pois possui pedido vinculado.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PreencherEnderecoViaCep: o ViaCEP só no modify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3349379"/>
          </a:xfrm>
          <a:prstGeom prst="roundRect">
            <a:avLst>
              <a:gd name="adj" fmla="val 3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endereço e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3203075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48640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history"/>
          <p:cNvSpPr/>
          <p:nvPr/>
        </p:nvSpPr>
        <p:spPr>
          <a:xfrm>
            <a:off x="731520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70" y="5450190"/>
            <a:ext cx="218724" cy="2187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1. CEP já cadastrado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em ZR_PC_ENDERECO com CepStatus V e sem CEP geral: reaproveita, sem chamada remota.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4322978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chain-link"/>
          <p:cNvSpPr/>
          <p:nvPr/>
        </p:nvSpPr>
        <p:spPr>
          <a:xfrm>
            <a:off x="4505858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808" y="5450190"/>
            <a:ext cx="218724" cy="21872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54498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2. ViaCEP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5054498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zcl_pc_viacep=&gt;consultar; indisponível gera aviso (não erro) e status X.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097317" y="5166360"/>
            <a:ext cx="354573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refresh"/>
          <p:cNvSpPr/>
          <p:nvPr/>
        </p:nvSpPr>
        <p:spPr>
          <a:xfrm>
            <a:off x="8280197" y="534924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refre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147" y="5450190"/>
            <a:ext cx="218724" cy="21872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828837" y="5285232"/>
            <a:ext cx="2677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3. Side effects</a:t>
            </a:r>
            <a:endParaRPr lang="en-US" sz="1250" dirty="0"/>
          </a:p>
        </p:txBody>
      </p:sp>
      <p:sp>
        <p:nvSpPr>
          <p:cNvPr id="21" name="Text 14"/>
          <p:cNvSpPr txBox="1"/>
          <p:nvPr/>
        </p:nvSpPr>
        <p:spPr>
          <a:xfrm>
            <a:off x="8828837" y="5559552"/>
            <a:ext cx="26770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field Cep affects Logradouro, Bairro, Cidade, Uf, Estado, CepGeral, CepStatus.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ENDEREÇO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CEP único por cliente, também entre rascunhos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lhc_endereco.abap"/>
          <p:cNvSpPr/>
          <p:nvPr/>
        </p:nvSpPr>
        <p:spPr>
          <a:xfrm>
            <a:off x="640080" y="1719072"/>
            <a:ext cx="16687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lhc_endereco.abap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687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ValidarCepUnico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_Endereco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lt_pais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lt_enderecos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lt_irmaos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ls_irmao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ls_end-Cep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ls_end-EnderecoUUID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lv_duplicado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cep_duplicado_cliente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%element-Cep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cliente-ClienteUUID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reported-endereco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 BY \_Endereco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Inclui rascunhos da mesma sessão.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%element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Destaca o campo CEP na tela.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%path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do filho exibida no contexto do cliente.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DefinirEnderecoPrincipal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Regrava o CEP (mesmo valor) porque ele é chave da tabela.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Item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SKU gerado no save, status recalculado a cada mudança e três actions internas que só o Pedido pode chamar.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núcleo da reserva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Item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1772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DefinirValoresIniciais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Item ativo, moeda BRL se vazia, reservada zero, disponível e status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RecalcularStatusEstoque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modify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Disponível e status recalculados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GerarSku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categoria (no Prepare)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com o prefixo da categoria; refaz se a categoria mudar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Nome, categoria, preço ≥ 0 e moeda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ValidarQuantidades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QtdeEstoque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Estoque não negativo nem menor que o reservado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ValidarInativacaoItem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 · ItemAtivo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Não inativa com disponível ou pedido ativo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ValidarSkuUnico · ValidarFoto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on save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SKU sem repetição; foto JPEG/PNG/WEBP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( precheck 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93E00"/>
                          </a:solidFill>
                        </a:rPr>
                        <a:t>precheck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antes de excluir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Bloqueia item vinculado a pedido ou reserva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Soma à reservada se houver disponível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LiberarReserva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Devolve ao disponível (cancelar, editar)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BaixarEstoque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EML do Pedido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Tira do estoque e da reservada (aprovar)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static, deep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Cria itens com SKU gerado a partir do arquivo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MOVIMENTOS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movimentar: o núcleo das três actions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iv_tipo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item_inativo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&lt;ls_saldo&gt;-estoque - &lt;ls_saldo&gt;-reservada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c_movimento-baixar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ls_saldo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ls_mov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depois: QtdeDisponivel = estoque - reservada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     StatusEstoque  = calcular_status_estoque( )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Lock do item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RAP bloqueia o item antes da action: o saldo lido não muda até o commit.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 sequência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mesmo item pode aparecer várias vezes num lote.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Falha por item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FAILED e REPORTED por item; o Pedido repassa as mensagens.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junto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Disponível e status gravados no mesmo UPDATE.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SKU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GerarSku: o SKU nasce no Prepare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ITEM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lhc_item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lt_itens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SKU já gerado para a categoria atual é mantido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strlen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prefixo_categoria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ls_item-Categoria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%control-Sku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cx_number_ranges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numeracao_erro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lx_nr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get_text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determine action Prepare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Lista GerarSku: roda no Save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Prefixo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SKU+4(3) comparado com a categoria atual.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%control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Indica ao UPDATE quais campos foram enviados.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Erro de numeração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Vira mensagem 036 em vez de dump.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Pedido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coração do projeto: registro com reserva de estoque, pagamento simulado, aprovação com baixa e snapshots, cancelamento e abertura de reembolso.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 (5 entidades)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lhc_itempedido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handler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pagamento simulado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REGRAS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Tudo o que o BO Pedido faz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315968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25880"/>
                <a:gridCol w="2514600"/>
                <a:gridCol w="4236415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Regra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Quando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 que faz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DefinirStatusInicial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Status ABERTO e pagamento PENDENTE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GerarNumeroPedido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Número do intervalo 01 (early numbering)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Copia o endereço principal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AtualizarFlagsStatus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Indicadores que dirigem a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ReservarEstoqueRegistro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modify · create/update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Reserva (ou ajusta) o estoque do pedido salvo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CalcularTotalPedido · CalcularValorItem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64D9"/>
                          </a:solidFill>
                        </a:rPr>
                        <a:t>determination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on modify (item)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Preço do item e total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ValidarCliente · ValidarRegistro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/ Prepare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Cliente ativo, endereço principal, itens e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ValidarItemPedido · _Itens precheck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A0808"/>
                          </a:solidFill>
                        </a:rPr>
                        <a:t>validation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on save · ao incluir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Item ativo, quantidade &gt; 0, com disponível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SimularPagamento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Pagamento simulado; aprovado vai a 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AprovarPedido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AGUARDANDO_APROVACAO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Baixa estoque, gera snapshots e FINALIZADO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ABERTO ou AGUARDANDO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Libera reserva ou abre reembolso se já pago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CancelarPorReembolso · RetomarPedido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56B82"/>
                          </a:solidFill>
                        </a:rPr>
                        <a:t>interna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Decisão do reembolso no lado do 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ImportarPlanilha · RecalcularTotal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56F3A"/>
                          </a:solidFill>
                        </a:rPr>
                        <a:t>action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static · internal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Pedidos da planilha; recálculo do total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NUMERAÇÃO E FLAGS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Número cedo e indicadores sempre em dia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zcl_pc_numeracao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%control-NumeroPedido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AtualizarFlagsStatus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lv_ativo_sh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abap_false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lv_nao_fin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lv_nao_canc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UPDATE só se algum indicador mudou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Early numbering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on modify evita BEHAVIOR_ILLEGAL_STATEMENT no save.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uma vez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Pedidos que já têm número são descartados.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Quatro flags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Encerrado, ativo sem histórico, não finalizado, não cancelado.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Para a UI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Usados em hidden: #(campo) nas facets.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REGISTRO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Salvar o rascunho reserva o estoque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Determination não tem FAILED: falhas vão para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gt_falhas_registro e ValidarRegistro as devolve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line_exists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ValidarRegistro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gt_falhas_registro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ls_falha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Rascunho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Endereço principal, itens e disponível checados no Prepare.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Ativação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 reserva acontece quando o pedido passa a existir.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Ponte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Atributo de classe liga determination e validation.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registrado. Estoque reservado.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EDIÇÃO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Editar itens reserva só a diferença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lhc_pedido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reserva_atual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ls_key-PedidoUUID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só edição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do rascunho somados por item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somar_quantidades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lt_velho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lt_reservar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ls_novo-item_uuid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ls_antes-qtde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ls_novo-qtde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lt_liberar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itens removidos: libera tudo o que tinham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4526280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2492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181051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Activate with additional implementation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209397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Código próprio além da cópia do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2492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87350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Diferença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315696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Mais quantidade reserva; menos libera.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4249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93649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Removidos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1995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Itens que saíram devolvem toda a reserva.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2492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4999482"/>
            <a:ext cx="3596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Cliente travado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5282946"/>
            <a:ext cx="359633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field ( readonly : update ) ClienteUUID.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FEATURE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status decide quais botões ficam ativos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get_instance_features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2636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lt_pedidos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%is_draft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xsdbool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p-StatusPedido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l_ag_apr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l_off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7315200" y="1645920"/>
            <a:ext cx="4325112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1755648"/>
          <a:ext cx="405079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66928"/>
                <a:gridCol w="566928"/>
                <a:gridCol w="749808"/>
                <a:gridCol w="749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Editar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Pagar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Aprovar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Aberto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Aguardando aprov.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Proc. 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Finalizado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Cancelado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7315200" y="4709160"/>
            <a:ext cx="4325112" cy="1463040"/>
          </a:xfrm>
          <a:prstGeom prst="roundRect">
            <a:avLst>
              <a:gd name="adj" fmla="val 7500"/>
            </a:avLst>
          </a:prstGeom>
          <a:solidFill>
            <a:srgbClr val="E1F4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43800" y="484632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Itens só entram no rascunho; o pedido ativo nunca é excluído, só cancelado. Ações de ciclo de vida exigem a instância ativa.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CICLO DE VIDA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status e as ações que movem o pedido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2286000"/>
            <a:ext cx="274320" cy="274320"/>
          </a:xfrm>
          <a:prstGeom prst="ellipse">
            <a:avLst/>
          </a:prstGeom>
          <a:solidFill>
            <a:srgbClr val="1D2D3E"/>
          </a:solidFill>
          <a:ln/>
        </p:spPr>
      </p:sp>
      <p:sp>
        <p:nvSpPr>
          <p:cNvPr id="6" name="Text 3"/>
          <p:cNvSpPr/>
          <p:nvPr/>
        </p:nvSpPr>
        <p:spPr>
          <a:xfrm>
            <a:off x="14173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7492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205740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 w="19050">
            <a:solidFill>
              <a:srgbClr val="B5D9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 w="19050">
            <a:solidFill>
              <a:srgbClr val="F5B5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74920" y="4754880"/>
            <a:ext cx="2651760" cy="7315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 w="19050">
            <a:solidFill>
              <a:srgbClr val="F5D7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59436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57200" y="1737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Salvar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069080" y="2423160"/>
            <a:ext cx="1005840" cy="0"/>
          </a:xfrm>
          <a:prstGeom prst="line">
            <a:avLst/>
          </a:prstGeom>
          <a:noFill/>
          <a:ln w="19050">
            <a:solidFill>
              <a:srgbClr val="1D2D3E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3840480" y="16459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2423160"/>
            <a:ext cx="1051560" cy="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589520" y="16459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pedido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0" y="2788920"/>
            <a:ext cx="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783080" y="3657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 flipH="1">
            <a:off x="3840480" y="2788920"/>
            <a:ext cx="1554480" cy="1965960"/>
          </a:xfrm>
          <a:prstGeom prst="line">
            <a:avLst/>
          </a:prstGeom>
          <a:noFill/>
          <a:ln w="19050">
            <a:solidFill>
              <a:srgbClr val="AA0808"/>
            </a:solidFill>
            <a:prstDash val="dash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880360" y="3017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sem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pagamento aprovado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675120" y="2788920"/>
            <a:ext cx="0" cy="1965960"/>
          </a:xfrm>
          <a:prstGeom prst="line">
            <a:avLst/>
          </a:prstGeom>
          <a:noFill/>
          <a:ln w="19050">
            <a:solidFill>
              <a:srgbClr val="A93E00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6656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Cancelar com pagamento aprovado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 flipV="1">
            <a:off x="6035040" y="2788920"/>
            <a:ext cx="0" cy="1965960"/>
          </a:xfrm>
          <a:prstGeom prst="line">
            <a:avLst/>
          </a:prstGeom>
          <a:noFill/>
          <a:ln w="19050">
            <a:solidFill>
              <a:srgbClr val="256F3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5166360" y="352044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Rejeitar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reembolso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flipH="1">
            <a:off x="4069080" y="5120640"/>
            <a:ext cx="1005840" cy="0"/>
          </a:xfrm>
          <a:prstGeom prst="line">
            <a:avLst/>
          </a:prstGeom>
          <a:noFill/>
          <a:ln w="19050">
            <a:solidFill>
              <a:srgbClr val="AA0808"/>
            </a:solidFill>
            <a:prstDash val="solid"/>
            <a:tailEnd type="triangle"/>
          </a:ln>
        </p:spPr>
      </p:sp>
      <p:sp>
        <p:nvSpPr>
          <p:cNvPr id="26" name="Text 23"/>
          <p:cNvSpPr txBox="1"/>
          <p:nvPr/>
        </p:nvSpPr>
        <p:spPr>
          <a:xfrm>
            <a:off x="3840480" y="5532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Aprovar reembolso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2926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Editar itens · pagamento recusado (continua aberto)</a:t>
            </a:r>
            <a:endParaRPr lang="en-US" sz="1100" dirty="0"/>
          </a:p>
        </p:txBody>
      </p:sp>
      <p:sp>
        <p:nvSpPr>
          <p:cNvPr id="28" name="Cartão"/>
          <p:cNvSpPr/>
          <p:nvPr/>
        </p:nvSpPr>
        <p:spPr>
          <a:xfrm>
            <a:off x="8778240" y="3794760"/>
            <a:ext cx="2864815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006840" y="3977640"/>
            <a:ext cx="2407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do pagamento</a:t>
            </a:r>
            <a:endParaRPr lang="en-US" sz="1300" dirty="0"/>
          </a:p>
        </p:txBody>
      </p:sp>
      <p:sp>
        <p:nvSpPr>
          <p:cNvPr id="30" name="Status PENDENTE"/>
          <p:cNvSpPr/>
          <p:nvPr/>
        </p:nvSpPr>
        <p:spPr>
          <a:xfrm>
            <a:off x="9006840" y="438912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3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en-US" sz="1050" dirty="0"/>
          </a:p>
        </p:txBody>
      </p:sp>
      <p:sp>
        <p:nvSpPr>
          <p:cNvPr id="31" name="Status APROVADO"/>
          <p:cNvSpPr/>
          <p:nvPr/>
        </p:nvSpPr>
        <p:spPr>
          <a:xfrm>
            <a:off x="9006840" y="4791456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en-US" sz="1050" dirty="0"/>
          </a:p>
        </p:txBody>
      </p:sp>
      <p:sp>
        <p:nvSpPr>
          <p:cNvPr id="32" name="Status RECUSADO"/>
          <p:cNvSpPr/>
          <p:nvPr/>
        </p:nvSpPr>
        <p:spPr>
          <a:xfrm>
            <a:off x="9006840" y="5193792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RECUSADO</a:t>
            </a:r>
            <a:endParaRPr lang="en-US" sz="1050" dirty="0"/>
          </a:p>
        </p:txBody>
      </p:sp>
      <p:sp>
        <p:nvSpPr>
          <p:cNvPr id="33" name="Status DEVOLVIDO"/>
          <p:cNvSpPr/>
          <p:nvPr/>
        </p:nvSpPr>
        <p:spPr>
          <a:xfrm>
            <a:off x="9006840" y="5596128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389120"/>
            <a:ext cx="10360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DEVOLVIDO quando o reembolso é aprovado.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PAGAMENTO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SimularPagamento e ZCL_PC_PAGAMENTO_SIM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SimularPagamento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SimularPagamento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ZCL_PC_PAGAMENTO_SIM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zcl_pc_pagamento_sim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%param-MetodoPagamento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%param-NumeroCartao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%param-Validade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BandeiraCartao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Ultimos4DigitosCartao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ls_sim-cartao_mascarado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 classe de simulação: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4... = VISA, 5... = MASTERCARD; CVV 000 = RECUSADO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rs_resultado-cartao_mascarado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|**** **** **** { ultimos4 }|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lv_validade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lv_cvv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descarta sensíveis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Validações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13 a 19 dígitos, validade MM/AA não vencida, CVV com 3 ou 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Resultado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APROVADO com código SIM + 6 dígitos, ou RECUSADO.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Só o seguro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Bandeira, últimos 4 e máscara; o resto é limpo.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Testes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14 testes ABAP Unit na classe de simulação.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APROVAÇÃO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AprovarPedido: baixa, snapshots e FINALIZADO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AprovarPedido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1-2) AGUARDANDO_APROVACAO e pagamento APROVADO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3) reserva ainda cobre as quantidades?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ls_estoque-QtdeReservada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ls_estoque-QtdeEstoque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ls_qtde-qtde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registrar_erro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item_reserva_inconsistente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4-6) baixa no BO Item (EML)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movimentar_estoque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c_mov-baixar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lt_qtde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lv_ok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7) snapshots de cliente, endereço e itens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criar_snapshots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'FINALIZACAO'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8-9) data e status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c_status_pedido-finalizado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lv_agora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Pré-validação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Confere estoque e reserva antes de mexer em qualquer coisa.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Baixa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BaixarEstoque tira do estoque e da reservada.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Snapshots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 BY \_ClienteSnapshot e \_ItensSnapshot, uma única vez.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034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finalizado com sucesso.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CANCELAMENTO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CancelarPedido: liberar ou abrir reembolso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CancelarPedido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ls_pedido-StatusPagamento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c_status_pagamento-aprovado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iniciar_processo_reembolso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'REEMBOLSO'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c_status_reembolso-pendente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is_pedido-StatusPedido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is_pedido-ValorTotal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iv_motivo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ls_failed_reemb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c_status_pedido-processando_reembolso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Motivo obrigatório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Mensagem 019 se vier vazio.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EML em outro BO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IN LOCAL MODE: o Reembolso aplica suas regras.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anterior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Guardado para a rejeição retomar o pedido.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Mensagem 042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&amp;1 enviado para processamento de reembolso.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EML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BOs conversam por EML, na mesma transação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money-bills"/>
          <p:cNvSpPr/>
          <p:nvPr/>
        </p:nvSpPr>
        <p:spPr>
          <a:xfrm>
            <a:off x="749808" y="1892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00253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18928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Reembolso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548640" y="32918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les-order"/>
          <p:cNvSpPr/>
          <p:nvPr/>
        </p:nvSpPr>
        <p:spPr>
          <a:xfrm>
            <a:off x="749808" y="34930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sales-ord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6027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53312" y="3493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Pedido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40233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ReservarEstoqueRegistro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892040"/>
            <a:ext cx="28346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749808" y="50932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2029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0932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BO Item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56235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 · LiberarReserva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BaixarEstoque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463040" y="2880360"/>
            <a:ext cx="0" cy="411480"/>
          </a:xfrm>
          <a:prstGeom prst="line">
            <a:avLst/>
          </a:prstGeom>
          <a:noFill/>
          <a:ln w="25400">
            <a:solidFill>
              <a:srgbClr val="DF1278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 flipV="1">
            <a:off x="2468880" y="28803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1965960" y="4480560"/>
            <a:ext cx="0" cy="4114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tailEnd type="triangle"/>
          </a:ln>
        </p:spPr>
      </p:sp>
      <p:sp>
        <p:nvSpPr>
          <p:cNvPr id="23" name="Editor"/>
          <p:cNvSpPr/>
          <p:nvPr/>
        </p:nvSpPr>
        <p:spPr>
          <a:xfrm>
            <a:off x="3703320" y="1691640"/>
            <a:ext cx="7939735" cy="4480560"/>
          </a:xfrm>
          <a:prstGeom prst="roundRect">
            <a:avLst>
              <a:gd name="adj" fmla="val 204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Área do editor"/>
          <p:cNvSpPr/>
          <p:nvPr/>
        </p:nvSpPr>
        <p:spPr>
          <a:xfrm>
            <a:off x="3703320" y="2039112"/>
            <a:ext cx="7939735" cy="4133088"/>
          </a:xfrm>
          <a:prstGeom prst="roundRect">
            <a:avLst>
              <a:gd name="adj" fmla="val 2212"/>
            </a:avLst>
          </a:prstGeom>
          <a:solidFill>
            <a:srgbClr val="1F1F1F"/>
          </a:solidFill>
          <a:ln/>
        </p:spPr>
      </p:sp>
      <p:sp>
        <p:nvSpPr>
          <p:cNvPr id="25" name="Shape 19"/>
          <p:cNvSpPr/>
          <p:nvPr/>
        </p:nvSpPr>
        <p:spPr>
          <a:xfrm>
            <a:off x="3712464" y="2039112"/>
            <a:ext cx="792144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6" name="Shape 20"/>
          <p:cNvSpPr/>
          <p:nvPr/>
        </p:nvSpPr>
        <p:spPr>
          <a:xfrm>
            <a:off x="3712464" y="2039112"/>
            <a:ext cx="792144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7" name="Aba ZBP_R_PC_PEDIDO"/>
          <p:cNvSpPr/>
          <p:nvPr/>
        </p:nvSpPr>
        <p:spPr>
          <a:xfrm>
            <a:off x="3794760" y="176479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3794760" y="176479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9" name="Breadcrumb"/>
          <p:cNvSpPr txBox="1"/>
          <p:nvPr/>
        </p:nvSpPr>
        <p:spPr>
          <a:xfrm>
            <a:off x="3931920" y="2148840"/>
            <a:ext cx="7482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movimentar_estoque</a:t>
            </a:r>
            <a:endParaRPr lang="en-US" sz="900" dirty="0"/>
          </a:p>
        </p:txBody>
      </p:sp>
      <p:sp>
        <p:nvSpPr>
          <p:cNvPr id="30" name="Trecho de código"/>
          <p:cNvSpPr txBox="1"/>
          <p:nvPr/>
        </p:nvSpPr>
        <p:spPr>
          <a:xfrm>
            <a:off x="3886200" y="2459736"/>
            <a:ext cx="7619695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Reserva, liberação ou baixa no BO Item (mesma LUW)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iv_acao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c_mov-reservar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it_qtde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q-item_uuid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q-qtde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ls_reported_item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c_mov-liberar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LiberarReserva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Repassa as mensagens do BO Item para o pedido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SIDE EFFECTS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effects e precheck: a tela reage na hora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PEDIDO.bdef.asbdef"/>
          <p:cNvSpPr/>
          <p:nvPr/>
        </p:nvSpPr>
        <p:spPr>
          <a:xfrm>
            <a:off x="640080" y="1719072"/>
            <a:ext cx="21488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ZR_PC_PEDIDO.bdef.asbdef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1488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0807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EnderecoPrincipalCompleto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Item do pedido */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PrecoUnitarioSnapshot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affects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7223760" y="164592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refresh"/>
          <p:cNvSpPr/>
          <p:nvPr/>
        </p:nvSpPr>
        <p:spPr>
          <a:xfrm>
            <a:off x="745236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0" descr="refre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6477" y="1988637"/>
            <a:ext cx="247254" cy="24725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065008" y="187452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Side effects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52360" y="248716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Trocar o cliente recarrega o endereço; mudar item ou quantidade recalcula o total; pagar ou aprovar atualiza as seções afetadas.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7223760" y="4023360"/>
            <a:ext cx="441929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negative"/>
          <p:cNvSpPr/>
          <p:nvPr/>
        </p:nvSpPr>
        <p:spPr>
          <a:xfrm>
            <a:off x="745236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9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477" y="4366077"/>
            <a:ext cx="247254" cy="24725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065008" y="4251960"/>
            <a:ext cx="33951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Precheck de estoque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7452360" y="4864608"/>
            <a:ext cx="3962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create ( features : instance, precheck ) em _Itens: item com disponível zerado nem chega ao rascunho (mensagem 048).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3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BO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sem draft e sem update externo. Duas ações de decisão, cada uma executando uma action interna do Pedido na mesma transação.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837944"/>
          </a:xfrm>
          <a:prstGeom prst="roundRect">
            <a:avLst>
              <a:gd name="adj" fmla="val 59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BDEF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behavior pool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projeção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BDEF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Criado pelo Pedido, decidido pelo usuário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5836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5836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5653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5653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R_PC_REEMBOLSO.bdef.asbdef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ZR_PC_REEMBOLSO.bdef.asbdef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62636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DataSolicitacao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RejeitarReembolso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7406640" y="1645920"/>
            <a:ext cx="4236415" cy="4526280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078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181051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draft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09397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Não há edição: só decisão.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60780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7350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internal update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15696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e decisão mudam só pelas actions.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93649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readonly : update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0" y="421995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Dados da solicitação congelados após criar.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0780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8046720" y="4999482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Projeção mínima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5282946"/>
            <a:ext cx="341345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as duas actions são expostas.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DECISÃO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Aprovar cancela; rejeitar retoma 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11094415" cy="2905405"/>
          </a:xfrm>
          <a:prstGeom prst="roundRect">
            <a:avLst>
              <a:gd name="adj" fmla="val 37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Fluxograma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10948111" cy="2759101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4663440"/>
            <a:ext cx="6583680" cy="1508760"/>
          </a:xfrm>
          <a:prstGeom prst="roundRect">
            <a:avLst>
              <a:gd name="adj" fmla="val 606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4809744"/>
            <a:ext cx="62636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RetomarPedido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ls_reemb-PedidoUUID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ls_reemb-StatusPedidoAnterior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DataDecisao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950" dirty="0"/>
          </a:p>
        </p:txBody>
      </p:sp>
      <p:sp>
        <p:nvSpPr>
          <p:cNvPr id="9" name="Cartão"/>
          <p:cNvSpPr/>
          <p:nvPr/>
        </p:nvSpPr>
        <p:spPr>
          <a:xfrm>
            <a:off x="7406640" y="466344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589520" y="480060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044</a:t>
            </a:r>
            <a:endParaRPr lang="en-US" sz="1100" dirty="0"/>
          </a:p>
        </p:txBody>
      </p:sp>
      <p:sp>
        <p:nvSpPr>
          <p:cNvPr id="11" name="Status aprovado"/>
          <p:cNvSpPr/>
          <p:nvPr/>
        </p:nvSpPr>
        <p:spPr>
          <a:xfrm>
            <a:off x="8732520" y="4818888"/>
            <a:ext cx="792968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aprovado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589520" y="513892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aprovado. Pedido cancelado.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406640" y="5532120"/>
            <a:ext cx="4236415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589520" y="56692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 045</a:t>
            </a:r>
            <a:endParaRPr lang="en-US" sz="1100" dirty="0"/>
          </a:p>
        </p:txBody>
      </p:sp>
      <p:sp>
        <p:nvSpPr>
          <p:cNvPr id="15" name="Status rejeitado"/>
          <p:cNvSpPr/>
          <p:nvPr/>
        </p:nvSpPr>
        <p:spPr>
          <a:xfrm>
            <a:off x="8732520" y="5687568"/>
            <a:ext cx="855513" cy="237744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A0808"/>
                </a:solidFill>
              </a:rPr>
              <a:t>rejeitado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0" y="6007608"/>
            <a:ext cx="3870655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Reembolso do pedido &amp;1 rejeitado. Pedido retomado.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operação verifica sua atividade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0350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0350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0167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0167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BP_R_PC_PEDIDO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ZBP_R_PC_PEDIDO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ZBP_R_PC_PEDIDO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get_global_authorizations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71500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get_global_authorizations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pedido_pode_criar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requested_authorizations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mk-on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pedido_pode_alterar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zcl_pc_auth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pedido_pode_executar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auth-allowed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auth-unauthorized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%action-CancelarPedido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lv_exec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Fundo da tabela"/>
          <p:cNvSpPr/>
          <p:nvPr/>
        </p:nvSpPr>
        <p:spPr>
          <a:xfrm>
            <a:off x="6858000" y="1645920"/>
            <a:ext cx="4782312" cy="2688336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755648"/>
          <a:ext cx="4507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143000"/>
                <a:gridCol w="25877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6858000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040880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7040880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Clientes e Estoque</a:t>
            </a:r>
            <a:endParaRPr lang="en-US" sz="1150" dirty="0"/>
          </a:p>
        </p:txBody>
      </p:sp>
      <p:sp>
        <p:nvSpPr>
          <p:cNvPr id="18" name="Cartão"/>
          <p:cNvSpPr/>
          <p:nvPr/>
        </p:nvSpPr>
        <p:spPr>
          <a:xfrm>
            <a:off x="9305392" y="4572000"/>
            <a:ext cx="233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8272" y="4681728"/>
            <a:ext cx="2026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488272" y="4983480"/>
            <a:ext cx="2026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Pedidos e Reembolsos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6858000" y="5623560"/>
            <a:ext cx="4785055" cy="548640"/>
          </a:xfrm>
          <a:prstGeom prst="roundRect">
            <a:avLst>
              <a:gd name="adj" fmla="val 20000"/>
            </a:avLst>
          </a:prstGeom>
          <a:solidFill>
            <a:srgbClr val="FFF3B8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040880" y="562356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3E00"/>
                </a:solidFill>
              </a:rPr>
              <a:t>On-Premise e fora do trial: abap_false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Testes ABAP Unit em todas as classes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926080" cy="45262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0070F2"/>
                </a:solidFill>
              </a:rPr>
              <a:t>204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testes em 13 classes, das regras aos BOs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1188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Behavior pools testados por EML sobre test doubles, sem COMMIT. Só o setup e o reset ficam de fora.</a:t>
            </a:r>
            <a:endParaRPr lang="en-US" sz="1200" dirty="0"/>
          </a:p>
        </p:txBody>
      </p:sp>
      <p:sp>
        <p:nvSpPr>
          <p:cNvPr id="9" name="Status Ctrl+Shift+F10 no ADT"/>
          <p:cNvSpPr/>
          <p:nvPr/>
        </p:nvSpPr>
        <p:spPr>
          <a:xfrm>
            <a:off x="822960" y="5440680"/>
            <a:ext cx="1951695" cy="34747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Ctrl+Shift+F10 no ADT</a:t>
            </a:r>
            <a:endParaRPr lang="en-US" sz="1200" dirty="0"/>
          </a:p>
        </p:txBody>
      </p:sp>
      <p:sp>
        <p:nvSpPr>
          <p:cNvPr id="10" name="Fundo da tabela"/>
          <p:cNvSpPr/>
          <p:nvPr/>
        </p:nvSpPr>
        <p:spPr>
          <a:xfrm>
            <a:off x="3703320" y="1645920"/>
            <a:ext cx="7939735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755648"/>
          <a:ext cx="7665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22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Classe (testes)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Cobre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ZCL_PC_UTIL (50)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regras puras e o ciclo completo do pedido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ZBP_R_PC_CLIENTE (19)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validations, CEP sem ViaCEP, exclusão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ZBP_R_PC_ITEM (24)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reservar, liberar, baixar; inativação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ZBP_R_PC_PEDIDO (17)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Prepare, precheck, pagamento, snapshots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ZBP_R_PC_REEMBOLSO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aprovar e rejeitar na mesma transação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ZCL_PC_AUTH (6)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modo trial ou CL_AUNIT_AUTHORITY_CHECK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ZCL_PC_VIACEP (9)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JSON e cache, sem chamada HTTP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Outras 6 classes (74)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mensagens, numeração, VE, pagamento, planilhas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BOs managed com draft e behavior pools ZBP_R_*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Determinations, validations e precheck de estoque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Actions do pedido e do reembolso, com EML entre BOs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ViaCEP: create_by_url no BTP, SM59 e STRUST no On-Premise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Autorização global com ZCL_PC_AUTH e feature control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204 testes ABAP Unit, com test doubles nos quatro BOs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OData: expor e publicar os BOs.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3 de 5 — Comportamento RAP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 · TESTE DE BO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Testar um BO com test doubles e EML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Área do editor"/>
          <p:cNvSpPr/>
          <p:nvPr/>
        </p:nvSpPr>
        <p:spPr>
          <a:xfrm>
            <a:off x="548640" y="1993392"/>
            <a:ext cx="66751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57784" y="1993392"/>
            <a:ext cx="6656832" cy="137160"/>
          </a:xfrm>
          <a:prstGeom prst="rect">
            <a:avLst/>
          </a:prstGeom>
          <a:solidFill>
            <a:srgbClr val="1F1F1F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57784" y="1993392"/>
            <a:ext cx="66568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  <p:txBody>
          <a:bodyPr/>
          <a:p/>
        </p:txBody>
      </p:sp>
      <p:sp>
        <p:nvSpPr>
          <p:cNvPr id="9" name="Aba SimularPagament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ZBP_R_PC_ITEM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Breadcrumb"/>
          <p:cNvSpPr txBox="1"/>
          <p:nvPr/>
        </p:nvSpPr>
        <p:spPr>
          <a:xfrm>
            <a:off x="777240" y="210312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ZBP_R_PC_ITEM  ›  Test Classes  ›  ltcl_item_movimentacao</a:t>
            </a:r>
            <a:pPr indent="0" marL="0">
              <a:buNone/>
            </a:pPr>
            <a:pPr indent="0" marL="0">
              <a:buNone/>
            </a:pP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3550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reserva_acima_do_disponivel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Tabelas vazias: o teste semeia o próprio 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semear_item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iv_reservada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zr_pc_item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ReservarEstoque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%key-ItemUUID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lv_item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</a:t>
            </a: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%param-Quantidade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assert_not_initial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cl_abap_unit_assert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assert_table_contains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`011`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lcl_msgs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</p:txBody>
      </p:sp>
      <p:sp>
        <p:nvSpPr>
          <p:cNvPr id="13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69924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138160" y="181051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Test doubles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209397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class_setup cria os doubles das entidades ZR_* e das tabelas de rascunho.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69924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287350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Dados próprios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15696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Cada teste semeia o que usa; setup limpa os doubles.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69924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393649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Sem COMMIT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1995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Validations no Prepare, actions no ativo: tudo no buffer.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9924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999482"/>
            <a:ext cx="3322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Mensagens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0" y="5282946"/>
            <a:ext cx="332201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Conferidas pelo número T100 (011, 038...), não pelo texto.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Comportamento RAP</dc:title>
  <dc:subject>Pedidos de Compras no SAP BTP ABAP Environment</dc:subject>
  <dc:creator>Adriano Bispo</dc:creator>
  <cp:lastModifiedBy>Adriano Bispo</cp:lastModifiedBy>
  <cp:revision>1</cp:revision>
  <dcterms:created xsi:type="dcterms:W3CDTF">2026-10-20T11:19:37Z</dcterms:created>
  <dcterms:modified xsi:type="dcterms:W3CDTF">2026-10-20T11:19:37Z</dcterms:modified>
</cp:coreProperties>
</file>